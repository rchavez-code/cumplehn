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9"/>
  </p:notesMasterIdLst>
  <p:sldIdLst>
    <p:sldId id="258" r:id="rId2"/>
    <p:sldId id="371" r:id="rId3"/>
    <p:sldId id="385" r:id="rId4"/>
    <p:sldId id="386" r:id="rId5"/>
    <p:sldId id="387" r:id="rId6"/>
    <p:sldId id="388" r:id="rId7"/>
    <p:sldId id="389" r:id="rId8"/>
    <p:sldId id="390" r:id="rId9"/>
    <p:sldId id="391" r:id="rId10"/>
    <p:sldId id="380" r:id="rId11"/>
    <p:sldId id="381" r:id="rId12"/>
    <p:sldId id="392" r:id="rId13"/>
    <p:sldId id="383" r:id="rId14"/>
    <p:sldId id="378" r:id="rId15"/>
    <p:sldId id="379" r:id="rId16"/>
    <p:sldId id="355" r:id="rId17"/>
    <p:sldId id="356" r:id="rId18"/>
  </p:sldIdLst>
  <p:sldSz cx="9144000" cy="6858000" type="screen4x3"/>
  <p:notesSz cx="6858000" cy="9107488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FF33CC"/>
    <a:srgbClr val="FF66FF"/>
    <a:srgbClr val="66FFFF"/>
    <a:srgbClr val="000000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0" autoAdjust="0"/>
    <p:restoredTop sz="94660"/>
  </p:normalViewPr>
  <p:slideViewPr>
    <p:cSldViewPr>
      <p:cViewPr varScale="1">
        <p:scale>
          <a:sx n="69" d="100"/>
          <a:sy n="69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040827-A799-499F-A8DE-B2F5456D54E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ES"/>
        </a:p>
      </dgm:t>
    </dgm:pt>
    <dgm:pt modelId="{71939654-F34A-47C8-BB86-774AA487EBD6}">
      <dgm:prSet/>
      <dgm:spPr/>
      <dgm:t>
        <a:bodyPr/>
        <a:lstStyle/>
        <a:p>
          <a:pPr rtl="0"/>
          <a:r>
            <a:rPr lang="es-HN" smtClean="0"/>
            <a:t>Primarias</a:t>
          </a:r>
          <a:endParaRPr lang="es-HN"/>
        </a:p>
      </dgm:t>
    </dgm:pt>
    <dgm:pt modelId="{BE9B1411-A3CB-40C8-A886-7AC2D3819E18}" type="parTrans" cxnId="{F087301A-BE78-47BB-AAF6-82C0CCA7F772}">
      <dgm:prSet/>
      <dgm:spPr/>
      <dgm:t>
        <a:bodyPr/>
        <a:lstStyle/>
        <a:p>
          <a:endParaRPr lang="es-ES"/>
        </a:p>
      </dgm:t>
    </dgm:pt>
    <dgm:pt modelId="{C59E9CD2-0178-42BA-A077-22EECA5B37A6}" type="sibTrans" cxnId="{F087301A-BE78-47BB-AAF6-82C0CCA7F772}">
      <dgm:prSet/>
      <dgm:spPr/>
      <dgm:t>
        <a:bodyPr/>
        <a:lstStyle/>
        <a:p>
          <a:endParaRPr lang="es-ES"/>
        </a:p>
      </dgm:t>
    </dgm:pt>
    <dgm:pt modelId="{00ED1E99-338E-48CC-B1CA-4557042B161B}">
      <dgm:prSet/>
      <dgm:spPr/>
      <dgm:t>
        <a:bodyPr/>
        <a:lstStyle/>
        <a:p>
          <a:pPr rtl="0"/>
          <a:r>
            <a:rPr lang="es-HN" smtClean="0"/>
            <a:t>Secundarias</a:t>
          </a:r>
          <a:endParaRPr lang="es-HN"/>
        </a:p>
      </dgm:t>
    </dgm:pt>
    <dgm:pt modelId="{6979B598-484A-45BA-BE9F-630EE435DD7B}" type="parTrans" cxnId="{F6F2086A-C068-4705-8B8B-1229389333FE}">
      <dgm:prSet/>
      <dgm:spPr/>
      <dgm:t>
        <a:bodyPr/>
        <a:lstStyle/>
        <a:p>
          <a:endParaRPr lang="es-ES"/>
        </a:p>
      </dgm:t>
    </dgm:pt>
    <dgm:pt modelId="{BD1AFCC9-7974-49C0-AEAB-F153D309F74B}" type="sibTrans" cxnId="{F6F2086A-C068-4705-8B8B-1229389333FE}">
      <dgm:prSet/>
      <dgm:spPr/>
      <dgm:t>
        <a:bodyPr/>
        <a:lstStyle/>
        <a:p>
          <a:endParaRPr lang="es-ES"/>
        </a:p>
      </dgm:t>
    </dgm:pt>
    <dgm:pt modelId="{02C72A01-CABE-4716-A73A-4F8210553FD8}" type="pres">
      <dgm:prSet presAssocID="{03040827-A799-499F-A8DE-B2F5456D54E5}" presName="Name0" presStyleCnt="0">
        <dgm:presLayoutVars>
          <dgm:dir/>
          <dgm:resizeHandles val="exact"/>
        </dgm:presLayoutVars>
      </dgm:prSet>
      <dgm:spPr/>
    </dgm:pt>
    <dgm:pt modelId="{7F5DE86B-4782-4638-B1B1-F9186A26361E}" type="pres">
      <dgm:prSet presAssocID="{71939654-F34A-47C8-BB86-774AA487EBD6}" presName="node" presStyleLbl="node1" presStyleIdx="0" presStyleCnt="2">
        <dgm:presLayoutVars>
          <dgm:bulletEnabled val="1"/>
        </dgm:presLayoutVars>
      </dgm:prSet>
      <dgm:spPr/>
    </dgm:pt>
    <dgm:pt modelId="{04CA3244-18EA-4E2E-84B7-01850C99D1A9}" type="pres">
      <dgm:prSet presAssocID="{C59E9CD2-0178-42BA-A077-22EECA5B37A6}" presName="sibTrans" presStyleLbl="sibTrans2D1" presStyleIdx="0" presStyleCnt="1"/>
      <dgm:spPr/>
    </dgm:pt>
    <dgm:pt modelId="{24241FE3-4873-46F1-A143-89DA8C4B3B58}" type="pres">
      <dgm:prSet presAssocID="{C59E9CD2-0178-42BA-A077-22EECA5B37A6}" presName="connectorText" presStyleLbl="sibTrans2D1" presStyleIdx="0" presStyleCnt="1"/>
      <dgm:spPr/>
    </dgm:pt>
    <dgm:pt modelId="{D58C4B99-D94C-4A51-B2BD-17982D42AE57}" type="pres">
      <dgm:prSet presAssocID="{00ED1E99-338E-48CC-B1CA-4557042B161B}" presName="node" presStyleLbl="node1" presStyleIdx="1" presStyleCnt="2">
        <dgm:presLayoutVars>
          <dgm:bulletEnabled val="1"/>
        </dgm:presLayoutVars>
      </dgm:prSet>
      <dgm:spPr/>
    </dgm:pt>
  </dgm:ptLst>
  <dgm:cxnLst>
    <dgm:cxn modelId="{F087301A-BE78-47BB-AAF6-82C0CCA7F772}" srcId="{03040827-A799-499F-A8DE-B2F5456D54E5}" destId="{71939654-F34A-47C8-BB86-774AA487EBD6}" srcOrd="0" destOrd="0" parTransId="{BE9B1411-A3CB-40C8-A886-7AC2D3819E18}" sibTransId="{C59E9CD2-0178-42BA-A077-22EECA5B37A6}"/>
    <dgm:cxn modelId="{F6F2086A-C068-4705-8B8B-1229389333FE}" srcId="{03040827-A799-499F-A8DE-B2F5456D54E5}" destId="{00ED1E99-338E-48CC-B1CA-4557042B161B}" srcOrd="1" destOrd="0" parTransId="{6979B598-484A-45BA-BE9F-630EE435DD7B}" sibTransId="{BD1AFCC9-7974-49C0-AEAB-F153D309F74B}"/>
    <dgm:cxn modelId="{BAA736E9-8184-4FBB-9441-E26518B2736C}" type="presOf" srcId="{03040827-A799-499F-A8DE-B2F5456D54E5}" destId="{02C72A01-CABE-4716-A73A-4F8210553FD8}" srcOrd="0" destOrd="0" presId="urn:microsoft.com/office/officeart/2005/8/layout/process1"/>
    <dgm:cxn modelId="{9FECEED5-F5FD-4838-A0FE-F1BB5972C4A4}" type="presOf" srcId="{71939654-F34A-47C8-BB86-774AA487EBD6}" destId="{7F5DE86B-4782-4638-B1B1-F9186A26361E}" srcOrd="0" destOrd="0" presId="urn:microsoft.com/office/officeart/2005/8/layout/process1"/>
    <dgm:cxn modelId="{314D2600-1E43-4851-9875-F482CCF06F25}" type="presOf" srcId="{C59E9CD2-0178-42BA-A077-22EECA5B37A6}" destId="{24241FE3-4873-46F1-A143-89DA8C4B3B58}" srcOrd="1" destOrd="0" presId="urn:microsoft.com/office/officeart/2005/8/layout/process1"/>
    <dgm:cxn modelId="{0CB29AFE-480D-4C0C-8A39-37EF10AB0010}" type="presOf" srcId="{00ED1E99-338E-48CC-B1CA-4557042B161B}" destId="{D58C4B99-D94C-4A51-B2BD-17982D42AE57}" srcOrd="0" destOrd="0" presId="urn:microsoft.com/office/officeart/2005/8/layout/process1"/>
    <dgm:cxn modelId="{A3E7B0D2-6D7D-483F-9D27-AE15061B0B72}" type="presOf" srcId="{C59E9CD2-0178-42BA-A077-22EECA5B37A6}" destId="{04CA3244-18EA-4E2E-84B7-01850C99D1A9}" srcOrd="0" destOrd="0" presId="urn:microsoft.com/office/officeart/2005/8/layout/process1"/>
    <dgm:cxn modelId="{C3A7D1D2-4EDA-47EE-A96B-A1A46ED14D8B}" type="presParOf" srcId="{02C72A01-CABE-4716-A73A-4F8210553FD8}" destId="{7F5DE86B-4782-4638-B1B1-F9186A26361E}" srcOrd="0" destOrd="0" presId="urn:microsoft.com/office/officeart/2005/8/layout/process1"/>
    <dgm:cxn modelId="{BB8A5D0B-E4FC-4138-901A-A309E8A7D2B9}" type="presParOf" srcId="{02C72A01-CABE-4716-A73A-4F8210553FD8}" destId="{04CA3244-18EA-4E2E-84B7-01850C99D1A9}" srcOrd="1" destOrd="0" presId="urn:microsoft.com/office/officeart/2005/8/layout/process1"/>
    <dgm:cxn modelId="{5F34882A-5383-4DC6-85BE-A5F84F057B02}" type="presParOf" srcId="{04CA3244-18EA-4E2E-84B7-01850C99D1A9}" destId="{24241FE3-4873-46F1-A143-89DA8C4B3B58}" srcOrd="0" destOrd="0" presId="urn:microsoft.com/office/officeart/2005/8/layout/process1"/>
    <dgm:cxn modelId="{FB1245A7-FD06-4D84-8BEC-6716A9B846AE}" type="presParOf" srcId="{02C72A01-CABE-4716-A73A-4F8210553FD8}" destId="{D58C4B99-D94C-4A51-B2BD-17982D42AE5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DE86B-4782-4638-B1B1-F9186A26361E}">
      <dsp:nvSpPr>
        <dsp:cNvPr id="0" name=""/>
        <dsp:cNvSpPr/>
      </dsp:nvSpPr>
      <dsp:spPr>
        <a:xfrm>
          <a:off x="1540" y="0"/>
          <a:ext cx="3284841" cy="12985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HN" sz="4600" kern="1200" smtClean="0"/>
            <a:t>Primarias</a:t>
          </a:r>
          <a:endParaRPr lang="es-HN" sz="4600" kern="1200"/>
        </a:p>
      </dsp:txBody>
      <dsp:txXfrm>
        <a:off x="39574" y="38034"/>
        <a:ext cx="3208773" cy="1222506"/>
      </dsp:txXfrm>
    </dsp:sp>
    <dsp:sp modelId="{04CA3244-18EA-4E2E-84B7-01850C99D1A9}">
      <dsp:nvSpPr>
        <dsp:cNvPr id="0" name=""/>
        <dsp:cNvSpPr/>
      </dsp:nvSpPr>
      <dsp:spPr>
        <a:xfrm>
          <a:off x="3614865" y="241967"/>
          <a:ext cx="696386" cy="81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3500" kern="1200"/>
        </a:p>
      </dsp:txBody>
      <dsp:txXfrm>
        <a:off x="3614865" y="404895"/>
        <a:ext cx="487470" cy="488784"/>
      </dsp:txXfrm>
    </dsp:sp>
    <dsp:sp modelId="{D58C4B99-D94C-4A51-B2BD-17982D42AE57}">
      <dsp:nvSpPr>
        <dsp:cNvPr id="0" name=""/>
        <dsp:cNvSpPr/>
      </dsp:nvSpPr>
      <dsp:spPr>
        <a:xfrm>
          <a:off x="4600318" y="0"/>
          <a:ext cx="3284841" cy="12985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lvl="0" algn="ctr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HN" sz="4600" kern="1200" smtClean="0"/>
            <a:t>Secundarias</a:t>
          </a:r>
          <a:endParaRPr lang="es-HN" sz="4600" kern="1200"/>
        </a:p>
      </dsp:txBody>
      <dsp:txXfrm>
        <a:off x="4638352" y="38034"/>
        <a:ext cx="3208773" cy="1222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99C39-A02E-4069-BE9B-F3DDCE0777D7}" type="datetimeFigureOut">
              <a:rPr lang="es-HN" smtClean="0"/>
              <a:t>15/11/2021</a:t>
            </a:fld>
            <a:endParaRPr lang="es-H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9538" y="1138238"/>
            <a:ext cx="4098925" cy="3073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83088"/>
            <a:ext cx="5486400" cy="3586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50288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50288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7D302-DAFE-47D9-92B3-BDB36E426619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995921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s-HN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1581A-D0EF-4A39-AE35-32904A80314F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3207097816"/>
      </p:ext>
    </p:extLst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41C5-B6C0-40BC-9575-271E624E0756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3561774870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64D68-1C7E-4C23-951E-B6156B291306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3611856388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B898-44D0-4601-A942-5B2B48F40B96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2536989471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322F6-7012-496A-87F5-266D8E6F24DD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1441321851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49C1-8812-4943-8D35-649733ED12BA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1526092390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5C0E5-CB65-45F3-9108-C51E9763F49E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207120134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B4CA7-3307-462E-9B51-91CB9EE48198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2599235205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HN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195B0-9FF0-4FD5-A812-AD742101FCFA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3855715627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F77-94E2-426D-A2F1-844CD4E918C3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1065146281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altLang="es-HN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1CB22-C175-457B-A8E8-6FC3E4E34B43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2853569586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HN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s-HN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altLang="es-HN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40779-ADE3-481E-9086-4B533CC5BB0A}" type="slidenum">
              <a:rPr lang="es-ES" altLang="es-HN" smtClean="0"/>
              <a:pPr/>
              <a:t>‹Nº›</a:t>
            </a:fld>
            <a:endParaRPr lang="es-ES" altLang="es-HN"/>
          </a:p>
        </p:txBody>
      </p:sp>
    </p:spTree>
    <p:extLst>
      <p:ext uri="{BB962C8B-B14F-4D97-AF65-F5344CB8AC3E}">
        <p14:creationId xmlns:p14="http://schemas.microsoft.com/office/powerpoint/2010/main" val="43699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endParaRPr lang="es-ES" altLang="es-HN" b="1" u="sng">
              <a:solidFill>
                <a:srgbClr val="CCFF33"/>
              </a:solidFill>
              <a:latin typeface="Times New Roman" panose="02020603050405020304" pitchFamily="18" charset="0"/>
            </a:endParaRPr>
          </a:p>
          <a:p>
            <a:endParaRPr lang="es-ES" altLang="es-HN" b="1" u="sng">
              <a:solidFill>
                <a:srgbClr val="CCFF33"/>
              </a:solidFill>
              <a:latin typeface="Times New Roman" panose="02020603050405020304" pitchFamily="18" charset="0"/>
            </a:endParaRPr>
          </a:p>
          <a:p>
            <a:endParaRPr lang="es-ES" altLang="es-HN" b="1" u="sng">
              <a:solidFill>
                <a:srgbClr val="CCFF33"/>
              </a:solidFill>
              <a:latin typeface="Times New Roman" panose="02020603050405020304" pitchFamily="18" charset="0"/>
            </a:endParaRPr>
          </a:p>
          <a:p>
            <a:endParaRPr lang="es-ES" altLang="es-HN" sz="4400" b="1" u="sng">
              <a:solidFill>
                <a:srgbClr val="CCFF33"/>
              </a:solidFill>
              <a:latin typeface="Times New Roman" panose="02020603050405020304" pitchFamily="18" charset="0"/>
            </a:endParaRPr>
          </a:p>
          <a:p>
            <a:endParaRPr lang="es-ES" altLang="es-HN" sz="6000" b="1">
              <a:latin typeface="Times New Roman" panose="02020603050405020304" pitchFamily="18" charset="0"/>
            </a:endParaRPr>
          </a:p>
          <a:p>
            <a:endParaRPr lang="es-ES" altLang="es-HN" sz="6000" b="1">
              <a:latin typeface="Times New Roman" panose="02020603050405020304" pitchFamily="18" charset="0"/>
            </a:endParaRPr>
          </a:p>
          <a:p>
            <a:endParaRPr lang="es-ES" altLang="es-HN" sz="6000" b="1">
              <a:solidFill>
                <a:srgbClr val="CCFF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708321" y="3068960"/>
            <a:ext cx="7772400" cy="216024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 smtClean="0"/>
              <a:t>Manual de fondo para la entrega de los informes de práctica profesional y proyecto de graduación</a:t>
            </a:r>
            <a:endParaRPr lang="es-CL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1" y="18635"/>
            <a:ext cx="9144000" cy="2341418"/>
          </a:xfrm>
          <a:prstGeom prst="rect">
            <a:avLst/>
          </a:prstGeom>
        </p:spPr>
      </p:pic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MX" b="1" dirty="0">
              <a:latin typeface="Arial" pitchFamily="34" charset="0"/>
              <a:cs typeface="Arial" pitchFamily="34" charset="0"/>
            </a:endParaRPr>
          </a:p>
          <a:p>
            <a:endParaRPr lang="es-MX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4 Rectángulo"/>
          <p:cNvSpPr/>
          <p:nvPr/>
        </p:nvSpPr>
        <p:spPr>
          <a:xfrm>
            <a:off x="304800" y="381000"/>
            <a:ext cx="8316924" cy="6124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s-ES" sz="2800" b="1" dirty="0">
                <a:solidFill>
                  <a:srgbClr val="C00000"/>
                </a:solidFill>
                <a:cs typeface="Arial" pitchFamily="34" charset="0"/>
              </a:rPr>
              <a:t>La metodología </a:t>
            </a:r>
            <a:r>
              <a:rPr lang="es-ES" sz="2800" dirty="0">
                <a:cs typeface="Arial" pitchFamily="34" charset="0"/>
              </a:rPr>
              <a:t>es la descripción y análisis de los métodos. La </a:t>
            </a:r>
            <a:r>
              <a:rPr lang="es-ES" sz="2800" dirty="0" smtClean="0">
                <a:cs typeface="Arial" pitchFamily="34" charset="0"/>
              </a:rPr>
              <a:t>metodología de </a:t>
            </a:r>
            <a:r>
              <a:rPr lang="es-ES" sz="2800" dirty="0">
                <a:cs typeface="Arial" pitchFamily="34" charset="0"/>
              </a:rPr>
              <a:t>investigación se refiere, por tanto, al estudio de los métodos </a:t>
            </a:r>
            <a:r>
              <a:rPr lang="es-ES" sz="2800" dirty="0" smtClean="0">
                <a:cs typeface="Arial" pitchFamily="34" charset="0"/>
              </a:rPr>
              <a:t>de investigación</a:t>
            </a:r>
            <a:r>
              <a:rPr lang="es-ES" sz="2800" dirty="0">
                <a:cs typeface="Arial" pitchFamily="34" charset="0"/>
              </a:rPr>
              <a:t>. En palabras de Asti </a:t>
            </a:r>
            <a:r>
              <a:rPr lang="es-ES" sz="2800" dirty="0" smtClean="0">
                <a:cs typeface="Arial" pitchFamily="34" charset="0"/>
              </a:rPr>
              <a:t>Vera la </a:t>
            </a:r>
            <a:r>
              <a:rPr lang="es-ES" sz="2800" dirty="0">
                <a:cs typeface="Arial" pitchFamily="34" charset="0"/>
              </a:rPr>
              <a:t>metodología es el "</a:t>
            </a:r>
            <a:r>
              <a:rPr lang="es-ES" sz="2800" dirty="0" smtClean="0">
                <a:cs typeface="Arial" pitchFamily="34" charset="0"/>
              </a:rPr>
              <a:t>estudio analítico </a:t>
            </a:r>
            <a:r>
              <a:rPr lang="es-ES" sz="2800" dirty="0">
                <a:cs typeface="Arial" pitchFamily="34" charset="0"/>
              </a:rPr>
              <a:t>y crítico de los métodos de investigación y de prueba", que incluye </a:t>
            </a:r>
            <a:r>
              <a:rPr lang="es-ES" sz="2800" dirty="0" smtClean="0">
                <a:cs typeface="Arial" pitchFamily="34" charset="0"/>
              </a:rPr>
              <a:t>la </a:t>
            </a:r>
            <a:r>
              <a:rPr lang="es-MX" sz="2800" dirty="0" smtClean="0">
                <a:cs typeface="Arial" pitchFamily="34" charset="0"/>
              </a:rPr>
              <a:t>"descripción</a:t>
            </a:r>
            <a:r>
              <a:rPr lang="es-MX" sz="2800" dirty="0">
                <a:cs typeface="Arial" pitchFamily="34" charset="0"/>
              </a:rPr>
              <a:t>, </a:t>
            </a:r>
            <a:r>
              <a:rPr lang="es-MX" sz="2800" dirty="0" smtClean="0">
                <a:cs typeface="Arial" pitchFamily="34" charset="0"/>
              </a:rPr>
              <a:t>el </a:t>
            </a:r>
            <a:r>
              <a:rPr lang="es-ES" sz="2800" dirty="0" smtClean="0">
                <a:cs typeface="Arial" pitchFamily="34" charset="0"/>
              </a:rPr>
              <a:t>análisis </a:t>
            </a:r>
            <a:r>
              <a:rPr lang="es-ES" sz="2800" dirty="0">
                <a:cs typeface="Arial" pitchFamily="34" charset="0"/>
              </a:rPr>
              <a:t>y la valoración crítica de los métodos </a:t>
            </a:r>
            <a:r>
              <a:rPr lang="es-ES" sz="2800" dirty="0" smtClean="0">
                <a:cs typeface="Arial" pitchFamily="34" charset="0"/>
              </a:rPr>
              <a:t>de </a:t>
            </a:r>
            <a:r>
              <a:rPr lang="es-MX" sz="2800" dirty="0" smtClean="0">
                <a:cs typeface="Arial" pitchFamily="34" charset="0"/>
              </a:rPr>
              <a:t>investigación".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MX" sz="2800" dirty="0" smtClean="0">
              <a:cs typeface="Arial" pitchFamily="34" charset="0"/>
            </a:endParaRPr>
          </a:p>
          <a:p>
            <a:pPr algn="just"/>
            <a:r>
              <a:rPr lang="es-ES" sz="2800" dirty="0">
                <a:cs typeface="Arial" pitchFamily="34" charset="0"/>
              </a:rPr>
              <a:t>A la metodología le interesa más el proceso de investigación </a:t>
            </a:r>
            <a:r>
              <a:rPr lang="es-ES" sz="2800" dirty="0" smtClean="0">
                <a:cs typeface="Arial" pitchFamily="34" charset="0"/>
              </a:rPr>
              <a:t>que los </a:t>
            </a:r>
            <a:r>
              <a:rPr lang="es-ES" sz="2800" dirty="0">
                <a:cs typeface="Arial" pitchFamily="34" charset="0"/>
              </a:rPr>
              <a:t>resultados. </a:t>
            </a:r>
            <a:endParaRPr lang="es-ES" sz="2800" dirty="0" smtClean="0">
              <a:cs typeface="Arial" pitchFamily="34" charset="0"/>
            </a:endParaRPr>
          </a:p>
          <a:p>
            <a:pPr algn="just"/>
            <a:endParaRPr lang="es-ES" sz="2800" dirty="0" smtClean="0">
              <a:cs typeface="Arial" pitchFamily="34" charset="0"/>
            </a:endParaRPr>
          </a:p>
          <a:p>
            <a:pPr algn="just"/>
            <a:r>
              <a:rPr lang="es-ES" sz="2800" dirty="0" smtClean="0">
                <a:cs typeface="Arial" pitchFamily="34" charset="0"/>
              </a:rPr>
              <a:t>En </a:t>
            </a:r>
            <a:r>
              <a:rPr lang="es-ES" sz="2800" dirty="0">
                <a:cs typeface="Arial" pitchFamily="34" charset="0"/>
              </a:rPr>
              <a:t>el proceso de investigación científica caben </a:t>
            </a:r>
            <a:r>
              <a:rPr lang="es-ES" sz="2800" dirty="0" smtClean="0">
                <a:cs typeface="Arial" pitchFamily="34" charset="0"/>
              </a:rPr>
              <a:t>diversos enfoques</a:t>
            </a:r>
            <a:r>
              <a:rPr lang="es-ES" sz="2800" dirty="0" smtClean="0">
                <a:cs typeface="Arial" pitchFamily="34" charset="0"/>
              </a:rPr>
              <a:t>.</a:t>
            </a:r>
            <a:endParaRPr lang="es-MX" sz="2800" dirty="0">
              <a:cs typeface="Arial" pitchFamily="34" charset="0"/>
            </a:endParaRPr>
          </a:p>
          <a:p>
            <a:pPr algn="just"/>
            <a:endParaRPr lang="es-MX" sz="2800" dirty="0" smtClean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680222"/>
      </p:ext>
    </p:extLst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HN" altLang="es-HN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Enfoque y Métodos</a:t>
            </a:r>
            <a:endParaRPr lang="es-HN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7868" y="1594142"/>
            <a:ext cx="7886700" cy="1679575"/>
          </a:xfrm>
        </p:spPr>
        <p:txBody>
          <a:bodyPr/>
          <a:lstStyle/>
          <a:p>
            <a:r>
              <a:rPr lang="es-MX" dirty="0"/>
              <a:t>TIPOS DE INVESTIGACIÓN CIENTÍFICA </a:t>
            </a:r>
            <a:endParaRPr lang="es-MX" dirty="0" smtClean="0"/>
          </a:p>
          <a:p>
            <a:r>
              <a:rPr lang="es-MX" dirty="0" smtClean="0"/>
              <a:t>El </a:t>
            </a:r>
            <a:r>
              <a:rPr lang="es-MX" dirty="0"/>
              <a:t>tipo de investigación, al elaborar un proyecto, se define preliminarmente desde la etapa de identificación y formulación del problema; sin embargo, cada etapa del proceso de investigación provee elementos que sirven para su selección definitiva</a:t>
            </a:r>
            <a:r>
              <a:rPr lang="es-MX" dirty="0" smtClean="0"/>
              <a:t>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2941" t="27083" r="23530" b="41667"/>
          <a:stretch/>
        </p:blipFill>
        <p:spPr>
          <a:xfrm>
            <a:off x="607868" y="3359732"/>
            <a:ext cx="8068870" cy="26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27545"/>
      </p:ext>
    </p:extLst>
  </p:cSld>
  <p:clrMapOvr>
    <a:masterClrMapping/>
  </p:clrMapOvr>
  <p:transition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HN" sz="4000" b="1" dirty="0" smtClean="0"/>
              <a:t>Clasificación de los tipos de investigación</a:t>
            </a:r>
            <a:endParaRPr lang="es-HN" sz="4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TIPOS DE INVESTIGACIÓN CIENTÍFICA INVESTIGACIÓN CUANTITATIVA. En este tipo de investigación el objetivo es establecer relaciones causales que supongan una explicación del objeto de investigación, se basa sobre muestras grandes y representativas de una población determinada, utiliza la estadística como herramienta básica para el análisis de datos. Predomina el método hipotético-deductivo. </a:t>
            </a:r>
            <a:endParaRPr lang="es-HN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INVESTIGACIÓN CUALITATIVA. Se caracteriza porque son estudios intensivos y de profundidad que se aplican, por lo general, en muestras pequeñas para lograr la interpretación del fenómeno que se quiere investigar. A este tipo de investigación le interesa lo particular; lo contextual, los relatos vividos, predomina el método inductivo.</a:t>
            </a:r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476529972"/>
      </p:ext>
    </p:extLst>
  </p:cSld>
  <p:clrMapOvr>
    <a:masterClrMapping/>
  </p:clrMapOvr>
  <p:transition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HN" sz="4000" b="1" dirty="0" smtClean="0"/>
              <a:t>Clasificación de los tipos de investigación</a:t>
            </a:r>
            <a:endParaRPr lang="es-HN" sz="40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981950" cy="4351338"/>
          </a:xfrm>
        </p:spPr>
        <p:txBody>
          <a:bodyPr>
            <a:normAutofit/>
          </a:bodyPr>
          <a:lstStyle/>
          <a:p>
            <a:r>
              <a:rPr lang="es-MX" dirty="0"/>
              <a:t>INVESTIGACIÓN TECNOLÓGICA Responde a problemas técnicos, está orientada a demostrar la validez de ciertas técnicas bajo las cuales se aplican principios científicos que demuestren su eficacia en la modificación o trasformación de un hecho o fenómeno. La investigación tecnológica aprovecha del conocimiento teórico científico producto de la investigación básica o sustantiva y organiza reglas técnicas cuya aplicación posibilita cambios en la realidad.</a:t>
            </a:r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362876292"/>
      </p:ext>
    </p:extLst>
  </p:cSld>
  <p:clrMapOvr>
    <a:masterClrMapping/>
  </p:clrMapOvr>
  <p:transition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just" defTabSz="914400" eaLnBrk="0" fontAlgn="base" hangingPunct="0">
              <a:lnSpc>
                <a:spcPct val="100000"/>
              </a:lnSpc>
              <a:spcAft>
                <a:spcPct val="0"/>
              </a:spcAft>
              <a:tabLst>
                <a:tab pos="558800" algn="l"/>
                <a:tab pos="5937250" algn="r"/>
              </a:tabLst>
            </a:pPr>
            <a:r>
              <a:rPr kumimoji="0" lang="es-HN" altLang="es-HN" sz="4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Población y Muestra</a:t>
            </a:r>
            <a:endParaRPr kumimoji="0" lang="es-HN" altLang="es-H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981950" cy="4351338"/>
          </a:xfrm>
        </p:spPr>
        <p:txBody>
          <a:bodyPr>
            <a:normAutofit/>
          </a:bodyPr>
          <a:lstStyle/>
          <a:p>
            <a:r>
              <a:rPr lang="es-MX" dirty="0"/>
              <a:t>Al realizar la investigación, casi nunca es posible estudiar a toda la población que te interesa. </a:t>
            </a:r>
            <a:endParaRPr lang="es-MX" dirty="0" smtClean="0"/>
          </a:p>
          <a:p>
            <a:r>
              <a:rPr lang="es-MX" dirty="0" smtClean="0"/>
              <a:t>Esta </a:t>
            </a:r>
            <a:r>
              <a:rPr lang="es-MX" dirty="0"/>
              <a:t>es la razón por la que los investigadores utilizan diversos </a:t>
            </a:r>
            <a:r>
              <a:rPr lang="es-MX" b="1" dirty="0"/>
              <a:t>tipos de muestreo </a:t>
            </a:r>
            <a:r>
              <a:rPr lang="es-MX" dirty="0"/>
              <a:t>cuando pretenden recopilar datos y responder las preguntas de investigación</a:t>
            </a:r>
            <a:r>
              <a:rPr lang="es-MX" dirty="0" smtClean="0"/>
              <a:t>.</a:t>
            </a:r>
          </a:p>
          <a:p>
            <a:r>
              <a:rPr lang="es-MX" dirty="0"/>
              <a:t>Una muestra es un subconjunto de la población que está siendo estudiada. Representa la mayor población y se utiliza para sacar conclusiones de esa población. </a:t>
            </a:r>
            <a:endParaRPr lang="es-MX" dirty="0" smtClean="0"/>
          </a:p>
          <a:p>
            <a:r>
              <a:rPr lang="es-MX" dirty="0" smtClean="0"/>
              <a:t>Es </a:t>
            </a:r>
            <a:r>
              <a:rPr lang="es-MX" dirty="0"/>
              <a:t>una técnica de investigación ampliamente utilizada en las ciencias sociales como una manera de recopilar información sin tener que medir a toda la población.</a:t>
            </a:r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674888978"/>
      </p:ext>
    </p:extLst>
  </p:cSld>
  <p:clrMapOvr>
    <a:masterClrMapping/>
  </p:clrMapOvr>
  <p:transition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2" descr="tipos de muestreo probabilístico y no probabilísti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85725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605827"/>
      </p:ext>
    </p:extLst>
  </p:cSld>
  <p:clrMapOvr>
    <a:masterClrMapping/>
  </p:clrMapOvr>
  <p:transition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/>
              <a:t>Unidad de análisis</a:t>
            </a:r>
            <a:endParaRPr lang="es-HN" sz="36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52400" y="1690689"/>
            <a:ext cx="6381750" cy="4351338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La unidad de análisis corresponde a la entidad mayor o representativa de lo que va a ser objeto específico de estudio en una medición y se refiere al qué o quién es objeto de interés en una investigación. Por ejemplo: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/>
            </a:r>
            <a:br>
              <a:rPr lang="es-MX" dirty="0" smtClean="0"/>
            </a:br>
            <a:r>
              <a:rPr lang="es-MX" dirty="0"/>
              <a:t>Debe estar claramente definida en un protocolo de investigación y el investigador debe obtener la información a partir de la unidad que haya sido definida como tal, aun cuando, para acceder a ella, haya debido recorrer pasos intermedios. Las unidades de análisis pueden corresponder a las siguientes categorías o entidades</a:t>
            </a:r>
            <a:r>
              <a:rPr lang="es-MX" dirty="0" smtClean="0"/>
              <a:t>:</a:t>
            </a:r>
          </a:p>
          <a:p>
            <a:pPr marL="800100" lvl="1" indent="-457200">
              <a:buFont typeface="+mj-lt"/>
              <a:buAutoNum type="arabicPeriod"/>
            </a:pPr>
            <a:r>
              <a:rPr lang="es-HN" dirty="0" smtClean="0"/>
              <a:t>Personas</a:t>
            </a:r>
          </a:p>
          <a:p>
            <a:pPr marL="800100" lvl="1" indent="-457200">
              <a:buFont typeface="+mj-lt"/>
              <a:buAutoNum type="arabicPeriod"/>
            </a:pPr>
            <a:r>
              <a:rPr lang="es-HN" dirty="0" smtClean="0"/>
              <a:t>Grupos humanos</a:t>
            </a:r>
          </a:p>
          <a:p>
            <a:pPr marL="800100" lvl="1" indent="-457200">
              <a:buFont typeface="+mj-lt"/>
              <a:buAutoNum type="arabicPeriod"/>
            </a:pPr>
            <a:r>
              <a:rPr lang="es-HN" dirty="0" smtClean="0"/>
              <a:t>Poblaciones completas Unidades </a:t>
            </a:r>
            <a:r>
              <a:rPr lang="es-HN" dirty="0"/>
              <a:t>geográficas </a:t>
            </a:r>
            <a:r>
              <a:rPr lang="es-HN" dirty="0" smtClean="0"/>
              <a:t>determinadas</a:t>
            </a:r>
          </a:p>
          <a:p>
            <a:pPr marL="800100" lvl="1" indent="-457200">
              <a:buFont typeface="+mj-lt"/>
              <a:buAutoNum type="arabicPeriod"/>
            </a:pPr>
            <a:r>
              <a:rPr lang="es-HN" dirty="0" smtClean="0"/>
              <a:t>Eventos </a:t>
            </a:r>
            <a:r>
              <a:rPr lang="es-HN" dirty="0"/>
              <a:t>o interacciones sociales (enfermedades, accidentes, casos de infecciones intrahospitalarias, </a:t>
            </a:r>
            <a:r>
              <a:rPr lang="es-HN" dirty="0" err="1"/>
              <a:t>etc</a:t>
            </a:r>
            <a:r>
              <a:rPr lang="es-HN" dirty="0" smtClean="0"/>
              <a:t>)</a:t>
            </a:r>
          </a:p>
          <a:p>
            <a:pPr marL="800100" lvl="1" indent="-457200">
              <a:buFont typeface="+mj-lt"/>
              <a:buAutoNum type="arabicPeriod"/>
            </a:pPr>
            <a:r>
              <a:rPr lang="es-HN" dirty="0" smtClean="0"/>
              <a:t>Entidades </a:t>
            </a:r>
            <a:r>
              <a:rPr lang="es-HN" dirty="0"/>
              <a:t>intangibles, susceptibles de medir (exámenes, días camas)</a:t>
            </a:r>
          </a:p>
        </p:txBody>
      </p:sp>
      <p:pic>
        <p:nvPicPr>
          <p:cNvPr id="154626" name="Picture 2" descr="https://3.bp.blogspot.com/-ritLFBxg-CA/V9YT-G6yDRI/AAAAAAAAImU/L0jz6XH7uKU8CfL7KUQpgvXfgGENsSNLACLcB/s640/investigacin-unidad-de-anlisis-variables-5-63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6" t="23398" r="11024" b="3064"/>
          <a:stretch/>
        </p:blipFill>
        <p:spPr bwMode="auto">
          <a:xfrm>
            <a:off x="6534150" y="2362200"/>
            <a:ext cx="2381251" cy="2806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759326"/>
      </p:ext>
    </p:extLst>
  </p:cSld>
  <p:clrMapOvr>
    <a:masterClrMapping/>
  </p:clrMapOvr>
  <p:transition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kumimoji="0" lang="es-HN" altLang="es-HN" sz="3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Técnicas e Instrumentos Aplicados</a:t>
            </a:r>
            <a:endParaRPr lang="es-HN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s-MX" dirty="0"/>
              <a:t>Los datos cualitativos consisten en la descripción detallada de situaciones, eventos, personas, comportamientos observables, citas textuales de la gente sobre sus experiencias</a:t>
            </a:r>
            <a:r>
              <a:rPr lang="es-MX" dirty="0" smtClean="0"/>
              <a:t>, actitudes</a:t>
            </a:r>
            <a:r>
              <a:rPr lang="es-MX" dirty="0"/>
              <a:t>, creencias y pensamientos.</a:t>
            </a:r>
          </a:p>
          <a:p>
            <a:pPr fontAlgn="base"/>
            <a:r>
              <a:rPr lang="es-MX" dirty="0" smtClean="0"/>
              <a:t>Estos </a:t>
            </a:r>
            <a:r>
              <a:rPr lang="es-MX" dirty="0"/>
              <a:t>datos cualitativos pueden recogerse utilizando instrumentos como: </a:t>
            </a:r>
            <a:endParaRPr lang="es-MX" dirty="0" smtClean="0"/>
          </a:p>
          <a:p>
            <a:pPr lvl="1" fontAlgn="base"/>
            <a:r>
              <a:rPr lang="es-MX" dirty="0"/>
              <a:t>G</a:t>
            </a:r>
            <a:r>
              <a:rPr lang="es-MX" dirty="0" smtClean="0"/>
              <a:t>rabación </a:t>
            </a:r>
            <a:r>
              <a:rPr lang="es-MX" dirty="0"/>
              <a:t>de entrevistas individuales, </a:t>
            </a:r>
            <a:endParaRPr lang="es-MX" dirty="0" smtClean="0"/>
          </a:p>
          <a:p>
            <a:pPr lvl="1" fontAlgn="base"/>
            <a:r>
              <a:rPr lang="es-MX" dirty="0" smtClean="0"/>
              <a:t>Vídeos </a:t>
            </a:r>
            <a:r>
              <a:rPr lang="es-MX" dirty="0"/>
              <a:t>de observaciones de eventos particulares, </a:t>
            </a:r>
            <a:endParaRPr lang="es-MX" dirty="0" smtClean="0"/>
          </a:p>
          <a:p>
            <a:pPr lvl="1" fontAlgn="base"/>
            <a:r>
              <a:rPr lang="es-MX" dirty="0"/>
              <a:t>T</a:t>
            </a:r>
            <a:r>
              <a:rPr lang="es-MX" dirty="0" smtClean="0"/>
              <a:t>estimonios </a:t>
            </a:r>
            <a:r>
              <a:rPr lang="es-MX" dirty="0"/>
              <a:t>escritos de las personas con respecto al tema a </a:t>
            </a:r>
            <a:r>
              <a:rPr lang="es-MX" dirty="0" smtClean="0"/>
              <a:t>investigar,</a:t>
            </a:r>
          </a:p>
          <a:p>
            <a:pPr lvl="1" fontAlgn="base"/>
            <a:r>
              <a:rPr lang="es-MX" dirty="0"/>
              <a:t>F</a:t>
            </a:r>
            <a:r>
              <a:rPr lang="es-MX" dirty="0" smtClean="0"/>
              <a:t>otografías</a:t>
            </a:r>
            <a:r>
              <a:rPr lang="es-MX" dirty="0"/>
              <a:t>, </a:t>
            </a:r>
            <a:endParaRPr lang="es-MX" dirty="0" smtClean="0"/>
          </a:p>
          <a:p>
            <a:pPr lvl="1" fontAlgn="base"/>
            <a:r>
              <a:rPr lang="es-MX" dirty="0" smtClean="0"/>
              <a:t>Historias </a:t>
            </a:r>
            <a:r>
              <a:rPr lang="es-MX" dirty="0"/>
              <a:t>de vida, </a:t>
            </a:r>
            <a:endParaRPr lang="es-MX" dirty="0" smtClean="0"/>
          </a:p>
          <a:p>
            <a:pPr lvl="1" fontAlgn="base"/>
            <a:r>
              <a:rPr lang="es-MX" dirty="0" smtClean="0"/>
              <a:t>Documentos </a:t>
            </a:r>
            <a:r>
              <a:rPr lang="es-MX" dirty="0"/>
              <a:t>escritos como: actas, recortes de prensa.</a:t>
            </a:r>
          </a:p>
          <a:p>
            <a:pPr fontAlgn="base"/>
            <a:r>
              <a:rPr lang="es-MX" dirty="0" smtClean="0"/>
              <a:t>Cuando </a:t>
            </a:r>
            <a:r>
              <a:rPr lang="es-MX" dirty="0"/>
              <a:t>se realiza una investigación cualitativa ,se exige la participación del grupo, se definir el problema a investigar, y el investigador principal debe ser un buen coordinador, mediador y facilitador para que genere un proceso de comunicación con el grupo.</a:t>
            </a:r>
          </a:p>
          <a:p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861015705"/>
      </p:ext>
    </p:extLst>
  </p:cSld>
  <p:clrMapOvr>
    <a:masterClrMapping/>
  </p:clrMapOvr>
  <p:transition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4117" t="3125" r="14117" b="8333"/>
          <a:stretch/>
        </p:blipFill>
        <p:spPr>
          <a:xfrm>
            <a:off x="533400" y="533400"/>
            <a:ext cx="7924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90530"/>
      </p:ext>
    </p:extLst>
  </p:cSld>
  <p:clrMapOvr>
    <a:masterClrMapping/>
  </p:clrMapOvr>
  <p:transition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4118" t="3126" r="14117" b="26041"/>
          <a:stretch/>
        </p:blipFill>
        <p:spPr>
          <a:xfrm>
            <a:off x="228600" y="685800"/>
            <a:ext cx="833941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67982"/>
      </p:ext>
    </p:extLst>
  </p:cSld>
  <p:clrMapOvr>
    <a:masterClrMapping/>
  </p:clrMapOvr>
  <p:transition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HN" b="1" dirty="0" smtClean="0"/>
              <a:t>Fuentes de información</a:t>
            </a:r>
            <a:endParaRPr lang="es-HN" b="1" dirty="0"/>
          </a:p>
        </p:txBody>
      </p:sp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220318"/>
              </p:ext>
            </p:extLst>
          </p:nvPr>
        </p:nvGraphicFramePr>
        <p:xfrm>
          <a:off x="628650" y="1825625"/>
          <a:ext cx="7886700" cy="1298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ítulo 1"/>
          <p:cNvSpPr txBox="1">
            <a:spLocks/>
          </p:cNvSpPr>
          <p:nvPr/>
        </p:nvSpPr>
        <p:spPr>
          <a:xfrm>
            <a:off x="501361" y="320328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HN" b="1" dirty="0" smtClean="0"/>
              <a:t>Cronograma</a:t>
            </a:r>
            <a:endParaRPr lang="es-HN" b="1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501361" y="4517442"/>
            <a:ext cx="8210550" cy="1524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s-MX" dirty="0"/>
              <a:t>Un cronograma es, sencillamente, un calendario de trabajo, que permite prever para todas las fases necesarias para completar un proyecto, unas fechas de comienzo y final. Su función es ayudarte a planificar y a terminar el trabajo a tiempo</a:t>
            </a:r>
            <a:endParaRPr lang="es-HN" dirty="0"/>
          </a:p>
        </p:txBody>
      </p:sp>
    </p:spTree>
    <p:extLst>
      <p:ext uri="{BB962C8B-B14F-4D97-AF65-F5344CB8AC3E}">
        <p14:creationId xmlns:p14="http://schemas.microsoft.com/office/powerpoint/2010/main" val="1359030328"/>
      </p:ext>
    </p:extLst>
  </p:cSld>
  <p:clrMapOvr>
    <a:masterClrMapping/>
  </p:clrMapOvr>
  <p:transition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14118" t="3125" r="14704" b="9375"/>
          <a:stretch/>
        </p:blipFill>
        <p:spPr>
          <a:xfrm>
            <a:off x="304800" y="381000"/>
            <a:ext cx="845185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90136"/>
      </p:ext>
    </p:extLst>
  </p:cSld>
  <p:clrMapOvr>
    <a:masterClrMapping/>
  </p:clrMapOvr>
  <p:transition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457200" y="274638"/>
            <a:ext cx="8229600" cy="868362"/>
          </a:xfrm>
          <a:prstGeom prst="rect">
            <a:avLst/>
          </a:prstGeom>
          <a:solidFill>
            <a:srgbClr val="FFFFCC"/>
          </a:solidFill>
        </p:spPr>
        <p:txBody>
          <a:bodyPr/>
          <a:lstStyle/>
          <a:p>
            <a:pPr algn="ctr" eaLnBrk="0" hangingPunct="0">
              <a:defRPr/>
            </a:pPr>
            <a:r>
              <a:rPr lang="es-MX" sz="4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Análisis de los resultados</a:t>
            </a:r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827088" y="1628775"/>
            <a:ext cx="76327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HN" sz="2400" b="1"/>
              <a:t>Interpretación de los datos</a:t>
            </a:r>
            <a:r>
              <a:rPr lang="es-MX" altLang="es-HN" sz="2400"/>
              <a:t>:</a:t>
            </a:r>
            <a:r>
              <a:rPr lang="es-MX" altLang="es-HN" sz="2000"/>
              <a:t> La última etapa del proceso de la investigación consiste en interpretar los resultados obtenidos</a:t>
            </a:r>
          </a:p>
        </p:txBody>
      </p:sp>
      <p:sp>
        <p:nvSpPr>
          <p:cNvPr id="29700" name="Text Box 6"/>
          <p:cNvSpPr txBox="1">
            <a:spLocks noChangeArrowheads="1"/>
          </p:cNvSpPr>
          <p:nvPr/>
        </p:nvSpPr>
        <p:spPr bwMode="auto">
          <a:xfrm>
            <a:off x="827088" y="2852738"/>
            <a:ext cx="7416800" cy="210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HN" sz="2400" b="1"/>
              <a:t>i) Ordenamiento de los datos</a:t>
            </a:r>
            <a:r>
              <a:rPr lang="es-MX" altLang="es-HN" sz="2400"/>
              <a:t> 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MX" altLang="es-HN" b="1"/>
              <a:t>Gráfica</a:t>
            </a:r>
            <a:r>
              <a:rPr lang="es-MX" altLang="es-HN"/>
              <a:t>: Auxiliar ilustrativo que permite presentar e interpretar los datos y resultados de la investigación. (Histogramas, polígono de frecuencias, gráfica circular, pictograma, organigrama, diagrama, etc.)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MX" altLang="es-HN" b="1"/>
              <a:t>Tablas</a:t>
            </a:r>
            <a:r>
              <a:rPr lang="es-MX" altLang="es-HN"/>
              <a:t>: Representación de una relación de resultados expresada mediante una un esquema numérico</a:t>
            </a:r>
          </a:p>
        </p:txBody>
      </p:sp>
      <p:sp>
        <p:nvSpPr>
          <p:cNvPr id="29701" name="Text Box 7"/>
          <p:cNvSpPr txBox="1">
            <a:spLocks noChangeArrowheads="1"/>
          </p:cNvSpPr>
          <p:nvPr/>
        </p:nvSpPr>
        <p:spPr bwMode="auto">
          <a:xfrm>
            <a:off x="827088" y="5300663"/>
            <a:ext cx="7561262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HN" sz="2400" b="1"/>
              <a:t>ii) Análisis</a:t>
            </a:r>
            <a:r>
              <a:rPr lang="es-MX" altLang="es-HN"/>
              <a:t>: El análisis gira en torno a confrontación de las hipótesis de trabajo con la interpretación de los 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1298211954"/>
      </p:ext>
    </p:extLst>
  </p:cSld>
  <p:clrMapOvr>
    <a:masterClrMapping/>
  </p:clrMapOvr>
  <p:transition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457200" y="71438"/>
            <a:ext cx="8229600" cy="719137"/>
          </a:xfrm>
          <a:prstGeom prst="rect">
            <a:avLst/>
          </a:prstGeom>
          <a:solidFill>
            <a:srgbClr val="FFFFCC"/>
          </a:solidFill>
        </p:spPr>
        <p:txBody>
          <a:bodyPr/>
          <a:lstStyle/>
          <a:p>
            <a:pPr algn="ctr" eaLnBrk="0" hangingPunct="0">
              <a:defRPr/>
            </a:pPr>
            <a:r>
              <a:rPr lang="es-MX" sz="4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Evaluación</a:t>
            </a:r>
          </a:p>
        </p:txBody>
      </p:sp>
      <p:sp>
        <p:nvSpPr>
          <p:cNvPr id="30723" name="Rectangle 6"/>
          <p:cNvSpPr>
            <a:spLocks noChangeArrowheads="1"/>
          </p:cNvSpPr>
          <p:nvPr/>
        </p:nvSpPr>
        <p:spPr bwMode="auto">
          <a:xfrm>
            <a:off x="250825" y="1125538"/>
            <a:ext cx="8713788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HN"/>
          </a:p>
        </p:txBody>
      </p:sp>
      <p:sp>
        <p:nvSpPr>
          <p:cNvPr id="30724" name="Text Box 8"/>
          <p:cNvSpPr txBox="1">
            <a:spLocks noChangeArrowheads="1"/>
          </p:cNvSpPr>
          <p:nvPr/>
        </p:nvSpPr>
        <p:spPr bwMode="auto">
          <a:xfrm>
            <a:off x="2771775" y="1412875"/>
            <a:ext cx="40322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 sz="2400"/>
              <a:t>Problema de investigación</a:t>
            </a:r>
          </a:p>
        </p:txBody>
      </p:sp>
      <p:sp>
        <p:nvSpPr>
          <p:cNvPr id="30725" name="Text Box 9"/>
          <p:cNvSpPr txBox="1">
            <a:spLocks noChangeArrowheads="1"/>
          </p:cNvSpPr>
          <p:nvPr/>
        </p:nvSpPr>
        <p:spPr bwMode="auto">
          <a:xfrm>
            <a:off x="2771775" y="2133600"/>
            <a:ext cx="396081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 sz="2400"/>
              <a:t>Desarrollo</a:t>
            </a:r>
          </a:p>
        </p:txBody>
      </p:sp>
      <p:sp>
        <p:nvSpPr>
          <p:cNvPr id="30726" name="Text Box 10"/>
          <p:cNvSpPr txBox="1">
            <a:spLocks noChangeArrowheads="1"/>
          </p:cNvSpPr>
          <p:nvPr/>
        </p:nvSpPr>
        <p:spPr bwMode="auto">
          <a:xfrm>
            <a:off x="2700338" y="2852738"/>
            <a:ext cx="40322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 sz="2400"/>
              <a:t>Resultados</a:t>
            </a:r>
          </a:p>
        </p:txBody>
      </p:sp>
      <p:sp>
        <p:nvSpPr>
          <p:cNvPr id="30727" name="Text Box 11"/>
          <p:cNvSpPr txBox="1">
            <a:spLocks noChangeArrowheads="1"/>
          </p:cNvSpPr>
          <p:nvPr/>
        </p:nvSpPr>
        <p:spPr bwMode="auto">
          <a:xfrm>
            <a:off x="2700338" y="3644900"/>
            <a:ext cx="40322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 sz="2400"/>
              <a:t>Evaluación</a:t>
            </a:r>
          </a:p>
        </p:txBody>
      </p:sp>
      <p:sp>
        <p:nvSpPr>
          <p:cNvPr id="30728" name="Text Box 12"/>
          <p:cNvSpPr txBox="1">
            <a:spLocks noChangeArrowheads="1"/>
          </p:cNvSpPr>
          <p:nvPr/>
        </p:nvSpPr>
        <p:spPr bwMode="auto">
          <a:xfrm>
            <a:off x="2700338" y="6021388"/>
            <a:ext cx="4032250" cy="466725"/>
          </a:xfrm>
          <a:prstGeom prst="rect">
            <a:avLst/>
          </a:prstGeom>
          <a:noFill/>
          <a:ln w="9525">
            <a:solidFill>
              <a:schemeClr val="tx1"/>
            </a:solidFill>
            <a:prstDash val="lgDashDot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 sz="2400"/>
              <a:t>Presentación</a:t>
            </a:r>
          </a:p>
        </p:txBody>
      </p:sp>
      <p:grpSp>
        <p:nvGrpSpPr>
          <p:cNvPr id="30729" name="Group 21"/>
          <p:cNvGrpSpPr>
            <a:grpSpLocks/>
          </p:cNvGrpSpPr>
          <p:nvPr/>
        </p:nvGrpSpPr>
        <p:grpSpPr bwMode="auto">
          <a:xfrm>
            <a:off x="7092950" y="779463"/>
            <a:ext cx="1511300" cy="792162"/>
            <a:chOff x="4604" y="890"/>
            <a:chExt cx="952" cy="499"/>
          </a:xfrm>
        </p:grpSpPr>
        <p:sp>
          <p:nvSpPr>
            <p:cNvPr id="30753" name="Oval 17"/>
            <p:cNvSpPr>
              <a:spLocks noChangeArrowheads="1"/>
            </p:cNvSpPr>
            <p:nvPr/>
          </p:nvSpPr>
          <p:spPr bwMode="auto">
            <a:xfrm>
              <a:off x="4604" y="890"/>
              <a:ext cx="952" cy="49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HN"/>
            </a:p>
          </p:txBody>
        </p:sp>
        <p:sp>
          <p:nvSpPr>
            <p:cNvPr id="30754" name="Text Box 18"/>
            <p:cNvSpPr txBox="1">
              <a:spLocks noChangeArrowheads="1"/>
            </p:cNvSpPr>
            <p:nvPr/>
          </p:nvSpPr>
          <p:spPr bwMode="auto">
            <a:xfrm>
              <a:off x="4694" y="1026"/>
              <a:ext cx="8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MX" altLang="es-HN"/>
                <a:t>Hipótesis</a:t>
              </a:r>
            </a:p>
          </p:txBody>
        </p:sp>
      </p:grpSp>
      <p:sp>
        <p:nvSpPr>
          <p:cNvPr id="30730" name="Line 27"/>
          <p:cNvSpPr>
            <a:spLocks noChangeShapeType="1"/>
          </p:cNvSpPr>
          <p:nvPr/>
        </p:nvSpPr>
        <p:spPr bwMode="auto">
          <a:xfrm>
            <a:off x="4572000" y="1916113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31" name="Line 28"/>
          <p:cNvSpPr>
            <a:spLocks noChangeShapeType="1"/>
          </p:cNvSpPr>
          <p:nvPr/>
        </p:nvSpPr>
        <p:spPr bwMode="auto">
          <a:xfrm>
            <a:off x="4572000" y="26368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32" name="Line 29"/>
          <p:cNvSpPr>
            <a:spLocks noChangeShapeType="1"/>
          </p:cNvSpPr>
          <p:nvPr/>
        </p:nvSpPr>
        <p:spPr bwMode="auto">
          <a:xfrm>
            <a:off x="4572000" y="33575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33" name="Line 30"/>
          <p:cNvSpPr>
            <a:spLocks noChangeShapeType="1"/>
          </p:cNvSpPr>
          <p:nvPr/>
        </p:nvSpPr>
        <p:spPr bwMode="auto">
          <a:xfrm>
            <a:off x="4546600" y="575945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34" name="AutoShape 31"/>
          <p:cNvSpPr>
            <a:spLocks noChangeArrowheads="1"/>
          </p:cNvSpPr>
          <p:nvPr/>
        </p:nvSpPr>
        <p:spPr bwMode="auto">
          <a:xfrm>
            <a:off x="3132138" y="4365625"/>
            <a:ext cx="2808287" cy="1368425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HN"/>
          </a:p>
        </p:txBody>
      </p:sp>
      <p:sp>
        <p:nvSpPr>
          <p:cNvPr id="30735" name="Text Box 32"/>
          <p:cNvSpPr txBox="1">
            <a:spLocks noChangeArrowheads="1"/>
          </p:cNvSpPr>
          <p:nvPr/>
        </p:nvSpPr>
        <p:spPr bwMode="auto">
          <a:xfrm>
            <a:off x="3741738" y="4559300"/>
            <a:ext cx="1630362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 b="1"/>
              <a:t>hipótesis y objetivos satisfechos</a:t>
            </a:r>
          </a:p>
        </p:txBody>
      </p:sp>
      <p:sp>
        <p:nvSpPr>
          <p:cNvPr id="30736" name="Text Box 33"/>
          <p:cNvSpPr txBox="1">
            <a:spLocks noChangeArrowheads="1"/>
          </p:cNvSpPr>
          <p:nvPr/>
        </p:nvSpPr>
        <p:spPr bwMode="auto">
          <a:xfrm>
            <a:off x="4787900" y="5589588"/>
            <a:ext cx="576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HN"/>
              <a:t>si</a:t>
            </a:r>
          </a:p>
        </p:txBody>
      </p:sp>
      <p:sp>
        <p:nvSpPr>
          <p:cNvPr id="30737" name="Line 34"/>
          <p:cNvSpPr>
            <a:spLocks noChangeShapeType="1"/>
          </p:cNvSpPr>
          <p:nvPr/>
        </p:nvSpPr>
        <p:spPr bwMode="auto">
          <a:xfrm>
            <a:off x="5976938" y="5051425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38" name="Text Box 35"/>
          <p:cNvSpPr txBox="1">
            <a:spLocks noChangeArrowheads="1"/>
          </p:cNvSpPr>
          <p:nvPr/>
        </p:nvSpPr>
        <p:spPr bwMode="auto">
          <a:xfrm>
            <a:off x="5867400" y="4691063"/>
            <a:ext cx="576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HN"/>
              <a:t>no</a:t>
            </a:r>
          </a:p>
        </p:txBody>
      </p:sp>
      <p:sp>
        <p:nvSpPr>
          <p:cNvPr id="30739" name="Line 37"/>
          <p:cNvSpPr>
            <a:spLocks noChangeShapeType="1"/>
          </p:cNvSpPr>
          <p:nvPr/>
        </p:nvSpPr>
        <p:spPr bwMode="auto">
          <a:xfrm>
            <a:off x="4546600" y="410210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40" name="Text Box 38"/>
          <p:cNvSpPr txBox="1">
            <a:spLocks noChangeArrowheads="1"/>
          </p:cNvSpPr>
          <p:nvPr/>
        </p:nvSpPr>
        <p:spPr bwMode="auto">
          <a:xfrm>
            <a:off x="6372225" y="4724400"/>
            <a:ext cx="2592388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altLang="es-HN"/>
              <a:t>Replantear el problema de investigación</a:t>
            </a:r>
          </a:p>
        </p:txBody>
      </p:sp>
      <p:sp>
        <p:nvSpPr>
          <p:cNvPr id="30741" name="Freeform 39"/>
          <p:cNvSpPr>
            <a:spLocks/>
          </p:cNvSpPr>
          <p:nvPr/>
        </p:nvSpPr>
        <p:spPr bwMode="auto">
          <a:xfrm>
            <a:off x="5792788" y="944563"/>
            <a:ext cx="1350962" cy="484187"/>
          </a:xfrm>
          <a:custGeom>
            <a:avLst/>
            <a:gdLst>
              <a:gd name="T0" fmla="*/ 1044 w 1044"/>
              <a:gd name="T1" fmla="*/ 45 h 318"/>
              <a:gd name="T2" fmla="*/ 318 w 1044"/>
              <a:gd name="T3" fmla="*/ 45 h 318"/>
              <a:gd name="T4" fmla="*/ 0 w 1044"/>
              <a:gd name="T5" fmla="*/ 318 h 318"/>
              <a:gd name="T6" fmla="*/ 0 60000 65536"/>
              <a:gd name="T7" fmla="*/ 0 60000 65536"/>
              <a:gd name="T8" fmla="*/ 0 60000 65536"/>
              <a:gd name="T9" fmla="*/ 0 w 1044"/>
              <a:gd name="T10" fmla="*/ 0 h 318"/>
              <a:gd name="T11" fmla="*/ 1044 w 1044"/>
              <a:gd name="T12" fmla="*/ 318 h 3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4" h="318">
                <a:moveTo>
                  <a:pt x="1044" y="45"/>
                </a:moveTo>
                <a:cubicBezTo>
                  <a:pt x="768" y="22"/>
                  <a:pt x="492" y="0"/>
                  <a:pt x="318" y="45"/>
                </a:cubicBezTo>
                <a:cubicBezTo>
                  <a:pt x="144" y="90"/>
                  <a:pt x="72" y="204"/>
                  <a:pt x="0" y="31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HN"/>
          </a:p>
        </p:txBody>
      </p:sp>
      <p:sp>
        <p:nvSpPr>
          <p:cNvPr id="30742" name="Line 40"/>
          <p:cNvSpPr>
            <a:spLocks noChangeShapeType="1"/>
          </p:cNvSpPr>
          <p:nvPr/>
        </p:nvSpPr>
        <p:spPr bwMode="auto">
          <a:xfrm flipV="1">
            <a:off x="7667625" y="1628775"/>
            <a:ext cx="0" cy="309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sp>
        <p:nvSpPr>
          <p:cNvPr id="30743" name="Line 41"/>
          <p:cNvSpPr>
            <a:spLocks noChangeShapeType="1"/>
          </p:cNvSpPr>
          <p:nvPr/>
        </p:nvSpPr>
        <p:spPr bwMode="auto">
          <a:xfrm flipH="1">
            <a:off x="6804025" y="1628775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HN"/>
          </a:p>
        </p:txBody>
      </p:sp>
      <p:grpSp>
        <p:nvGrpSpPr>
          <p:cNvPr id="30744" name="Group 20"/>
          <p:cNvGrpSpPr>
            <a:grpSpLocks/>
          </p:cNvGrpSpPr>
          <p:nvPr/>
        </p:nvGrpSpPr>
        <p:grpSpPr bwMode="auto">
          <a:xfrm>
            <a:off x="188913" y="849313"/>
            <a:ext cx="1512887" cy="865187"/>
            <a:chOff x="431" y="845"/>
            <a:chExt cx="953" cy="545"/>
          </a:xfrm>
        </p:grpSpPr>
        <p:sp>
          <p:nvSpPr>
            <p:cNvPr id="30751" name="Oval 13"/>
            <p:cNvSpPr>
              <a:spLocks noChangeArrowheads="1"/>
            </p:cNvSpPr>
            <p:nvPr/>
          </p:nvSpPr>
          <p:spPr bwMode="auto">
            <a:xfrm>
              <a:off x="431" y="845"/>
              <a:ext cx="953" cy="54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HN"/>
            </a:p>
          </p:txBody>
        </p:sp>
        <p:sp>
          <p:nvSpPr>
            <p:cNvPr id="30752" name="Text Box 14"/>
            <p:cNvSpPr txBox="1">
              <a:spLocks noChangeArrowheads="1"/>
            </p:cNvSpPr>
            <p:nvPr/>
          </p:nvSpPr>
          <p:spPr bwMode="auto">
            <a:xfrm>
              <a:off x="476" y="935"/>
              <a:ext cx="8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MX" altLang="es-HN"/>
                <a:t>Marco teórico</a:t>
              </a:r>
            </a:p>
          </p:txBody>
        </p:sp>
      </p:grpSp>
      <p:sp>
        <p:nvSpPr>
          <p:cNvPr id="30745" name="Freeform 44"/>
          <p:cNvSpPr>
            <a:spLocks/>
          </p:cNvSpPr>
          <p:nvPr/>
        </p:nvSpPr>
        <p:spPr bwMode="auto">
          <a:xfrm>
            <a:off x="1701800" y="1208088"/>
            <a:ext cx="1084263" cy="433387"/>
          </a:xfrm>
          <a:custGeom>
            <a:avLst/>
            <a:gdLst>
              <a:gd name="T0" fmla="*/ 0 w 998"/>
              <a:gd name="T1" fmla="*/ 0 h 273"/>
              <a:gd name="T2" fmla="*/ 635 w 998"/>
              <a:gd name="T3" fmla="*/ 46 h 273"/>
              <a:gd name="T4" fmla="*/ 998 w 998"/>
              <a:gd name="T5" fmla="*/ 273 h 273"/>
              <a:gd name="T6" fmla="*/ 0 60000 65536"/>
              <a:gd name="T7" fmla="*/ 0 60000 65536"/>
              <a:gd name="T8" fmla="*/ 0 60000 65536"/>
              <a:gd name="T9" fmla="*/ 0 w 998"/>
              <a:gd name="T10" fmla="*/ 0 h 273"/>
              <a:gd name="T11" fmla="*/ 998 w 998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8" h="273">
                <a:moveTo>
                  <a:pt x="0" y="0"/>
                </a:moveTo>
                <a:cubicBezTo>
                  <a:pt x="234" y="0"/>
                  <a:pt x="469" y="1"/>
                  <a:pt x="635" y="46"/>
                </a:cubicBezTo>
                <a:cubicBezTo>
                  <a:pt x="801" y="91"/>
                  <a:pt x="899" y="182"/>
                  <a:pt x="998" y="27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HN"/>
          </a:p>
        </p:txBody>
      </p:sp>
      <p:grpSp>
        <p:nvGrpSpPr>
          <p:cNvPr id="30746" name="33 Grupo"/>
          <p:cNvGrpSpPr>
            <a:grpSpLocks/>
          </p:cNvGrpSpPr>
          <p:nvPr/>
        </p:nvGrpSpPr>
        <p:grpSpPr bwMode="auto">
          <a:xfrm>
            <a:off x="250825" y="1754188"/>
            <a:ext cx="2449513" cy="889000"/>
            <a:chOff x="250825" y="1473200"/>
            <a:chExt cx="2449513" cy="888989"/>
          </a:xfrm>
        </p:grpSpPr>
        <p:grpSp>
          <p:nvGrpSpPr>
            <p:cNvPr id="30747" name="Group 19"/>
            <p:cNvGrpSpPr>
              <a:grpSpLocks/>
            </p:cNvGrpSpPr>
            <p:nvPr/>
          </p:nvGrpSpPr>
          <p:grpSpPr bwMode="auto">
            <a:xfrm>
              <a:off x="250825" y="1857364"/>
              <a:ext cx="1728788" cy="504825"/>
              <a:chOff x="385" y="1661"/>
              <a:chExt cx="1089" cy="318"/>
            </a:xfrm>
          </p:grpSpPr>
          <p:sp>
            <p:nvSpPr>
              <p:cNvPr id="30749" name="Oval 15"/>
              <p:cNvSpPr>
                <a:spLocks noChangeArrowheads="1"/>
              </p:cNvSpPr>
              <p:nvPr/>
            </p:nvSpPr>
            <p:spPr bwMode="auto">
              <a:xfrm>
                <a:off x="385" y="1661"/>
                <a:ext cx="1089" cy="3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s-ES" altLang="es-HN"/>
              </a:p>
            </p:txBody>
          </p:sp>
          <p:sp>
            <p:nvSpPr>
              <p:cNvPr id="30750" name="Text Box 16"/>
              <p:cNvSpPr txBox="1">
                <a:spLocks noChangeArrowheads="1"/>
              </p:cNvSpPr>
              <p:nvPr/>
            </p:nvSpPr>
            <p:spPr bwMode="auto">
              <a:xfrm>
                <a:off x="431" y="1706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MX" altLang="es-HN"/>
                  <a:t>Objetivos</a:t>
                </a:r>
              </a:p>
            </p:txBody>
          </p:sp>
        </p:grpSp>
        <p:sp>
          <p:nvSpPr>
            <p:cNvPr id="30748" name="Freeform 45"/>
            <p:cNvSpPr>
              <a:spLocks/>
            </p:cNvSpPr>
            <p:nvPr/>
          </p:nvSpPr>
          <p:spPr bwMode="auto">
            <a:xfrm>
              <a:off x="1116013" y="1473200"/>
              <a:ext cx="1584325" cy="371475"/>
            </a:xfrm>
            <a:custGeom>
              <a:avLst/>
              <a:gdLst>
                <a:gd name="T0" fmla="*/ 0 w 454"/>
                <a:gd name="T1" fmla="*/ 370 h 370"/>
                <a:gd name="T2" fmla="*/ 136 w 454"/>
                <a:gd name="T3" fmla="*/ 53 h 370"/>
                <a:gd name="T4" fmla="*/ 454 w 454"/>
                <a:gd name="T5" fmla="*/ 53 h 370"/>
                <a:gd name="T6" fmla="*/ 0 60000 65536"/>
                <a:gd name="T7" fmla="*/ 0 60000 65536"/>
                <a:gd name="T8" fmla="*/ 0 60000 65536"/>
                <a:gd name="T9" fmla="*/ 0 w 454"/>
                <a:gd name="T10" fmla="*/ 0 h 370"/>
                <a:gd name="T11" fmla="*/ 454 w 454"/>
                <a:gd name="T12" fmla="*/ 370 h 3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370">
                  <a:moveTo>
                    <a:pt x="0" y="370"/>
                  </a:moveTo>
                  <a:cubicBezTo>
                    <a:pt x="30" y="238"/>
                    <a:pt x="60" y="106"/>
                    <a:pt x="136" y="53"/>
                  </a:cubicBezTo>
                  <a:cubicBezTo>
                    <a:pt x="212" y="0"/>
                    <a:pt x="333" y="26"/>
                    <a:pt x="454" y="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s-ES" altLang="es-HN"/>
            </a:p>
          </p:txBody>
        </p:sp>
      </p:grpSp>
    </p:spTree>
    <p:extLst>
      <p:ext uri="{BB962C8B-B14F-4D97-AF65-F5344CB8AC3E}">
        <p14:creationId xmlns:p14="http://schemas.microsoft.com/office/powerpoint/2010/main" val="3793076304"/>
      </p:ext>
    </p:extLst>
  </p:cSld>
  <p:clrMapOvr>
    <a:masterClrMapping/>
  </p:clrMapOvr>
  <p:transition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HN" sz="2800" u="sng"/>
              <a:t>PARTES DE UN PROYECTO DE INVESTIGACIÓN</a:t>
            </a:r>
            <a:r>
              <a:rPr lang="es-ES_tradnl" altLang="es-HN" sz="4000"/>
              <a:t> </a:t>
            </a:r>
            <a:br>
              <a:rPr lang="es-ES_tradnl" altLang="es-HN" sz="4000"/>
            </a:br>
            <a:endParaRPr lang="es-ES" altLang="es-HN" sz="400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s-ES_tradnl" altLang="es-HN" sz="2400"/>
              <a:t>Elegir un </a:t>
            </a:r>
            <a:r>
              <a:rPr lang="es-ES_tradnl" altLang="es-HN" sz="2400" b="1"/>
              <a:t>diseño </a:t>
            </a:r>
            <a:r>
              <a:rPr lang="es-ES_tradnl" altLang="es-HN" sz="2400"/>
              <a:t>(estrategia  para abordar el problema) de investigación : cuantitativo o cualitativo ; experimental o no experimental ; sincrónico o diacrónico ; retrospectivo o prospectivo.</a:t>
            </a:r>
          </a:p>
          <a:p>
            <a:pPr marL="609600" indent="-609600">
              <a:lnSpc>
                <a:spcPct val="90000"/>
              </a:lnSpc>
            </a:pPr>
            <a:r>
              <a:rPr lang="es-ES_tradnl" altLang="es-HN" sz="2400"/>
              <a:t>Especificar los </a:t>
            </a:r>
            <a:r>
              <a:rPr lang="es-ES_tradnl" altLang="es-HN" sz="2400" b="1"/>
              <a:t>métodos, técnicas e instrumentos de recolección de datos </a:t>
            </a:r>
            <a:r>
              <a:rPr lang="es-ES_tradnl" altLang="es-HN" sz="2400"/>
              <a:t>(adjuntar un </a:t>
            </a:r>
            <a:r>
              <a:rPr lang="es-ES_tradnl" altLang="es-HN" sz="2400" b="1"/>
              <a:t>modelo </a:t>
            </a:r>
            <a:r>
              <a:rPr lang="es-ES_tradnl" altLang="es-HN" sz="2400"/>
              <a:t>de cada instrumento que se va  a utilizar )</a:t>
            </a:r>
          </a:p>
          <a:p>
            <a:pPr marL="609600" indent="-609600">
              <a:lnSpc>
                <a:spcPct val="90000"/>
              </a:lnSpc>
            </a:pPr>
            <a:r>
              <a:rPr lang="es-ES_tradnl" altLang="es-HN" sz="2400"/>
              <a:t>Determinar la </a:t>
            </a:r>
            <a:r>
              <a:rPr lang="es-ES_tradnl" altLang="es-HN" sz="2400" b="1"/>
              <a:t>población </a:t>
            </a:r>
            <a:r>
              <a:rPr lang="es-ES_tradnl" altLang="es-HN" sz="2400"/>
              <a:t>y la </a:t>
            </a:r>
            <a:r>
              <a:rPr lang="es-ES_tradnl" altLang="es-HN" sz="2400" b="1"/>
              <a:t>muestra </a:t>
            </a:r>
            <a:r>
              <a:rPr lang="es-ES_tradnl" altLang="es-HN" sz="2400"/>
              <a:t>a seleccionar ( definición de las unidades de análisis ,tipo de muestra y procedimiento de selección, tamaño )</a:t>
            </a:r>
          </a:p>
          <a:p>
            <a:pPr marL="609600" indent="-609600">
              <a:lnSpc>
                <a:spcPct val="90000"/>
              </a:lnSpc>
            </a:pPr>
            <a:r>
              <a:rPr lang="es-ES_tradnl" altLang="es-HN" sz="2400"/>
              <a:t>10) Establecer un </a:t>
            </a:r>
            <a:r>
              <a:rPr lang="es-ES_tradnl" altLang="es-HN" sz="2400" b="1"/>
              <a:t>cronograma </a:t>
            </a:r>
            <a:r>
              <a:rPr lang="es-ES_tradnl" altLang="es-HN" sz="2400"/>
              <a:t>tentativo (calendario de las actividades a realizar)</a:t>
            </a:r>
            <a:endParaRPr lang="es-ES" altLang="es-HN" sz="2400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altLang="es-HN" sz="4000" u="sng"/>
              <a:t>QUÉ SE EVALÚA  DEL PROYECTO DE INVESTIGACIÓN </a:t>
            </a:r>
            <a:endParaRPr lang="es-ES" altLang="es-HN" sz="400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89916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s-ES_tradnl" altLang="es-HN" sz="2400"/>
          </a:p>
          <a:p>
            <a:pPr>
              <a:lnSpc>
                <a:spcPct val="90000"/>
              </a:lnSpc>
            </a:pPr>
            <a:r>
              <a:rPr lang="es-ES_tradnl" altLang="es-HN" sz="2400"/>
              <a:t>La </a:t>
            </a:r>
            <a:r>
              <a:rPr lang="es-ES_tradnl" altLang="es-HN" sz="2400" b="1"/>
              <a:t>claridad conceptual</a:t>
            </a:r>
            <a:r>
              <a:rPr lang="es-ES_tradnl" altLang="es-HN" sz="2400"/>
              <a:t> del Proyecto (precisión, simplicidad, definiciones)</a:t>
            </a:r>
          </a:p>
          <a:p>
            <a:pPr>
              <a:lnSpc>
                <a:spcPct val="90000"/>
              </a:lnSpc>
            </a:pPr>
            <a:r>
              <a:rPr lang="es-ES_tradnl" altLang="es-HN" sz="2400"/>
              <a:t>La </a:t>
            </a:r>
            <a:r>
              <a:rPr lang="es-ES_tradnl" altLang="es-HN" sz="2400" b="1"/>
              <a:t>coherencia  </a:t>
            </a:r>
            <a:r>
              <a:rPr lang="es-ES_tradnl" altLang="es-HN" sz="2400"/>
              <a:t>del Proyecto (ausencia de contradicciones entre sus partes )</a:t>
            </a:r>
          </a:p>
          <a:p>
            <a:pPr>
              <a:lnSpc>
                <a:spcPct val="90000"/>
              </a:lnSpc>
            </a:pPr>
            <a:r>
              <a:rPr lang="es-ES_tradnl" altLang="es-HN" sz="2400"/>
              <a:t>La </a:t>
            </a:r>
            <a:r>
              <a:rPr lang="es-ES_tradnl" altLang="es-HN" sz="2400" b="1"/>
              <a:t>factibilidad</a:t>
            </a:r>
            <a:r>
              <a:rPr lang="es-ES_tradnl" altLang="es-HN" sz="2400"/>
              <a:t> del Proyecto ( si es posible su realización en el tiempo previsto)</a:t>
            </a:r>
          </a:p>
          <a:p>
            <a:pPr>
              <a:lnSpc>
                <a:spcPct val="90000"/>
              </a:lnSpc>
            </a:pPr>
            <a:r>
              <a:rPr lang="es-ES_tradnl" altLang="es-HN" sz="2400"/>
              <a:t>La </a:t>
            </a:r>
            <a:r>
              <a:rPr lang="es-ES_tradnl" altLang="es-HN" sz="2400" b="1"/>
              <a:t>utilidad</a:t>
            </a:r>
            <a:r>
              <a:rPr lang="es-ES_tradnl" altLang="es-HN" sz="2400"/>
              <a:t> del proyecto ( beneficios que implicará la solución del problema investigado)</a:t>
            </a:r>
          </a:p>
          <a:p>
            <a:pPr>
              <a:lnSpc>
                <a:spcPct val="90000"/>
              </a:lnSpc>
            </a:pPr>
            <a:r>
              <a:rPr lang="es-ES_tradnl" altLang="es-HN" sz="2400"/>
              <a:t>La </a:t>
            </a:r>
            <a:r>
              <a:rPr lang="es-ES_tradnl" altLang="es-HN" sz="2400" b="1"/>
              <a:t>relevancia </a:t>
            </a:r>
            <a:r>
              <a:rPr lang="es-ES_tradnl" altLang="es-HN" sz="2400"/>
              <a:t>del problema investigado ( su importancia)</a:t>
            </a:r>
          </a:p>
          <a:p>
            <a:pPr>
              <a:lnSpc>
                <a:spcPct val="90000"/>
              </a:lnSpc>
            </a:pPr>
            <a:r>
              <a:rPr lang="es-ES_tradnl" altLang="es-HN" sz="2400"/>
              <a:t>La </a:t>
            </a:r>
            <a:r>
              <a:rPr lang="es-ES_tradnl" altLang="es-HN" sz="2400" b="1"/>
              <a:t>calidad de sus instrumentos </a:t>
            </a:r>
            <a:r>
              <a:rPr lang="es-ES_tradnl" altLang="es-HN" sz="2400"/>
              <a:t>( de recolección de datos ) : su </a:t>
            </a:r>
            <a:r>
              <a:rPr lang="es-ES_tradnl" altLang="es-HN" sz="2400" b="1" i="1"/>
              <a:t>confiabilidad (precisión + constancia) y su adecuación (pertinencia) . </a:t>
            </a:r>
            <a:endParaRPr lang="es-ES" altLang="es-HN" sz="2400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1762</TotalTime>
  <Words>924</Words>
  <Application>Microsoft Office PowerPoint</Application>
  <PresentationFormat>Presentación en pantalla (4:3)</PresentationFormat>
  <Paragraphs>78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Wingdings</vt:lpstr>
      <vt:lpstr>Impact</vt:lpstr>
      <vt:lpstr>Tema de Office</vt:lpstr>
      <vt:lpstr>Presentación de PowerPoint</vt:lpstr>
      <vt:lpstr>Presentación de PowerPoint</vt:lpstr>
      <vt:lpstr>Enfoque y Métodos</vt:lpstr>
      <vt:lpstr>Clasificación de los tipos de investigación</vt:lpstr>
      <vt:lpstr>Clasificación de los tipos de investigación</vt:lpstr>
      <vt:lpstr>Población y Muestra</vt:lpstr>
      <vt:lpstr>Presentación de PowerPoint</vt:lpstr>
      <vt:lpstr>Unidad de análisis</vt:lpstr>
      <vt:lpstr>Técnicas e Instrumentos Aplicados</vt:lpstr>
      <vt:lpstr>Presentación de PowerPoint</vt:lpstr>
      <vt:lpstr>Presentación de PowerPoint</vt:lpstr>
      <vt:lpstr>Fuentes de información</vt:lpstr>
      <vt:lpstr>Presentación de PowerPoint</vt:lpstr>
      <vt:lpstr>Presentación de PowerPoint</vt:lpstr>
      <vt:lpstr>Presentación de PowerPoint</vt:lpstr>
      <vt:lpstr>PARTES DE UN PROYECTO DE INVESTIGACIÓN  </vt:lpstr>
      <vt:lpstr>QUÉ SE EVALÚA  DEL PROYECTO DE INVESTIGACIÓN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Rosales</dc:creator>
  <cp:lastModifiedBy>Bianca Rosales</cp:lastModifiedBy>
  <cp:revision>249</cp:revision>
  <cp:lastPrinted>1601-01-01T00:00:00Z</cp:lastPrinted>
  <dcterms:created xsi:type="dcterms:W3CDTF">1601-01-01T00:00:00Z</dcterms:created>
  <dcterms:modified xsi:type="dcterms:W3CDTF">2021-11-15T23:10:15Z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