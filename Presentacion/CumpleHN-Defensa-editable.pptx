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s-H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y chavez" userId="4d89f508718b7480" providerId="LiveId" clId="{625F4636-F6C6-457C-994A-E4BBCF2D1B83}"/>
    <pc:docChg chg="modSld">
      <pc:chgData name="roy chavez" userId="4d89f508718b7480" providerId="LiveId" clId="{625F4636-F6C6-457C-994A-E4BBCF2D1B83}" dt="2026-09-11T17:31:43.940" v="4" actId="20577"/>
      <pc:docMkLst>
        <pc:docMk/>
      </pc:docMkLst>
      <pc:sldChg chg="modSp mod">
        <pc:chgData name="roy chavez" userId="4d89f508718b7480" providerId="LiveId" clId="{625F4636-F6C6-457C-994A-E4BBCF2D1B83}" dt="2026-09-11T17:31:43.940" v="4" actId="20577"/>
        <pc:sldMkLst>
          <pc:docMk/>
          <pc:sldMk cId="2422088076" sldId="257"/>
        </pc:sldMkLst>
        <pc:spChg chg="mod">
          <ac:chgData name="roy chavez" userId="4d89f508718b7480" providerId="LiveId" clId="{625F4636-F6C6-457C-994A-E4BBCF2D1B83}" dt="2026-09-11T17:31:43.940" v="4" actId="20577"/>
          <ac:spMkLst>
            <pc:docMk/>
            <pc:sldMk cId="2422088076" sldId="257"/>
            <ac:spMk id="11" creationId="{711A9E67-4D02-FBD5-27E1-25C0BCF8808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HN"/>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382C30-20BE-4343-9427-5AACE3A9BCF1}" type="datetimeFigureOut">
              <a:rPr lang="es-HN" smtClean="0"/>
              <a:t>11/9/2026</a:t>
            </a:fld>
            <a:endParaRPr lang="es-HN"/>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HN"/>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HN"/>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HN"/>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33F83-0D45-44B5-A784-823086B0FFE0}" type="slidenum">
              <a:rPr lang="es-HN" smtClean="0"/>
              <a:t>‹Nº›</a:t>
            </a:fld>
            <a:endParaRPr lang="es-HN"/>
          </a:p>
        </p:txBody>
      </p:sp>
    </p:spTree>
    <p:extLst>
      <p:ext uri="{BB962C8B-B14F-4D97-AF65-F5344CB8AC3E}">
        <p14:creationId xmlns:p14="http://schemas.microsoft.com/office/powerpoint/2010/main" val="2980874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Presentarse y enunciar la tesis en una línea: la información sobre promesas políticas existe, pero está dispersa, y esa dispersión tiene un costo medible sobre la decisión de voto. 40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1</a:t>
            </a:fld>
            <a:endParaRPr lang="es-HN"/>
          </a:p>
        </p:txBody>
      </p:sp>
    </p:spTree>
    <p:extLst>
      <p:ext uri="{BB962C8B-B14F-4D97-AF65-F5344CB8AC3E}">
        <p14:creationId xmlns:p14="http://schemas.microsoft.com/office/powerpoint/2010/main" val="1235478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No decir "no existe un mecanismo oficial": es la restricción del asesor. Decir dispersión. 50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2</a:t>
            </a:fld>
            <a:endParaRPr lang="es-HN"/>
          </a:p>
        </p:txBody>
      </p:sp>
    </p:spTree>
    <p:extLst>
      <p:ext uri="{BB962C8B-B14F-4D97-AF65-F5344CB8AC3E}">
        <p14:creationId xmlns:p14="http://schemas.microsoft.com/office/powerpoint/2010/main" val="42605039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Declarar el muestreo aquí, sin que lo pregunten. Es lo mismo que hace la plataforma con sus propias cifras. 55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3</a:t>
            </a:fld>
            <a:endParaRPr lang="es-HN"/>
          </a:p>
        </p:txBody>
      </p:sp>
    </p:spTree>
    <p:extLst>
      <p:ext uri="{BB962C8B-B14F-4D97-AF65-F5344CB8AC3E}">
        <p14:creationId xmlns:p14="http://schemas.microsoft.com/office/powerpoint/2010/main" val="27312180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Enganchar aquí con la lámina 16: la condición de la encuesta es literalmente la especificación del módulo. 50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4</a:t>
            </a:fld>
            <a:endParaRPr lang="es-HN"/>
          </a:p>
        </p:txBody>
      </p:sp>
    </p:spTree>
    <p:extLst>
      <p:ext uri="{BB962C8B-B14F-4D97-AF65-F5344CB8AC3E}">
        <p14:creationId xmlns:p14="http://schemas.microsoft.com/office/powerpoint/2010/main" val="1389423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Esta es la lámina de la neutralidad declarada. Si la terna solo se lleva una idea, que sea esta. 55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5</a:t>
            </a:fld>
            <a:endParaRPr lang="es-HN"/>
          </a:p>
        </p:txBody>
      </p:sp>
    </p:spTree>
    <p:extLst>
      <p:ext uri="{BB962C8B-B14F-4D97-AF65-F5344CB8AC3E}">
        <p14:creationId xmlns:p14="http://schemas.microsoft.com/office/powerpoint/2010/main" val="3080431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Aquí es donde la terna ve por primera vez que la plataforma existe. No detenerse en la interfaz: el peso está en las láminas técnicas. 40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6</a:t>
            </a:fld>
            <a:endParaRPr lang="es-HN"/>
          </a:p>
        </p:txBody>
      </p:sp>
    </p:spTree>
    <p:extLst>
      <p:ext uri="{BB962C8B-B14F-4D97-AF65-F5344CB8AC3E}">
        <p14:creationId xmlns:p14="http://schemas.microsoft.com/office/powerpoint/2010/main" val="471732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Insistir en la separación: es lo que permite que el frontend se pruebe con datos en memoria y que el ASMX sea el único punto de escritura. 55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7</a:t>
            </a:fld>
            <a:endParaRPr lang="es-HN"/>
          </a:p>
        </p:txBody>
      </p:sp>
    </p:spTree>
    <p:extLst>
      <p:ext uri="{BB962C8B-B14F-4D97-AF65-F5344CB8AC3E}">
        <p14:creationId xmlns:p14="http://schemas.microsoft.com/office/powerpoint/2010/main" val="34923221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Si preguntan por qué no hay FK: porque el destino depende del tipo. Es la decisión de diseño más discutible y hay que defenderla, no esconderla. 55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8</a:t>
            </a:fld>
            <a:endParaRPr lang="es-HN"/>
          </a:p>
        </p:txBody>
      </p:sp>
    </p:spTree>
    <p:extLst>
      <p:ext uri="{BB962C8B-B14F-4D97-AF65-F5344CB8AC3E}">
        <p14:creationId xmlns:p14="http://schemas.microsoft.com/office/powerpoint/2010/main" val="2000038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La cita del final es la prueba de que la regla se cumple de punta a punta: del modelo de datos al prompt. 60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9</a:t>
            </a:fld>
            <a:endParaRPr lang="es-HN"/>
          </a:p>
        </p:txBody>
      </p:sp>
    </p:spTree>
    <p:extLst>
      <p:ext uri="{BB962C8B-B14F-4D97-AF65-F5344CB8AC3E}">
        <p14:creationId xmlns:p14="http://schemas.microsoft.com/office/powerpoint/2010/main" val="512436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Si preguntan por qué no se usa el elemento authorization del Web.config: porque ese mecanismo se apoya en la autenticación de formularios, y acá la sesión se valida contra el Web Service. 50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10</a:t>
            </a:fld>
            <a:endParaRPr lang="es-HN"/>
          </a:p>
        </p:txBody>
      </p:sp>
    </p:spTree>
    <p:extLst>
      <p:ext uri="{BB962C8B-B14F-4D97-AF65-F5344CB8AC3E}">
        <p14:creationId xmlns:p14="http://schemas.microsoft.com/office/powerpoint/2010/main" val="1010233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Mencionar que no hay librería de gráficos: todo son repetidores, CSS y SVG generado en el servidor. Los tooltips son elementos title nativos, que lee el lector de pantalla. 50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11</a:t>
            </a:fld>
            <a:endParaRPr lang="es-HN"/>
          </a:p>
        </p:txBody>
      </p:sp>
    </p:spTree>
    <p:extLst>
      <p:ext uri="{BB962C8B-B14F-4D97-AF65-F5344CB8AC3E}">
        <p14:creationId xmlns:p14="http://schemas.microsoft.com/office/powerpoint/2010/main" val="1561697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Aclarar sin que lo pregunten: la oferta son datos demo, así que la brecha ilustra el indicador, no diagnostica a la política hondureña. 55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12</a:t>
            </a:fld>
            <a:endParaRPr lang="es-HN"/>
          </a:p>
        </p:txBody>
      </p:sp>
    </p:spTree>
    <p:extLst>
      <p:ext uri="{BB962C8B-B14F-4D97-AF65-F5344CB8AC3E}">
        <p14:creationId xmlns:p14="http://schemas.microsoft.com/office/powerpoint/2010/main" val="3344064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Si hay tiempo y la red aguanta, acá va la demo en vivo: una pregunta de verdad. Si falla, esta captura ya lo demuestra y no se nota. 50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13</a:t>
            </a:fld>
            <a:endParaRPr lang="es-HN"/>
          </a:p>
        </p:txBody>
      </p:sp>
    </p:spTree>
    <p:extLst>
      <p:ext uri="{BB962C8B-B14F-4D97-AF65-F5344CB8AC3E}">
        <p14:creationId xmlns:p14="http://schemas.microsoft.com/office/powerpoint/2010/main" val="25518732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Esta es la lámina técnica central. Ir paso por paso con la barra espaciadora, sin apurar. 75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14</a:t>
            </a:fld>
            <a:endParaRPr lang="es-HN"/>
          </a:p>
        </p:txBody>
      </p:sp>
    </p:spTree>
    <p:extLst>
      <p:ext uri="{BB962C8B-B14F-4D97-AF65-F5344CB8AC3E}">
        <p14:creationId xmlns:p14="http://schemas.microsoft.com/office/powerpoint/2010/main" val="6595450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El argumento no es "le pusimos permisos". Es que la superficie de datos se diseñó columna por columna, y el permiso es la red de seguridad de abajo. 55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15</a:t>
            </a:fld>
            <a:endParaRPr lang="es-HN"/>
          </a:p>
        </p:txBody>
      </p:sp>
    </p:spTree>
    <p:extLst>
      <p:ext uri="{BB962C8B-B14F-4D97-AF65-F5344CB8AC3E}">
        <p14:creationId xmlns:p14="http://schemas.microsoft.com/office/powerpoint/2010/main" val="22754766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Cerrar con: lo que se evalúa no es si la respuesta suena bien, sino si sostiene las tres reglas — negarse a rankear, decir el nivel de verificación, y responder que no sabe en vez de completar. 60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16</a:t>
            </a:fld>
            <a:endParaRPr lang="es-HN"/>
          </a:p>
        </p:txBody>
      </p:sp>
    </p:spTree>
    <p:extLst>
      <p:ext uri="{BB962C8B-B14F-4D97-AF65-F5344CB8AC3E}">
        <p14:creationId xmlns:p14="http://schemas.microsoft.com/office/powerpoint/2010/main" val="2102341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Es la tercera pata del módulo de participación que el FO-GR-013 ya contemplaba: «comentarios, valoraciones o votaciones de percepción». No es alcance nuevo. 45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17</a:t>
            </a:fld>
            <a:endParaRPr lang="es-HN"/>
          </a:p>
        </p:txBody>
      </p:sp>
    </p:spTree>
    <p:extLst>
      <p:ext uri="{BB962C8B-B14F-4D97-AF65-F5344CB8AC3E}">
        <p14:creationId xmlns:p14="http://schemas.microsoft.com/office/powerpoint/2010/main" val="9960736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Última lámina. Después de la frase, callar y esperar las preguntas. Las láminas de respaldo se abren con la tecla B. 40 s.</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18</a:t>
            </a:fld>
            <a:endParaRPr lang="es-HN"/>
          </a:p>
        </p:txBody>
      </p:sp>
    </p:spTree>
    <p:extLst>
      <p:ext uri="{BB962C8B-B14F-4D97-AF65-F5344CB8AC3E}">
        <p14:creationId xmlns:p14="http://schemas.microsoft.com/office/powerpoint/2010/main" val="10036717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Respaldo · Antecedentes. Usar si preguntan «¿esto no existe ya?»: PolitiFact, Chequeado, Del Dicho al Hecho y el IAIP, con lo que cada uno no cubre.</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19</a:t>
            </a:fld>
            <a:endParaRPr lang="es-HN"/>
          </a:p>
        </p:txBody>
      </p:sp>
    </p:spTree>
    <p:extLst>
      <p:ext uri="{BB962C8B-B14F-4D97-AF65-F5344CB8AC3E}">
        <p14:creationId xmlns:p14="http://schemas.microsoft.com/office/powerpoint/2010/main" val="30614968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Respaldo · Metodología. Enfoque, población, muestreo por conveniencia y la fórmula n = Z²pq/e² que da 150.</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20</a:t>
            </a:fld>
            <a:endParaRPr lang="es-HN"/>
          </a:p>
        </p:txBody>
      </p:sp>
    </p:spTree>
    <p:extLst>
      <p:ext uri="{BB962C8B-B14F-4D97-AF65-F5344CB8AC3E}">
        <p14:creationId xmlns:p14="http://schemas.microsoft.com/office/powerpoint/2010/main" val="13151589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Respaldo · Limitaciones declaradas. La más importante de las seis: si la terna encuentra una debilidad que ya declaraste, deja de ser una debilidad y pasa a ser rigor.</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21</a:t>
            </a:fld>
            <a:endParaRPr lang="es-HN"/>
          </a:p>
        </p:txBody>
      </p:sp>
    </p:spTree>
    <p:extLst>
      <p:ext uri="{BB962C8B-B14F-4D97-AF65-F5344CB8AC3E}">
        <p14:creationId xmlns:p14="http://schemas.microsoft.com/office/powerpoint/2010/main" val="33051665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Respaldo · Seguridad. Lo resuelto (A01, A03, XSS, redirección abierta) y la deuda conocida, dicha de frente.</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22</a:t>
            </a:fld>
            <a:endParaRPr lang="es-HN"/>
          </a:p>
        </p:txBody>
      </p:sp>
    </p:spTree>
    <p:extLst>
      <p:ext uri="{BB962C8B-B14F-4D97-AF65-F5344CB8AC3E}">
        <p14:creationId xmlns:p14="http://schemas.microsoft.com/office/powerpoint/2010/main" val="29343064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Respaldo · Los doce indicadores del tablero, cada uno con el procedimiento almacenado que lo calcula.</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23</a:t>
            </a:fld>
            <a:endParaRPr lang="es-HN"/>
          </a:p>
        </p:txBody>
      </p:sp>
    </p:spTree>
    <p:extLst>
      <p:ext uri="{BB962C8B-B14F-4D97-AF65-F5344CB8AC3E}">
        <p14:creationId xmlns:p14="http://schemas.microsoft.com/office/powerpoint/2010/main" val="11267763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Respaldo · Área de administración. Verificación, moderación, catálogos e interruptores, las cuatro con bitácora.</a:t>
            </a:r>
            <a:endParaRPr lang="es-HN"/>
          </a:p>
        </p:txBody>
      </p:sp>
      <p:sp>
        <p:nvSpPr>
          <p:cNvPr id="4" name="Marcador de número de diapositiva 3"/>
          <p:cNvSpPr>
            <a:spLocks noGrp="1"/>
          </p:cNvSpPr>
          <p:nvPr>
            <p:ph type="sldNum" sz="quarter" idx="5"/>
          </p:nvPr>
        </p:nvSpPr>
        <p:spPr/>
        <p:txBody>
          <a:bodyPr/>
          <a:lstStyle/>
          <a:p>
            <a:fld id="{54933F83-0D45-44B5-A784-823086B0FFE0}" type="slidenum">
              <a:rPr lang="es-HN" smtClean="0"/>
              <a:t>24</a:t>
            </a:fld>
            <a:endParaRPr lang="es-HN"/>
          </a:p>
        </p:txBody>
      </p:sp>
    </p:spTree>
    <p:extLst>
      <p:ext uri="{BB962C8B-B14F-4D97-AF65-F5344CB8AC3E}">
        <p14:creationId xmlns:p14="http://schemas.microsoft.com/office/powerpoint/2010/main" val="2722381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187D34-AB8A-433D-5B9F-171E5836971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HN"/>
          </a:p>
        </p:txBody>
      </p:sp>
      <p:sp>
        <p:nvSpPr>
          <p:cNvPr id="3" name="Subtítulo 2">
            <a:extLst>
              <a:ext uri="{FF2B5EF4-FFF2-40B4-BE49-F238E27FC236}">
                <a16:creationId xmlns:a16="http://schemas.microsoft.com/office/drawing/2014/main" id="{37550F4D-D705-47F7-359D-2D12575056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HN"/>
          </a:p>
        </p:txBody>
      </p:sp>
      <p:sp>
        <p:nvSpPr>
          <p:cNvPr id="4" name="Marcador de fecha 3">
            <a:extLst>
              <a:ext uri="{FF2B5EF4-FFF2-40B4-BE49-F238E27FC236}">
                <a16:creationId xmlns:a16="http://schemas.microsoft.com/office/drawing/2014/main" id="{CA16F3F6-94FA-A680-C9FC-9E53F0A5E156}"/>
              </a:ext>
            </a:extLst>
          </p:cNvPr>
          <p:cNvSpPr>
            <a:spLocks noGrp="1"/>
          </p:cNvSpPr>
          <p:nvPr>
            <p:ph type="dt" sz="half" idx="10"/>
          </p:nvPr>
        </p:nvSpPr>
        <p:spPr/>
        <p:txBody>
          <a:bodyPr/>
          <a:lstStyle/>
          <a:p>
            <a:fld id="{0C1145FB-3E23-4AD1-B06C-644E5331E747}" type="datetimeFigureOut">
              <a:rPr lang="es-HN" smtClean="0"/>
              <a:t>11/9/2026</a:t>
            </a:fld>
            <a:endParaRPr lang="es-HN"/>
          </a:p>
        </p:txBody>
      </p:sp>
      <p:sp>
        <p:nvSpPr>
          <p:cNvPr id="5" name="Marcador de pie de página 4">
            <a:extLst>
              <a:ext uri="{FF2B5EF4-FFF2-40B4-BE49-F238E27FC236}">
                <a16:creationId xmlns:a16="http://schemas.microsoft.com/office/drawing/2014/main" id="{8C6FADD8-F263-B4F6-A2AB-CC1258607013}"/>
              </a:ext>
            </a:extLst>
          </p:cNvPr>
          <p:cNvSpPr>
            <a:spLocks noGrp="1"/>
          </p:cNvSpPr>
          <p:nvPr>
            <p:ph type="ftr" sz="quarter" idx="11"/>
          </p:nvPr>
        </p:nvSpPr>
        <p:spPr/>
        <p:txBody>
          <a:bodyPr/>
          <a:lstStyle/>
          <a:p>
            <a:endParaRPr lang="es-HN"/>
          </a:p>
        </p:txBody>
      </p:sp>
      <p:sp>
        <p:nvSpPr>
          <p:cNvPr id="6" name="Marcador de número de diapositiva 5">
            <a:extLst>
              <a:ext uri="{FF2B5EF4-FFF2-40B4-BE49-F238E27FC236}">
                <a16:creationId xmlns:a16="http://schemas.microsoft.com/office/drawing/2014/main" id="{B08E0F90-606F-70D6-C8D6-001AD94F63D4}"/>
              </a:ext>
            </a:extLst>
          </p:cNvPr>
          <p:cNvSpPr>
            <a:spLocks noGrp="1"/>
          </p:cNvSpPr>
          <p:nvPr>
            <p:ph type="sldNum" sz="quarter" idx="12"/>
          </p:nvPr>
        </p:nvSpPr>
        <p:spPr/>
        <p:txBody>
          <a:bodyPr/>
          <a:lstStyle/>
          <a:p>
            <a:fld id="{063A731C-A296-462A-A865-C9DD24A8C3AF}" type="slidenum">
              <a:rPr lang="es-HN" smtClean="0"/>
              <a:t>‹Nº›</a:t>
            </a:fld>
            <a:endParaRPr lang="es-HN"/>
          </a:p>
        </p:txBody>
      </p:sp>
    </p:spTree>
    <p:extLst>
      <p:ext uri="{BB962C8B-B14F-4D97-AF65-F5344CB8AC3E}">
        <p14:creationId xmlns:p14="http://schemas.microsoft.com/office/powerpoint/2010/main" val="3045459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C6B6CB-7CE1-EBC3-2AE6-8921081FC043}"/>
              </a:ext>
            </a:extLst>
          </p:cNvPr>
          <p:cNvSpPr>
            <a:spLocks noGrp="1"/>
          </p:cNvSpPr>
          <p:nvPr>
            <p:ph type="title"/>
          </p:nvPr>
        </p:nvSpPr>
        <p:spPr/>
        <p:txBody>
          <a:bodyPr/>
          <a:lstStyle/>
          <a:p>
            <a:r>
              <a:rPr lang="es-ES"/>
              <a:t>Haga clic para modificar el estilo de título del patrón</a:t>
            </a:r>
            <a:endParaRPr lang="es-HN"/>
          </a:p>
        </p:txBody>
      </p:sp>
      <p:sp>
        <p:nvSpPr>
          <p:cNvPr id="3" name="Marcador de contenido 2">
            <a:extLst>
              <a:ext uri="{FF2B5EF4-FFF2-40B4-BE49-F238E27FC236}">
                <a16:creationId xmlns:a16="http://schemas.microsoft.com/office/drawing/2014/main" id="{38C8B2C9-8B1E-C90D-2F1A-4EFA89F6CD67}"/>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HN"/>
          </a:p>
        </p:txBody>
      </p:sp>
      <p:sp>
        <p:nvSpPr>
          <p:cNvPr id="4" name="Marcador de fecha 3">
            <a:extLst>
              <a:ext uri="{FF2B5EF4-FFF2-40B4-BE49-F238E27FC236}">
                <a16:creationId xmlns:a16="http://schemas.microsoft.com/office/drawing/2014/main" id="{A5284563-FF2B-41B7-372E-0A509F385F78}"/>
              </a:ext>
            </a:extLst>
          </p:cNvPr>
          <p:cNvSpPr>
            <a:spLocks noGrp="1"/>
          </p:cNvSpPr>
          <p:nvPr>
            <p:ph type="dt" sz="half" idx="10"/>
          </p:nvPr>
        </p:nvSpPr>
        <p:spPr/>
        <p:txBody>
          <a:bodyPr/>
          <a:lstStyle/>
          <a:p>
            <a:fld id="{0C1145FB-3E23-4AD1-B06C-644E5331E747}" type="datetimeFigureOut">
              <a:rPr lang="es-HN" smtClean="0"/>
              <a:t>11/9/2026</a:t>
            </a:fld>
            <a:endParaRPr lang="es-HN"/>
          </a:p>
        </p:txBody>
      </p:sp>
      <p:sp>
        <p:nvSpPr>
          <p:cNvPr id="5" name="Marcador de pie de página 4">
            <a:extLst>
              <a:ext uri="{FF2B5EF4-FFF2-40B4-BE49-F238E27FC236}">
                <a16:creationId xmlns:a16="http://schemas.microsoft.com/office/drawing/2014/main" id="{A47BD8AF-6EAD-CAE9-99FC-9DB14779DCDB}"/>
              </a:ext>
            </a:extLst>
          </p:cNvPr>
          <p:cNvSpPr>
            <a:spLocks noGrp="1"/>
          </p:cNvSpPr>
          <p:nvPr>
            <p:ph type="ftr" sz="quarter" idx="11"/>
          </p:nvPr>
        </p:nvSpPr>
        <p:spPr/>
        <p:txBody>
          <a:bodyPr/>
          <a:lstStyle/>
          <a:p>
            <a:endParaRPr lang="es-HN"/>
          </a:p>
        </p:txBody>
      </p:sp>
      <p:sp>
        <p:nvSpPr>
          <p:cNvPr id="6" name="Marcador de número de diapositiva 5">
            <a:extLst>
              <a:ext uri="{FF2B5EF4-FFF2-40B4-BE49-F238E27FC236}">
                <a16:creationId xmlns:a16="http://schemas.microsoft.com/office/drawing/2014/main" id="{F284B1E9-8521-29E9-87E7-65A2EF02DBD3}"/>
              </a:ext>
            </a:extLst>
          </p:cNvPr>
          <p:cNvSpPr>
            <a:spLocks noGrp="1"/>
          </p:cNvSpPr>
          <p:nvPr>
            <p:ph type="sldNum" sz="quarter" idx="12"/>
          </p:nvPr>
        </p:nvSpPr>
        <p:spPr/>
        <p:txBody>
          <a:bodyPr/>
          <a:lstStyle/>
          <a:p>
            <a:fld id="{063A731C-A296-462A-A865-C9DD24A8C3AF}" type="slidenum">
              <a:rPr lang="es-HN" smtClean="0"/>
              <a:t>‹Nº›</a:t>
            </a:fld>
            <a:endParaRPr lang="es-HN"/>
          </a:p>
        </p:txBody>
      </p:sp>
    </p:spTree>
    <p:extLst>
      <p:ext uri="{BB962C8B-B14F-4D97-AF65-F5344CB8AC3E}">
        <p14:creationId xmlns:p14="http://schemas.microsoft.com/office/powerpoint/2010/main" val="3165361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C6CE84-388A-7857-FB77-4FDFF9D2919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HN"/>
          </a:p>
        </p:txBody>
      </p:sp>
      <p:sp>
        <p:nvSpPr>
          <p:cNvPr id="3" name="Marcador de texto 2">
            <a:extLst>
              <a:ext uri="{FF2B5EF4-FFF2-40B4-BE49-F238E27FC236}">
                <a16:creationId xmlns:a16="http://schemas.microsoft.com/office/drawing/2014/main" id="{63CBA1BE-3141-6802-9665-BD3FBC782C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B3A26B6-2670-C488-4309-AAEC16FB957B}"/>
              </a:ext>
            </a:extLst>
          </p:cNvPr>
          <p:cNvSpPr>
            <a:spLocks noGrp="1"/>
          </p:cNvSpPr>
          <p:nvPr>
            <p:ph type="dt" sz="half" idx="10"/>
          </p:nvPr>
        </p:nvSpPr>
        <p:spPr/>
        <p:txBody>
          <a:bodyPr/>
          <a:lstStyle/>
          <a:p>
            <a:fld id="{0C1145FB-3E23-4AD1-B06C-644E5331E747}" type="datetimeFigureOut">
              <a:rPr lang="es-HN" smtClean="0"/>
              <a:t>11/9/2026</a:t>
            </a:fld>
            <a:endParaRPr lang="es-HN"/>
          </a:p>
        </p:txBody>
      </p:sp>
      <p:sp>
        <p:nvSpPr>
          <p:cNvPr id="5" name="Marcador de pie de página 4">
            <a:extLst>
              <a:ext uri="{FF2B5EF4-FFF2-40B4-BE49-F238E27FC236}">
                <a16:creationId xmlns:a16="http://schemas.microsoft.com/office/drawing/2014/main" id="{05B65F90-9B59-96DB-D882-29054E556A5C}"/>
              </a:ext>
            </a:extLst>
          </p:cNvPr>
          <p:cNvSpPr>
            <a:spLocks noGrp="1"/>
          </p:cNvSpPr>
          <p:nvPr>
            <p:ph type="ftr" sz="quarter" idx="11"/>
          </p:nvPr>
        </p:nvSpPr>
        <p:spPr/>
        <p:txBody>
          <a:bodyPr/>
          <a:lstStyle/>
          <a:p>
            <a:endParaRPr lang="es-HN"/>
          </a:p>
        </p:txBody>
      </p:sp>
      <p:sp>
        <p:nvSpPr>
          <p:cNvPr id="6" name="Marcador de número de diapositiva 5">
            <a:extLst>
              <a:ext uri="{FF2B5EF4-FFF2-40B4-BE49-F238E27FC236}">
                <a16:creationId xmlns:a16="http://schemas.microsoft.com/office/drawing/2014/main" id="{17DB5E64-64C6-FEC7-9328-8B130A686E2E}"/>
              </a:ext>
            </a:extLst>
          </p:cNvPr>
          <p:cNvSpPr>
            <a:spLocks noGrp="1"/>
          </p:cNvSpPr>
          <p:nvPr>
            <p:ph type="sldNum" sz="quarter" idx="12"/>
          </p:nvPr>
        </p:nvSpPr>
        <p:spPr/>
        <p:txBody>
          <a:bodyPr/>
          <a:lstStyle/>
          <a:p>
            <a:fld id="{063A731C-A296-462A-A865-C9DD24A8C3AF}" type="slidenum">
              <a:rPr lang="es-HN" smtClean="0"/>
              <a:t>‹Nº›</a:t>
            </a:fld>
            <a:endParaRPr lang="es-HN"/>
          </a:p>
        </p:txBody>
      </p:sp>
    </p:spTree>
    <p:extLst>
      <p:ext uri="{BB962C8B-B14F-4D97-AF65-F5344CB8AC3E}">
        <p14:creationId xmlns:p14="http://schemas.microsoft.com/office/powerpoint/2010/main" val="3643947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801ADE-7C11-1A3D-2160-49DB520E9BFF}"/>
              </a:ext>
            </a:extLst>
          </p:cNvPr>
          <p:cNvSpPr>
            <a:spLocks noGrp="1"/>
          </p:cNvSpPr>
          <p:nvPr>
            <p:ph type="title"/>
          </p:nvPr>
        </p:nvSpPr>
        <p:spPr/>
        <p:txBody>
          <a:bodyPr/>
          <a:lstStyle/>
          <a:p>
            <a:r>
              <a:rPr lang="es-ES"/>
              <a:t>Haga clic para modificar el estilo de título del patrón</a:t>
            </a:r>
            <a:endParaRPr lang="es-HN"/>
          </a:p>
        </p:txBody>
      </p:sp>
      <p:sp>
        <p:nvSpPr>
          <p:cNvPr id="3" name="Marcador de contenido 2">
            <a:extLst>
              <a:ext uri="{FF2B5EF4-FFF2-40B4-BE49-F238E27FC236}">
                <a16:creationId xmlns:a16="http://schemas.microsoft.com/office/drawing/2014/main" id="{4196E68A-A192-FB2C-693E-8466957DCA5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HN"/>
          </a:p>
        </p:txBody>
      </p:sp>
      <p:sp>
        <p:nvSpPr>
          <p:cNvPr id="4" name="Marcador de contenido 3">
            <a:extLst>
              <a:ext uri="{FF2B5EF4-FFF2-40B4-BE49-F238E27FC236}">
                <a16:creationId xmlns:a16="http://schemas.microsoft.com/office/drawing/2014/main" id="{13CDBB10-D115-D49F-BD0C-154BB85A568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HN"/>
          </a:p>
        </p:txBody>
      </p:sp>
      <p:sp>
        <p:nvSpPr>
          <p:cNvPr id="5" name="Marcador de fecha 4">
            <a:extLst>
              <a:ext uri="{FF2B5EF4-FFF2-40B4-BE49-F238E27FC236}">
                <a16:creationId xmlns:a16="http://schemas.microsoft.com/office/drawing/2014/main" id="{8844E90E-2B1B-F221-4607-4137C4774F0E}"/>
              </a:ext>
            </a:extLst>
          </p:cNvPr>
          <p:cNvSpPr>
            <a:spLocks noGrp="1"/>
          </p:cNvSpPr>
          <p:nvPr>
            <p:ph type="dt" sz="half" idx="10"/>
          </p:nvPr>
        </p:nvSpPr>
        <p:spPr/>
        <p:txBody>
          <a:bodyPr/>
          <a:lstStyle/>
          <a:p>
            <a:fld id="{0C1145FB-3E23-4AD1-B06C-644E5331E747}" type="datetimeFigureOut">
              <a:rPr lang="es-HN" smtClean="0"/>
              <a:t>11/9/2026</a:t>
            </a:fld>
            <a:endParaRPr lang="es-HN"/>
          </a:p>
        </p:txBody>
      </p:sp>
      <p:sp>
        <p:nvSpPr>
          <p:cNvPr id="6" name="Marcador de pie de página 5">
            <a:extLst>
              <a:ext uri="{FF2B5EF4-FFF2-40B4-BE49-F238E27FC236}">
                <a16:creationId xmlns:a16="http://schemas.microsoft.com/office/drawing/2014/main" id="{753AE65C-7EDE-E9BF-2D6E-51A04DC76942}"/>
              </a:ext>
            </a:extLst>
          </p:cNvPr>
          <p:cNvSpPr>
            <a:spLocks noGrp="1"/>
          </p:cNvSpPr>
          <p:nvPr>
            <p:ph type="ftr" sz="quarter" idx="11"/>
          </p:nvPr>
        </p:nvSpPr>
        <p:spPr/>
        <p:txBody>
          <a:bodyPr/>
          <a:lstStyle/>
          <a:p>
            <a:endParaRPr lang="es-HN"/>
          </a:p>
        </p:txBody>
      </p:sp>
      <p:sp>
        <p:nvSpPr>
          <p:cNvPr id="7" name="Marcador de número de diapositiva 6">
            <a:extLst>
              <a:ext uri="{FF2B5EF4-FFF2-40B4-BE49-F238E27FC236}">
                <a16:creationId xmlns:a16="http://schemas.microsoft.com/office/drawing/2014/main" id="{4894228C-D100-A93C-699C-950F3AA38AE7}"/>
              </a:ext>
            </a:extLst>
          </p:cNvPr>
          <p:cNvSpPr>
            <a:spLocks noGrp="1"/>
          </p:cNvSpPr>
          <p:nvPr>
            <p:ph type="sldNum" sz="quarter" idx="12"/>
          </p:nvPr>
        </p:nvSpPr>
        <p:spPr/>
        <p:txBody>
          <a:bodyPr/>
          <a:lstStyle/>
          <a:p>
            <a:fld id="{063A731C-A296-462A-A865-C9DD24A8C3AF}" type="slidenum">
              <a:rPr lang="es-HN" smtClean="0"/>
              <a:t>‹Nº›</a:t>
            </a:fld>
            <a:endParaRPr lang="es-HN"/>
          </a:p>
        </p:txBody>
      </p:sp>
    </p:spTree>
    <p:extLst>
      <p:ext uri="{BB962C8B-B14F-4D97-AF65-F5344CB8AC3E}">
        <p14:creationId xmlns:p14="http://schemas.microsoft.com/office/powerpoint/2010/main" val="1104045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E81976-DF96-9CBC-6D9A-4BC8F9FA7608}"/>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HN"/>
          </a:p>
        </p:txBody>
      </p:sp>
      <p:sp>
        <p:nvSpPr>
          <p:cNvPr id="3" name="Marcador de texto 2">
            <a:extLst>
              <a:ext uri="{FF2B5EF4-FFF2-40B4-BE49-F238E27FC236}">
                <a16:creationId xmlns:a16="http://schemas.microsoft.com/office/drawing/2014/main" id="{7D34C84C-9947-8217-627A-A02E32980C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4E2241E-A957-F4EE-8AEE-2CEA85D7924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HN"/>
          </a:p>
        </p:txBody>
      </p:sp>
      <p:sp>
        <p:nvSpPr>
          <p:cNvPr id="5" name="Marcador de texto 4">
            <a:extLst>
              <a:ext uri="{FF2B5EF4-FFF2-40B4-BE49-F238E27FC236}">
                <a16:creationId xmlns:a16="http://schemas.microsoft.com/office/drawing/2014/main" id="{2AC2EDF3-55CC-AB0D-C0AC-5F195A843F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5E89619-726F-8D9C-F1FA-E09E99C6B60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HN"/>
          </a:p>
        </p:txBody>
      </p:sp>
      <p:sp>
        <p:nvSpPr>
          <p:cNvPr id="7" name="Marcador de fecha 6">
            <a:extLst>
              <a:ext uri="{FF2B5EF4-FFF2-40B4-BE49-F238E27FC236}">
                <a16:creationId xmlns:a16="http://schemas.microsoft.com/office/drawing/2014/main" id="{B58D0640-3B66-E91F-0CAD-8816D133F466}"/>
              </a:ext>
            </a:extLst>
          </p:cNvPr>
          <p:cNvSpPr>
            <a:spLocks noGrp="1"/>
          </p:cNvSpPr>
          <p:nvPr>
            <p:ph type="dt" sz="half" idx="10"/>
          </p:nvPr>
        </p:nvSpPr>
        <p:spPr/>
        <p:txBody>
          <a:bodyPr/>
          <a:lstStyle/>
          <a:p>
            <a:fld id="{0C1145FB-3E23-4AD1-B06C-644E5331E747}" type="datetimeFigureOut">
              <a:rPr lang="es-HN" smtClean="0"/>
              <a:t>11/9/2026</a:t>
            </a:fld>
            <a:endParaRPr lang="es-HN"/>
          </a:p>
        </p:txBody>
      </p:sp>
      <p:sp>
        <p:nvSpPr>
          <p:cNvPr id="8" name="Marcador de pie de página 7">
            <a:extLst>
              <a:ext uri="{FF2B5EF4-FFF2-40B4-BE49-F238E27FC236}">
                <a16:creationId xmlns:a16="http://schemas.microsoft.com/office/drawing/2014/main" id="{89B0BFA5-C5CA-4794-E224-63BDA3DCD484}"/>
              </a:ext>
            </a:extLst>
          </p:cNvPr>
          <p:cNvSpPr>
            <a:spLocks noGrp="1"/>
          </p:cNvSpPr>
          <p:nvPr>
            <p:ph type="ftr" sz="quarter" idx="11"/>
          </p:nvPr>
        </p:nvSpPr>
        <p:spPr/>
        <p:txBody>
          <a:bodyPr/>
          <a:lstStyle/>
          <a:p>
            <a:endParaRPr lang="es-HN"/>
          </a:p>
        </p:txBody>
      </p:sp>
      <p:sp>
        <p:nvSpPr>
          <p:cNvPr id="9" name="Marcador de número de diapositiva 8">
            <a:extLst>
              <a:ext uri="{FF2B5EF4-FFF2-40B4-BE49-F238E27FC236}">
                <a16:creationId xmlns:a16="http://schemas.microsoft.com/office/drawing/2014/main" id="{5BF17ACC-D02F-D621-C821-DC83FF3EC0DB}"/>
              </a:ext>
            </a:extLst>
          </p:cNvPr>
          <p:cNvSpPr>
            <a:spLocks noGrp="1"/>
          </p:cNvSpPr>
          <p:nvPr>
            <p:ph type="sldNum" sz="quarter" idx="12"/>
          </p:nvPr>
        </p:nvSpPr>
        <p:spPr/>
        <p:txBody>
          <a:bodyPr/>
          <a:lstStyle/>
          <a:p>
            <a:fld id="{063A731C-A296-462A-A865-C9DD24A8C3AF}" type="slidenum">
              <a:rPr lang="es-HN" smtClean="0"/>
              <a:t>‹Nº›</a:t>
            </a:fld>
            <a:endParaRPr lang="es-HN"/>
          </a:p>
        </p:txBody>
      </p:sp>
    </p:spTree>
    <p:extLst>
      <p:ext uri="{BB962C8B-B14F-4D97-AF65-F5344CB8AC3E}">
        <p14:creationId xmlns:p14="http://schemas.microsoft.com/office/powerpoint/2010/main" val="548147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35E45D-AEE5-79B7-6431-91A7214D06F1}"/>
              </a:ext>
            </a:extLst>
          </p:cNvPr>
          <p:cNvSpPr>
            <a:spLocks noGrp="1"/>
          </p:cNvSpPr>
          <p:nvPr>
            <p:ph type="title"/>
          </p:nvPr>
        </p:nvSpPr>
        <p:spPr/>
        <p:txBody>
          <a:bodyPr/>
          <a:lstStyle/>
          <a:p>
            <a:r>
              <a:rPr lang="es-ES"/>
              <a:t>Haga clic para modificar el estilo de título del patrón</a:t>
            </a:r>
            <a:endParaRPr lang="es-HN"/>
          </a:p>
        </p:txBody>
      </p:sp>
      <p:sp>
        <p:nvSpPr>
          <p:cNvPr id="3" name="Marcador de fecha 2">
            <a:extLst>
              <a:ext uri="{FF2B5EF4-FFF2-40B4-BE49-F238E27FC236}">
                <a16:creationId xmlns:a16="http://schemas.microsoft.com/office/drawing/2014/main" id="{C6546FFB-F72F-28E6-590C-EDE9E597485F}"/>
              </a:ext>
            </a:extLst>
          </p:cNvPr>
          <p:cNvSpPr>
            <a:spLocks noGrp="1"/>
          </p:cNvSpPr>
          <p:nvPr>
            <p:ph type="dt" sz="half" idx="10"/>
          </p:nvPr>
        </p:nvSpPr>
        <p:spPr/>
        <p:txBody>
          <a:bodyPr/>
          <a:lstStyle/>
          <a:p>
            <a:fld id="{0C1145FB-3E23-4AD1-B06C-644E5331E747}" type="datetimeFigureOut">
              <a:rPr lang="es-HN" smtClean="0"/>
              <a:t>11/9/2026</a:t>
            </a:fld>
            <a:endParaRPr lang="es-HN"/>
          </a:p>
        </p:txBody>
      </p:sp>
      <p:sp>
        <p:nvSpPr>
          <p:cNvPr id="4" name="Marcador de pie de página 3">
            <a:extLst>
              <a:ext uri="{FF2B5EF4-FFF2-40B4-BE49-F238E27FC236}">
                <a16:creationId xmlns:a16="http://schemas.microsoft.com/office/drawing/2014/main" id="{10A52327-BFF6-2590-541F-D0B44E451EE0}"/>
              </a:ext>
            </a:extLst>
          </p:cNvPr>
          <p:cNvSpPr>
            <a:spLocks noGrp="1"/>
          </p:cNvSpPr>
          <p:nvPr>
            <p:ph type="ftr" sz="quarter" idx="11"/>
          </p:nvPr>
        </p:nvSpPr>
        <p:spPr/>
        <p:txBody>
          <a:bodyPr/>
          <a:lstStyle/>
          <a:p>
            <a:endParaRPr lang="es-HN"/>
          </a:p>
        </p:txBody>
      </p:sp>
      <p:sp>
        <p:nvSpPr>
          <p:cNvPr id="5" name="Marcador de número de diapositiva 4">
            <a:extLst>
              <a:ext uri="{FF2B5EF4-FFF2-40B4-BE49-F238E27FC236}">
                <a16:creationId xmlns:a16="http://schemas.microsoft.com/office/drawing/2014/main" id="{F7F51310-1D7E-EF8B-01E9-B815C14C7C1B}"/>
              </a:ext>
            </a:extLst>
          </p:cNvPr>
          <p:cNvSpPr>
            <a:spLocks noGrp="1"/>
          </p:cNvSpPr>
          <p:nvPr>
            <p:ph type="sldNum" sz="quarter" idx="12"/>
          </p:nvPr>
        </p:nvSpPr>
        <p:spPr/>
        <p:txBody>
          <a:bodyPr/>
          <a:lstStyle/>
          <a:p>
            <a:fld id="{063A731C-A296-462A-A865-C9DD24A8C3AF}" type="slidenum">
              <a:rPr lang="es-HN" smtClean="0"/>
              <a:t>‹Nº›</a:t>
            </a:fld>
            <a:endParaRPr lang="es-HN"/>
          </a:p>
        </p:txBody>
      </p:sp>
    </p:spTree>
    <p:extLst>
      <p:ext uri="{BB962C8B-B14F-4D97-AF65-F5344CB8AC3E}">
        <p14:creationId xmlns:p14="http://schemas.microsoft.com/office/powerpoint/2010/main" val="3199260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9BA5429-FE5D-6171-F408-56DF84DF89DE}"/>
              </a:ext>
            </a:extLst>
          </p:cNvPr>
          <p:cNvSpPr>
            <a:spLocks noGrp="1"/>
          </p:cNvSpPr>
          <p:nvPr>
            <p:ph type="dt" sz="half" idx="10"/>
          </p:nvPr>
        </p:nvSpPr>
        <p:spPr/>
        <p:txBody>
          <a:bodyPr/>
          <a:lstStyle/>
          <a:p>
            <a:fld id="{0C1145FB-3E23-4AD1-B06C-644E5331E747}" type="datetimeFigureOut">
              <a:rPr lang="es-HN" smtClean="0"/>
              <a:t>11/9/2026</a:t>
            </a:fld>
            <a:endParaRPr lang="es-HN"/>
          </a:p>
        </p:txBody>
      </p:sp>
      <p:sp>
        <p:nvSpPr>
          <p:cNvPr id="3" name="Marcador de pie de página 2">
            <a:extLst>
              <a:ext uri="{FF2B5EF4-FFF2-40B4-BE49-F238E27FC236}">
                <a16:creationId xmlns:a16="http://schemas.microsoft.com/office/drawing/2014/main" id="{96FE2F72-B512-EF6A-0209-1FD9AED1E26C}"/>
              </a:ext>
            </a:extLst>
          </p:cNvPr>
          <p:cNvSpPr>
            <a:spLocks noGrp="1"/>
          </p:cNvSpPr>
          <p:nvPr>
            <p:ph type="ftr" sz="quarter" idx="11"/>
          </p:nvPr>
        </p:nvSpPr>
        <p:spPr/>
        <p:txBody>
          <a:bodyPr/>
          <a:lstStyle/>
          <a:p>
            <a:endParaRPr lang="es-HN"/>
          </a:p>
        </p:txBody>
      </p:sp>
      <p:sp>
        <p:nvSpPr>
          <p:cNvPr id="4" name="Marcador de número de diapositiva 3">
            <a:extLst>
              <a:ext uri="{FF2B5EF4-FFF2-40B4-BE49-F238E27FC236}">
                <a16:creationId xmlns:a16="http://schemas.microsoft.com/office/drawing/2014/main" id="{14C3858A-41F5-499A-FDF9-50B2FF65BF44}"/>
              </a:ext>
            </a:extLst>
          </p:cNvPr>
          <p:cNvSpPr>
            <a:spLocks noGrp="1"/>
          </p:cNvSpPr>
          <p:nvPr>
            <p:ph type="sldNum" sz="quarter" idx="12"/>
          </p:nvPr>
        </p:nvSpPr>
        <p:spPr/>
        <p:txBody>
          <a:bodyPr/>
          <a:lstStyle/>
          <a:p>
            <a:fld id="{063A731C-A296-462A-A865-C9DD24A8C3AF}" type="slidenum">
              <a:rPr lang="es-HN" smtClean="0"/>
              <a:t>‹Nº›</a:t>
            </a:fld>
            <a:endParaRPr lang="es-HN"/>
          </a:p>
        </p:txBody>
      </p:sp>
    </p:spTree>
    <p:extLst>
      <p:ext uri="{BB962C8B-B14F-4D97-AF65-F5344CB8AC3E}">
        <p14:creationId xmlns:p14="http://schemas.microsoft.com/office/powerpoint/2010/main" val="715484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73D52E-CA13-3171-390F-2BA73DA9585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HN"/>
          </a:p>
        </p:txBody>
      </p:sp>
      <p:sp>
        <p:nvSpPr>
          <p:cNvPr id="3" name="Marcador de contenido 2">
            <a:extLst>
              <a:ext uri="{FF2B5EF4-FFF2-40B4-BE49-F238E27FC236}">
                <a16:creationId xmlns:a16="http://schemas.microsoft.com/office/drawing/2014/main" id="{24FF9E97-1957-6D3F-8DA2-5DA9FF10D9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HN"/>
          </a:p>
        </p:txBody>
      </p:sp>
      <p:sp>
        <p:nvSpPr>
          <p:cNvPr id="4" name="Marcador de texto 3">
            <a:extLst>
              <a:ext uri="{FF2B5EF4-FFF2-40B4-BE49-F238E27FC236}">
                <a16:creationId xmlns:a16="http://schemas.microsoft.com/office/drawing/2014/main" id="{48E0194D-8962-ED1A-9481-238053686F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1C9D91D-230C-10AB-D82F-EC3F98DEEF49}"/>
              </a:ext>
            </a:extLst>
          </p:cNvPr>
          <p:cNvSpPr>
            <a:spLocks noGrp="1"/>
          </p:cNvSpPr>
          <p:nvPr>
            <p:ph type="dt" sz="half" idx="10"/>
          </p:nvPr>
        </p:nvSpPr>
        <p:spPr/>
        <p:txBody>
          <a:bodyPr/>
          <a:lstStyle/>
          <a:p>
            <a:fld id="{0C1145FB-3E23-4AD1-B06C-644E5331E747}" type="datetimeFigureOut">
              <a:rPr lang="es-HN" smtClean="0"/>
              <a:t>11/9/2026</a:t>
            </a:fld>
            <a:endParaRPr lang="es-HN"/>
          </a:p>
        </p:txBody>
      </p:sp>
      <p:sp>
        <p:nvSpPr>
          <p:cNvPr id="6" name="Marcador de pie de página 5">
            <a:extLst>
              <a:ext uri="{FF2B5EF4-FFF2-40B4-BE49-F238E27FC236}">
                <a16:creationId xmlns:a16="http://schemas.microsoft.com/office/drawing/2014/main" id="{68150A66-0F0C-D229-0654-8228B52200B8}"/>
              </a:ext>
            </a:extLst>
          </p:cNvPr>
          <p:cNvSpPr>
            <a:spLocks noGrp="1"/>
          </p:cNvSpPr>
          <p:nvPr>
            <p:ph type="ftr" sz="quarter" idx="11"/>
          </p:nvPr>
        </p:nvSpPr>
        <p:spPr/>
        <p:txBody>
          <a:bodyPr/>
          <a:lstStyle/>
          <a:p>
            <a:endParaRPr lang="es-HN"/>
          </a:p>
        </p:txBody>
      </p:sp>
      <p:sp>
        <p:nvSpPr>
          <p:cNvPr id="7" name="Marcador de número de diapositiva 6">
            <a:extLst>
              <a:ext uri="{FF2B5EF4-FFF2-40B4-BE49-F238E27FC236}">
                <a16:creationId xmlns:a16="http://schemas.microsoft.com/office/drawing/2014/main" id="{613061CF-2A29-4C3F-9CE1-82566C30260E}"/>
              </a:ext>
            </a:extLst>
          </p:cNvPr>
          <p:cNvSpPr>
            <a:spLocks noGrp="1"/>
          </p:cNvSpPr>
          <p:nvPr>
            <p:ph type="sldNum" sz="quarter" idx="12"/>
          </p:nvPr>
        </p:nvSpPr>
        <p:spPr/>
        <p:txBody>
          <a:bodyPr/>
          <a:lstStyle/>
          <a:p>
            <a:fld id="{063A731C-A296-462A-A865-C9DD24A8C3AF}" type="slidenum">
              <a:rPr lang="es-HN" smtClean="0"/>
              <a:t>‹Nº›</a:t>
            </a:fld>
            <a:endParaRPr lang="es-HN"/>
          </a:p>
        </p:txBody>
      </p:sp>
    </p:spTree>
    <p:extLst>
      <p:ext uri="{BB962C8B-B14F-4D97-AF65-F5344CB8AC3E}">
        <p14:creationId xmlns:p14="http://schemas.microsoft.com/office/powerpoint/2010/main" val="312951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EC612E-56A6-F654-C49D-B02CDA853D7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HN"/>
          </a:p>
        </p:txBody>
      </p:sp>
      <p:sp>
        <p:nvSpPr>
          <p:cNvPr id="3" name="Marcador de posición de imagen 2">
            <a:extLst>
              <a:ext uri="{FF2B5EF4-FFF2-40B4-BE49-F238E27FC236}">
                <a16:creationId xmlns:a16="http://schemas.microsoft.com/office/drawing/2014/main" id="{F1838D6B-5C28-531A-AFFE-71D7C17B69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HN"/>
          </a:p>
        </p:txBody>
      </p:sp>
      <p:sp>
        <p:nvSpPr>
          <p:cNvPr id="4" name="Marcador de texto 3">
            <a:extLst>
              <a:ext uri="{FF2B5EF4-FFF2-40B4-BE49-F238E27FC236}">
                <a16:creationId xmlns:a16="http://schemas.microsoft.com/office/drawing/2014/main" id="{6A3426A5-7C9E-DC10-617E-B6C39AA563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AE40AFF-4184-3C70-FFF8-6DEDA936FEB4}"/>
              </a:ext>
            </a:extLst>
          </p:cNvPr>
          <p:cNvSpPr>
            <a:spLocks noGrp="1"/>
          </p:cNvSpPr>
          <p:nvPr>
            <p:ph type="dt" sz="half" idx="10"/>
          </p:nvPr>
        </p:nvSpPr>
        <p:spPr/>
        <p:txBody>
          <a:bodyPr/>
          <a:lstStyle/>
          <a:p>
            <a:fld id="{0C1145FB-3E23-4AD1-B06C-644E5331E747}" type="datetimeFigureOut">
              <a:rPr lang="es-HN" smtClean="0"/>
              <a:t>11/9/2026</a:t>
            </a:fld>
            <a:endParaRPr lang="es-HN"/>
          </a:p>
        </p:txBody>
      </p:sp>
      <p:sp>
        <p:nvSpPr>
          <p:cNvPr id="6" name="Marcador de pie de página 5">
            <a:extLst>
              <a:ext uri="{FF2B5EF4-FFF2-40B4-BE49-F238E27FC236}">
                <a16:creationId xmlns:a16="http://schemas.microsoft.com/office/drawing/2014/main" id="{BC4C660B-39F5-6487-3106-CE0509F934D1}"/>
              </a:ext>
            </a:extLst>
          </p:cNvPr>
          <p:cNvSpPr>
            <a:spLocks noGrp="1"/>
          </p:cNvSpPr>
          <p:nvPr>
            <p:ph type="ftr" sz="quarter" idx="11"/>
          </p:nvPr>
        </p:nvSpPr>
        <p:spPr/>
        <p:txBody>
          <a:bodyPr/>
          <a:lstStyle/>
          <a:p>
            <a:endParaRPr lang="es-HN"/>
          </a:p>
        </p:txBody>
      </p:sp>
      <p:sp>
        <p:nvSpPr>
          <p:cNvPr id="7" name="Marcador de número de diapositiva 6">
            <a:extLst>
              <a:ext uri="{FF2B5EF4-FFF2-40B4-BE49-F238E27FC236}">
                <a16:creationId xmlns:a16="http://schemas.microsoft.com/office/drawing/2014/main" id="{8F07F359-08E6-8BD9-6124-24A2EBA76BC4}"/>
              </a:ext>
            </a:extLst>
          </p:cNvPr>
          <p:cNvSpPr>
            <a:spLocks noGrp="1"/>
          </p:cNvSpPr>
          <p:nvPr>
            <p:ph type="sldNum" sz="quarter" idx="12"/>
          </p:nvPr>
        </p:nvSpPr>
        <p:spPr/>
        <p:txBody>
          <a:bodyPr/>
          <a:lstStyle/>
          <a:p>
            <a:fld id="{063A731C-A296-462A-A865-C9DD24A8C3AF}" type="slidenum">
              <a:rPr lang="es-HN" smtClean="0"/>
              <a:t>‹Nº›</a:t>
            </a:fld>
            <a:endParaRPr lang="es-HN"/>
          </a:p>
        </p:txBody>
      </p:sp>
    </p:spTree>
    <p:extLst>
      <p:ext uri="{BB962C8B-B14F-4D97-AF65-F5344CB8AC3E}">
        <p14:creationId xmlns:p14="http://schemas.microsoft.com/office/powerpoint/2010/main" val="197766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FA217B-2E6F-F6CE-4A95-CCD92BAC2321}"/>
              </a:ext>
            </a:extLst>
          </p:cNvPr>
          <p:cNvSpPr>
            <a:spLocks noGrp="1"/>
          </p:cNvSpPr>
          <p:nvPr>
            <p:ph type="title"/>
          </p:nvPr>
        </p:nvSpPr>
        <p:spPr/>
        <p:txBody>
          <a:bodyPr/>
          <a:lstStyle/>
          <a:p>
            <a:r>
              <a:rPr lang="es-ES"/>
              <a:t>Haga clic para modificar el estilo de título del patrón</a:t>
            </a:r>
            <a:endParaRPr lang="es-HN"/>
          </a:p>
        </p:txBody>
      </p:sp>
      <p:sp>
        <p:nvSpPr>
          <p:cNvPr id="3" name="Marcador de texto vertical 2">
            <a:extLst>
              <a:ext uri="{FF2B5EF4-FFF2-40B4-BE49-F238E27FC236}">
                <a16:creationId xmlns:a16="http://schemas.microsoft.com/office/drawing/2014/main" id="{2A1F8170-C879-9678-6F8C-2115ADC0527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HN"/>
          </a:p>
        </p:txBody>
      </p:sp>
      <p:sp>
        <p:nvSpPr>
          <p:cNvPr id="4" name="Marcador de fecha 3">
            <a:extLst>
              <a:ext uri="{FF2B5EF4-FFF2-40B4-BE49-F238E27FC236}">
                <a16:creationId xmlns:a16="http://schemas.microsoft.com/office/drawing/2014/main" id="{852FBB65-0FB9-0AD4-AC8E-E5F103C6564D}"/>
              </a:ext>
            </a:extLst>
          </p:cNvPr>
          <p:cNvSpPr>
            <a:spLocks noGrp="1"/>
          </p:cNvSpPr>
          <p:nvPr>
            <p:ph type="dt" sz="half" idx="10"/>
          </p:nvPr>
        </p:nvSpPr>
        <p:spPr/>
        <p:txBody>
          <a:bodyPr/>
          <a:lstStyle/>
          <a:p>
            <a:fld id="{0C1145FB-3E23-4AD1-B06C-644E5331E747}" type="datetimeFigureOut">
              <a:rPr lang="es-HN" smtClean="0"/>
              <a:t>11/9/2026</a:t>
            </a:fld>
            <a:endParaRPr lang="es-HN"/>
          </a:p>
        </p:txBody>
      </p:sp>
      <p:sp>
        <p:nvSpPr>
          <p:cNvPr id="5" name="Marcador de pie de página 4">
            <a:extLst>
              <a:ext uri="{FF2B5EF4-FFF2-40B4-BE49-F238E27FC236}">
                <a16:creationId xmlns:a16="http://schemas.microsoft.com/office/drawing/2014/main" id="{335BC986-21B4-0EE5-7D99-83F10785A9FD}"/>
              </a:ext>
            </a:extLst>
          </p:cNvPr>
          <p:cNvSpPr>
            <a:spLocks noGrp="1"/>
          </p:cNvSpPr>
          <p:nvPr>
            <p:ph type="ftr" sz="quarter" idx="11"/>
          </p:nvPr>
        </p:nvSpPr>
        <p:spPr/>
        <p:txBody>
          <a:bodyPr/>
          <a:lstStyle/>
          <a:p>
            <a:endParaRPr lang="es-HN"/>
          </a:p>
        </p:txBody>
      </p:sp>
      <p:sp>
        <p:nvSpPr>
          <p:cNvPr id="6" name="Marcador de número de diapositiva 5">
            <a:extLst>
              <a:ext uri="{FF2B5EF4-FFF2-40B4-BE49-F238E27FC236}">
                <a16:creationId xmlns:a16="http://schemas.microsoft.com/office/drawing/2014/main" id="{70C1B835-EC4E-C9BA-F6F0-FCD3C422E2C9}"/>
              </a:ext>
            </a:extLst>
          </p:cNvPr>
          <p:cNvSpPr>
            <a:spLocks noGrp="1"/>
          </p:cNvSpPr>
          <p:nvPr>
            <p:ph type="sldNum" sz="quarter" idx="12"/>
          </p:nvPr>
        </p:nvSpPr>
        <p:spPr/>
        <p:txBody>
          <a:bodyPr/>
          <a:lstStyle/>
          <a:p>
            <a:fld id="{063A731C-A296-462A-A865-C9DD24A8C3AF}" type="slidenum">
              <a:rPr lang="es-HN" smtClean="0"/>
              <a:t>‹Nº›</a:t>
            </a:fld>
            <a:endParaRPr lang="es-HN"/>
          </a:p>
        </p:txBody>
      </p:sp>
    </p:spTree>
    <p:extLst>
      <p:ext uri="{BB962C8B-B14F-4D97-AF65-F5344CB8AC3E}">
        <p14:creationId xmlns:p14="http://schemas.microsoft.com/office/powerpoint/2010/main" val="393983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F5C7189-9623-CFC6-3954-DC1FDFB7434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HN"/>
          </a:p>
        </p:txBody>
      </p:sp>
      <p:sp>
        <p:nvSpPr>
          <p:cNvPr id="3" name="Marcador de texto vertical 2">
            <a:extLst>
              <a:ext uri="{FF2B5EF4-FFF2-40B4-BE49-F238E27FC236}">
                <a16:creationId xmlns:a16="http://schemas.microsoft.com/office/drawing/2014/main" id="{1F25A25A-D43D-15A9-13FB-7B35C45B25D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HN"/>
          </a:p>
        </p:txBody>
      </p:sp>
      <p:sp>
        <p:nvSpPr>
          <p:cNvPr id="4" name="Marcador de fecha 3">
            <a:extLst>
              <a:ext uri="{FF2B5EF4-FFF2-40B4-BE49-F238E27FC236}">
                <a16:creationId xmlns:a16="http://schemas.microsoft.com/office/drawing/2014/main" id="{C83D35BA-7B3B-5FD4-E885-5A79849DD109}"/>
              </a:ext>
            </a:extLst>
          </p:cNvPr>
          <p:cNvSpPr>
            <a:spLocks noGrp="1"/>
          </p:cNvSpPr>
          <p:nvPr>
            <p:ph type="dt" sz="half" idx="10"/>
          </p:nvPr>
        </p:nvSpPr>
        <p:spPr/>
        <p:txBody>
          <a:bodyPr/>
          <a:lstStyle/>
          <a:p>
            <a:fld id="{0C1145FB-3E23-4AD1-B06C-644E5331E747}" type="datetimeFigureOut">
              <a:rPr lang="es-HN" smtClean="0"/>
              <a:t>11/9/2026</a:t>
            </a:fld>
            <a:endParaRPr lang="es-HN"/>
          </a:p>
        </p:txBody>
      </p:sp>
      <p:sp>
        <p:nvSpPr>
          <p:cNvPr id="5" name="Marcador de pie de página 4">
            <a:extLst>
              <a:ext uri="{FF2B5EF4-FFF2-40B4-BE49-F238E27FC236}">
                <a16:creationId xmlns:a16="http://schemas.microsoft.com/office/drawing/2014/main" id="{5318D752-8742-9BF5-0C77-473436E62633}"/>
              </a:ext>
            </a:extLst>
          </p:cNvPr>
          <p:cNvSpPr>
            <a:spLocks noGrp="1"/>
          </p:cNvSpPr>
          <p:nvPr>
            <p:ph type="ftr" sz="quarter" idx="11"/>
          </p:nvPr>
        </p:nvSpPr>
        <p:spPr/>
        <p:txBody>
          <a:bodyPr/>
          <a:lstStyle/>
          <a:p>
            <a:endParaRPr lang="es-HN"/>
          </a:p>
        </p:txBody>
      </p:sp>
      <p:sp>
        <p:nvSpPr>
          <p:cNvPr id="6" name="Marcador de número de diapositiva 5">
            <a:extLst>
              <a:ext uri="{FF2B5EF4-FFF2-40B4-BE49-F238E27FC236}">
                <a16:creationId xmlns:a16="http://schemas.microsoft.com/office/drawing/2014/main" id="{FBDE5C13-A474-8F9D-4D36-79CB7C5A5705}"/>
              </a:ext>
            </a:extLst>
          </p:cNvPr>
          <p:cNvSpPr>
            <a:spLocks noGrp="1"/>
          </p:cNvSpPr>
          <p:nvPr>
            <p:ph type="sldNum" sz="quarter" idx="12"/>
          </p:nvPr>
        </p:nvSpPr>
        <p:spPr/>
        <p:txBody>
          <a:bodyPr/>
          <a:lstStyle/>
          <a:p>
            <a:fld id="{063A731C-A296-462A-A865-C9DD24A8C3AF}" type="slidenum">
              <a:rPr lang="es-HN" smtClean="0"/>
              <a:t>‹Nº›</a:t>
            </a:fld>
            <a:endParaRPr lang="es-HN"/>
          </a:p>
        </p:txBody>
      </p:sp>
    </p:spTree>
    <p:extLst>
      <p:ext uri="{BB962C8B-B14F-4D97-AF65-F5344CB8AC3E}">
        <p14:creationId xmlns:p14="http://schemas.microsoft.com/office/powerpoint/2010/main" val="198104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E3C0CE7-F084-234F-E3B3-15629DB4EB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HN"/>
          </a:p>
        </p:txBody>
      </p:sp>
      <p:sp>
        <p:nvSpPr>
          <p:cNvPr id="3" name="Marcador de texto 2">
            <a:extLst>
              <a:ext uri="{FF2B5EF4-FFF2-40B4-BE49-F238E27FC236}">
                <a16:creationId xmlns:a16="http://schemas.microsoft.com/office/drawing/2014/main" id="{89E597D4-0B65-D4DD-3170-0CFBABFE74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HN"/>
          </a:p>
        </p:txBody>
      </p:sp>
      <p:sp>
        <p:nvSpPr>
          <p:cNvPr id="4" name="Marcador de fecha 3">
            <a:extLst>
              <a:ext uri="{FF2B5EF4-FFF2-40B4-BE49-F238E27FC236}">
                <a16:creationId xmlns:a16="http://schemas.microsoft.com/office/drawing/2014/main" id="{091998C8-8A4A-70CF-B37B-43E8EA8A91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1145FB-3E23-4AD1-B06C-644E5331E747}" type="datetimeFigureOut">
              <a:rPr lang="es-HN" smtClean="0"/>
              <a:t>11/9/2026</a:t>
            </a:fld>
            <a:endParaRPr lang="es-HN"/>
          </a:p>
        </p:txBody>
      </p:sp>
      <p:sp>
        <p:nvSpPr>
          <p:cNvPr id="5" name="Marcador de pie de página 4">
            <a:extLst>
              <a:ext uri="{FF2B5EF4-FFF2-40B4-BE49-F238E27FC236}">
                <a16:creationId xmlns:a16="http://schemas.microsoft.com/office/drawing/2014/main" id="{BEB65EF4-5173-4DF1-8B2E-D530B104EE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HN"/>
          </a:p>
        </p:txBody>
      </p:sp>
      <p:sp>
        <p:nvSpPr>
          <p:cNvPr id="6" name="Marcador de número de diapositiva 5">
            <a:extLst>
              <a:ext uri="{FF2B5EF4-FFF2-40B4-BE49-F238E27FC236}">
                <a16:creationId xmlns:a16="http://schemas.microsoft.com/office/drawing/2014/main" id="{7022435E-C6C7-9AF1-2FBB-935BF993E9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3A731C-A296-462A-A865-C9DD24A8C3AF}" type="slidenum">
              <a:rPr lang="es-HN" smtClean="0"/>
              <a:t>‹Nº›</a:t>
            </a:fld>
            <a:endParaRPr lang="es-HN"/>
          </a:p>
        </p:txBody>
      </p:sp>
    </p:spTree>
    <p:extLst>
      <p:ext uri="{BB962C8B-B14F-4D97-AF65-F5344CB8AC3E}">
        <p14:creationId xmlns:p14="http://schemas.microsoft.com/office/powerpoint/2010/main" val="4246107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H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3EAA198C-F2E2-EA3C-20ED-C51247FB9270}"/>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800CC231-A0BC-5087-FB02-31B8A7C7ACB6}"/>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EB6E749C-CCC1-31E7-6508-3220017D6509}"/>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A299D547-1CE6-7F60-C67D-78A17B7E11A5}"/>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Elipse 5">
            <a:extLst>
              <a:ext uri="{FF2B5EF4-FFF2-40B4-BE49-F238E27FC236}">
                <a16:creationId xmlns:a16="http://schemas.microsoft.com/office/drawing/2014/main" id="{5B487A85-ECBE-80CC-DAB0-45335FED2D23}"/>
              </a:ext>
            </a:extLst>
          </p:cNvPr>
          <p:cNvSpPr/>
          <p:nvPr/>
        </p:nvSpPr>
        <p:spPr>
          <a:xfrm>
            <a:off x="9334500" y="914400"/>
            <a:ext cx="2247900" cy="2247900"/>
          </a:xfrm>
          <a:prstGeom prst="ellipse">
            <a:avLst/>
          </a:prstGeom>
          <a:noFill/>
          <a:ln w="12700" cap="flat" cmpd="sng" algn="ctr">
            <a:solidFill>
              <a:srgbClr val="E3E1D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7" name="Elipse 6">
            <a:extLst>
              <a:ext uri="{FF2B5EF4-FFF2-40B4-BE49-F238E27FC236}">
                <a16:creationId xmlns:a16="http://schemas.microsoft.com/office/drawing/2014/main" id="{7766F7A1-C27D-E60A-097C-79B001F12815}"/>
              </a:ext>
            </a:extLst>
          </p:cNvPr>
          <p:cNvSpPr/>
          <p:nvPr/>
        </p:nvSpPr>
        <p:spPr>
          <a:xfrm>
            <a:off x="9448800" y="1028700"/>
            <a:ext cx="2019300" cy="2019300"/>
          </a:xfrm>
          <a:prstGeom prst="ellipse">
            <a:avLst/>
          </a:prstGeom>
          <a:noFill/>
          <a:ln w="31750" cap="flat" cmpd="sng" algn="ctr">
            <a:solidFill>
              <a:srgbClr val="17708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8" name="Rectángulo: esquinas redondeadas 7">
            <a:extLst>
              <a:ext uri="{FF2B5EF4-FFF2-40B4-BE49-F238E27FC236}">
                <a16:creationId xmlns:a16="http://schemas.microsoft.com/office/drawing/2014/main" id="{B9D4C6D8-8B7F-965B-B7BC-58D29E8B7166}"/>
              </a:ext>
            </a:extLst>
          </p:cNvPr>
          <p:cNvSpPr/>
          <p:nvPr/>
        </p:nvSpPr>
        <p:spPr>
          <a:xfrm>
            <a:off x="10077450" y="1619250"/>
            <a:ext cx="295275" cy="104775"/>
          </a:xfrm>
          <a:prstGeom prst="roundRect">
            <a:avLst>
              <a:gd name="adj" fmla="val 50000"/>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9" name="Rectángulo: esquinas redondeadas 8">
            <a:extLst>
              <a:ext uri="{FF2B5EF4-FFF2-40B4-BE49-F238E27FC236}">
                <a16:creationId xmlns:a16="http://schemas.microsoft.com/office/drawing/2014/main" id="{3456A5A8-9CE4-B77C-9503-D95D11740718}"/>
              </a:ext>
            </a:extLst>
          </p:cNvPr>
          <p:cNvSpPr/>
          <p:nvPr/>
        </p:nvSpPr>
        <p:spPr>
          <a:xfrm>
            <a:off x="10077450" y="1809750"/>
            <a:ext cx="495300" cy="104775"/>
          </a:xfrm>
          <a:prstGeom prst="roundRect">
            <a:avLst>
              <a:gd name="adj" fmla="val 50000"/>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0" name="Rectángulo: esquinas redondeadas 9">
            <a:extLst>
              <a:ext uri="{FF2B5EF4-FFF2-40B4-BE49-F238E27FC236}">
                <a16:creationId xmlns:a16="http://schemas.microsoft.com/office/drawing/2014/main" id="{3EF3D62E-0AE4-86BC-476D-A761012CC464}"/>
              </a:ext>
            </a:extLst>
          </p:cNvPr>
          <p:cNvSpPr/>
          <p:nvPr/>
        </p:nvSpPr>
        <p:spPr>
          <a:xfrm>
            <a:off x="10077450" y="2000250"/>
            <a:ext cx="695325" cy="104775"/>
          </a:xfrm>
          <a:prstGeom prst="roundRect">
            <a:avLst>
              <a:gd name="adj" fmla="val 50000"/>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1" name="Rectángulo: esquinas redondeadas 10">
            <a:extLst>
              <a:ext uri="{FF2B5EF4-FFF2-40B4-BE49-F238E27FC236}">
                <a16:creationId xmlns:a16="http://schemas.microsoft.com/office/drawing/2014/main" id="{D9BF01A6-2EA3-0639-7441-1A91A7C34D22}"/>
              </a:ext>
            </a:extLst>
          </p:cNvPr>
          <p:cNvSpPr/>
          <p:nvPr/>
        </p:nvSpPr>
        <p:spPr>
          <a:xfrm>
            <a:off x="10077450" y="2190750"/>
            <a:ext cx="400050" cy="104775"/>
          </a:xfrm>
          <a:prstGeom prst="roundRect">
            <a:avLst>
              <a:gd name="adj" fmla="val 50000"/>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2" name="CuadroTexto 11">
            <a:extLst>
              <a:ext uri="{FF2B5EF4-FFF2-40B4-BE49-F238E27FC236}">
                <a16:creationId xmlns:a16="http://schemas.microsoft.com/office/drawing/2014/main" id="{988F4FAF-02CD-54D8-EEC1-5D75558C71C4}"/>
              </a:ext>
            </a:extLst>
          </p:cNvPr>
          <p:cNvSpPr txBox="1"/>
          <p:nvPr/>
        </p:nvSpPr>
        <p:spPr>
          <a:xfrm>
            <a:off x="609600" y="1714500"/>
            <a:ext cx="8572500" cy="276999"/>
          </a:xfrm>
          <a:prstGeom prst="rect">
            <a:avLst/>
          </a:prstGeom>
          <a:noFill/>
        </p:spPr>
        <p:txBody>
          <a:bodyPr vert="horz" wrap="square" lIns="0" tIns="0" rIns="0" bIns="0" rtlCol="0" anchor="t">
            <a:noAutofit/>
          </a:bodyPr>
          <a:lstStyle/>
          <a:p>
            <a:pPr>
              <a:lnSpc>
                <a:spcPct val="125000"/>
              </a:lnSpc>
            </a:pPr>
            <a:r>
              <a:rPr lang="es-ES" sz="900" b="1" spc="140">
                <a:solidFill>
                  <a:srgbClr val="17708A"/>
                </a:solidFill>
                <a:latin typeface="Calibri" panose="020F0502020204030204" pitchFamily="34" charset="0"/>
              </a:rPr>
              <a:t>CENTRO UNIVERSITARIO TECNOLÓGICO · CEUTEC · FACULTAD DE INGENIERÍA</a:t>
            </a:r>
            <a:endParaRPr lang="es-HN" sz="900" b="1" spc="140">
              <a:solidFill>
                <a:srgbClr val="17708A"/>
              </a:solidFill>
              <a:latin typeface="Calibri" panose="020F0502020204030204" pitchFamily="34" charset="0"/>
            </a:endParaRPr>
          </a:p>
        </p:txBody>
      </p:sp>
      <p:sp>
        <p:nvSpPr>
          <p:cNvPr id="13" name="CuadroTexto 12">
            <a:extLst>
              <a:ext uri="{FF2B5EF4-FFF2-40B4-BE49-F238E27FC236}">
                <a16:creationId xmlns:a16="http://schemas.microsoft.com/office/drawing/2014/main" id="{0E0ACCEC-FE85-84A3-91B7-175D52CA9922}"/>
              </a:ext>
            </a:extLst>
          </p:cNvPr>
          <p:cNvSpPr txBox="1"/>
          <p:nvPr/>
        </p:nvSpPr>
        <p:spPr>
          <a:xfrm>
            <a:off x="609600" y="1924050"/>
            <a:ext cx="6667500" cy="276999"/>
          </a:xfrm>
          <a:prstGeom prst="rect">
            <a:avLst/>
          </a:prstGeom>
          <a:noFill/>
        </p:spPr>
        <p:txBody>
          <a:bodyPr vert="horz" wrap="square" lIns="0" tIns="0" rIns="0" bIns="0" rtlCol="0" anchor="t">
            <a:noAutofit/>
          </a:bodyPr>
          <a:lstStyle/>
          <a:p>
            <a:r>
              <a:rPr lang="es-HN" sz="5550" b="1">
                <a:solidFill>
                  <a:srgbClr val="14171C"/>
                </a:solidFill>
                <a:latin typeface="Georgia" panose="02040502050405020303" pitchFamily="18" charset="0"/>
              </a:rPr>
              <a:t>Cumple</a:t>
            </a:r>
            <a:r>
              <a:rPr lang="es-HN" sz="5550" b="1">
                <a:solidFill>
                  <a:srgbClr val="C3372C"/>
                </a:solidFill>
                <a:latin typeface="Georgia" panose="02040502050405020303" pitchFamily="18" charset="0"/>
              </a:rPr>
              <a:t>HN</a:t>
            </a:r>
          </a:p>
        </p:txBody>
      </p:sp>
      <p:sp>
        <p:nvSpPr>
          <p:cNvPr id="14" name="CuadroTexto 13">
            <a:extLst>
              <a:ext uri="{FF2B5EF4-FFF2-40B4-BE49-F238E27FC236}">
                <a16:creationId xmlns:a16="http://schemas.microsoft.com/office/drawing/2014/main" id="{709D0A1E-AFAF-FC0D-980D-3448B6B631E5}"/>
              </a:ext>
            </a:extLst>
          </p:cNvPr>
          <p:cNvSpPr txBox="1"/>
          <p:nvPr/>
        </p:nvSpPr>
        <p:spPr>
          <a:xfrm>
            <a:off x="609600" y="2857500"/>
            <a:ext cx="5334000" cy="276999"/>
          </a:xfrm>
          <a:prstGeom prst="rect">
            <a:avLst/>
          </a:prstGeom>
          <a:noFill/>
        </p:spPr>
        <p:txBody>
          <a:bodyPr vert="horz" wrap="square" lIns="0" tIns="0" rIns="0" bIns="0" rtlCol="0" anchor="t">
            <a:noAutofit/>
          </a:bodyPr>
          <a:lstStyle/>
          <a:p>
            <a:pPr>
              <a:lnSpc>
                <a:spcPct val="122000"/>
              </a:lnSpc>
            </a:pPr>
            <a:r>
              <a:rPr lang="es-ES" sz="2025" b="1" dirty="0">
                <a:solidFill>
                  <a:srgbClr val="39404A"/>
                </a:solidFill>
                <a:latin typeface="Georgia" panose="02040502050405020303" pitchFamily="18" charset="0"/>
              </a:rPr>
              <a:t>Plataforma web para el seguimiento ciudadano de promesas políticas en Honduras</a:t>
            </a:r>
            <a:endParaRPr lang="es-HN" sz="2025" b="1" dirty="0">
              <a:solidFill>
                <a:srgbClr val="39404A"/>
              </a:solidFill>
              <a:latin typeface="Georgia" panose="02040502050405020303" pitchFamily="18" charset="0"/>
            </a:endParaRPr>
          </a:p>
        </p:txBody>
      </p:sp>
      <p:cxnSp>
        <p:nvCxnSpPr>
          <p:cNvPr id="15" name="Conector recto 14">
            <a:extLst>
              <a:ext uri="{FF2B5EF4-FFF2-40B4-BE49-F238E27FC236}">
                <a16:creationId xmlns:a16="http://schemas.microsoft.com/office/drawing/2014/main" id="{6BC13DE0-CCC8-E747-1E63-DC6DDE71B3F0}"/>
              </a:ext>
            </a:extLst>
          </p:cNvPr>
          <p:cNvCxnSpPr/>
          <p:nvPr/>
        </p:nvCxnSpPr>
        <p:spPr>
          <a:xfrm>
            <a:off x="609600" y="4038600"/>
            <a:ext cx="10363200" cy="0"/>
          </a:xfrm>
          <a:prstGeom prst="line">
            <a:avLst/>
          </a:prstGeom>
          <a:ln w="15240">
            <a:solidFill>
              <a:srgbClr val="E3E1DD"/>
            </a:solidFill>
          </a:ln>
        </p:spPr>
        <p:style>
          <a:lnRef idx="2">
            <a:schemeClr val="accent1"/>
          </a:lnRef>
          <a:fillRef idx="0">
            <a:schemeClr val="accent1"/>
          </a:fillRef>
          <a:effectRef idx="1">
            <a:schemeClr val="accent1"/>
          </a:effectRef>
          <a:fontRef idx="minor">
            <a:schemeClr val="tx1"/>
          </a:fontRef>
        </p:style>
      </p:cxnSp>
      <p:sp>
        <p:nvSpPr>
          <p:cNvPr id="16" name="CuadroTexto 15">
            <a:extLst>
              <a:ext uri="{FF2B5EF4-FFF2-40B4-BE49-F238E27FC236}">
                <a16:creationId xmlns:a16="http://schemas.microsoft.com/office/drawing/2014/main" id="{98F4272D-58AC-FE4A-6985-06984BD41371}"/>
              </a:ext>
            </a:extLst>
          </p:cNvPr>
          <p:cNvSpPr txBox="1"/>
          <p:nvPr/>
        </p:nvSpPr>
        <p:spPr>
          <a:xfrm>
            <a:off x="609600" y="4210050"/>
            <a:ext cx="2857500" cy="276999"/>
          </a:xfrm>
          <a:prstGeom prst="rect">
            <a:avLst/>
          </a:prstGeom>
          <a:noFill/>
        </p:spPr>
        <p:txBody>
          <a:bodyPr vert="horz" wrap="square" lIns="0" tIns="0" rIns="0" bIns="0" rtlCol="0" anchor="t">
            <a:noAutofit/>
          </a:bodyPr>
          <a:lstStyle/>
          <a:p>
            <a:pPr>
              <a:lnSpc>
                <a:spcPct val="125000"/>
              </a:lnSpc>
            </a:pPr>
            <a:r>
              <a:rPr lang="es-HN" sz="1088" b="1" dirty="0">
                <a:solidFill>
                  <a:srgbClr val="14171C"/>
                </a:solidFill>
                <a:latin typeface="Calibri" panose="020F0502020204030204" pitchFamily="34" charset="0"/>
              </a:rPr>
              <a:t>Roy Guillermo Chávez Espinal</a:t>
            </a:r>
          </a:p>
        </p:txBody>
      </p:sp>
      <p:sp>
        <p:nvSpPr>
          <p:cNvPr id="17" name="CuadroTexto 16">
            <a:extLst>
              <a:ext uri="{FF2B5EF4-FFF2-40B4-BE49-F238E27FC236}">
                <a16:creationId xmlns:a16="http://schemas.microsoft.com/office/drawing/2014/main" id="{A0331E2C-BCBB-0D33-06AC-CCE4FAB97A49}"/>
              </a:ext>
            </a:extLst>
          </p:cNvPr>
          <p:cNvSpPr txBox="1"/>
          <p:nvPr/>
        </p:nvSpPr>
        <p:spPr>
          <a:xfrm>
            <a:off x="609600" y="4438650"/>
            <a:ext cx="2857500" cy="276999"/>
          </a:xfrm>
          <a:prstGeom prst="rect">
            <a:avLst/>
          </a:prstGeom>
          <a:noFill/>
        </p:spPr>
        <p:txBody>
          <a:bodyPr vert="horz" wrap="square" lIns="0" tIns="0" rIns="0" bIns="0" rtlCol="0" anchor="t">
            <a:noAutofit/>
          </a:bodyPr>
          <a:lstStyle/>
          <a:p>
            <a:pPr>
              <a:lnSpc>
                <a:spcPct val="140000"/>
              </a:lnSpc>
            </a:pPr>
            <a:r>
              <a:rPr lang="es-ES" sz="1050">
                <a:solidFill>
                  <a:srgbClr val="6A7078"/>
                </a:solidFill>
                <a:latin typeface="Calibri" panose="020F0502020204030204" pitchFamily="34" charset="0"/>
              </a:rPr>
              <a:t>Cuenta 31521560</a:t>
            </a:r>
          </a:p>
          <a:p>
            <a:pPr>
              <a:lnSpc>
                <a:spcPct val="140000"/>
              </a:lnSpc>
            </a:pPr>
            <a:r>
              <a:rPr lang="es-ES" sz="1050">
                <a:solidFill>
                  <a:srgbClr val="6A7078"/>
                </a:solidFill>
                <a:latin typeface="Calibri" panose="020F0502020204030204" pitchFamily="34" charset="0"/>
              </a:rPr>
              <a:t>Ingeniería en Informática</a:t>
            </a:r>
            <a:endParaRPr lang="es-HN" sz="1050">
              <a:solidFill>
                <a:srgbClr val="6A7078"/>
              </a:solidFill>
              <a:latin typeface="Calibri" panose="020F0502020204030204" pitchFamily="34" charset="0"/>
            </a:endParaRPr>
          </a:p>
        </p:txBody>
      </p:sp>
      <p:sp>
        <p:nvSpPr>
          <p:cNvPr id="18" name="CuadroTexto 17">
            <a:extLst>
              <a:ext uri="{FF2B5EF4-FFF2-40B4-BE49-F238E27FC236}">
                <a16:creationId xmlns:a16="http://schemas.microsoft.com/office/drawing/2014/main" id="{ECD141B0-79BD-9E3B-1A3A-CA4900DFECA6}"/>
              </a:ext>
            </a:extLst>
          </p:cNvPr>
          <p:cNvSpPr txBox="1"/>
          <p:nvPr/>
        </p:nvSpPr>
        <p:spPr>
          <a:xfrm>
            <a:off x="2857500" y="4210050"/>
            <a:ext cx="2857500" cy="276999"/>
          </a:xfrm>
          <a:prstGeom prst="rect">
            <a:avLst/>
          </a:prstGeom>
          <a:noFill/>
        </p:spPr>
        <p:txBody>
          <a:bodyPr vert="horz" wrap="square" lIns="0" tIns="0" rIns="0" bIns="0" rtlCol="0" anchor="t">
            <a:noAutofit/>
          </a:bodyPr>
          <a:lstStyle/>
          <a:p>
            <a:pPr>
              <a:lnSpc>
                <a:spcPct val="125000"/>
              </a:lnSpc>
            </a:pPr>
            <a:r>
              <a:rPr lang="es-HN" sz="1088" b="1">
                <a:solidFill>
                  <a:srgbClr val="14171C"/>
                </a:solidFill>
                <a:latin typeface="Calibri" panose="020F0502020204030204" pitchFamily="34" charset="0"/>
              </a:rPr>
              <a:t>Asesor</a:t>
            </a:r>
          </a:p>
        </p:txBody>
      </p:sp>
      <p:sp>
        <p:nvSpPr>
          <p:cNvPr id="19" name="CuadroTexto 18">
            <a:extLst>
              <a:ext uri="{FF2B5EF4-FFF2-40B4-BE49-F238E27FC236}">
                <a16:creationId xmlns:a16="http://schemas.microsoft.com/office/drawing/2014/main" id="{50B58D6C-F275-6B9D-8939-A0950818A88D}"/>
              </a:ext>
            </a:extLst>
          </p:cNvPr>
          <p:cNvSpPr txBox="1"/>
          <p:nvPr/>
        </p:nvSpPr>
        <p:spPr>
          <a:xfrm>
            <a:off x="2857500" y="4438650"/>
            <a:ext cx="2857500" cy="276999"/>
          </a:xfrm>
          <a:prstGeom prst="rect">
            <a:avLst/>
          </a:prstGeom>
          <a:noFill/>
        </p:spPr>
        <p:txBody>
          <a:bodyPr vert="horz" wrap="square" lIns="0" tIns="0" rIns="0" bIns="0" rtlCol="0" anchor="t">
            <a:noAutofit/>
          </a:bodyPr>
          <a:lstStyle/>
          <a:p>
            <a:pPr>
              <a:lnSpc>
                <a:spcPct val="140000"/>
              </a:lnSpc>
            </a:pPr>
            <a:r>
              <a:rPr lang="es-HN" sz="1050">
                <a:solidFill>
                  <a:srgbClr val="6A7078"/>
                </a:solidFill>
                <a:latin typeface="Calibri" panose="020F0502020204030204" pitchFamily="34" charset="0"/>
              </a:rPr>
              <a:t>Ing. Rafael Cerrato</a:t>
            </a:r>
          </a:p>
        </p:txBody>
      </p:sp>
      <p:sp>
        <p:nvSpPr>
          <p:cNvPr id="20" name="CuadroTexto 19">
            <a:extLst>
              <a:ext uri="{FF2B5EF4-FFF2-40B4-BE49-F238E27FC236}">
                <a16:creationId xmlns:a16="http://schemas.microsoft.com/office/drawing/2014/main" id="{AC9915DA-8FB7-FCA2-FEF2-E629B8034BFF}"/>
              </a:ext>
            </a:extLst>
          </p:cNvPr>
          <p:cNvSpPr txBox="1"/>
          <p:nvPr/>
        </p:nvSpPr>
        <p:spPr>
          <a:xfrm>
            <a:off x="4476750" y="4210050"/>
            <a:ext cx="2857500" cy="276999"/>
          </a:xfrm>
          <a:prstGeom prst="rect">
            <a:avLst/>
          </a:prstGeom>
          <a:noFill/>
        </p:spPr>
        <p:txBody>
          <a:bodyPr vert="horz" wrap="square" lIns="0" tIns="0" rIns="0" bIns="0" rtlCol="0" anchor="t">
            <a:noAutofit/>
          </a:bodyPr>
          <a:lstStyle/>
          <a:p>
            <a:pPr>
              <a:lnSpc>
                <a:spcPct val="125000"/>
              </a:lnSpc>
            </a:pPr>
            <a:r>
              <a:rPr lang="es-ES" sz="1088" b="1">
                <a:solidFill>
                  <a:srgbClr val="14171C"/>
                </a:solidFill>
                <a:latin typeface="Calibri" panose="020F0502020204030204" pitchFamily="34" charset="0"/>
              </a:rPr>
              <a:t>Defensa de proyecto de graduación</a:t>
            </a:r>
            <a:endParaRPr lang="es-HN" sz="1088" b="1">
              <a:solidFill>
                <a:srgbClr val="14171C"/>
              </a:solidFill>
              <a:latin typeface="Calibri" panose="020F0502020204030204" pitchFamily="34" charset="0"/>
            </a:endParaRPr>
          </a:p>
        </p:txBody>
      </p:sp>
      <p:sp>
        <p:nvSpPr>
          <p:cNvPr id="21" name="CuadroTexto 20">
            <a:extLst>
              <a:ext uri="{FF2B5EF4-FFF2-40B4-BE49-F238E27FC236}">
                <a16:creationId xmlns:a16="http://schemas.microsoft.com/office/drawing/2014/main" id="{145E87E9-9E94-7B62-3F39-309E9B2C3682}"/>
              </a:ext>
            </a:extLst>
          </p:cNvPr>
          <p:cNvSpPr txBox="1"/>
          <p:nvPr/>
        </p:nvSpPr>
        <p:spPr>
          <a:xfrm>
            <a:off x="4476750" y="4438650"/>
            <a:ext cx="2857500" cy="276999"/>
          </a:xfrm>
          <a:prstGeom prst="rect">
            <a:avLst/>
          </a:prstGeom>
          <a:noFill/>
        </p:spPr>
        <p:txBody>
          <a:bodyPr vert="horz" wrap="square" lIns="0" tIns="0" rIns="0" bIns="0" rtlCol="0" anchor="t">
            <a:noAutofit/>
          </a:bodyPr>
          <a:lstStyle/>
          <a:p>
            <a:pPr>
              <a:lnSpc>
                <a:spcPct val="140000"/>
              </a:lnSpc>
            </a:pPr>
            <a:r>
              <a:rPr lang="es-HN" sz="1050">
                <a:solidFill>
                  <a:srgbClr val="6A7078"/>
                </a:solidFill>
                <a:latin typeface="Calibri" panose="020F0502020204030204" pitchFamily="34" charset="0"/>
              </a:rPr>
              <a:t>Tegucigalpa, M.D.C. · 2026</a:t>
            </a:r>
          </a:p>
        </p:txBody>
      </p:sp>
    </p:spTree>
    <p:extLst>
      <p:ext uri="{BB962C8B-B14F-4D97-AF65-F5344CB8AC3E}">
        <p14:creationId xmlns:p14="http://schemas.microsoft.com/office/powerpoint/2010/main" val="1780400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4C9B1E13-0961-AA24-00A1-C55937172C4E}"/>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A98E251C-DAEE-2AF7-AC66-3C71EBBCDB61}"/>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BFF9EE7D-3872-907E-4F61-C67C676F20AE}"/>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C526A5D1-CD5F-51C4-F3D0-EE7B0105D316}"/>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4FB1B973-2A3C-815E-3026-6F8F5CA7386F}"/>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17708A"/>
                </a:solidFill>
                <a:latin typeface="Calibri" panose="020F0502020204030204" pitchFamily="34" charset="0"/>
              </a:rPr>
              <a:t>EL PROBLEMA</a:t>
            </a:r>
          </a:p>
        </p:txBody>
      </p:sp>
      <p:sp>
        <p:nvSpPr>
          <p:cNvPr id="7" name="CuadroTexto 6">
            <a:extLst>
              <a:ext uri="{FF2B5EF4-FFF2-40B4-BE49-F238E27FC236}">
                <a16:creationId xmlns:a16="http://schemas.microsoft.com/office/drawing/2014/main" id="{026DF34B-6B35-3BDB-C56A-E90994A31748}"/>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850" b="1">
                <a:solidFill>
                  <a:srgbClr val="14171C"/>
                </a:solidFill>
                <a:latin typeface="Georgia" panose="02040502050405020303" pitchFamily="18" charset="0"/>
              </a:rPr>
              <a:t>La información existe. Está dispersa.</a:t>
            </a:r>
            <a:endParaRPr lang="es-HN" sz="2850" b="1">
              <a:solidFill>
                <a:srgbClr val="14171C"/>
              </a:solidFill>
              <a:latin typeface="Georgia" panose="02040502050405020303" pitchFamily="18" charset="0"/>
            </a:endParaRPr>
          </a:p>
        </p:txBody>
      </p:sp>
      <p:sp>
        <p:nvSpPr>
          <p:cNvPr id="8" name="CuadroTexto 7">
            <a:extLst>
              <a:ext uri="{FF2B5EF4-FFF2-40B4-BE49-F238E27FC236}">
                <a16:creationId xmlns:a16="http://schemas.microsoft.com/office/drawing/2014/main" id="{56432B03-47EF-B7BA-7BC5-1A6286FB9DF1}"/>
              </a:ext>
            </a:extLst>
          </p:cNvPr>
          <p:cNvSpPr txBox="1"/>
          <p:nvPr/>
        </p:nvSpPr>
        <p:spPr>
          <a:xfrm>
            <a:off x="609600" y="1276350"/>
            <a:ext cx="8953500" cy="276999"/>
          </a:xfrm>
          <a:prstGeom prst="rect">
            <a:avLst/>
          </a:prstGeom>
          <a:noFill/>
        </p:spPr>
        <p:txBody>
          <a:bodyPr vert="horz" wrap="square" lIns="0" tIns="0" rIns="0" bIns="0" rtlCol="0" anchor="t">
            <a:noAutofit/>
          </a:bodyPr>
          <a:lstStyle/>
          <a:p>
            <a:pPr>
              <a:lnSpc>
                <a:spcPct val="145000"/>
              </a:lnSpc>
            </a:pPr>
            <a:r>
              <a:rPr lang="es-ES" sz="1388">
                <a:solidFill>
                  <a:srgbClr val="39404A"/>
                </a:solidFill>
                <a:latin typeface="Calibri" panose="020F0502020204030204" pitchFamily="34" charset="0"/>
              </a:rPr>
              <a:t>Lo que un candidato promete queda registrado en muchos lugares a la vez, y en ninguno de forma comparable. No hay un esquema común de clasificación, ni indicadores de cumplimiento, ni una manera de contrastar lo dicho con lo hecho.</a:t>
            </a:r>
            <a:endParaRPr lang="es-HN" sz="1388">
              <a:solidFill>
                <a:srgbClr val="39404A"/>
              </a:solidFill>
              <a:latin typeface="Calibri" panose="020F0502020204030204" pitchFamily="34" charset="0"/>
            </a:endParaRPr>
          </a:p>
        </p:txBody>
      </p:sp>
      <p:sp>
        <p:nvSpPr>
          <p:cNvPr id="9" name="Rectángulo: esquinas redondeadas 8">
            <a:extLst>
              <a:ext uri="{FF2B5EF4-FFF2-40B4-BE49-F238E27FC236}">
                <a16:creationId xmlns:a16="http://schemas.microsoft.com/office/drawing/2014/main" id="{9904E4C8-2A5C-9E3E-AA1D-6F75DB13F60A}"/>
              </a:ext>
            </a:extLst>
          </p:cNvPr>
          <p:cNvSpPr/>
          <p:nvPr/>
        </p:nvSpPr>
        <p:spPr>
          <a:xfrm>
            <a:off x="828675" y="2343150"/>
            <a:ext cx="1971675" cy="3238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0" name="Elipse 9">
            <a:extLst>
              <a:ext uri="{FF2B5EF4-FFF2-40B4-BE49-F238E27FC236}">
                <a16:creationId xmlns:a16="http://schemas.microsoft.com/office/drawing/2014/main" id="{653BB21A-7109-84C8-E911-4A836708599C}"/>
              </a:ext>
            </a:extLst>
          </p:cNvPr>
          <p:cNvSpPr/>
          <p:nvPr/>
        </p:nvSpPr>
        <p:spPr>
          <a:xfrm>
            <a:off x="962025" y="2476500"/>
            <a:ext cx="66675" cy="66675"/>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1" name="CuadroTexto 10">
            <a:extLst>
              <a:ext uri="{FF2B5EF4-FFF2-40B4-BE49-F238E27FC236}">
                <a16:creationId xmlns:a16="http://schemas.microsoft.com/office/drawing/2014/main" id="{711A9E67-4D02-FBD5-27E1-25C0BCF8808B}"/>
              </a:ext>
            </a:extLst>
          </p:cNvPr>
          <p:cNvSpPr txBox="1"/>
          <p:nvPr/>
        </p:nvSpPr>
        <p:spPr>
          <a:xfrm>
            <a:off x="1104900" y="2428875"/>
            <a:ext cx="1590675" cy="276999"/>
          </a:xfrm>
          <a:prstGeom prst="rect">
            <a:avLst/>
          </a:prstGeom>
          <a:noFill/>
        </p:spPr>
        <p:txBody>
          <a:bodyPr vert="horz" wrap="square" lIns="0" tIns="0" rIns="0" bIns="0" rtlCol="0" anchor="t">
            <a:noAutofit/>
          </a:bodyPr>
          <a:lstStyle/>
          <a:p>
            <a:pPr>
              <a:lnSpc>
                <a:spcPct val="125000"/>
              </a:lnSpc>
            </a:pPr>
            <a:r>
              <a:rPr lang="es-HN" sz="1088" dirty="0">
                <a:solidFill>
                  <a:srgbClr val="39404A"/>
                </a:solidFill>
                <a:latin typeface="Calibri" panose="020F0502020204030204" pitchFamily="34" charset="0"/>
              </a:rPr>
              <a:t>Discursos de </a:t>
            </a:r>
            <a:r>
              <a:rPr lang="es-HN" sz="1088">
                <a:solidFill>
                  <a:srgbClr val="39404A"/>
                </a:solidFill>
                <a:latin typeface="Calibri" panose="020F0502020204030204" pitchFamily="34" charset="0"/>
              </a:rPr>
              <a:t>campadddddña</a:t>
            </a:r>
            <a:endParaRPr lang="es-HN" sz="1088" dirty="0">
              <a:solidFill>
                <a:srgbClr val="39404A"/>
              </a:solidFill>
              <a:latin typeface="Calibri" panose="020F0502020204030204" pitchFamily="34" charset="0"/>
            </a:endParaRPr>
          </a:p>
        </p:txBody>
      </p:sp>
      <p:sp>
        <p:nvSpPr>
          <p:cNvPr id="12" name="Rectángulo: esquinas redondeadas 11">
            <a:extLst>
              <a:ext uri="{FF2B5EF4-FFF2-40B4-BE49-F238E27FC236}">
                <a16:creationId xmlns:a16="http://schemas.microsoft.com/office/drawing/2014/main" id="{CAE67832-DAE7-D08B-80C6-60E52604623D}"/>
              </a:ext>
            </a:extLst>
          </p:cNvPr>
          <p:cNvSpPr/>
          <p:nvPr/>
        </p:nvSpPr>
        <p:spPr>
          <a:xfrm>
            <a:off x="4229100" y="2209800"/>
            <a:ext cx="2990850" cy="3238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3" name="Elipse 12">
            <a:extLst>
              <a:ext uri="{FF2B5EF4-FFF2-40B4-BE49-F238E27FC236}">
                <a16:creationId xmlns:a16="http://schemas.microsoft.com/office/drawing/2014/main" id="{37591B2A-D2F2-371B-CC54-4BF9217356A0}"/>
              </a:ext>
            </a:extLst>
          </p:cNvPr>
          <p:cNvSpPr/>
          <p:nvPr/>
        </p:nvSpPr>
        <p:spPr>
          <a:xfrm>
            <a:off x="4362450" y="2343150"/>
            <a:ext cx="66675" cy="66675"/>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4" name="CuadroTexto 13">
            <a:extLst>
              <a:ext uri="{FF2B5EF4-FFF2-40B4-BE49-F238E27FC236}">
                <a16:creationId xmlns:a16="http://schemas.microsoft.com/office/drawing/2014/main" id="{D6356C67-2CA5-43FF-5113-C1746EFA88E7}"/>
              </a:ext>
            </a:extLst>
          </p:cNvPr>
          <p:cNvSpPr txBox="1"/>
          <p:nvPr/>
        </p:nvSpPr>
        <p:spPr>
          <a:xfrm>
            <a:off x="4505325" y="2295525"/>
            <a:ext cx="2609850" cy="276999"/>
          </a:xfrm>
          <a:prstGeom prst="rect">
            <a:avLst/>
          </a:prstGeom>
          <a:noFill/>
        </p:spPr>
        <p:txBody>
          <a:bodyPr vert="horz" wrap="square" lIns="0" tIns="0" rIns="0" bIns="0" rtlCol="0" anchor="t">
            <a:noAutofit/>
          </a:bodyPr>
          <a:lstStyle/>
          <a:p>
            <a:pPr>
              <a:lnSpc>
                <a:spcPct val="125000"/>
              </a:lnSpc>
            </a:pPr>
            <a:r>
              <a:rPr lang="es-ES" sz="1088">
                <a:solidFill>
                  <a:srgbClr val="39404A"/>
                </a:solidFill>
                <a:latin typeface="Calibri" panose="020F0502020204030204" pitchFamily="34" charset="0"/>
              </a:rPr>
              <a:t>Entrevistas en radio y televisión</a:t>
            </a:r>
            <a:endParaRPr lang="es-HN" sz="1088">
              <a:solidFill>
                <a:srgbClr val="39404A"/>
              </a:solidFill>
              <a:latin typeface="Calibri" panose="020F0502020204030204" pitchFamily="34" charset="0"/>
            </a:endParaRPr>
          </a:p>
        </p:txBody>
      </p:sp>
      <p:sp>
        <p:nvSpPr>
          <p:cNvPr id="15" name="Rectángulo: esquinas redondeadas 14">
            <a:extLst>
              <a:ext uri="{FF2B5EF4-FFF2-40B4-BE49-F238E27FC236}">
                <a16:creationId xmlns:a16="http://schemas.microsoft.com/office/drawing/2014/main" id="{0646AFDE-CACC-3F12-1ACA-E4504FDC0BC1}"/>
              </a:ext>
            </a:extLst>
          </p:cNvPr>
          <p:cNvSpPr/>
          <p:nvPr/>
        </p:nvSpPr>
        <p:spPr>
          <a:xfrm>
            <a:off x="8401050" y="2533650"/>
            <a:ext cx="1504950" cy="3238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6" name="Elipse 15">
            <a:extLst>
              <a:ext uri="{FF2B5EF4-FFF2-40B4-BE49-F238E27FC236}">
                <a16:creationId xmlns:a16="http://schemas.microsoft.com/office/drawing/2014/main" id="{4E23AD84-5A72-AE58-40E9-5B1CF96944E8}"/>
              </a:ext>
            </a:extLst>
          </p:cNvPr>
          <p:cNvSpPr/>
          <p:nvPr/>
        </p:nvSpPr>
        <p:spPr>
          <a:xfrm>
            <a:off x="8534400" y="2667000"/>
            <a:ext cx="66675" cy="66675"/>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7" name="CuadroTexto 16">
            <a:extLst>
              <a:ext uri="{FF2B5EF4-FFF2-40B4-BE49-F238E27FC236}">
                <a16:creationId xmlns:a16="http://schemas.microsoft.com/office/drawing/2014/main" id="{BF81A3FC-2410-0D45-D1A9-0C530B967C52}"/>
              </a:ext>
            </a:extLst>
          </p:cNvPr>
          <p:cNvSpPr txBox="1"/>
          <p:nvPr/>
        </p:nvSpPr>
        <p:spPr>
          <a:xfrm>
            <a:off x="8677275" y="2619375"/>
            <a:ext cx="1123950" cy="276999"/>
          </a:xfrm>
          <a:prstGeom prst="rect">
            <a:avLst/>
          </a:prstGeom>
          <a:noFill/>
        </p:spPr>
        <p:txBody>
          <a:bodyPr vert="horz" wrap="square" lIns="0" tIns="0" rIns="0" bIns="0" rtlCol="0" anchor="t">
            <a:noAutofit/>
          </a:bodyPr>
          <a:lstStyle/>
          <a:p>
            <a:pPr>
              <a:lnSpc>
                <a:spcPct val="125000"/>
              </a:lnSpc>
            </a:pPr>
            <a:r>
              <a:rPr lang="es-HN" sz="1088">
                <a:solidFill>
                  <a:srgbClr val="39404A"/>
                </a:solidFill>
                <a:latin typeface="Calibri" panose="020F0502020204030204" pitchFamily="34" charset="0"/>
              </a:rPr>
              <a:t>Redes sociales</a:t>
            </a:r>
          </a:p>
        </p:txBody>
      </p:sp>
      <p:sp>
        <p:nvSpPr>
          <p:cNvPr id="18" name="Rectángulo: esquinas redondeadas 17">
            <a:extLst>
              <a:ext uri="{FF2B5EF4-FFF2-40B4-BE49-F238E27FC236}">
                <a16:creationId xmlns:a16="http://schemas.microsoft.com/office/drawing/2014/main" id="{45729463-3994-8356-BC0E-9F00B7904872}"/>
              </a:ext>
            </a:extLst>
          </p:cNvPr>
          <p:cNvSpPr/>
          <p:nvPr/>
        </p:nvSpPr>
        <p:spPr>
          <a:xfrm>
            <a:off x="1600200" y="3124200"/>
            <a:ext cx="952500" cy="3238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9" name="Elipse 18">
            <a:extLst>
              <a:ext uri="{FF2B5EF4-FFF2-40B4-BE49-F238E27FC236}">
                <a16:creationId xmlns:a16="http://schemas.microsoft.com/office/drawing/2014/main" id="{5F894A77-03D3-8513-7EDE-485AFB21D7D8}"/>
              </a:ext>
            </a:extLst>
          </p:cNvPr>
          <p:cNvSpPr/>
          <p:nvPr/>
        </p:nvSpPr>
        <p:spPr>
          <a:xfrm>
            <a:off x="1733550" y="3257550"/>
            <a:ext cx="66675" cy="66675"/>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0" name="CuadroTexto 19">
            <a:extLst>
              <a:ext uri="{FF2B5EF4-FFF2-40B4-BE49-F238E27FC236}">
                <a16:creationId xmlns:a16="http://schemas.microsoft.com/office/drawing/2014/main" id="{7F8AE42C-B11E-437E-06CB-2C9E4376081C}"/>
              </a:ext>
            </a:extLst>
          </p:cNvPr>
          <p:cNvSpPr txBox="1"/>
          <p:nvPr/>
        </p:nvSpPr>
        <p:spPr>
          <a:xfrm>
            <a:off x="1876425" y="3209925"/>
            <a:ext cx="571500" cy="276999"/>
          </a:xfrm>
          <a:prstGeom prst="rect">
            <a:avLst/>
          </a:prstGeom>
          <a:noFill/>
        </p:spPr>
        <p:txBody>
          <a:bodyPr vert="horz" wrap="square" lIns="0" tIns="0" rIns="0" bIns="0" rtlCol="0" anchor="t">
            <a:noAutofit/>
          </a:bodyPr>
          <a:lstStyle/>
          <a:p>
            <a:pPr>
              <a:lnSpc>
                <a:spcPct val="125000"/>
              </a:lnSpc>
            </a:pPr>
            <a:r>
              <a:rPr lang="es-HN" sz="1088">
                <a:solidFill>
                  <a:srgbClr val="39404A"/>
                </a:solidFill>
                <a:latin typeface="Calibri" panose="020F0502020204030204" pitchFamily="34" charset="0"/>
              </a:rPr>
              <a:t>Debates</a:t>
            </a:r>
          </a:p>
        </p:txBody>
      </p:sp>
      <p:sp>
        <p:nvSpPr>
          <p:cNvPr id="21" name="Rectángulo: esquinas redondeadas 20">
            <a:extLst>
              <a:ext uri="{FF2B5EF4-FFF2-40B4-BE49-F238E27FC236}">
                <a16:creationId xmlns:a16="http://schemas.microsoft.com/office/drawing/2014/main" id="{616A774B-635D-32BA-4E1E-2D3212C68406}"/>
              </a:ext>
            </a:extLst>
          </p:cNvPr>
          <p:cNvSpPr/>
          <p:nvPr/>
        </p:nvSpPr>
        <p:spPr>
          <a:xfrm>
            <a:off x="4010025" y="3409950"/>
            <a:ext cx="3457575" cy="3238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2" name="Elipse 21">
            <a:extLst>
              <a:ext uri="{FF2B5EF4-FFF2-40B4-BE49-F238E27FC236}">
                <a16:creationId xmlns:a16="http://schemas.microsoft.com/office/drawing/2014/main" id="{9013ECEC-5BA2-CEBE-6131-CA1EB8CC9794}"/>
              </a:ext>
            </a:extLst>
          </p:cNvPr>
          <p:cNvSpPr/>
          <p:nvPr/>
        </p:nvSpPr>
        <p:spPr>
          <a:xfrm>
            <a:off x="4143375" y="3543300"/>
            <a:ext cx="66675" cy="66675"/>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3" name="CuadroTexto 22">
            <a:extLst>
              <a:ext uri="{FF2B5EF4-FFF2-40B4-BE49-F238E27FC236}">
                <a16:creationId xmlns:a16="http://schemas.microsoft.com/office/drawing/2014/main" id="{CDA034F3-D181-A7C5-1131-7C614F3B534C}"/>
              </a:ext>
            </a:extLst>
          </p:cNvPr>
          <p:cNvSpPr txBox="1"/>
          <p:nvPr/>
        </p:nvSpPr>
        <p:spPr>
          <a:xfrm>
            <a:off x="4286250" y="3495675"/>
            <a:ext cx="3076575" cy="276999"/>
          </a:xfrm>
          <a:prstGeom prst="rect">
            <a:avLst/>
          </a:prstGeom>
          <a:noFill/>
        </p:spPr>
        <p:txBody>
          <a:bodyPr vert="horz" wrap="square" lIns="0" tIns="0" rIns="0" bIns="0" rtlCol="0" anchor="t">
            <a:noAutofit/>
          </a:bodyPr>
          <a:lstStyle/>
          <a:p>
            <a:pPr>
              <a:lnSpc>
                <a:spcPct val="125000"/>
              </a:lnSpc>
            </a:pPr>
            <a:r>
              <a:rPr lang="es-ES" sz="1088">
                <a:solidFill>
                  <a:srgbClr val="39404A"/>
                </a:solidFill>
                <a:latin typeface="Calibri" panose="020F0502020204030204" pitchFamily="34" charset="0"/>
              </a:rPr>
              <a:t>Planes de gobierno inscritos ante el CNE</a:t>
            </a:r>
            <a:endParaRPr lang="es-HN" sz="1088">
              <a:solidFill>
                <a:srgbClr val="39404A"/>
              </a:solidFill>
              <a:latin typeface="Calibri" panose="020F0502020204030204" pitchFamily="34" charset="0"/>
            </a:endParaRPr>
          </a:p>
        </p:txBody>
      </p:sp>
      <p:sp>
        <p:nvSpPr>
          <p:cNvPr id="24" name="Rectángulo: esquinas redondeadas 23">
            <a:extLst>
              <a:ext uri="{FF2B5EF4-FFF2-40B4-BE49-F238E27FC236}">
                <a16:creationId xmlns:a16="http://schemas.microsoft.com/office/drawing/2014/main" id="{04101204-9C59-023F-99B2-866062D0B9FF}"/>
              </a:ext>
            </a:extLst>
          </p:cNvPr>
          <p:cNvSpPr/>
          <p:nvPr/>
        </p:nvSpPr>
        <p:spPr>
          <a:xfrm>
            <a:off x="7524750" y="3276600"/>
            <a:ext cx="2124075" cy="3238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5" name="Elipse 24">
            <a:extLst>
              <a:ext uri="{FF2B5EF4-FFF2-40B4-BE49-F238E27FC236}">
                <a16:creationId xmlns:a16="http://schemas.microsoft.com/office/drawing/2014/main" id="{FDFF8F30-00DC-2F5E-AC10-7754A81E5FFA}"/>
              </a:ext>
            </a:extLst>
          </p:cNvPr>
          <p:cNvSpPr/>
          <p:nvPr/>
        </p:nvSpPr>
        <p:spPr>
          <a:xfrm>
            <a:off x="7658100" y="3409950"/>
            <a:ext cx="66675" cy="66675"/>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6" name="CuadroTexto 25">
            <a:extLst>
              <a:ext uri="{FF2B5EF4-FFF2-40B4-BE49-F238E27FC236}">
                <a16:creationId xmlns:a16="http://schemas.microsoft.com/office/drawing/2014/main" id="{90021F6B-A3A0-00C7-EC7D-25BEA779C0E0}"/>
              </a:ext>
            </a:extLst>
          </p:cNvPr>
          <p:cNvSpPr txBox="1"/>
          <p:nvPr/>
        </p:nvSpPr>
        <p:spPr>
          <a:xfrm>
            <a:off x="7800975" y="3362325"/>
            <a:ext cx="1743075" cy="276999"/>
          </a:xfrm>
          <a:prstGeom prst="rect">
            <a:avLst/>
          </a:prstGeom>
          <a:noFill/>
        </p:spPr>
        <p:txBody>
          <a:bodyPr vert="horz" wrap="square" lIns="0" tIns="0" rIns="0" bIns="0" rtlCol="0" anchor="t">
            <a:noAutofit/>
          </a:bodyPr>
          <a:lstStyle/>
          <a:p>
            <a:pPr>
              <a:lnSpc>
                <a:spcPct val="125000"/>
              </a:lnSpc>
            </a:pPr>
            <a:r>
              <a:rPr lang="es-HN" sz="1088">
                <a:solidFill>
                  <a:srgbClr val="39404A"/>
                </a:solidFill>
                <a:latin typeface="Calibri" panose="020F0502020204030204" pitchFamily="34" charset="0"/>
              </a:rPr>
              <a:t>Medios de comunicación</a:t>
            </a:r>
          </a:p>
        </p:txBody>
      </p:sp>
      <p:sp>
        <p:nvSpPr>
          <p:cNvPr id="27" name="Rectángulo: esquinas redondeadas 26">
            <a:extLst>
              <a:ext uri="{FF2B5EF4-FFF2-40B4-BE49-F238E27FC236}">
                <a16:creationId xmlns:a16="http://schemas.microsoft.com/office/drawing/2014/main" id="{C497F572-4F5A-90DD-33CE-5AF9FD546B02}"/>
              </a:ext>
            </a:extLst>
          </p:cNvPr>
          <p:cNvSpPr/>
          <p:nvPr/>
        </p:nvSpPr>
        <p:spPr>
          <a:xfrm>
            <a:off x="2143125" y="3981450"/>
            <a:ext cx="2209800" cy="3238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8" name="Elipse 27">
            <a:extLst>
              <a:ext uri="{FF2B5EF4-FFF2-40B4-BE49-F238E27FC236}">
                <a16:creationId xmlns:a16="http://schemas.microsoft.com/office/drawing/2014/main" id="{1909F383-FC6B-43C4-E1E1-39F261DEA709}"/>
              </a:ext>
            </a:extLst>
          </p:cNvPr>
          <p:cNvSpPr/>
          <p:nvPr/>
        </p:nvSpPr>
        <p:spPr>
          <a:xfrm>
            <a:off x="2276475" y="4114800"/>
            <a:ext cx="66675" cy="66675"/>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9" name="CuadroTexto 28">
            <a:extLst>
              <a:ext uri="{FF2B5EF4-FFF2-40B4-BE49-F238E27FC236}">
                <a16:creationId xmlns:a16="http://schemas.microsoft.com/office/drawing/2014/main" id="{BCBB8C1B-3635-499F-C1E9-BFFA961763E4}"/>
              </a:ext>
            </a:extLst>
          </p:cNvPr>
          <p:cNvSpPr txBox="1"/>
          <p:nvPr/>
        </p:nvSpPr>
        <p:spPr>
          <a:xfrm>
            <a:off x="2419350" y="4067175"/>
            <a:ext cx="1828800" cy="276999"/>
          </a:xfrm>
          <a:prstGeom prst="rect">
            <a:avLst/>
          </a:prstGeom>
          <a:noFill/>
        </p:spPr>
        <p:txBody>
          <a:bodyPr vert="horz" wrap="square" lIns="0" tIns="0" rIns="0" bIns="0" rtlCol="0" anchor="t">
            <a:noAutofit/>
          </a:bodyPr>
          <a:lstStyle/>
          <a:p>
            <a:pPr>
              <a:lnSpc>
                <a:spcPct val="125000"/>
              </a:lnSpc>
            </a:pPr>
            <a:r>
              <a:rPr lang="es-HN" sz="1088">
                <a:solidFill>
                  <a:srgbClr val="39404A"/>
                </a:solidFill>
                <a:latin typeface="Calibri" panose="020F0502020204030204" pitchFamily="34" charset="0"/>
              </a:rPr>
              <a:t>Comparecencias públicas</a:t>
            </a:r>
          </a:p>
        </p:txBody>
      </p:sp>
      <p:sp>
        <p:nvSpPr>
          <p:cNvPr id="30" name="Rectángulo: esquinas redondeadas 29">
            <a:extLst>
              <a:ext uri="{FF2B5EF4-FFF2-40B4-BE49-F238E27FC236}">
                <a16:creationId xmlns:a16="http://schemas.microsoft.com/office/drawing/2014/main" id="{BFEF486E-A9A8-EBCA-8F52-25164C797E00}"/>
              </a:ext>
            </a:extLst>
          </p:cNvPr>
          <p:cNvSpPr/>
          <p:nvPr/>
        </p:nvSpPr>
        <p:spPr>
          <a:xfrm>
            <a:off x="6753225" y="4076700"/>
            <a:ext cx="2676525" cy="3238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1" name="Elipse 30">
            <a:extLst>
              <a:ext uri="{FF2B5EF4-FFF2-40B4-BE49-F238E27FC236}">
                <a16:creationId xmlns:a16="http://schemas.microsoft.com/office/drawing/2014/main" id="{3F1A9FE6-4508-6AB3-2132-96D273A8B9EC}"/>
              </a:ext>
            </a:extLst>
          </p:cNvPr>
          <p:cNvSpPr/>
          <p:nvPr/>
        </p:nvSpPr>
        <p:spPr>
          <a:xfrm>
            <a:off x="6886575" y="4210050"/>
            <a:ext cx="66675" cy="66675"/>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2" name="CuadroTexto 31">
            <a:extLst>
              <a:ext uri="{FF2B5EF4-FFF2-40B4-BE49-F238E27FC236}">
                <a16:creationId xmlns:a16="http://schemas.microsoft.com/office/drawing/2014/main" id="{B6C1FD6C-515F-DFD8-5C77-F0779A5E1D09}"/>
              </a:ext>
            </a:extLst>
          </p:cNvPr>
          <p:cNvSpPr txBox="1"/>
          <p:nvPr/>
        </p:nvSpPr>
        <p:spPr>
          <a:xfrm>
            <a:off x="7029450" y="4162425"/>
            <a:ext cx="2295525" cy="276999"/>
          </a:xfrm>
          <a:prstGeom prst="rect">
            <a:avLst/>
          </a:prstGeom>
          <a:noFill/>
        </p:spPr>
        <p:txBody>
          <a:bodyPr vert="horz" wrap="square" lIns="0" tIns="0" rIns="0" bIns="0" rtlCol="0" anchor="t">
            <a:noAutofit/>
          </a:bodyPr>
          <a:lstStyle/>
          <a:p>
            <a:pPr>
              <a:lnSpc>
                <a:spcPct val="125000"/>
              </a:lnSpc>
            </a:pPr>
            <a:r>
              <a:rPr lang="es-HN" sz="1088">
                <a:solidFill>
                  <a:srgbClr val="39404A"/>
                </a:solidFill>
                <a:latin typeface="Calibri" panose="020F0502020204030204" pitchFamily="34" charset="0"/>
              </a:rPr>
              <a:t>Portales oficiales del Estado</a:t>
            </a:r>
          </a:p>
        </p:txBody>
      </p:sp>
      <p:sp>
        <p:nvSpPr>
          <p:cNvPr id="33" name="Rectángulo 32">
            <a:extLst>
              <a:ext uri="{FF2B5EF4-FFF2-40B4-BE49-F238E27FC236}">
                <a16:creationId xmlns:a16="http://schemas.microsoft.com/office/drawing/2014/main" id="{B6E673FB-BA83-4DEA-561C-39370654023C}"/>
              </a:ext>
            </a:extLst>
          </p:cNvPr>
          <p:cNvSpPr/>
          <p:nvPr/>
        </p:nvSpPr>
        <p:spPr>
          <a:xfrm>
            <a:off x="609600" y="4724400"/>
            <a:ext cx="28575" cy="914400"/>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4" name="CuadroTexto 33">
            <a:extLst>
              <a:ext uri="{FF2B5EF4-FFF2-40B4-BE49-F238E27FC236}">
                <a16:creationId xmlns:a16="http://schemas.microsoft.com/office/drawing/2014/main" id="{442C9BD1-92D6-62DC-51E4-C0B517C4F6F4}"/>
              </a:ext>
            </a:extLst>
          </p:cNvPr>
          <p:cNvSpPr txBox="1"/>
          <p:nvPr/>
        </p:nvSpPr>
        <p:spPr>
          <a:xfrm>
            <a:off x="800100" y="4724400"/>
            <a:ext cx="10096500" cy="276999"/>
          </a:xfrm>
          <a:prstGeom prst="rect">
            <a:avLst/>
          </a:prstGeom>
          <a:noFill/>
        </p:spPr>
        <p:txBody>
          <a:bodyPr vert="horz" wrap="square" lIns="0" tIns="0" rIns="0" bIns="0" rtlCol="0" anchor="t">
            <a:noAutofit/>
          </a:bodyPr>
          <a:lstStyle/>
          <a:p>
            <a:pPr>
              <a:lnSpc>
                <a:spcPct val="130000"/>
              </a:lnSpc>
            </a:pPr>
            <a:r>
              <a:rPr lang="es-ES" sz="1650">
                <a:solidFill>
                  <a:srgbClr val="14171C"/>
                </a:solidFill>
                <a:latin typeface="Georgia" panose="02040502050405020303" pitchFamily="18" charset="0"/>
              </a:rPr>
              <a:t>Reunir lo que un solo candidato prometió obliga a un esfuerzo individual que casi nadie hace, y esa dificultad empuja la decisión hacia la percepción.</a:t>
            </a:r>
            <a:endParaRPr lang="es-HN" sz="1650">
              <a:solidFill>
                <a:srgbClr val="14171C"/>
              </a:solidFill>
              <a:latin typeface="Georgia" panose="02040502050405020303" pitchFamily="18" charset="0"/>
            </a:endParaRPr>
          </a:p>
        </p:txBody>
      </p:sp>
      <p:sp>
        <p:nvSpPr>
          <p:cNvPr id="35" name="CuadroTexto 34">
            <a:extLst>
              <a:ext uri="{FF2B5EF4-FFF2-40B4-BE49-F238E27FC236}">
                <a16:creationId xmlns:a16="http://schemas.microsoft.com/office/drawing/2014/main" id="{1F1E917A-1F19-7383-C42D-D0EB68A48D4B}"/>
              </a:ext>
            </a:extLst>
          </p:cNvPr>
          <p:cNvSpPr txBox="1"/>
          <p:nvPr/>
        </p:nvSpPr>
        <p:spPr>
          <a:xfrm>
            <a:off x="800100" y="5410200"/>
            <a:ext cx="10096500" cy="276999"/>
          </a:xfrm>
          <a:prstGeom prst="rect">
            <a:avLst/>
          </a:prstGeom>
          <a:noFill/>
        </p:spPr>
        <p:txBody>
          <a:bodyPr vert="horz" wrap="square" lIns="0" tIns="0" rIns="0" bIns="0" rtlCol="0" anchor="t">
            <a:noAutofit/>
          </a:bodyPr>
          <a:lstStyle/>
          <a:p>
            <a:pPr>
              <a:lnSpc>
                <a:spcPct val="130000"/>
              </a:lnSpc>
            </a:pPr>
            <a:r>
              <a:rPr lang="es-ES" sz="975">
                <a:solidFill>
                  <a:srgbClr val="6A7078"/>
                </a:solidFill>
                <a:latin typeface="Calibri" panose="020F0502020204030204" pitchFamily="34" charset="0"/>
              </a:rPr>
              <a:t>Capítulo II · Planteamiento del problema</a:t>
            </a:r>
            <a:endParaRPr lang="es-HN" sz="975">
              <a:solidFill>
                <a:srgbClr val="6A7078"/>
              </a:solidFill>
              <a:latin typeface="Calibri" panose="020F0502020204030204" pitchFamily="34" charset="0"/>
            </a:endParaRPr>
          </a:p>
        </p:txBody>
      </p:sp>
      <p:sp>
        <p:nvSpPr>
          <p:cNvPr id="36" name="CuadroTexto 35">
            <a:extLst>
              <a:ext uri="{FF2B5EF4-FFF2-40B4-BE49-F238E27FC236}">
                <a16:creationId xmlns:a16="http://schemas.microsoft.com/office/drawing/2014/main" id="{75BAABE8-A476-5550-80DC-7CAFF71483F3}"/>
              </a:ext>
            </a:extLst>
          </p:cNvPr>
          <p:cNvSpPr txBox="1"/>
          <p:nvPr/>
        </p:nvSpPr>
        <p:spPr>
          <a:xfrm>
            <a:off x="609600" y="6057900"/>
            <a:ext cx="10972800" cy="276999"/>
          </a:xfrm>
          <a:prstGeom prst="rect">
            <a:avLst/>
          </a:prstGeom>
          <a:noFill/>
        </p:spPr>
        <p:txBody>
          <a:bodyPr vert="horz" wrap="square" lIns="0" tIns="0" rIns="0" bIns="0" rtlCol="0" anchor="t">
            <a:noAutofit/>
          </a:bodyPr>
          <a:lstStyle/>
          <a:p>
            <a:pPr>
              <a:lnSpc>
                <a:spcPct val="135000"/>
              </a:lnSpc>
            </a:pPr>
            <a:r>
              <a:rPr lang="es-ES" sz="975">
                <a:solidFill>
                  <a:srgbClr val="6A7078"/>
                </a:solidFill>
                <a:latin typeface="Calibri" panose="020F0502020204030204" pitchFamily="34" charset="0"/>
              </a:rPr>
              <a:t>Restricción de alcance acordada con el asesor: la plataforma documenta la </a:t>
            </a:r>
            <a:r>
              <a:rPr lang="es-ES" sz="975" b="1">
                <a:solidFill>
                  <a:srgbClr val="6A7078"/>
                </a:solidFill>
                <a:latin typeface="Calibri" panose="020F0502020204030204" pitchFamily="34" charset="0"/>
              </a:rPr>
              <a:t>dispersión</a:t>
            </a:r>
            <a:r>
              <a:rPr lang="es-ES" sz="975">
                <a:solidFill>
                  <a:srgbClr val="6A7078"/>
                </a:solidFill>
                <a:latin typeface="Calibri" panose="020F0502020204030204" pitchFamily="34" charset="0"/>
              </a:rPr>
              <a:t> de la información, sin pronunciarse sobre la existencia o suficiencia de los mecanismos institucionales.</a:t>
            </a:r>
            <a:endParaRPr lang="es-HN" sz="975">
              <a:solidFill>
                <a:srgbClr val="6A7078"/>
              </a:solidFill>
              <a:latin typeface="Calibri" panose="020F0502020204030204" pitchFamily="34" charset="0"/>
            </a:endParaRPr>
          </a:p>
        </p:txBody>
      </p:sp>
    </p:spTree>
    <p:extLst>
      <p:ext uri="{BB962C8B-B14F-4D97-AF65-F5344CB8AC3E}">
        <p14:creationId xmlns:p14="http://schemas.microsoft.com/office/powerpoint/2010/main" val="2422088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7339B143-B2A9-7A6A-AD09-BE6C05D820C7}"/>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17D50B4A-6877-AD9A-9E48-2F0E238F9D8D}"/>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7FB799B2-DE53-978B-7D09-D773970A9F34}"/>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282FB0E6-8BB7-3EB3-9286-20BAE5B3B36B}"/>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8C7BD836-1252-3E57-DCC6-FB23EDE3EB4E}"/>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17708A"/>
                </a:solidFill>
                <a:latin typeface="Calibri" panose="020F0502020204030204" pitchFamily="34" charset="0"/>
              </a:rPr>
              <a:t>EVIDENCIA · ENCUESTA DEL PROYECTO</a:t>
            </a:r>
          </a:p>
        </p:txBody>
      </p:sp>
      <p:sp>
        <p:nvSpPr>
          <p:cNvPr id="7" name="CuadroTexto 6">
            <a:extLst>
              <a:ext uri="{FF2B5EF4-FFF2-40B4-BE49-F238E27FC236}">
                <a16:creationId xmlns:a16="http://schemas.microsoft.com/office/drawing/2014/main" id="{60FC0106-DB1F-A26E-DA1D-5AD095DE0CDB}"/>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850" b="1">
                <a:solidFill>
                  <a:srgbClr val="14171C"/>
                </a:solidFill>
                <a:latin typeface="Georgia" panose="02040502050405020303" pitchFamily="18" charset="0"/>
              </a:rPr>
              <a:t>No es una intuición. Está medido.</a:t>
            </a:r>
            <a:endParaRPr lang="es-HN" sz="2850" b="1">
              <a:solidFill>
                <a:srgbClr val="14171C"/>
              </a:solidFill>
              <a:latin typeface="Georgia" panose="02040502050405020303" pitchFamily="18" charset="0"/>
            </a:endParaRPr>
          </a:p>
        </p:txBody>
      </p:sp>
      <p:sp>
        <p:nvSpPr>
          <p:cNvPr id="8" name="CuadroTexto 7">
            <a:extLst>
              <a:ext uri="{FF2B5EF4-FFF2-40B4-BE49-F238E27FC236}">
                <a16:creationId xmlns:a16="http://schemas.microsoft.com/office/drawing/2014/main" id="{E3743C8C-9564-53C3-164B-E34672370898}"/>
              </a:ext>
            </a:extLst>
          </p:cNvPr>
          <p:cNvSpPr txBox="1"/>
          <p:nvPr/>
        </p:nvSpPr>
        <p:spPr>
          <a:xfrm>
            <a:off x="609600" y="1276350"/>
            <a:ext cx="8953500" cy="276999"/>
          </a:xfrm>
          <a:prstGeom prst="rect">
            <a:avLst/>
          </a:prstGeom>
          <a:noFill/>
        </p:spPr>
        <p:txBody>
          <a:bodyPr vert="horz" wrap="square" lIns="0" tIns="0" rIns="0" bIns="0" rtlCol="0" anchor="t">
            <a:noAutofit/>
          </a:bodyPr>
          <a:lstStyle/>
          <a:p>
            <a:pPr>
              <a:lnSpc>
                <a:spcPct val="145000"/>
              </a:lnSpc>
            </a:pPr>
            <a:r>
              <a:rPr lang="es-HN" sz="1388">
                <a:solidFill>
                  <a:srgbClr val="39404A"/>
                </a:solidFill>
                <a:latin typeface="Calibri" panose="020F0502020204030204" pitchFamily="34" charset="0"/>
              </a:rPr>
              <a:t>Instrumento de 18 ítems cerrados aplicado en junio de 2026 a 150 personas. Escala Likert de 1 a 5, sin valores faltantes.</a:t>
            </a:r>
          </a:p>
        </p:txBody>
      </p:sp>
      <p:sp>
        <p:nvSpPr>
          <p:cNvPr id="9" name="Rectángulo: esquinas redondeadas 8">
            <a:extLst>
              <a:ext uri="{FF2B5EF4-FFF2-40B4-BE49-F238E27FC236}">
                <a16:creationId xmlns:a16="http://schemas.microsoft.com/office/drawing/2014/main" id="{0F172EE7-1B05-D1E5-63AE-FC23D6D72A95}"/>
              </a:ext>
            </a:extLst>
          </p:cNvPr>
          <p:cNvSpPr/>
          <p:nvPr/>
        </p:nvSpPr>
        <p:spPr>
          <a:xfrm>
            <a:off x="609600" y="1905000"/>
            <a:ext cx="2638425" cy="19050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0" name="CuadroTexto 9">
            <a:extLst>
              <a:ext uri="{FF2B5EF4-FFF2-40B4-BE49-F238E27FC236}">
                <a16:creationId xmlns:a16="http://schemas.microsoft.com/office/drawing/2014/main" id="{0CFF730B-2BEE-64AE-B89D-3791DADBBDB9}"/>
              </a:ext>
            </a:extLst>
          </p:cNvPr>
          <p:cNvSpPr txBox="1"/>
          <p:nvPr/>
        </p:nvSpPr>
        <p:spPr>
          <a:xfrm>
            <a:off x="781050" y="2057400"/>
            <a:ext cx="2295525" cy="276999"/>
          </a:xfrm>
          <a:prstGeom prst="rect">
            <a:avLst/>
          </a:prstGeom>
          <a:noFill/>
        </p:spPr>
        <p:txBody>
          <a:bodyPr vert="horz" wrap="square" lIns="0" tIns="0" rIns="0" bIns="0" rtlCol="0" anchor="t">
            <a:noAutofit/>
          </a:bodyPr>
          <a:lstStyle/>
          <a:p>
            <a:r>
              <a:rPr lang="es-HN" sz="4500" b="1">
                <a:solidFill>
                  <a:srgbClr val="1B4F9C"/>
                </a:solidFill>
                <a:latin typeface="Calibri" panose="020F0502020204030204" pitchFamily="34" charset="0"/>
              </a:rPr>
              <a:t>84.7 %</a:t>
            </a:r>
          </a:p>
        </p:txBody>
      </p:sp>
      <p:sp>
        <p:nvSpPr>
          <p:cNvPr id="11" name="Rectángulo: esquinas redondeadas 10">
            <a:extLst>
              <a:ext uri="{FF2B5EF4-FFF2-40B4-BE49-F238E27FC236}">
                <a16:creationId xmlns:a16="http://schemas.microsoft.com/office/drawing/2014/main" id="{E530A71C-518F-C005-76D8-C52FE45866D1}"/>
              </a:ext>
            </a:extLst>
          </p:cNvPr>
          <p:cNvSpPr/>
          <p:nvPr/>
        </p:nvSpPr>
        <p:spPr>
          <a:xfrm>
            <a:off x="781050" y="2857500"/>
            <a:ext cx="2295525" cy="57150"/>
          </a:xfrm>
          <a:prstGeom prst="roundRect">
            <a:avLst>
              <a:gd name="adj" fmla="val 6000"/>
            </a:avLst>
          </a:prstGeom>
          <a:solidFill>
            <a:srgbClr val="E3E1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2" name="Rectángulo: esquinas redondeadas 11">
            <a:extLst>
              <a:ext uri="{FF2B5EF4-FFF2-40B4-BE49-F238E27FC236}">
                <a16:creationId xmlns:a16="http://schemas.microsoft.com/office/drawing/2014/main" id="{5125E074-961F-168B-816B-562D3CFB8CAE}"/>
              </a:ext>
            </a:extLst>
          </p:cNvPr>
          <p:cNvSpPr/>
          <p:nvPr/>
        </p:nvSpPr>
        <p:spPr>
          <a:xfrm>
            <a:off x="781050" y="2857500"/>
            <a:ext cx="1944310" cy="57150"/>
          </a:xfrm>
          <a:prstGeom prst="roundRect">
            <a:avLst>
              <a:gd name="adj" fmla="val 6000"/>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3" name="CuadroTexto 12">
            <a:extLst>
              <a:ext uri="{FF2B5EF4-FFF2-40B4-BE49-F238E27FC236}">
                <a16:creationId xmlns:a16="http://schemas.microsoft.com/office/drawing/2014/main" id="{42865B70-17CD-AF3B-EC26-9C43CD42171C}"/>
              </a:ext>
            </a:extLst>
          </p:cNvPr>
          <p:cNvSpPr txBox="1"/>
          <p:nvPr/>
        </p:nvSpPr>
        <p:spPr>
          <a:xfrm>
            <a:off x="781050" y="3009900"/>
            <a:ext cx="2295525" cy="276999"/>
          </a:xfrm>
          <a:prstGeom prst="rect">
            <a:avLst/>
          </a:prstGeom>
          <a:noFill/>
        </p:spPr>
        <p:txBody>
          <a:bodyPr vert="horz" wrap="square" lIns="0" tIns="0" rIns="0" bIns="0" rtlCol="0" anchor="t">
            <a:noAutofit/>
          </a:bodyPr>
          <a:lstStyle/>
          <a:p>
            <a:pPr>
              <a:lnSpc>
                <a:spcPct val="135000"/>
              </a:lnSpc>
            </a:pPr>
            <a:r>
              <a:rPr lang="es-ES" sz="1050">
                <a:solidFill>
                  <a:srgbClr val="39404A"/>
                </a:solidFill>
                <a:latin typeface="Calibri" panose="020F0502020204030204" pitchFamily="34" charset="0"/>
              </a:rPr>
              <a:t>dice que la información sobre promesas y gestión está </a:t>
            </a:r>
            <a:r>
              <a:rPr lang="es-ES" sz="1050" b="1">
                <a:solidFill>
                  <a:srgbClr val="39404A"/>
                </a:solidFill>
                <a:latin typeface="Calibri" panose="020F0502020204030204" pitchFamily="34" charset="0"/>
              </a:rPr>
              <a:t>dispersa entre muchas fuentes</a:t>
            </a:r>
            <a:endParaRPr lang="es-HN" sz="1050" b="1">
              <a:solidFill>
                <a:srgbClr val="39404A"/>
              </a:solidFill>
              <a:latin typeface="Calibri" panose="020F0502020204030204" pitchFamily="34" charset="0"/>
            </a:endParaRPr>
          </a:p>
        </p:txBody>
      </p:sp>
      <p:sp>
        <p:nvSpPr>
          <p:cNvPr id="14" name="Rectángulo: esquinas redondeadas 13">
            <a:extLst>
              <a:ext uri="{FF2B5EF4-FFF2-40B4-BE49-F238E27FC236}">
                <a16:creationId xmlns:a16="http://schemas.microsoft.com/office/drawing/2014/main" id="{99F9FDB5-27A6-C650-0861-B7AD62815663}"/>
              </a:ext>
            </a:extLst>
          </p:cNvPr>
          <p:cNvSpPr/>
          <p:nvPr/>
        </p:nvSpPr>
        <p:spPr>
          <a:xfrm>
            <a:off x="3386138" y="1905000"/>
            <a:ext cx="2638425" cy="19050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5" name="CuadroTexto 14">
            <a:extLst>
              <a:ext uri="{FF2B5EF4-FFF2-40B4-BE49-F238E27FC236}">
                <a16:creationId xmlns:a16="http://schemas.microsoft.com/office/drawing/2014/main" id="{1FC0409F-D7CC-8BA7-5D30-254A9BE4DC4A}"/>
              </a:ext>
            </a:extLst>
          </p:cNvPr>
          <p:cNvSpPr txBox="1"/>
          <p:nvPr/>
        </p:nvSpPr>
        <p:spPr>
          <a:xfrm>
            <a:off x="3557588" y="2057400"/>
            <a:ext cx="2295525" cy="276999"/>
          </a:xfrm>
          <a:prstGeom prst="rect">
            <a:avLst/>
          </a:prstGeom>
          <a:noFill/>
        </p:spPr>
        <p:txBody>
          <a:bodyPr vert="horz" wrap="square" lIns="0" tIns="0" rIns="0" bIns="0" rtlCol="0" anchor="t">
            <a:noAutofit/>
          </a:bodyPr>
          <a:lstStyle/>
          <a:p>
            <a:r>
              <a:rPr lang="es-HN" sz="4500" b="1">
                <a:solidFill>
                  <a:srgbClr val="1B4F9C"/>
                </a:solidFill>
                <a:latin typeface="Calibri" panose="020F0502020204030204" pitchFamily="34" charset="0"/>
              </a:rPr>
              <a:t>75.3 %</a:t>
            </a:r>
          </a:p>
        </p:txBody>
      </p:sp>
      <p:sp>
        <p:nvSpPr>
          <p:cNvPr id="16" name="Rectángulo: esquinas redondeadas 15">
            <a:extLst>
              <a:ext uri="{FF2B5EF4-FFF2-40B4-BE49-F238E27FC236}">
                <a16:creationId xmlns:a16="http://schemas.microsoft.com/office/drawing/2014/main" id="{698800B7-44FA-8AB4-5C49-08CF94B0BD5D}"/>
              </a:ext>
            </a:extLst>
          </p:cNvPr>
          <p:cNvSpPr/>
          <p:nvPr/>
        </p:nvSpPr>
        <p:spPr>
          <a:xfrm>
            <a:off x="3557588" y="2857500"/>
            <a:ext cx="2295525" cy="57150"/>
          </a:xfrm>
          <a:prstGeom prst="roundRect">
            <a:avLst>
              <a:gd name="adj" fmla="val 6000"/>
            </a:avLst>
          </a:prstGeom>
          <a:solidFill>
            <a:srgbClr val="E3E1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7" name="Rectángulo: esquinas redondeadas 16">
            <a:extLst>
              <a:ext uri="{FF2B5EF4-FFF2-40B4-BE49-F238E27FC236}">
                <a16:creationId xmlns:a16="http://schemas.microsoft.com/office/drawing/2014/main" id="{B6CDF54A-B1B4-B0CC-9EBA-AC79FE6C0C51}"/>
              </a:ext>
            </a:extLst>
          </p:cNvPr>
          <p:cNvSpPr/>
          <p:nvPr/>
        </p:nvSpPr>
        <p:spPr>
          <a:xfrm>
            <a:off x="3557588" y="2857500"/>
            <a:ext cx="1728530" cy="57150"/>
          </a:xfrm>
          <a:prstGeom prst="roundRect">
            <a:avLst>
              <a:gd name="adj" fmla="val 6000"/>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8" name="CuadroTexto 17">
            <a:extLst>
              <a:ext uri="{FF2B5EF4-FFF2-40B4-BE49-F238E27FC236}">
                <a16:creationId xmlns:a16="http://schemas.microsoft.com/office/drawing/2014/main" id="{A39BAC91-ECE6-4385-F7C2-AC2A0ABCAA78}"/>
              </a:ext>
            </a:extLst>
          </p:cNvPr>
          <p:cNvSpPr txBox="1"/>
          <p:nvPr/>
        </p:nvSpPr>
        <p:spPr>
          <a:xfrm>
            <a:off x="3557588" y="3009900"/>
            <a:ext cx="2295525" cy="276999"/>
          </a:xfrm>
          <a:prstGeom prst="rect">
            <a:avLst/>
          </a:prstGeom>
          <a:noFill/>
        </p:spPr>
        <p:txBody>
          <a:bodyPr vert="horz" wrap="square" lIns="0" tIns="0" rIns="0" bIns="0" rtlCol="0" anchor="t">
            <a:noAutofit/>
          </a:bodyPr>
          <a:lstStyle/>
          <a:p>
            <a:pPr>
              <a:lnSpc>
                <a:spcPct val="135000"/>
              </a:lnSpc>
            </a:pPr>
            <a:r>
              <a:rPr lang="es-ES" sz="1050">
                <a:solidFill>
                  <a:srgbClr val="39404A"/>
                </a:solidFill>
                <a:latin typeface="Calibri" panose="020F0502020204030204" pitchFamily="34" charset="0"/>
              </a:rPr>
              <a:t>no logra encontrar </a:t>
            </a:r>
            <a:r>
              <a:rPr lang="es-ES" sz="1050" b="1">
                <a:solidFill>
                  <a:srgbClr val="39404A"/>
                </a:solidFill>
                <a:latin typeface="Calibri" panose="020F0502020204030204" pitchFamily="34" charset="0"/>
              </a:rPr>
              <a:t>si un candidato cumplió</a:t>
            </a:r>
            <a:r>
              <a:rPr lang="es-ES" sz="1050">
                <a:solidFill>
                  <a:srgbClr val="39404A"/>
                </a:solidFill>
                <a:latin typeface="Calibri" panose="020F0502020204030204" pitchFamily="34" charset="0"/>
              </a:rPr>
              <a:t> lo que prometió antes</a:t>
            </a:r>
            <a:endParaRPr lang="es-HN" sz="1050">
              <a:solidFill>
                <a:srgbClr val="39404A"/>
              </a:solidFill>
              <a:latin typeface="Calibri" panose="020F0502020204030204" pitchFamily="34" charset="0"/>
            </a:endParaRPr>
          </a:p>
        </p:txBody>
      </p:sp>
      <p:sp>
        <p:nvSpPr>
          <p:cNvPr id="19" name="Rectángulo: esquinas redondeadas 18">
            <a:extLst>
              <a:ext uri="{FF2B5EF4-FFF2-40B4-BE49-F238E27FC236}">
                <a16:creationId xmlns:a16="http://schemas.microsoft.com/office/drawing/2014/main" id="{F2E90C3F-8A45-7E3C-76F2-AB4EA1CD63BC}"/>
              </a:ext>
            </a:extLst>
          </p:cNvPr>
          <p:cNvSpPr/>
          <p:nvPr/>
        </p:nvSpPr>
        <p:spPr>
          <a:xfrm>
            <a:off x="6162675" y="1905000"/>
            <a:ext cx="2638425" cy="19050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0" name="CuadroTexto 19">
            <a:extLst>
              <a:ext uri="{FF2B5EF4-FFF2-40B4-BE49-F238E27FC236}">
                <a16:creationId xmlns:a16="http://schemas.microsoft.com/office/drawing/2014/main" id="{A9685619-5583-22A1-FFB5-6C7F41DD82E0}"/>
              </a:ext>
            </a:extLst>
          </p:cNvPr>
          <p:cNvSpPr txBox="1"/>
          <p:nvPr/>
        </p:nvSpPr>
        <p:spPr>
          <a:xfrm>
            <a:off x="6334125" y="2057400"/>
            <a:ext cx="2295525" cy="276999"/>
          </a:xfrm>
          <a:prstGeom prst="rect">
            <a:avLst/>
          </a:prstGeom>
          <a:noFill/>
        </p:spPr>
        <p:txBody>
          <a:bodyPr vert="horz" wrap="square" lIns="0" tIns="0" rIns="0" bIns="0" rtlCol="0" anchor="t">
            <a:noAutofit/>
          </a:bodyPr>
          <a:lstStyle/>
          <a:p>
            <a:r>
              <a:rPr lang="es-HN" sz="4500" b="1">
                <a:solidFill>
                  <a:srgbClr val="1B4F9C"/>
                </a:solidFill>
                <a:latin typeface="Calibri" panose="020F0502020204030204" pitchFamily="34" charset="0"/>
              </a:rPr>
              <a:t>74.0 %</a:t>
            </a:r>
          </a:p>
        </p:txBody>
      </p:sp>
      <p:sp>
        <p:nvSpPr>
          <p:cNvPr id="21" name="Rectángulo: esquinas redondeadas 20">
            <a:extLst>
              <a:ext uri="{FF2B5EF4-FFF2-40B4-BE49-F238E27FC236}">
                <a16:creationId xmlns:a16="http://schemas.microsoft.com/office/drawing/2014/main" id="{E07733FA-2F7A-936F-A6F0-135F4A1A42F8}"/>
              </a:ext>
            </a:extLst>
          </p:cNvPr>
          <p:cNvSpPr/>
          <p:nvPr/>
        </p:nvSpPr>
        <p:spPr>
          <a:xfrm>
            <a:off x="6334125" y="2857500"/>
            <a:ext cx="2295525" cy="57150"/>
          </a:xfrm>
          <a:prstGeom prst="roundRect">
            <a:avLst>
              <a:gd name="adj" fmla="val 6000"/>
            </a:avLst>
          </a:prstGeom>
          <a:solidFill>
            <a:srgbClr val="E3E1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2" name="Rectángulo: esquinas redondeadas 21">
            <a:extLst>
              <a:ext uri="{FF2B5EF4-FFF2-40B4-BE49-F238E27FC236}">
                <a16:creationId xmlns:a16="http://schemas.microsoft.com/office/drawing/2014/main" id="{ABE95EB6-BEDB-169B-70EF-A882B081C25A}"/>
              </a:ext>
            </a:extLst>
          </p:cNvPr>
          <p:cNvSpPr/>
          <p:nvPr/>
        </p:nvSpPr>
        <p:spPr>
          <a:xfrm>
            <a:off x="6334125" y="2857500"/>
            <a:ext cx="1698689" cy="57150"/>
          </a:xfrm>
          <a:prstGeom prst="roundRect">
            <a:avLst>
              <a:gd name="adj" fmla="val 6000"/>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3" name="CuadroTexto 22">
            <a:extLst>
              <a:ext uri="{FF2B5EF4-FFF2-40B4-BE49-F238E27FC236}">
                <a16:creationId xmlns:a16="http://schemas.microsoft.com/office/drawing/2014/main" id="{3041683F-483E-956F-E60B-33A62B66C39D}"/>
              </a:ext>
            </a:extLst>
          </p:cNvPr>
          <p:cNvSpPr txBox="1"/>
          <p:nvPr/>
        </p:nvSpPr>
        <p:spPr>
          <a:xfrm>
            <a:off x="6334125" y="3009900"/>
            <a:ext cx="2295525" cy="276999"/>
          </a:xfrm>
          <a:prstGeom prst="rect">
            <a:avLst/>
          </a:prstGeom>
          <a:noFill/>
        </p:spPr>
        <p:txBody>
          <a:bodyPr vert="horz" wrap="square" lIns="0" tIns="0" rIns="0" bIns="0" rtlCol="0" anchor="t">
            <a:noAutofit/>
          </a:bodyPr>
          <a:lstStyle/>
          <a:p>
            <a:pPr>
              <a:lnSpc>
                <a:spcPct val="135000"/>
              </a:lnSpc>
            </a:pPr>
            <a:r>
              <a:rPr lang="es-ES" sz="1050">
                <a:solidFill>
                  <a:srgbClr val="39404A"/>
                </a:solidFill>
                <a:latin typeface="Calibri" panose="020F0502020204030204" pitchFamily="34" charset="0"/>
              </a:rPr>
              <a:t>no la encuentra </a:t>
            </a:r>
            <a:r>
              <a:rPr lang="es-ES" sz="1050" b="1">
                <a:solidFill>
                  <a:srgbClr val="39404A"/>
                </a:solidFill>
                <a:latin typeface="Calibri" panose="020F0502020204030204" pitchFamily="34" charset="0"/>
              </a:rPr>
              <a:t>organizada ni fácil de comparar</a:t>
            </a:r>
            <a:endParaRPr lang="es-HN" sz="1050" b="1">
              <a:solidFill>
                <a:srgbClr val="39404A"/>
              </a:solidFill>
              <a:latin typeface="Calibri" panose="020F0502020204030204" pitchFamily="34" charset="0"/>
            </a:endParaRPr>
          </a:p>
        </p:txBody>
      </p:sp>
      <p:sp>
        <p:nvSpPr>
          <p:cNvPr id="24" name="Rectángulo: esquinas redondeadas 23">
            <a:extLst>
              <a:ext uri="{FF2B5EF4-FFF2-40B4-BE49-F238E27FC236}">
                <a16:creationId xmlns:a16="http://schemas.microsoft.com/office/drawing/2014/main" id="{8EDC0945-6017-D666-1C11-18BEC2F5F53A}"/>
              </a:ext>
            </a:extLst>
          </p:cNvPr>
          <p:cNvSpPr/>
          <p:nvPr/>
        </p:nvSpPr>
        <p:spPr>
          <a:xfrm>
            <a:off x="8939213" y="1905000"/>
            <a:ext cx="2638425" cy="19050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5" name="Rectángulo 24">
            <a:extLst>
              <a:ext uri="{FF2B5EF4-FFF2-40B4-BE49-F238E27FC236}">
                <a16:creationId xmlns:a16="http://schemas.microsoft.com/office/drawing/2014/main" id="{962EB078-2453-E078-B167-14DE42165F1C}"/>
              </a:ext>
            </a:extLst>
          </p:cNvPr>
          <p:cNvSpPr/>
          <p:nvPr/>
        </p:nvSpPr>
        <p:spPr>
          <a:xfrm>
            <a:off x="8939213" y="1933575"/>
            <a:ext cx="28575" cy="18478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6" name="CuadroTexto 25">
            <a:extLst>
              <a:ext uri="{FF2B5EF4-FFF2-40B4-BE49-F238E27FC236}">
                <a16:creationId xmlns:a16="http://schemas.microsoft.com/office/drawing/2014/main" id="{A988DA8E-B2BE-0DA2-FF38-80E2BA3D068A}"/>
              </a:ext>
            </a:extLst>
          </p:cNvPr>
          <p:cNvSpPr txBox="1"/>
          <p:nvPr/>
        </p:nvSpPr>
        <p:spPr>
          <a:xfrm>
            <a:off x="9110663" y="2057400"/>
            <a:ext cx="2295525" cy="276999"/>
          </a:xfrm>
          <a:prstGeom prst="rect">
            <a:avLst/>
          </a:prstGeom>
          <a:noFill/>
        </p:spPr>
        <p:txBody>
          <a:bodyPr vert="horz" wrap="square" lIns="0" tIns="0" rIns="0" bIns="0" rtlCol="0" anchor="t">
            <a:noAutofit/>
          </a:bodyPr>
          <a:lstStyle/>
          <a:p>
            <a:r>
              <a:rPr lang="es-HN" sz="4500" b="1">
                <a:solidFill>
                  <a:srgbClr val="C3372C"/>
                </a:solidFill>
                <a:latin typeface="Calibri" panose="020F0502020204030204" pitchFamily="34" charset="0"/>
              </a:rPr>
              <a:t>11.3 %</a:t>
            </a:r>
          </a:p>
        </p:txBody>
      </p:sp>
      <p:sp>
        <p:nvSpPr>
          <p:cNvPr id="27" name="Rectángulo: esquinas redondeadas 26">
            <a:extLst>
              <a:ext uri="{FF2B5EF4-FFF2-40B4-BE49-F238E27FC236}">
                <a16:creationId xmlns:a16="http://schemas.microsoft.com/office/drawing/2014/main" id="{B5DA6688-1B3C-ECBD-0401-9A034E2FB1F9}"/>
              </a:ext>
            </a:extLst>
          </p:cNvPr>
          <p:cNvSpPr/>
          <p:nvPr/>
        </p:nvSpPr>
        <p:spPr>
          <a:xfrm>
            <a:off x="9110663" y="2857500"/>
            <a:ext cx="2295525" cy="57150"/>
          </a:xfrm>
          <a:prstGeom prst="roundRect">
            <a:avLst>
              <a:gd name="adj" fmla="val 6000"/>
            </a:avLst>
          </a:prstGeom>
          <a:solidFill>
            <a:srgbClr val="E3E1D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8" name="Rectángulo: esquinas redondeadas 27">
            <a:extLst>
              <a:ext uri="{FF2B5EF4-FFF2-40B4-BE49-F238E27FC236}">
                <a16:creationId xmlns:a16="http://schemas.microsoft.com/office/drawing/2014/main" id="{75F4BEDB-A3C0-6188-4C54-16B6EB90B18D}"/>
              </a:ext>
            </a:extLst>
          </p:cNvPr>
          <p:cNvSpPr/>
          <p:nvPr/>
        </p:nvSpPr>
        <p:spPr>
          <a:xfrm>
            <a:off x="9110663" y="2857500"/>
            <a:ext cx="259394" cy="57150"/>
          </a:xfrm>
          <a:prstGeom prst="roundRect">
            <a:avLst>
              <a:gd name="adj" fmla="val 6000"/>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9" name="CuadroTexto 28">
            <a:extLst>
              <a:ext uri="{FF2B5EF4-FFF2-40B4-BE49-F238E27FC236}">
                <a16:creationId xmlns:a16="http://schemas.microsoft.com/office/drawing/2014/main" id="{FA4040E2-12EB-DAB8-F02A-22F24C723E53}"/>
              </a:ext>
            </a:extLst>
          </p:cNvPr>
          <p:cNvSpPr txBox="1"/>
          <p:nvPr/>
        </p:nvSpPr>
        <p:spPr>
          <a:xfrm>
            <a:off x="9110663" y="3009900"/>
            <a:ext cx="2295525" cy="276999"/>
          </a:xfrm>
          <a:prstGeom prst="rect">
            <a:avLst/>
          </a:prstGeom>
          <a:noFill/>
        </p:spPr>
        <p:txBody>
          <a:bodyPr vert="horz" wrap="square" lIns="0" tIns="0" rIns="0" bIns="0" rtlCol="0" anchor="t">
            <a:noAutofit/>
          </a:bodyPr>
          <a:lstStyle/>
          <a:p>
            <a:pPr>
              <a:lnSpc>
                <a:spcPct val="135000"/>
              </a:lnSpc>
            </a:pPr>
            <a:r>
              <a:rPr lang="es-ES" sz="1050">
                <a:solidFill>
                  <a:srgbClr val="39404A"/>
                </a:solidFill>
                <a:latin typeface="Calibri" panose="020F0502020204030204" pitchFamily="34" charset="0"/>
              </a:rPr>
              <a:t>— y solo esa fracción </a:t>
            </a:r>
            <a:r>
              <a:rPr lang="es-ES" sz="1050" b="1">
                <a:solidFill>
                  <a:srgbClr val="39404A"/>
                </a:solidFill>
                <a:latin typeface="Calibri" panose="020F0502020204030204" pitchFamily="34" charset="0"/>
              </a:rPr>
              <a:t>sabe dónde buscar</a:t>
            </a:r>
            <a:r>
              <a:rPr lang="es-ES" sz="1050">
                <a:solidFill>
                  <a:srgbClr val="39404A"/>
                </a:solidFill>
                <a:latin typeface="Calibri" panose="020F0502020204030204" pitchFamily="34" charset="0"/>
              </a:rPr>
              <a:t> información confiable</a:t>
            </a:r>
            <a:endParaRPr lang="es-HN" sz="1050">
              <a:solidFill>
                <a:srgbClr val="39404A"/>
              </a:solidFill>
              <a:latin typeface="Calibri" panose="020F0502020204030204" pitchFamily="34" charset="0"/>
            </a:endParaRPr>
          </a:p>
        </p:txBody>
      </p:sp>
      <p:sp>
        <p:nvSpPr>
          <p:cNvPr id="30" name="CuadroTexto 29">
            <a:extLst>
              <a:ext uri="{FF2B5EF4-FFF2-40B4-BE49-F238E27FC236}">
                <a16:creationId xmlns:a16="http://schemas.microsoft.com/office/drawing/2014/main" id="{210689E0-129B-53F3-5F9A-894BD5FDCEA5}"/>
              </a:ext>
            </a:extLst>
          </p:cNvPr>
          <p:cNvSpPr txBox="1"/>
          <p:nvPr/>
        </p:nvSpPr>
        <p:spPr>
          <a:xfrm>
            <a:off x="609600" y="4076700"/>
            <a:ext cx="10287000" cy="276999"/>
          </a:xfrm>
          <a:prstGeom prst="rect">
            <a:avLst/>
          </a:prstGeom>
          <a:noFill/>
        </p:spPr>
        <p:txBody>
          <a:bodyPr vert="horz" wrap="square" lIns="0" tIns="0" rIns="0" bIns="0" rtlCol="0" anchor="t">
            <a:noAutofit/>
          </a:bodyPr>
          <a:lstStyle/>
          <a:p>
            <a:pPr>
              <a:lnSpc>
                <a:spcPct val="140000"/>
              </a:lnSpc>
            </a:pPr>
            <a:r>
              <a:rPr lang="es-ES" sz="1275" b="1">
                <a:solidFill>
                  <a:srgbClr val="39404A"/>
                </a:solidFill>
                <a:latin typeface="Calibri" panose="020F0502020204030204" pitchFamily="34" charset="0"/>
              </a:rPr>
              <a:t>64.0 %</a:t>
            </a:r>
            <a:r>
              <a:rPr lang="es-ES" sz="1275">
                <a:solidFill>
                  <a:srgbClr val="39404A"/>
                </a:solidFill>
                <a:latin typeface="Calibri" panose="020F0502020204030204" pitchFamily="34" charset="0"/>
              </a:rPr>
              <a:t> no sabía que existen mecanismos institucionales de seguimiento a la gestión pública, y </a:t>
            </a:r>
            <a:r>
              <a:rPr lang="es-ES" sz="1275" b="1">
                <a:solidFill>
                  <a:srgbClr val="39404A"/>
                </a:solidFill>
                <a:latin typeface="Calibri" panose="020F0502020204030204" pitchFamily="34" charset="0"/>
              </a:rPr>
              <a:t>51.3 %</a:t>
            </a:r>
            <a:r>
              <a:rPr lang="es-ES" sz="1275">
                <a:solidFill>
                  <a:srgbClr val="39404A"/>
                </a:solidFill>
                <a:latin typeface="Calibri" panose="020F0502020204030204" pitchFamily="34" charset="0"/>
              </a:rPr>
              <a:t> no puede nombrar una sola promesa específica de la última campaña.</a:t>
            </a:r>
            <a:endParaRPr lang="es-HN" sz="1275">
              <a:solidFill>
                <a:srgbClr val="39404A"/>
              </a:solidFill>
              <a:latin typeface="Calibri" panose="020F0502020204030204" pitchFamily="34" charset="0"/>
            </a:endParaRPr>
          </a:p>
        </p:txBody>
      </p:sp>
      <p:sp>
        <p:nvSpPr>
          <p:cNvPr id="31" name="CuadroTexto 30">
            <a:extLst>
              <a:ext uri="{FF2B5EF4-FFF2-40B4-BE49-F238E27FC236}">
                <a16:creationId xmlns:a16="http://schemas.microsoft.com/office/drawing/2014/main" id="{E435A999-23EB-B0A9-1FAC-C620FFB046B2}"/>
              </a:ext>
            </a:extLst>
          </p:cNvPr>
          <p:cNvSpPr txBox="1"/>
          <p:nvPr/>
        </p:nvSpPr>
        <p:spPr>
          <a:xfrm>
            <a:off x="609600" y="6057900"/>
            <a:ext cx="10972800" cy="276999"/>
          </a:xfrm>
          <a:prstGeom prst="rect">
            <a:avLst/>
          </a:prstGeom>
          <a:noFill/>
        </p:spPr>
        <p:txBody>
          <a:bodyPr vert="horz" wrap="square" lIns="0" tIns="0" rIns="0" bIns="0" rtlCol="0" anchor="t">
            <a:noAutofit/>
          </a:bodyPr>
          <a:lstStyle/>
          <a:p>
            <a:pPr>
              <a:lnSpc>
                <a:spcPct val="135000"/>
              </a:lnSpc>
            </a:pPr>
            <a:r>
              <a:rPr lang="es-ES" sz="975">
                <a:solidFill>
                  <a:srgbClr val="6A7078"/>
                </a:solidFill>
                <a:latin typeface="Calibri" panose="020F0502020204030204" pitchFamily="34" charset="0"/>
              </a:rPr>
              <a:t>n = 150 · junio de 2026 · muestreo no probabilístico por conveniencia sobre estudiantes universitarios hondureños mayores de 18 años. Los resultados describen a quienes respondieron, no a la población hondureña.</a:t>
            </a:r>
            <a:endParaRPr lang="es-HN" sz="975">
              <a:solidFill>
                <a:srgbClr val="6A7078"/>
              </a:solidFill>
              <a:latin typeface="Calibri" panose="020F0502020204030204" pitchFamily="34" charset="0"/>
            </a:endParaRPr>
          </a:p>
        </p:txBody>
      </p:sp>
    </p:spTree>
    <p:extLst>
      <p:ext uri="{BB962C8B-B14F-4D97-AF65-F5344CB8AC3E}">
        <p14:creationId xmlns:p14="http://schemas.microsoft.com/office/powerpoint/2010/main" val="2523424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9320DB57-3548-4EF0-3957-4D7886E0F38F}"/>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780AA45D-3EA7-DA8F-0C33-5091222CF514}"/>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8DBB12F7-6162-D783-93AC-3085A36207AC}"/>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01304A61-30D6-5471-A7E8-7FDE96CE1B9C}"/>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E0856F5C-E50E-F78C-B064-B6E97CE44C29}"/>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17708A"/>
                </a:solidFill>
                <a:latin typeface="Calibri" panose="020F0502020204030204" pitchFamily="34" charset="0"/>
              </a:rPr>
              <a:t>EVIDENCIA · ENCUESTA DEL PROYECTO</a:t>
            </a:r>
          </a:p>
        </p:txBody>
      </p:sp>
      <p:sp>
        <p:nvSpPr>
          <p:cNvPr id="7" name="CuadroTexto 6">
            <a:extLst>
              <a:ext uri="{FF2B5EF4-FFF2-40B4-BE49-F238E27FC236}">
                <a16:creationId xmlns:a16="http://schemas.microsoft.com/office/drawing/2014/main" id="{C5D76155-61B3-D6B0-6309-231709B500E9}"/>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850" b="1">
                <a:solidFill>
                  <a:srgbClr val="14171C"/>
                </a:solidFill>
                <a:latin typeface="Georgia" panose="02040502050405020303" pitchFamily="18" charset="0"/>
              </a:rPr>
              <a:t>Y hay demanda de la herramienta.</a:t>
            </a:r>
            <a:endParaRPr lang="es-HN" sz="2850" b="1">
              <a:solidFill>
                <a:srgbClr val="14171C"/>
              </a:solidFill>
              <a:latin typeface="Georgia" panose="02040502050405020303" pitchFamily="18" charset="0"/>
            </a:endParaRPr>
          </a:p>
        </p:txBody>
      </p:sp>
      <p:sp>
        <p:nvSpPr>
          <p:cNvPr id="8" name="Rectángulo: esquinas redondeadas 7">
            <a:extLst>
              <a:ext uri="{FF2B5EF4-FFF2-40B4-BE49-F238E27FC236}">
                <a16:creationId xmlns:a16="http://schemas.microsoft.com/office/drawing/2014/main" id="{5512E18F-08CC-D1BF-A716-26581DC919D7}"/>
              </a:ext>
            </a:extLst>
          </p:cNvPr>
          <p:cNvSpPr/>
          <p:nvPr/>
        </p:nvSpPr>
        <p:spPr>
          <a:xfrm>
            <a:off x="609600" y="1447800"/>
            <a:ext cx="3562350" cy="20764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9" name="Rectángulo 8">
            <a:extLst>
              <a:ext uri="{FF2B5EF4-FFF2-40B4-BE49-F238E27FC236}">
                <a16:creationId xmlns:a16="http://schemas.microsoft.com/office/drawing/2014/main" id="{091B742E-8660-0135-4513-B3EF3A205EDF}"/>
              </a:ext>
            </a:extLst>
          </p:cNvPr>
          <p:cNvSpPr/>
          <p:nvPr/>
        </p:nvSpPr>
        <p:spPr>
          <a:xfrm>
            <a:off x="609600" y="1476375"/>
            <a:ext cx="28575" cy="2019300"/>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0" name="CuadroTexto 9">
            <a:extLst>
              <a:ext uri="{FF2B5EF4-FFF2-40B4-BE49-F238E27FC236}">
                <a16:creationId xmlns:a16="http://schemas.microsoft.com/office/drawing/2014/main" id="{654CCCAA-B689-A5C9-7FF2-DB555120F7AA}"/>
              </a:ext>
            </a:extLst>
          </p:cNvPr>
          <p:cNvSpPr txBox="1"/>
          <p:nvPr/>
        </p:nvSpPr>
        <p:spPr>
          <a:xfrm>
            <a:off x="781050" y="1600200"/>
            <a:ext cx="3219450" cy="276999"/>
          </a:xfrm>
          <a:prstGeom prst="rect">
            <a:avLst/>
          </a:prstGeom>
          <a:noFill/>
        </p:spPr>
        <p:txBody>
          <a:bodyPr vert="horz" wrap="square" lIns="0" tIns="0" rIns="0" bIns="0" rtlCol="0" anchor="t">
            <a:noAutofit/>
          </a:bodyPr>
          <a:lstStyle/>
          <a:p>
            <a:pPr>
              <a:lnSpc>
                <a:spcPct val="125000"/>
              </a:lnSpc>
            </a:pPr>
            <a:r>
              <a:rPr lang="es-ES" sz="788" b="1" spc="100">
                <a:solidFill>
                  <a:srgbClr val="6A7078"/>
                </a:solidFill>
                <a:latin typeface="Calibri" panose="020F0502020204030204" pitchFamily="34" charset="0"/>
              </a:rPr>
              <a:t>LA USARÍA ANTES DE VOTAR</a:t>
            </a:r>
            <a:endParaRPr lang="es-HN" sz="788" b="1" spc="100">
              <a:solidFill>
                <a:srgbClr val="6A7078"/>
              </a:solidFill>
              <a:latin typeface="Calibri" panose="020F0502020204030204" pitchFamily="34" charset="0"/>
            </a:endParaRPr>
          </a:p>
        </p:txBody>
      </p:sp>
      <p:sp>
        <p:nvSpPr>
          <p:cNvPr id="11" name="CuadroTexto 10">
            <a:extLst>
              <a:ext uri="{FF2B5EF4-FFF2-40B4-BE49-F238E27FC236}">
                <a16:creationId xmlns:a16="http://schemas.microsoft.com/office/drawing/2014/main" id="{07C6F309-FDDE-D9F8-9FA6-C73BE9853057}"/>
              </a:ext>
            </a:extLst>
          </p:cNvPr>
          <p:cNvSpPr txBox="1"/>
          <p:nvPr/>
        </p:nvSpPr>
        <p:spPr>
          <a:xfrm>
            <a:off x="781050" y="1809750"/>
            <a:ext cx="3219450" cy="276999"/>
          </a:xfrm>
          <a:prstGeom prst="rect">
            <a:avLst/>
          </a:prstGeom>
          <a:noFill/>
        </p:spPr>
        <p:txBody>
          <a:bodyPr vert="horz" wrap="square" lIns="0" tIns="0" rIns="0" bIns="0" rtlCol="0" anchor="t">
            <a:noAutofit/>
          </a:bodyPr>
          <a:lstStyle/>
          <a:p>
            <a:r>
              <a:rPr lang="es-HN" sz="3150" b="1">
                <a:solidFill>
                  <a:srgbClr val="2C7A58"/>
                </a:solidFill>
                <a:latin typeface="Calibri" panose="020F0502020204030204" pitchFamily="34" charset="0"/>
              </a:rPr>
              <a:t>84.7 %</a:t>
            </a:r>
          </a:p>
        </p:txBody>
      </p:sp>
      <p:sp>
        <p:nvSpPr>
          <p:cNvPr id="12" name="CuadroTexto 11">
            <a:extLst>
              <a:ext uri="{FF2B5EF4-FFF2-40B4-BE49-F238E27FC236}">
                <a16:creationId xmlns:a16="http://schemas.microsoft.com/office/drawing/2014/main" id="{39CAE274-03BF-9197-36FA-7B0227EF7FAB}"/>
              </a:ext>
            </a:extLst>
          </p:cNvPr>
          <p:cNvSpPr txBox="1"/>
          <p:nvPr/>
        </p:nvSpPr>
        <p:spPr>
          <a:xfrm>
            <a:off x="781050" y="2381250"/>
            <a:ext cx="3219450" cy="276999"/>
          </a:xfrm>
          <a:prstGeom prst="rect">
            <a:avLst/>
          </a:prstGeom>
          <a:noFill/>
        </p:spPr>
        <p:txBody>
          <a:bodyPr vert="horz" wrap="square" lIns="0" tIns="0" rIns="0" bIns="0" rtlCol="0" anchor="t">
            <a:noAutofit/>
          </a:bodyPr>
          <a:lstStyle/>
          <a:p>
            <a:pPr>
              <a:lnSpc>
                <a:spcPct val="140000"/>
              </a:lnSpc>
            </a:pPr>
            <a:r>
              <a:rPr lang="es-ES" sz="1050">
                <a:solidFill>
                  <a:srgbClr val="39404A"/>
                </a:solidFill>
                <a:latin typeface="Calibri" panose="020F0502020204030204" pitchFamily="34" charset="0"/>
              </a:rPr>
              <a:t>usaría una plataforma que muestre estadísticamente el cumplimiento por candidato. Media de 4.31 sobre 5, </a:t>
            </a:r>
            <a:r>
              <a:rPr lang="es-ES" sz="1050" b="1">
                <a:solidFill>
                  <a:srgbClr val="39404A"/>
                </a:solidFill>
                <a:latin typeface="Calibri" panose="020F0502020204030204" pitchFamily="34" charset="0"/>
              </a:rPr>
              <a:t>la más alta de todo el instrumento</a:t>
            </a:r>
            <a:r>
              <a:rPr lang="es-ES" sz="1050">
                <a:solidFill>
                  <a:srgbClr val="39404A"/>
                </a:solidFill>
                <a:latin typeface="Calibri" panose="020F0502020204030204" pitchFamily="34" charset="0"/>
              </a:rPr>
              <a:t>.</a:t>
            </a:r>
            <a:endParaRPr lang="es-HN" sz="1050">
              <a:solidFill>
                <a:srgbClr val="39404A"/>
              </a:solidFill>
              <a:latin typeface="Calibri" panose="020F0502020204030204" pitchFamily="34" charset="0"/>
            </a:endParaRPr>
          </a:p>
        </p:txBody>
      </p:sp>
      <p:sp>
        <p:nvSpPr>
          <p:cNvPr id="13" name="Rectángulo: esquinas redondeadas 12">
            <a:extLst>
              <a:ext uri="{FF2B5EF4-FFF2-40B4-BE49-F238E27FC236}">
                <a16:creationId xmlns:a16="http://schemas.microsoft.com/office/drawing/2014/main" id="{F6384D31-AB05-BF84-DD82-413C98C5C684}"/>
              </a:ext>
            </a:extLst>
          </p:cNvPr>
          <p:cNvSpPr/>
          <p:nvPr/>
        </p:nvSpPr>
        <p:spPr>
          <a:xfrm>
            <a:off x="4311967" y="1447800"/>
            <a:ext cx="3562351" cy="20764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4" name="Rectángulo 13">
            <a:extLst>
              <a:ext uri="{FF2B5EF4-FFF2-40B4-BE49-F238E27FC236}">
                <a16:creationId xmlns:a16="http://schemas.microsoft.com/office/drawing/2014/main" id="{501EB346-B6FB-1359-ACA1-30E309E8389C}"/>
              </a:ext>
            </a:extLst>
          </p:cNvPr>
          <p:cNvSpPr/>
          <p:nvPr/>
        </p:nvSpPr>
        <p:spPr>
          <a:xfrm>
            <a:off x="4311967" y="1476375"/>
            <a:ext cx="28575" cy="2019300"/>
          </a:xfrm>
          <a:prstGeom prst="rect">
            <a:avLst/>
          </a:prstGeom>
          <a:solidFill>
            <a:srgbClr val="1B4F9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5" name="CuadroTexto 14">
            <a:extLst>
              <a:ext uri="{FF2B5EF4-FFF2-40B4-BE49-F238E27FC236}">
                <a16:creationId xmlns:a16="http://schemas.microsoft.com/office/drawing/2014/main" id="{171A2EB2-FBA1-F3BA-6538-4D03D858CB94}"/>
              </a:ext>
            </a:extLst>
          </p:cNvPr>
          <p:cNvSpPr txBox="1"/>
          <p:nvPr/>
        </p:nvSpPr>
        <p:spPr>
          <a:xfrm>
            <a:off x="4483417" y="1600200"/>
            <a:ext cx="3219450" cy="276999"/>
          </a:xfrm>
          <a:prstGeom prst="rect">
            <a:avLst/>
          </a:prstGeom>
          <a:noFill/>
        </p:spPr>
        <p:txBody>
          <a:bodyPr vert="horz" wrap="square" lIns="0" tIns="0" rIns="0" bIns="0" rtlCol="0" anchor="t">
            <a:noAutofit/>
          </a:bodyPr>
          <a:lstStyle/>
          <a:p>
            <a:pPr>
              <a:lnSpc>
                <a:spcPct val="125000"/>
              </a:lnSpc>
            </a:pPr>
            <a:r>
              <a:rPr lang="es-ES" sz="788" b="1" spc="100">
                <a:solidFill>
                  <a:srgbClr val="6A7078"/>
                </a:solidFill>
                <a:latin typeface="Calibri" panose="020F0502020204030204" pitchFamily="34" charset="0"/>
              </a:rPr>
              <a:t>QUIERE PREGUNTAR EN LENGUAJE NATURAL</a:t>
            </a:r>
            <a:endParaRPr lang="es-HN" sz="788" b="1" spc="100">
              <a:solidFill>
                <a:srgbClr val="6A7078"/>
              </a:solidFill>
              <a:latin typeface="Calibri" panose="020F0502020204030204" pitchFamily="34" charset="0"/>
            </a:endParaRPr>
          </a:p>
        </p:txBody>
      </p:sp>
      <p:sp>
        <p:nvSpPr>
          <p:cNvPr id="16" name="CuadroTexto 15">
            <a:extLst>
              <a:ext uri="{FF2B5EF4-FFF2-40B4-BE49-F238E27FC236}">
                <a16:creationId xmlns:a16="http://schemas.microsoft.com/office/drawing/2014/main" id="{DA3D3BE5-B942-6DCA-0D04-6ABCF5B7EE09}"/>
              </a:ext>
            </a:extLst>
          </p:cNvPr>
          <p:cNvSpPr txBox="1"/>
          <p:nvPr/>
        </p:nvSpPr>
        <p:spPr>
          <a:xfrm>
            <a:off x="4483417" y="1809750"/>
            <a:ext cx="3219450" cy="276999"/>
          </a:xfrm>
          <a:prstGeom prst="rect">
            <a:avLst/>
          </a:prstGeom>
          <a:noFill/>
        </p:spPr>
        <p:txBody>
          <a:bodyPr vert="horz" wrap="square" lIns="0" tIns="0" rIns="0" bIns="0" rtlCol="0" anchor="t">
            <a:noAutofit/>
          </a:bodyPr>
          <a:lstStyle/>
          <a:p>
            <a:r>
              <a:rPr lang="es-HN" sz="3150" b="1">
                <a:solidFill>
                  <a:srgbClr val="1B4F9C"/>
                </a:solidFill>
                <a:latin typeface="Calibri" panose="020F0502020204030204" pitchFamily="34" charset="0"/>
              </a:rPr>
              <a:t>78.7 %</a:t>
            </a:r>
          </a:p>
        </p:txBody>
      </p:sp>
      <p:sp>
        <p:nvSpPr>
          <p:cNvPr id="17" name="CuadroTexto 16">
            <a:extLst>
              <a:ext uri="{FF2B5EF4-FFF2-40B4-BE49-F238E27FC236}">
                <a16:creationId xmlns:a16="http://schemas.microsoft.com/office/drawing/2014/main" id="{5D34A914-6835-F96B-D226-B07F6FD92356}"/>
              </a:ext>
            </a:extLst>
          </p:cNvPr>
          <p:cNvSpPr txBox="1"/>
          <p:nvPr/>
        </p:nvSpPr>
        <p:spPr>
          <a:xfrm>
            <a:off x="4483417" y="2381250"/>
            <a:ext cx="3219450" cy="276999"/>
          </a:xfrm>
          <a:prstGeom prst="rect">
            <a:avLst/>
          </a:prstGeom>
          <a:noFill/>
        </p:spPr>
        <p:txBody>
          <a:bodyPr vert="horz" wrap="square" lIns="0" tIns="0" rIns="0" bIns="0" rtlCol="0" anchor="t">
            <a:noAutofit/>
          </a:bodyPr>
          <a:lstStyle/>
          <a:p>
            <a:pPr>
              <a:lnSpc>
                <a:spcPct val="140000"/>
              </a:lnSpc>
            </a:pPr>
            <a:r>
              <a:rPr lang="es-ES" sz="1050">
                <a:solidFill>
                  <a:srgbClr val="39404A"/>
                </a:solidFill>
                <a:latin typeface="Calibri" panose="020F0502020204030204" pitchFamily="34" charset="0"/>
              </a:rPr>
              <a:t>quiere poder preguntar «¿qué candidatos cumplieron sus promesas de educación?» y recibir una respuesta basada en datos.</a:t>
            </a:r>
            <a:endParaRPr lang="es-HN" sz="1050">
              <a:solidFill>
                <a:srgbClr val="39404A"/>
              </a:solidFill>
              <a:latin typeface="Calibri" panose="020F0502020204030204" pitchFamily="34" charset="0"/>
            </a:endParaRPr>
          </a:p>
        </p:txBody>
      </p:sp>
      <p:sp>
        <p:nvSpPr>
          <p:cNvPr id="18" name="Rectángulo: esquinas redondeadas 17">
            <a:extLst>
              <a:ext uri="{FF2B5EF4-FFF2-40B4-BE49-F238E27FC236}">
                <a16:creationId xmlns:a16="http://schemas.microsoft.com/office/drawing/2014/main" id="{3282C91F-8EBC-941D-C827-B9E4C696B363}"/>
              </a:ext>
            </a:extLst>
          </p:cNvPr>
          <p:cNvSpPr/>
          <p:nvPr/>
        </p:nvSpPr>
        <p:spPr>
          <a:xfrm>
            <a:off x="8014335" y="1447800"/>
            <a:ext cx="3562350" cy="20764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9" name="Rectángulo 18">
            <a:extLst>
              <a:ext uri="{FF2B5EF4-FFF2-40B4-BE49-F238E27FC236}">
                <a16:creationId xmlns:a16="http://schemas.microsoft.com/office/drawing/2014/main" id="{1B43D296-3206-328C-604C-AC319A9E387A}"/>
              </a:ext>
            </a:extLst>
          </p:cNvPr>
          <p:cNvSpPr/>
          <p:nvPr/>
        </p:nvSpPr>
        <p:spPr>
          <a:xfrm>
            <a:off x="8014335" y="1476375"/>
            <a:ext cx="28575" cy="2019300"/>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0" name="CuadroTexto 19">
            <a:extLst>
              <a:ext uri="{FF2B5EF4-FFF2-40B4-BE49-F238E27FC236}">
                <a16:creationId xmlns:a16="http://schemas.microsoft.com/office/drawing/2014/main" id="{40051283-BFE8-66A7-29D1-ED601DF5F181}"/>
              </a:ext>
            </a:extLst>
          </p:cNvPr>
          <p:cNvSpPr txBox="1"/>
          <p:nvPr/>
        </p:nvSpPr>
        <p:spPr>
          <a:xfrm>
            <a:off x="8185785" y="1600200"/>
            <a:ext cx="3219450" cy="276999"/>
          </a:xfrm>
          <a:prstGeom prst="rect">
            <a:avLst/>
          </a:prstGeom>
          <a:noFill/>
        </p:spPr>
        <p:txBody>
          <a:bodyPr vert="horz" wrap="square" lIns="0" tIns="0" rIns="0" bIns="0" rtlCol="0" anchor="t">
            <a:noAutofit/>
          </a:bodyPr>
          <a:lstStyle/>
          <a:p>
            <a:pPr>
              <a:lnSpc>
                <a:spcPct val="125000"/>
              </a:lnSpc>
            </a:pPr>
            <a:r>
              <a:rPr lang="es-ES" sz="788" b="1" spc="100">
                <a:solidFill>
                  <a:srgbClr val="6A7078"/>
                </a:solidFill>
                <a:latin typeface="Calibri" panose="020F0502020204030204" pitchFamily="34" charset="0"/>
              </a:rPr>
              <a:t>CONFIARÍA EN LA IA — CON UNA CONDICIÓN</a:t>
            </a:r>
            <a:endParaRPr lang="es-HN" sz="788" b="1" spc="100">
              <a:solidFill>
                <a:srgbClr val="6A7078"/>
              </a:solidFill>
              <a:latin typeface="Calibri" panose="020F0502020204030204" pitchFamily="34" charset="0"/>
            </a:endParaRPr>
          </a:p>
        </p:txBody>
      </p:sp>
      <p:sp>
        <p:nvSpPr>
          <p:cNvPr id="21" name="CuadroTexto 20">
            <a:extLst>
              <a:ext uri="{FF2B5EF4-FFF2-40B4-BE49-F238E27FC236}">
                <a16:creationId xmlns:a16="http://schemas.microsoft.com/office/drawing/2014/main" id="{2C3B9A20-E127-26B8-20B2-9975A491B2DC}"/>
              </a:ext>
            </a:extLst>
          </p:cNvPr>
          <p:cNvSpPr txBox="1"/>
          <p:nvPr/>
        </p:nvSpPr>
        <p:spPr>
          <a:xfrm>
            <a:off x="8185785" y="1809750"/>
            <a:ext cx="3219450" cy="276999"/>
          </a:xfrm>
          <a:prstGeom prst="rect">
            <a:avLst/>
          </a:prstGeom>
          <a:noFill/>
        </p:spPr>
        <p:txBody>
          <a:bodyPr vert="horz" wrap="square" lIns="0" tIns="0" rIns="0" bIns="0" rtlCol="0" anchor="t">
            <a:noAutofit/>
          </a:bodyPr>
          <a:lstStyle/>
          <a:p>
            <a:r>
              <a:rPr lang="es-HN" sz="3150" b="1">
                <a:solidFill>
                  <a:srgbClr val="B8791A"/>
                </a:solidFill>
                <a:latin typeface="Calibri" panose="020F0502020204030204" pitchFamily="34" charset="0"/>
              </a:rPr>
              <a:t>77.3 %</a:t>
            </a:r>
          </a:p>
        </p:txBody>
      </p:sp>
      <p:sp>
        <p:nvSpPr>
          <p:cNvPr id="22" name="CuadroTexto 21">
            <a:extLst>
              <a:ext uri="{FF2B5EF4-FFF2-40B4-BE49-F238E27FC236}">
                <a16:creationId xmlns:a16="http://schemas.microsoft.com/office/drawing/2014/main" id="{F75041F9-0B0F-2B67-45A5-59E2E844A580}"/>
              </a:ext>
            </a:extLst>
          </p:cNvPr>
          <p:cNvSpPr txBox="1"/>
          <p:nvPr/>
        </p:nvSpPr>
        <p:spPr>
          <a:xfrm>
            <a:off x="8185785" y="2381250"/>
            <a:ext cx="3219450" cy="276999"/>
          </a:xfrm>
          <a:prstGeom prst="rect">
            <a:avLst/>
          </a:prstGeom>
          <a:noFill/>
        </p:spPr>
        <p:txBody>
          <a:bodyPr vert="horz" wrap="square" lIns="0" tIns="0" rIns="0" bIns="0" rtlCol="0" anchor="t">
            <a:noAutofit/>
          </a:bodyPr>
          <a:lstStyle/>
          <a:p>
            <a:pPr>
              <a:lnSpc>
                <a:spcPct val="140000"/>
              </a:lnSpc>
            </a:pPr>
            <a:r>
              <a:rPr lang="es-ES" sz="1050">
                <a:solidFill>
                  <a:srgbClr val="39404A"/>
                </a:solidFill>
                <a:latin typeface="Calibri" panose="020F0502020204030204" pitchFamily="34" charset="0"/>
              </a:rPr>
              <a:t>confiaría en las respuestas de un asistente de inteligencia artificial </a:t>
            </a:r>
            <a:r>
              <a:rPr lang="es-ES" sz="1050" b="1">
                <a:solidFill>
                  <a:srgbClr val="39404A"/>
                </a:solidFill>
                <a:latin typeface="Calibri" panose="020F0502020204030204" pitchFamily="34" charset="0"/>
              </a:rPr>
              <a:t>si estuvieran respaldadas por fuentes verificables</a:t>
            </a:r>
            <a:r>
              <a:rPr lang="es-ES" sz="1050">
                <a:solidFill>
                  <a:srgbClr val="39404A"/>
                </a:solidFill>
                <a:latin typeface="Calibri" panose="020F0502020204030204" pitchFamily="34" charset="0"/>
              </a:rPr>
              <a:t>.</a:t>
            </a:r>
            <a:endParaRPr lang="es-HN" sz="1050">
              <a:solidFill>
                <a:srgbClr val="39404A"/>
              </a:solidFill>
              <a:latin typeface="Calibri" panose="020F0502020204030204" pitchFamily="34" charset="0"/>
            </a:endParaRPr>
          </a:p>
        </p:txBody>
      </p:sp>
      <p:sp>
        <p:nvSpPr>
          <p:cNvPr id="23" name="Rectángulo 22">
            <a:extLst>
              <a:ext uri="{FF2B5EF4-FFF2-40B4-BE49-F238E27FC236}">
                <a16:creationId xmlns:a16="http://schemas.microsoft.com/office/drawing/2014/main" id="{D6D06C48-75DC-A2BA-F96B-BE90E10C6578}"/>
              </a:ext>
            </a:extLst>
          </p:cNvPr>
          <p:cNvSpPr/>
          <p:nvPr/>
        </p:nvSpPr>
        <p:spPr>
          <a:xfrm>
            <a:off x="609600" y="3810000"/>
            <a:ext cx="28575" cy="914400"/>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4" name="CuadroTexto 23">
            <a:extLst>
              <a:ext uri="{FF2B5EF4-FFF2-40B4-BE49-F238E27FC236}">
                <a16:creationId xmlns:a16="http://schemas.microsoft.com/office/drawing/2014/main" id="{D4C49D67-4773-A8ED-4369-A8622BE7E4B1}"/>
              </a:ext>
            </a:extLst>
          </p:cNvPr>
          <p:cNvSpPr txBox="1"/>
          <p:nvPr/>
        </p:nvSpPr>
        <p:spPr>
          <a:xfrm>
            <a:off x="800100" y="3810000"/>
            <a:ext cx="10096500" cy="276999"/>
          </a:xfrm>
          <a:prstGeom prst="rect">
            <a:avLst/>
          </a:prstGeom>
          <a:noFill/>
        </p:spPr>
        <p:txBody>
          <a:bodyPr vert="horz" wrap="square" lIns="0" tIns="0" rIns="0" bIns="0" rtlCol="0" anchor="t">
            <a:noAutofit/>
          </a:bodyPr>
          <a:lstStyle/>
          <a:p>
            <a:pPr>
              <a:lnSpc>
                <a:spcPct val="130000"/>
              </a:lnSpc>
            </a:pPr>
            <a:r>
              <a:rPr lang="es-ES" sz="1650">
                <a:solidFill>
                  <a:srgbClr val="14171C"/>
                </a:solidFill>
                <a:latin typeface="Georgia" panose="02040502050405020303" pitchFamily="18" charset="0"/>
              </a:rPr>
              <a:t>Esa condición no es un detalle del instrumento: es el requisito que gobierna todo el diseño del módulo de IA.</a:t>
            </a:r>
            <a:endParaRPr lang="es-HN" sz="1650">
              <a:solidFill>
                <a:srgbClr val="14171C"/>
              </a:solidFill>
              <a:latin typeface="Georgia" panose="02040502050405020303" pitchFamily="18" charset="0"/>
            </a:endParaRPr>
          </a:p>
        </p:txBody>
      </p:sp>
      <p:sp>
        <p:nvSpPr>
          <p:cNvPr id="25" name="CuadroTexto 24">
            <a:extLst>
              <a:ext uri="{FF2B5EF4-FFF2-40B4-BE49-F238E27FC236}">
                <a16:creationId xmlns:a16="http://schemas.microsoft.com/office/drawing/2014/main" id="{A58CC5A2-6250-0095-8C19-CF2C7386E51D}"/>
              </a:ext>
            </a:extLst>
          </p:cNvPr>
          <p:cNvSpPr txBox="1"/>
          <p:nvPr/>
        </p:nvSpPr>
        <p:spPr>
          <a:xfrm>
            <a:off x="800100" y="4495800"/>
            <a:ext cx="10096500" cy="276999"/>
          </a:xfrm>
          <a:prstGeom prst="rect">
            <a:avLst/>
          </a:prstGeom>
          <a:noFill/>
        </p:spPr>
        <p:txBody>
          <a:bodyPr vert="horz" wrap="square" lIns="0" tIns="0" rIns="0" bIns="0" rtlCol="0" anchor="t">
            <a:noAutofit/>
          </a:bodyPr>
          <a:lstStyle/>
          <a:p>
            <a:pPr>
              <a:lnSpc>
                <a:spcPct val="130000"/>
              </a:lnSpc>
            </a:pPr>
            <a:r>
              <a:rPr lang="es-ES" sz="975">
                <a:solidFill>
                  <a:srgbClr val="6A7078"/>
                </a:solidFill>
                <a:latin typeface="Calibri" panose="020F0502020204030204" pitchFamily="34" charset="0"/>
              </a:rPr>
              <a:t>Por eso el asistente responde siempre con su lista de fuentes, y esas fuentes se arman con las consultas que realmente se ejecutaron.</a:t>
            </a:r>
            <a:endParaRPr lang="es-HN" sz="975">
              <a:solidFill>
                <a:srgbClr val="6A7078"/>
              </a:solidFill>
              <a:latin typeface="Calibri" panose="020F0502020204030204" pitchFamily="34" charset="0"/>
            </a:endParaRPr>
          </a:p>
        </p:txBody>
      </p:sp>
      <p:sp>
        <p:nvSpPr>
          <p:cNvPr id="26" name="CuadroTexto 25">
            <a:extLst>
              <a:ext uri="{FF2B5EF4-FFF2-40B4-BE49-F238E27FC236}">
                <a16:creationId xmlns:a16="http://schemas.microsoft.com/office/drawing/2014/main" id="{8CA7DE10-A560-06AE-E378-822DE55138F1}"/>
              </a:ext>
            </a:extLst>
          </p:cNvPr>
          <p:cNvSpPr txBox="1"/>
          <p:nvPr/>
        </p:nvSpPr>
        <p:spPr>
          <a:xfrm>
            <a:off x="609600" y="6057900"/>
            <a:ext cx="10972800" cy="276999"/>
          </a:xfrm>
          <a:prstGeom prst="rect">
            <a:avLst/>
          </a:prstGeom>
          <a:noFill/>
        </p:spPr>
        <p:txBody>
          <a:bodyPr vert="horz" wrap="square" lIns="0" tIns="0" rIns="0" bIns="0" rtlCol="0" anchor="t">
            <a:noAutofit/>
          </a:bodyPr>
          <a:lstStyle/>
          <a:p>
            <a:pPr>
              <a:lnSpc>
                <a:spcPct val="135000"/>
              </a:lnSpc>
            </a:pPr>
            <a:r>
              <a:rPr lang="es-ES" sz="975">
                <a:solidFill>
                  <a:srgbClr val="6A7078"/>
                </a:solidFill>
                <a:latin typeface="Calibri" panose="020F0502020204030204" pitchFamily="34" charset="0"/>
              </a:rPr>
              <a:t>Ítems 14, 15 y 16 del instrumento · acuerdo = respuestas 4 y 5 en la escala Likert · n = 150.</a:t>
            </a:r>
            <a:endParaRPr lang="es-HN" sz="975">
              <a:solidFill>
                <a:srgbClr val="6A7078"/>
              </a:solidFill>
              <a:latin typeface="Calibri" panose="020F0502020204030204" pitchFamily="34" charset="0"/>
            </a:endParaRPr>
          </a:p>
        </p:txBody>
      </p:sp>
    </p:spTree>
    <p:extLst>
      <p:ext uri="{BB962C8B-B14F-4D97-AF65-F5344CB8AC3E}">
        <p14:creationId xmlns:p14="http://schemas.microsoft.com/office/powerpoint/2010/main" val="3221023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989FC291-9545-78A8-D9DD-3B1CD0A2C715}"/>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0B8065C3-C4CB-2BCF-1528-3FEED707C203}"/>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A29714A3-1B62-B0CC-1AA3-D973FBE0E51C}"/>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2022F2BB-CFD6-F85E-43CF-4365C486808B}"/>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BDD52BFF-2A1F-6937-0755-823205CF83BA}"/>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17708A"/>
                </a:solidFill>
                <a:latin typeface="Calibri" panose="020F0502020204030204" pitchFamily="34" charset="0"/>
              </a:rPr>
              <a:t>CAPÍTULO III · OBJETIVO GENERAL</a:t>
            </a:r>
          </a:p>
        </p:txBody>
      </p:sp>
      <p:sp>
        <p:nvSpPr>
          <p:cNvPr id="7" name="CuadroTexto 6">
            <a:extLst>
              <a:ext uri="{FF2B5EF4-FFF2-40B4-BE49-F238E27FC236}">
                <a16:creationId xmlns:a16="http://schemas.microsoft.com/office/drawing/2014/main" id="{1CB01248-62B1-5D39-314A-1ED7A3F5E29A}"/>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850" b="1">
                <a:solidFill>
                  <a:srgbClr val="14171C"/>
                </a:solidFill>
                <a:latin typeface="Georgia" panose="02040502050405020303" pitchFamily="18" charset="0"/>
              </a:rPr>
              <a:t>Decidir con fundamentos, no con percepciones.</a:t>
            </a:r>
            <a:endParaRPr lang="es-HN" sz="2850" b="1">
              <a:solidFill>
                <a:srgbClr val="14171C"/>
              </a:solidFill>
              <a:latin typeface="Georgia" panose="02040502050405020303" pitchFamily="18" charset="0"/>
            </a:endParaRPr>
          </a:p>
        </p:txBody>
      </p:sp>
      <p:sp>
        <p:nvSpPr>
          <p:cNvPr id="8" name="Rectángulo 7">
            <a:extLst>
              <a:ext uri="{FF2B5EF4-FFF2-40B4-BE49-F238E27FC236}">
                <a16:creationId xmlns:a16="http://schemas.microsoft.com/office/drawing/2014/main" id="{1B30B484-3185-9770-0D1D-916A217B31D8}"/>
              </a:ext>
            </a:extLst>
          </p:cNvPr>
          <p:cNvSpPr/>
          <p:nvPr/>
        </p:nvSpPr>
        <p:spPr>
          <a:xfrm>
            <a:off x="609600" y="1428750"/>
            <a:ext cx="28575" cy="2324100"/>
          </a:xfrm>
          <a:prstGeom prst="rect">
            <a:avLst/>
          </a:prstGeom>
          <a:solidFill>
            <a:srgbClr val="1B4F9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9" name="CuadroTexto 8">
            <a:extLst>
              <a:ext uri="{FF2B5EF4-FFF2-40B4-BE49-F238E27FC236}">
                <a16:creationId xmlns:a16="http://schemas.microsoft.com/office/drawing/2014/main" id="{5ECF85B4-46D5-A0D8-316F-0F54FA8C0A7C}"/>
              </a:ext>
            </a:extLst>
          </p:cNvPr>
          <p:cNvSpPr txBox="1"/>
          <p:nvPr/>
        </p:nvSpPr>
        <p:spPr>
          <a:xfrm>
            <a:off x="800100" y="1428750"/>
            <a:ext cx="6096000" cy="276999"/>
          </a:xfrm>
          <a:prstGeom prst="rect">
            <a:avLst/>
          </a:prstGeom>
          <a:noFill/>
        </p:spPr>
        <p:txBody>
          <a:bodyPr vert="horz" wrap="square" lIns="0" tIns="0" rIns="0" bIns="0" rtlCol="0" anchor="t">
            <a:noAutofit/>
          </a:bodyPr>
          <a:lstStyle/>
          <a:p>
            <a:pPr>
              <a:lnSpc>
                <a:spcPct val="130000"/>
              </a:lnSpc>
            </a:pPr>
            <a:r>
              <a:rPr lang="es-ES" sz="1425">
                <a:solidFill>
                  <a:srgbClr val="14171C"/>
                </a:solidFill>
                <a:latin typeface="Georgia" panose="02040502050405020303" pitchFamily="18" charset="0"/>
              </a:rPr>
              <a:t>Facilitar el seguimiento ciudadano del cumplimiento de promesas y de la trayectoria de gestión de los candidatos y funcionarios políticos en Honduras, mediante el desarrollo de una plataforma web que centralice y visualice estadísticamente esta información, con el fin de apoyar a la ciudadanía en la toma de decisiones fundamentadas en evidencia cuantitativa al momento de votar.</a:t>
            </a:r>
            <a:endParaRPr lang="es-HN" sz="1425">
              <a:solidFill>
                <a:srgbClr val="14171C"/>
              </a:solidFill>
              <a:latin typeface="Georgia" panose="02040502050405020303" pitchFamily="18" charset="0"/>
            </a:endParaRPr>
          </a:p>
        </p:txBody>
      </p:sp>
      <p:sp>
        <p:nvSpPr>
          <p:cNvPr id="10" name="CuadroTexto 9">
            <a:extLst>
              <a:ext uri="{FF2B5EF4-FFF2-40B4-BE49-F238E27FC236}">
                <a16:creationId xmlns:a16="http://schemas.microsoft.com/office/drawing/2014/main" id="{7CB0CDCE-ABCF-C7CC-2199-7B3B76F55687}"/>
              </a:ext>
            </a:extLst>
          </p:cNvPr>
          <p:cNvSpPr txBox="1"/>
          <p:nvPr/>
        </p:nvSpPr>
        <p:spPr>
          <a:xfrm>
            <a:off x="800100" y="3524250"/>
            <a:ext cx="6096000" cy="276999"/>
          </a:xfrm>
          <a:prstGeom prst="rect">
            <a:avLst/>
          </a:prstGeom>
          <a:noFill/>
        </p:spPr>
        <p:txBody>
          <a:bodyPr vert="horz" wrap="square" lIns="0" tIns="0" rIns="0" bIns="0" rtlCol="0" anchor="t">
            <a:noAutofit/>
          </a:bodyPr>
          <a:lstStyle/>
          <a:p>
            <a:pPr>
              <a:lnSpc>
                <a:spcPct val="130000"/>
              </a:lnSpc>
            </a:pPr>
            <a:r>
              <a:rPr lang="es-HN" sz="975">
                <a:solidFill>
                  <a:srgbClr val="6A7078"/>
                </a:solidFill>
                <a:latin typeface="Calibri" panose="020F0502020204030204" pitchFamily="34" charset="0"/>
              </a:rPr>
              <a:t>Objetivo general, texto íntegro</a:t>
            </a:r>
          </a:p>
        </p:txBody>
      </p:sp>
      <p:sp>
        <p:nvSpPr>
          <p:cNvPr id="11" name="CuadroTexto 10">
            <a:extLst>
              <a:ext uri="{FF2B5EF4-FFF2-40B4-BE49-F238E27FC236}">
                <a16:creationId xmlns:a16="http://schemas.microsoft.com/office/drawing/2014/main" id="{F1C2D3A1-6572-25E9-1FC2-00C10BD1A89F}"/>
              </a:ext>
            </a:extLst>
          </p:cNvPr>
          <p:cNvSpPr txBox="1"/>
          <p:nvPr/>
        </p:nvSpPr>
        <p:spPr>
          <a:xfrm>
            <a:off x="7315200" y="1428750"/>
            <a:ext cx="4267200" cy="276999"/>
          </a:xfrm>
          <a:prstGeom prst="rect">
            <a:avLst/>
          </a:prstGeom>
          <a:noFill/>
        </p:spPr>
        <p:txBody>
          <a:bodyPr vert="horz" wrap="square" lIns="0" tIns="0" rIns="0" bIns="0" rtlCol="0" anchor="t">
            <a:noAutofit/>
          </a:bodyPr>
          <a:lstStyle/>
          <a:p>
            <a:pPr>
              <a:lnSpc>
                <a:spcPct val="125000"/>
              </a:lnSpc>
            </a:pPr>
            <a:r>
              <a:rPr lang="es-ES" sz="788" b="1" spc="100">
                <a:solidFill>
                  <a:srgbClr val="C3372C"/>
                </a:solidFill>
                <a:latin typeface="Calibri" panose="020F0502020204030204" pitchFamily="34" charset="0"/>
              </a:rPr>
              <a:t>Y LO QUE CUMPLEHN NO HACE</a:t>
            </a:r>
            <a:endParaRPr lang="es-HN" sz="788" b="1" spc="100">
              <a:solidFill>
                <a:srgbClr val="C3372C"/>
              </a:solidFill>
              <a:latin typeface="Calibri" panose="020F0502020204030204" pitchFamily="34" charset="0"/>
            </a:endParaRPr>
          </a:p>
        </p:txBody>
      </p:sp>
      <p:sp>
        <p:nvSpPr>
          <p:cNvPr id="12" name="Rectángulo 11">
            <a:extLst>
              <a:ext uri="{FF2B5EF4-FFF2-40B4-BE49-F238E27FC236}">
                <a16:creationId xmlns:a16="http://schemas.microsoft.com/office/drawing/2014/main" id="{19D86BC7-C2A0-ABBD-33FB-13A61E87D21A}"/>
              </a:ext>
            </a:extLst>
          </p:cNvPr>
          <p:cNvSpPr/>
          <p:nvPr/>
        </p:nvSpPr>
        <p:spPr>
          <a:xfrm>
            <a:off x="7315200" y="1752600"/>
            <a:ext cx="142875" cy="190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3" name="CuadroTexto 12">
            <a:extLst>
              <a:ext uri="{FF2B5EF4-FFF2-40B4-BE49-F238E27FC236}">
                <a16:creationId xmlns:a16="http://schemas.microsoft.com/office/drawing/2014/main" id="{DA2D357C-DD6F-C78C-98FC-6051EADA65A3}"/>
              </a:ext>
            </a:extLst>
          </p:cNvPr>
          <p:cNvSpPr txBox="1"/>
          <p:nvPr/>
        </p:nvSpPr>
        <p:spPr>
          <a:xfrm>
            <a:off x="7600950" y="1676400"/>
            <a:ext cx="3981450" cy="276999"/>
          </a:xfrm>
          <a:prstGeom prst="rect">
            <a:avLst/>
          </a:prstGeom>
          <a:noFill/>
        </p:spPr>
        <p:txBody>
          <a:bodyPr vert="horz" wrap="square" lIns="0" tIns="0" rIns="0" bIns="0" rtlCol="0" anchor="t">
            <a:noAutofit/>
          </a:bodyPr>
          <a:lstStyle/>
          <a:p>
            <a:pPr>
              <a:lnSpc>
                <a:spcPct val="130000"/>
              </a:lnSpc>
            </a:pPr>
            <a:r>
              <a:rPr lang="es-HN" sz="1238">
                <a:solidFill>
                  <a:srgbClr val="39404A"/>
                </a:solidFill>
                <a:latin typeface="Calibri" panose="020F0502020204030204" pitchFamily="34" charset="0"/>
              </a:rPr>
              <a:t>No rankea candidaturas por calidad.</a:t>
            </a:r>
          </a:p>
        </p:txBody>
      </p:sp>
      <p:sp>
        <p:nvSpPr>
          <p:cNvPr id="14" name="Rectángulo 13">
            <a:extLst>
              <a:ext uri="{FF2B5EF4-FFF2-40B4-BE49-F238E27FC236}">
                <a16:creationId xmlns:a16="http://schemas.microsoft.com/office/drawing/2014/main" id="{B917B5AF-CC12-4CE4-0F5B-15B6BAF04067}"/>
              </a:ext>
            </a:extLst>
          </p:cNvPr>
          <p:cNvSpPr/>
          <p:nvPr/>
        </p:nvSpPr>
        <p:spPr>
          <a:xfrm>
            <a:off x="7315200" y="2057400"/>
            <a:ext cx="142875" cy="190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5" name="CuadroTexto 14">
            <a:extLst>
              <a:ext uri="{FF2B5EF4-FFF2-40B4-BE49-F238E27FC236}">
                <a16:creationId xmlns:a16="http://schemas.microsoft.com/office/drawing/2014/main" id="{1E39E3E3-49FC-BCFD-33D4-581432A3B655}"/>
              </a:ext>
            </a:extLst>
          </p:cNvPr>
          <p:cNvSpPr txBox="1"/>
          <p:nvPr/>
        </p:nvSpPr>
        <p:spPr>
          <a:xfrm>
            <a:off x="7600950" y="1981200"/>
            <a:ext cx="3981450" cy="276999"/>
          </a:xfrm>
          <a:prstGeom prst="rect">
            <a:avLst/>
          </a:prstGeom>
          <a:noFill/>
        </p:spPr>
        <p:txBody>
          <a:bodyPr vert="horz" wrap="square" lIns="0" tIns="0" rIns="0" bIns="0" rtlCol="0" anchor="t">
            <a:noAutofit/>
          </a:bodyPr>
          <a:lstStyle/>
          <a:p>
            <a:pPr>
              <a:lnSpc>
                <a:spcPct val="130000"/>
              </a:lnSpc>
            </a:pPr>
            <a:r>
              <a:rPr lang="es-ES" sz="1238">
                <a:solidFill>
                  <a:srgbClr val="39404A"/>
                </a:solidFill>
                <a:latin typeface="Calibri" panose="020F0502020204030204" pitchFamily="34" charset="0"/>
              </a:rPr>
              <a:t>No recomienda por quién votar.</a:t>
            </a:r>
            <a:endParaRPr lang="es-HN" sz="1238">
              <a:solidFill>
                <a:srgbClr val="39404A"/>
              </a:solidFill>
              <a:latin typeface="Calibri" panose="020F0502020204030204" pitchFamily="34" charset="0"/>
            </a:endParaRPr>
          </a:p>
        </p:txBody>
      </p:sp>
      <p:sp>
        <p:nvSpPr>
          <p:cNvPr id="16" name="Rectángulo 15">
            <a:extLst>
              <a:ext uri="{FF2B5EF4-FFF2-40B4-BE49-F238E27FC236}">
                <a16:creationId xmlns:a16="http://schemas.microsoft.com/office/drawing/2014/main" id="{4AF71900-DA91-F18E-34FA-5D05E6775299}"/>
              </a:ext>
            </a:extLst>
          </p:cNvPr>
          <p:cNvSpPr/>
          <p:nvPr/>
        </p:nvSpPr>
        <p:spPr>
          <a:xfrm>
            <a:off x="7315200" y="2362200"/>
            <a:ext cx="142875" cy="190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7" name="CuadroTexto 16">
            <a:extLst>
              <a:ext uri="{FF2B5EF4-FFF2-40B4-BE49-F238E27FC236}">
                <a16:creationId xmlns:a16="http://schemas.microsoft.com/office/drawing/2014/main" id="{6E6FF4D8-B33C-3851-A251-D30DDA05B3E8}"/>
              </a:ext>
            </a:extLst>
          </p:cNvPr>
          <p:cNvSpPr txBox="1"/>
          <p:nvPr/>
        </p:nvSpPr>
        <p:spPr>
          <a:xfrm>
            <a:off x="7600950" y="2286000"/>
            <a:ext cx="3981450" cy="276999"/>
          </a:xfrm>
          <a:prstGeom prst="rect">
            <a:avLst/>
          </a:prstGeom>
          <a:noFill/>
        </p:spPr>
        <p:txBody>
          <a:bodyPr vert="horz" wrap="square" lIns="0" tIns="0" rIns="0" bIns="0" rtlCol="0" anchor="t">
            <a:noAutofit/>
          </a:bodyPr>
          <a:lstStyle/>
          <a:p>
            <a:pPr>
              <a:lnSpc>
                <a:spcPct val="130000"/>
              </a:lnSpc>
            </a:pPr>
            <a:r>
              <a:rPr lang="es-ES" sz="1238">
                <a:solidFill>
                  <a:srgbClr val="39404A"/>
                </a:solidFill>
                <a:latin typeface="Calibri" panose="020F0502020204030204" pitchFamily="34" charset="0"/>
              </a:rPr>
              <a:t>No emite un veredicto sobre quién cumple mejor.</a:t>
            </a:r>
            <a:endParaRPr lang="es-HN" sz="1238">
              <a:solidFill>
                <a:srgbClr val="39404A"/>
              </a:solidFill>
              <a:latin typeface="Calibri" panose="020F0502020204030204" pitchFamily="34" charset="0"/>
            </a:endParaRPr>
          </a:p>
        </p:txBody>
      </p:sp>
      <p:sp>
        <p:nvSpPr>
          <p:cNvPr id="18" name="Rectángulo 17">
            <a:extLst>
              <a:ext uri="{FF2B5EF4-FFF2-40B4-BE49-F238E27FC236}">
                <a16:creationId xmlns:a16="http://schemas.microsoft.com/office/drawing/2014/main" id="{AA1BD732-ACAD-D4AD-E801-4596BC829377}"/>
              </a:ext>
            </a:extLst>
          </p:cNvPr>
          <p:cNvSpPr/>
          <p:nvPr/>
        </p:nvSpPr>
        <p:spPr>
          <a:xfrm>
            <a:off x="7315200" y="2667000"/>
            <a:ext cx="142875" cy="190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9" name="CuadroTexto 18">
            <a:extLst>
              <a:ext uri="{FF2B5EF4-FFF2-40B4-BE49-F238E27FC236}">
                <a16:creationId xmlns:a16="http://schemas.microsoft.com/office/drawing/2014/main" id="{A54B1D6E-5D90-6881-9222-541337956B2F}"/>
              </a:ext>
            </a:extLst>
          </p:cNvPr>
          <p:cNvSpPr txBox="1"/>
          <p:nvPr/>
        </p:nvSpPr>
        <p:spPr>
          <a:xfrm>
            <a:off x="7600950" y="2590800"/>
            <a:ext cx="3981450" cy="276999"/>
          </a:xfrm>
          <a:prstGeom prst="rect">
            <a:avLst/>
          </a:prstGeom>
          <a:noFill/>
        </p:spPr>
        <p:txBody>
          <a:bodyPr vert="horz" wrap="square" lIns="0" tIns="0" rIns="0" bIns="0" rtlCol="0" anchor="t">
            <a:noAutofit/>
          </a:bodyPr>
          <a:lstStyle/>
          <a:p>
            <a:pPr>
              <a:lnSpc>
                <a:spcPct val="130000"/>
              </a:lnSpc>
            </a:pPr>
            <a:r>
              <a:rPr lang="es-ES" sz="1238">
                <a:solidFill>
                  <a:srgbClr val="39404A"/>
                </a:solidFill>
                <a:latin typeface="Calibri" panose="020F0502020204030204" pitchFamily="34" charset="0"/>
              </a:rPr>
              <a:t>No deja que la candidatura se asigne su propio estado de cumplimiento.</a:t>
            </a:r>
            <a:endParaRPr lang="es-HN" sz="1238">
              <a:solidFill>
                <a:srgbClr val="39404A"/>
              </a:solidFill>
              <a:latin typeface="Calibri" panose="020F0502020204030204" pitchFamily="34" charset="0"/>
            </a:endParaRPr>
          </a:p>
        </p:txBody>
      </p:sp>
      <p:sp>
        <p:nvSpPr>
          <p:cNvPr id="20" name="Rectángulo 19">
            <a:extLst>
              <a:ext uri="{FF2B5EF4-FFF2-40B4-BE49-F238E27FC236}">
                <a16:creationId xmlns:a16="http://schemas.microsoft.com/office/drawing/2014/main" id="{B82809FD-598F-6887-D108-CE03AEA4FF41}"/>
              </a:ext>
            </a:extLst>
          </p:cNvPr>
          <p:cNvSpPr/>
          <p:nvPr/>
        </p:nvSpPr>
        <p:spPr>
          <a:xfrm>
            <a:off x="7315200" y="3162300"/>
            <a:ext cx="142875" cy="190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1" name="CuadroTexto 20">
            <a:extLst>
              <a:ext uri="{FF2B5EF4-FFF2-40B4-BE49-F238E27FC236}">
                <a16:creationId xmlns:a16="http://schemas.microsoft.com/office/drawing/2014/main" id="{BA759DF2-7DDA-8B02-E808-17E81AEB1CEC}"/>
              </a:ext>
            </a:extLst>
          </p:cNvPr>
          <p:cNvSpPr txBox="1"/>
          <p:nvPr/>
        </p:nvSpPr>
        <p:spPr>
          <a:xfrm>
            <a:off x="7600950" y="3086100"/>
            <a:ext cx="3981450" cy="276999"/>
          </a:xfrm>
          <a:prstGeom prst="rect">
            <a:avLst/>
          </a:prstGeom>
          <a:noFill/>
        </p:spPr>
        <p:txBody>
          <a:bodyPr vert="horz" wrap="square" lIns="0" tIns="0" rIns="0" bIns="0" rtlCol="0" anchor="t">
            <a:noAutofit/>
          </a:bodyPr>
          <a:lstStyle/>
          <a:p>
            <a:pPr>
              <a:lnSpc>
                <a:spcPct val="130000"/>
              </a:lnSpc>
            </a:pPr>
            <a:r>
              <a:rPr lang="es-ES" sz="1238">
                <a:solidFill>
                  <a:srgbClr val="39404A"/>
                </a:solidFill>
                <a:latin typeface="Calibri" panose="020F0502020204030204" pitchFamily="34" charset="0"/>
              </a:rPr>
              <a:t>No presenta como hecho comprobado lo que solo está declarado.</a:t>
            </a:r>
            <a:endParaRPr lang="es-HN" sz="1238">
              <a:solidFill>
                <a:srgbClr val="39404A"/>
              </a:solidFill>
              <a:latin typeface="Calibri" panose="020F0502020204030204" pitchFamily="34" charset="0"/>
            </a:endParaRPr>
          </a:p>
        </p:txBody>
      </p:sp>
      <p:sp>
        <p:nvSpPr>
          <p:cNvPr id="22" name="Rectángulo 21">
            <a:extLst>
              <a:ext uri="{FF2B5EF4-FFF2-40B4-BE49-F238E27FC236}">
                <a16:creationId xmlns:a16="http://schemas.microsoft.com/office/drawing/2014/main" id="{EB58B95E-74DB-D8BC-17E4-AFD783AF845F}"/>
              </a:ext>
            </a:extLst>
          </p:cNvPr>
          <p:cNvSpPr/>
          <p:nvPr/>
        </p:nvSpPr>
        <p:spPr>
          <a:xfrm>
            <a:off x="609600" y="4095750"/>
            <a:ext cx="28575" cy="723900"/>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3" name="CuadroTexto 22">
            <a:extLst>
              <a:ext uri="{FF2B5EF4-FFF2-40B4-BE49-F238E27FC236}">
                <a16:creationId xmlns:a16="http://schemas.microsoft.com/office/drawing/2014/main" id="{E832EC8E-27F4-A1D4-4147-14880DB2AAE9}"/>
              </a:ext>
            </a:extLst>
          </p:cNvPr>
          <p:cNvSpPr txBox="1"/>
          <p:nvPr/>
        </p:nvSpPr>
        <p:spPr>
          <a:xfrm>
            <a:off x="800100" y="4095750"/>
            <a:ext cx="10096500" cy="276999"/>
          </a:xfrm>
          <a:prstGeom prst="rect">
            <a:avLst/>
          </a:prstGeom>
          <a:noFill/>
        </p:spPr>
        <p:txBody>
          <a:bodyPr vert="horz" wrap="square" lIns="0" tIns="0" rIns="0" bIns="0" rtlCol="0" anchor="t">
            <a:noAutofit/>
          </a:bodyPr>
          <a:lstStyle/>
          <a:p>
            <a:pPr>
              <a:lnSpc>
                <a:spcPct val="130000"/>
              </a:lnSpc>
            </a:pPr>
            <a:r>
              <a:rPr lang="es-ES" sz="1575">
                <a:solidFill>
                  <a:srgbClr val="14171C"/>
                </a:solidFill>
                <a:latin typeface="Georgia" panose="02040502050405020303" pitchFamily="18" charset="0"/>
              </a:rPr>
              <a:t>Entrega la evidencia organizada para que cada persona la pondere según el criterio que considere de mayor peso — seguridad, salud, educación, economía, infraestructura o transparencia — y decida por su cuenta.</a:t>
            </a:r>
            <a:endParaRPr lang="es-HN" sz="1575">
              <a:solidFill>
                <a:srgbClr val="14171C"/>
              </a:solidFill>
              <a:latin typeface="Georgia" panose="02040502050405020303" pitchFamily="18" charset="0"/>
            </a:endParaRPr>
          </a:p>
        </p:txBody>
      </p:sp>
    </p:spTree>
    <p:extLst>
      <p:ext uri="{BB962C8B-B14F-4D97-AF65-F5344CB8AC3E}">
        <p14:creationId xmlns:p14="http://schemas.microsoft.com/office/powerpoint/2010/main" val="2376222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9CFD2BA2-265A-DA77-407B-5BDDE6E58F3F}"/>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D3576333-2ECE-E65C-426C-36BD8820ECB5}"/>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A2F3E09F-EDBB-C3E6-D2A7-53CA3A90F129}"/>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BD2F16E6-4E25-CAF4-A608-FCA1B05A36E1}"/>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8B1026A2-AB73-0C7C-E1FC-954E877ED9A2}"/>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17708A"/>
                </a:solidFill>
                <a:latin typeface="Calibri" panose="020F0502020204030204" pitchFamily="34" charset="0"/>
              </a:rPr>
              <a:t>EL PRODUCTO</a:t>
            </a:r>
          </a:p>
        </p:txBody>
      </p:sp>
      <p:sp>
        <p:nvSpPr>
          <p:cNvPr id="7" name="CuadroTexto 6">
            <a:extLst>
              <a:ext uri="{FF2B5EF4-FFF2-40B4-BE49-F238E27FC236}">
                <a16:creationId xmlns:a16="http://schemas.microsoft.com/office/drawing/2014/main" id="{30F238C8-2284-91DE-8A68-6A0F3418E99D}"/>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850" b="1">
                <a:solidFill>
                  <a:srgbClr val="14171C"/>
                </a:solidFill>
                <a:latin typeface="Georgia" panose="02040502050405020303" pitchFamily="18" charset="0"/>
              </a:rPr>
              <a:t>Seis módulos, una sola fuente de consulta</a:t>
            </a:r>
            <a:endParaRPr lang="es-HN" sz="2850" b="1">
              <a:solidFill>
                <a:srgbClr val="14171C"/>
              </a:solidFill>
              <a:latin typeface="Georgia" panose="02040502050405020303" pitchFamily="18" charset="0"/>
            </a:endParaRPr>
          </a:p>
        </p:txBody>
      </p:sp>
      <p:sp>
        <p:nvSpPr>
          <p:cNvPr id="8" name="Rectángulo 7">
            <a:extLst>
              <a:ext uri="{FF2B5EF4-FFF2-40B4-BE49-F238E27FC236}">
                <a16:creationId xmlns:a16="http://schemas.microsoft.com/office/drawing/2014/main" id="{91716D41-2DAB-EC92-A423-824D55918EC4}"/>
              </a:ext>
            </a:extLst>
          </p:cNvPr>
          <p:cNvSpPr/>
          <p:nvPr/>
        </p:nvSpPr>
        <p:spPr>
          <a:xfrm>
            <a:off x="609600" y="1428750"/>
            <a:ext cx="6686550" cy="285750"/>
          </a:xfrm>
          <a:prstGeom prst="rect">
            <a:avLst/>
          </a:prstGeom>
          <a:solidFill>
            <a:srgbClr val="EEECE8"/>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9" name="Elipse 8">
            <a:extLst>
              <a:ext uri="{FF2B5EF4-FFF2-40B4-BE49-F238E27FC236}">
                <a16:creationId xmlns:a16="http://schemas.microsoft.com/office/drawing/2014/main" id="{96B8D1CE-6BED-6D78-1AD3-D763AA1A1377}"/>
              </a:ext>
            </a:extLst>
          </p:cNvPr>
          <p:cNvSpPr/>
          <p:nvPr/>
        </p:nvSpPr>
        <p:spPr>
          <a:xfrm>
            <a:off x="762000" y="1533525"/>
            <a:ext cx="76200" cy="76200"/>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0" name="Elipse 9">
            <a:extLst>
              <a:ext uri="{FF2B5EF4-FFF2-40B4-BE49-F238E27FC236}">
                <a16:creationId xmlns:a16="http://schemas.microsoft.com/office/drawing/2014/main" id="{88247A88-6C33-9296-268A-0C956C65B71C}"/>
              </a:ext>
            </a:extLst>
          </p:cNvPr>
          <p:cNvSpPr/>
          <p:nvPr/>
        </p:nvSpPr>
        <p:spPr>
          <a:xfrm>
            <a:off x="895350" y="1533525"/>
            <a:ext cx="76200" cy="76200"/>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1" name="Elipse 10">
            <a:extLst>
              <a:ext uri="{FF2B5EF4-FFF2-40B4-BE49-F238E27FC236}">
                <a16:creationId xmlns:a16="http://schemas.microsoft.com/office/drawing/2014/main" id="{FA22C06A-21B9-008B-E2B6-1C0B1518403B}"/>
              </a:ext>
            </a:extLst>
          </p:cNvPr>
          <p:cNvSpPr/>
          <p:nvPr/>
        </p:nvSpPr>
        <p:spPr>
          <a:xfrm>
            <a:off x="1028700" y="1533525"/>
            <a:ext cx="76200" cy="76200"/>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2" name="CuadroTexto 11">
            <a:extLst>
              <a:ext uri="{FF2B5EF4-FFF2-40B4-BE49-F238E27FC236}">
                <a16:creationId xmlns:a16="http://schemas.microsoft.com/office/drawing/2014/main" id="{A74759E3-8176-B6F1-F531-DF87484BF19D}"/>
              </a:ext>
            </a:extLst>
          </p:cNvPr>
          <p:cNvSpPr txBox="1"/>
          <p:nvPr/>
        </p:nvSpPr>
        <p:spPr>
          <a:xfrm>
            <a:off x="1219200" y="1504950"/>
            <a:ext cx="3810000" cy="276999"/>
          </a:xfrm>
          <a:prstGeom prst="rect">
            <a:avLst/>
          </a:prstGeom>
          <a:noFill/>
        </p:spPr>
        <p:txBody>
          <a:bodyPr vert="horz" wrap="square" lIns="0" tIns="0" rIns="0" bIns="0" rtlCol="0" anchor="t">
            <a:noAutofit/>
          </a:bodyPr>
          <a:lstStyle/>
          <a:p>
            <a:pPr>
              <a:lnSpc>
                <a:spcPct val="125000"/>
              </a:lnSpc>
            </a:pPr>
            <a:r>
              <a:rPr lang="es-HN" sz="825">
                <a:solidFill>
                  <a:srgbClr val="6A7078"/>
                </a:solidFill>
                <a:latin typeface="Consolas" panose="020B0609020204030204" pitchFamily="49" charset="0"/>
              </a:rPr>
              <a:t>cumplehn · portada pública</a:t>
            </a:r>
          </a:p>
        </p:txBody>
      </p:sp>
      <p:pic>
        <p:nvPicPr>
          <p:cNvPr id="14" name="Imagen 13">
            <a:extLst>
              <a:ext uri="{FF2B5EF4-FFF2-40B4-BE49-F238E27FC236}">
                <a16:creationId xmlns:a16="http://schemas.microsoft.com/office/drawing/2014/main" id="{82937B49-C178-72FF-BC7D-6ACC7CA5554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14500"/>
            <a:ext cx="6686550" cy="4191000"/>
          </a:xfrm>
          <a:prstGeom prst="rect">
            <a:avLst/>
          </a:prstGeom>
          <a:ln w="9525">
            <a:solidFill>
              <a:srgbClr val="E3E1DD"/>
            </a:solidFill>
          </a:ln>
        </p:spPr>
      </p:pic>
      <p:sp>
        <p:nvSpPr>
          <p:cNvPr id="15" name="Rectángulo: esquinas redondeadas 14">
            <a:extLst>
              <a:ext uri="{FF2B5EF4-FFF2-40B4-BE49-F238E27FC236}">
                <a16:creationId xmlns:a16="http://schemas.microsoft.com/office/drawing/2014/main" id="{87C3695B-47BE-3757-22BF-78277CE3D047}"/>
              </a:ext>
            </a:extLst>
          </p:cNvPr>
          <p:cNvSpPr/>
          <p:nvPr/>
        </p:nvSpPr>
        <p:spPr>
          <a:xfrm>
            <a:off x="7543800" y="1428750"/>
            <a:ext cx="4038600" cy="5905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6" name="Rectángulo 15">
            <a:extLst>
              <a:ext uri="{FF2B5EF4-FFF2-40B4-BE49-F238E27FC236}">
                <a16:creationId xmlns:a16="http://schemas.microsoft.com/office/drawing/2014/main" id="{A1B426F0-47D7-ED91-82EA-C6B06E48FAAE}"/>
              </a:ext>
            </a:extLst>
          </p:cNvPr>
          <p:cNvSpPr/>
          <p:nvPr/>
        </p:nvSpPr>
        <p:spPr>
          <a:xfrm>
            <a:off x="7543800" y="1457325"/>
            <a:ext cx="28575" cy="533400"/>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7" name="CuadroTexto 16">
            <a:extLst>
              <a:ext uri="{FF2B5EF4-FFF2-40B4-BE49-F238E27FC236}">
                <a16:creationId xmlns:a16="http://schemas.microsoft.com/office/drawing/2014/main" id="{B3C8EE74-3328-049A-1000-635F044622C0}"/>
              </a:ext>
            </a:extLst>
          </p:cNvPr>
          <p:cNvSpPr txBox="1"/>
          <p:nvPr/>
        </p:nvSpPr>
        <p:spPr>
          <a:xfrm>
            <a:off x="7696200" y="1533525"/>
            <a:ext cx="285750" cy="276999"/>
          </a:xfrm>
          <a:prstGeom prst="rect">
            <a:avLst/>
          </a:prstGeom>
          <a:noFill/>
        </p:spPr>
        <p:txBody>
          <a:bodyPr vert="horz" wrap="square" lIns="0" tIns="0" rIns="0" bIns="0" rtlCol="0" anchor="t">
            <a:noAutofit/>
          </a:bodyPr>
          <a:lstStyle/>
          <a:p>
            <a:pPr>
              <a:lnSpc>
                <a:spcPct val="125000"/>
              </a:lnSpc>
            </a:pPr>
            <a:r>
              <a:rPr lang="es-HN" sz="825">
                <a:solidFill>
                  <a:srgbClr val="9AA0A8"/>
                </a:solidFill>
                <a:latin typeface="Consolas" panose="020B0609020204030204" pitchFamily="49" charset="0"/>
              </a:rPr>
              <a:t>01</a:t>
            </a:r>
          </a:p>
        </p:txBody>
      </p:sp>
      <p:sp>
        <p:nvSpPr>
          <p:cNvPr id="18" name="CuadroTexto 17">
            <a:extLst>
              <a:ext uri="{FF2B5EF4-FFF2-40B4-BE49-F238E27FC236}">
                <a16:creationId xmlns:a16="http://schemas.microsoft.com/office/drawing/2014/main" id="{A8708914-339C-F0F4-5A79-B8B6F7F5A599}"/>
              </a:ext>
            </a:extLst>
          </p:cNvPr>
          <p:cNvSpPr txBox="1"/>
          <p:nvPr/>
        </p:nvSpPr>
        <p:spPr>
          <a:xfrm>
            <a:off x="7981950" y="1524000"/>
            <a:ext cx="3486150" cy="276999"/>
          </a:xfrm>
          <a:prstGeom prst="rect">
            <a:avLst/>
          </a:prstGeom>
          <a:noFill/>
        </p:spPr>
        <p:txBody>
          <a:bodyPr vert="horz" wrap="square" lIns="0" tIns="0" rIns="0" bIns="0" rtlCol="0" anchor="t">
            <a:noAutofit/>
          </a:bodyPr>
          <a:lstStyle/>
          <a:p>
            <a:pPr>
              <a:lnSpc>
                <a:spcPct val="130000"/>
              </a:lnSpc>
            </a:pPr>
            <a:r>
              <a:rPr lang="es-ES" sz="1013" b="1">
                <a:solidFill>
                  <a:srgbClr val="14171C"/>
                </a:solidFill>
                <a:latin typeface="Calibri" panose="020F0502020204030204" pitchFamily="34" charset="0"/>
              </a:rPr>
              <a:t>Perfiles</a:t>
            </a:r>
            <a:r>
              <a:rPr lang="es-ES" sz="1013">
                <a:solidFill>
                  <a:srgbClr val="14171C"/>
                </a:solidFill>
                <a:latin typeface="Calibri" panose="020F0502020204030204" pitchFamily="34" charset="0"/>
              </a:rPr>
              <a:t> de candidaturas y partidos</a:t>
            </a:r>
            <a:endParaRPr lang="es-HN" sz="1013">
              <a:solidFill>
                <a:srgbClr val="14171C"/>
              </a:solidFill>
              <a:latin typeface="Calibri" panose="020F0502020204030204" pitchFamily="34" charset="0"/>
            </a:endParaRPr>
          </a:p>
        </p:txBody>
      </p:sp>
      <p:sp>
        <p:nvSpPr>
          <p:cNvPr id="19" name="Rectángulo: esquinas redondeadas 18">
            <a:extLst>
              <a:ext uri="{FF2B5EF4-FFF2-40B4-BE49-F238E27FC236}">
                <a16:creationId xmlns:a16="http://schemas.microsoft.com/office/drawing/2014/main" id="{37896B9F-13DE-E8DA-D6DB-6874E79F85F6}"/>
              </a:ext>
            </a:extLst>
          </p:cNvPr>
          <p:cNvSpPr/>
          <p:nvPr/>
        </p:nvSpPr>
        <p:spPr>
          <a:xfrm>
            <a:off x="7543800" y="2095500"/>
            <a:ext cx="4038600" cy="5905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0" name="Rectángulo 19">
            <a:extLst>
              <a:ext uri="{FF2B5EF4-FFF2-40B4-BE49-F238E27FC236}">
                <a16:creationId xmlns:a16="http://schemas.microsoft.com/office/drawing/2014/main" id="{E152D29D-4EE6-1442-381A-BFE86552C987}"/>
              </a:ext>
            </a:extLst>
          </p:cNvPr>
          <p:cNvSpPr/>
          <p:nvPr/>
        </p:nvSpPr>
        <p:spPr>
          <a:xfrm>
            <a:off x="7543800" y="2124075"/>
            <a:ext cx="28575" cy="533400"/>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1" name="CuadroTexto 20">
            <a:extLst>
              <a:ext uri="{FF2B5EF4-FFF2-40B4-BE49-F238E27FC236}">
                <a16:creationId xmlns:a16="http://schemas.microsoft.com/office/drawing/2014/main" id="{01EB0B85-F929-388D-689E-A83AFF34B0C9}"/>
              </a:ext>
            </a:extLst>
          </p:cNvPr>
          <p:cNvSpPr txBox="1"/>
          <p:nvPr/>
        </p:nvSpPr>
        <p:spPr>
          <a:xfrm>
            <a:off x="7696200" y="2200275"/>
            <a:ext cx="285750" cy="276999"/>
          </a:xfrm>
          <a:prstGeom prst="rect">
            <a:avLst/>
          </a:prstGeom>
          <a:noFill/>
        </p:spPr>
        <p:txBody>
          <a:bodyPr vert="horz" wrap="square" lIns="0" tIns="0" rIns="0" bIns="0" rtlCol="0" anchor="t">
            <a:noAutofit/>
          </a:bodyPr>
          <a:lstStyle/>
          <a:p>
            <a:pPr>
              <a:lnSpc>
                <a:spcPct val="125000"/>
              </a:lnSpc>
            </a:pPr>
            <a:r>
              <a:rPr lang="es-HN" sz="825">
                <a:solidFill>
                  <a:srgbClr val="9AA0A8"/>
                </a:solidFill>
                <a:latin typeface="Consolas" panose="020B0609020204030204" pitchFamily="49" charset="0"/>
              </a:rPr>
              <a:t>02</a:t>
            </a:r>
          </a:p>
        </p:txBody>
      </p:sp>
      <p:sp>
        <p:nvSpPr>
          <p:cNvPr id="22" name="CuadroTexto 21">
            <a:extLst>
              <a:ext uri="{FF2B5EF4-FFF2-40B4-BE49-F238E27FC236}">
                <a16:creationId xmlns:a16="http://schemas.microsoft.com/office/drawing/2014/main" id="{709964FC-7E66-1A28-FB1A-31EF5E961243}"/>
              </a:ext>
            </a:extLst>
          </p:cNvPr>
          <p:cNvSpPr txBox="1"/>
          <p:nvPr/>
        </p:nvSpPr>
        <p:spPr>
          <a:xfrm>
            <a:off x="7981950" y="2190750"/>
            <a:ext cx="3486150" cy="276999"/>
          </a:xfrm>
          <a:prstGeom prst="rect">
            <a:avLst/>
          </a:prstGeom>
          <a:noFill/>
        </p:spPr>
        <p:txBody>
          <a:bodyPr vert="horz" wrap="square" lIns="0" tIns="0" rIns="0" bIns="0" rtlCol="0" anchor="t">
            <a:noAutofit/>
          </a:bodyPr>
          <a:lstStyle/>
          <a:p>
            <a:pPr>
              <a:lnSpc>
                <a:spcPct val="130000"/>
              </a:lnSpc>
            </a:pPr>
            <a:r>
              <a:rPr lang="es-ES" sz="1013" b="1">
                <a:solidFill>
                  <a:srgbClr val="14171C"/>
                </a:solidFill>
                <a:latin typeface="Calibri" panose="020F0502020204030204" pitchFamily="34" charset="0"/>
              </a:rPr>
              <a:t>Propuestas</a:t>
            </a:r>
            <a:r>
              <a:rPr lang="es-ES" sz="1013">
                <a:solidFill>
                  <a:srgbClr val="14171C"/>
                </a:solidFill>
                <a:latin typeface="Calibri" panose="020F0502020204030204" pitchFamily="34" charset="0"/>
              </a:rPr>
              <a:t> con categoría, evidencia y estado de cumplimiento</a:t>
            </a:r>
            <a:endParaRPr lang="es-HN" sz="1013">
              <a:solidFill>
                <a:srgbClr val="14171C"/>
              </a:solidFill>
              <a:latin typeface="Calibri" panose="020F0502020204030204" pitchFamily="34" charset="0"/>
            </a:endParaRPr>
          </a:p>
        </p:txBody>
      </p:sp>
      <p:sp>
        <p:nvSpPr>
          <p:cNvPr id="23" name="Rectángulo: esquinas redondeadas 22">
            <a:extLst>
              <a:ext uri="{FF2B5EF4-FFF2-40B4-BE49-F238E27FC236}">
                <a16:creationId xmlns:a16="http://schemas.microsoft.com/office/drawing/2014/main" id="{D2C769CE-7776-C35B-17BA-4CBB04AD5F7E}"/>
              </a:ext>
            </a:extLst>
          </p:cNvPr>
          <p:cNvSpPr/>
          <p:nvPr/>
        </p:nvSpPr>
        <p:spPr>
          <a:xfrm>
            <a:off x="7543800" y="2762250"/>
            <a:ext cx="4038600" cy="5905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4" name="Rectángulo 23">
            <a:extLst>
              <a:ext uri="{FF2B5EF4-FFF2-40B4-BE49-F238E27FC236}">
                <a16:creationId xmlns:a16="http://schemas.microsoft.com/office/drawing/2014/main" id="{3D4B5960-137D-6567-0AA6-8BB961BE3C1B}"/>
              </a:ext>
            </a:extLst>
          </p:cNvPr>
          <p:cNvSpPr/>
          <p:nvPr/>
        </p:nvSpPr>
        <p:spPr>
          <a:xfrm>
            <a:off x="7543800" y="2790825"/>
            <a:ext cx="28575" cy="533400"/>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5" name="CuadroTexto 24">
            <a:extLst>
              <a:ext uri="{FF2B5EF4-FFF2-40B4-BE49-F238E27FC236}">
                <a16:creationId xmlns:a16="http://schemas.microsoft.com/office/drawing/2014/main" id="{3E09DC90-5BF6-689C-2973-9DDA1CA5BF95}"/>
              </a:ext>
            </a:extLst>
          </p:cNvPr>
          <p:cNvSpPr txBox="1"/>
          <p:nvPr/>
        </p:nvSpPr>
        <p:spPr>
          <a:xfrm>
            <a:off x="7696200" y="2867025"/>
            <a:ext cx="285750" cy="276999"/>
          </a:xfrm>
          <a:prstGeom prst="rect">
            <a:avLst/>
          </a:prstGeom>
          <a:noFill/>
        </p:spPr>
        <p:txBody>
          <a:bodyPr vert="horz" wrap="square" lIns="0" tIns="0" rIns="0" bIns="0" rtlCol="0" anchor="t">
            <a:noAutofit/>
          </a:bodyPr>
          <a:lstStyle/>
          <a:p>
            <a:pPr>
              <a:lnSpc>
                <a:spcPct val="125000"/>
              </a:lnSpc>
            </a:pPr>
            <a:r>
              <a:rPr lang="es-HN" sz="825">
                <a:solidFill>
                  <a:srgbClr val="9AA0A8"/>
                </a:solidFill>
                <a:latin typeface="Consolas" panose="020B0609020204030204" pitchFamily="49" charset="0"/>
              </a:rPr>
              <a:t>03</a:t>
            </a:r>
          </a:p>
        </p:txBody>
      </p:sp>
      <p:sp>
        <p:nvSpPr>
          <p:cNvPr id="26" name="CuadroTexto 25">
            <a:extLst>
              <a:ext uri="{FF2B5EF4-FFF2-40B4-BE49-F238E27FC236}">
                <a16:creationId xmlns:a16="http://schemas.microsoft.com/office/drawing/2014/main" id="{F591EF30-8CF4-47EC-582B-FFD4C4F371BE}"/>
              </a:ext>
            </a:extLst>
          </p:cNvPr>
          <p:cNvSpPr txBox="1"/>
          <p:nvPr/>
        </p:nvSpPr>
        <p:spPr>
          <a:xfrm>
            <a:off x="7981950" y="2857500"/>
            <a:ext cx="3486150" cy="276999"/>
          </a:xfrm>
          <a:prstGeom prst="rect">
            <a:avLst/>
          </a:prstGeom>
          <a:noFill/>
        </p:spPr>
        <p:txBody>
          <a:bodyPr vert="horz" wrap="square" lIns="0" tIns="0" rIns="0" bIns="0" rtlCol="0" anchor="t">
            <a:noAutofit/>
          </a:bodyPr>
          <a:lstStyle/>
          <a:p>
            <a:pPr>
              <a:lnSpc>
                <a:spcPct val="130000"/>
              </a:lnSpc>
            </a:pPr>
            <a:r>
              <a:rPr lang="es-ES" sz="1013" b="1">
                <a:solidFill>
                  <a:srgbClr val="14171C"/>
                </a:solidFill>
                <a:latin typeface="Calibri" panose="020F0502020204030204" pitchFamily="34" charset="0"/>
              </a:rPr>
              <a:t>Consulta ciudadana</a:t>
            </a:r>
            <a:r>
              <a:rPr lang="es-ES" sz="1013">
                <a:solidFill>
                  <a:srgbClr val="14171C"/>
                </a:solidFill>
                <a:latin typeface="Calibri" panose="020F0502020204030204" pitchFamily="34" charset="0"/>
              </a:rPr>
              <a:t> con búsqueda y filtros</a:t>
            </a:r>
            <a:endParaRPr lang="es-HN" sz="1013">
              <a:solidFill>
                <a:srgbClr val="14171C"/>
              </a:solidFill>
              <a:latin typeface="Calibri" panose="020F0502020204030204" pitchFamily="34" charset="0"/>
            </a:endParaRPr>
          </a:p>
        </p:txBody>
      </p:sp>
      <p:sp>
        <p:nvSpPr>
          <p:cNvPr id="27" name="Rectángulo: esquinas redondeadas 26">
            <a:extLst>
              <a:ext uri="{FF2B5EF4-FFF2-40B4-BE49-F238E27FC236}">
                <a16:creationId xmlns:a16="http://schemas.microsoft.com/office/drawing/2014/main" id="{F947BB48-4284-A9D2-2A6C-F716BB28EE9F}"/>
              </a:ext>
            </a:extLst>
          </p:cNvPr>
          <p:cNvSpPr/>
          <p:nvPr/>
        </p:nvSpPr>
        <p:spPr>
          <a:xfrm>
            <a:off x="7543800" y="3429000"/>
            <a:ext cx="4038600" cy="5905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8" name="Rectángulo 27">
            <a:extLst>
              <a:ext uri="{FF2B5EF4-FFF2-40B4-BE49-F238E27FC236}">
                <a16:creationId xmlns:a16="http://schemas.microsoft.com/office/drawing/2014/main" id="{4C0746EC-1DFB-EB79-4FF3-1787A2B3CB40}"/>
              </a:ext>
            </a:extLst>
          </p:cNvPr>
          <p:cNvSpPr/>
          <p:nvPr/>
        </p:nvSpPr>
        <p:spPr>
          <a:xfrm>
            <a:off x="7543800" y="3457575"/>
            <a:ext cx="28575" cy="533400"/>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9" name="CuadroTexto 28">
            <a:extLst>
              <a:ext uri="{FF2B5EF4-FFF2-40B4-BE49-F238E27FC236}">
                <a16:creationId xmlns:a16="http://schemas.microsoft.com/office/drawing/2014/main" id="{4F4BDCC7-7611-E0CB-C55B-DA3F19BD2FD1}"/>
              </a:ext>
            </a:extLst>
          </p:cNvPr>
          <p:cNvSpPr txBox="1"/>
          <p:nvPr/>
        </p:nvSpPr>
        <p:spPr>
          <a:xfrm>
            <a:off x="7696200" y="3533775"/>
            <a:ext cx="285750" cy="276999"/>
          </a:xfrm>
          <a:prstGeom prst="rect">
            <a:avLst/>
          </a:prstGeom>
          <a:noFill/>
        </p:spPr>
        <p:txBody>
          <a:bodyPr vert="horz" wrap="square" lIns="0" tIns="0" rIns="0" bIns="0" rtlCol="0" anchor="t">
            <a:noAutofit/>
          </a:bodyPr>
          <a:lstStyle/>
          <a:p>
            <a:pPr>
              <a:lnSpc>
                <a:spcPct val="125000"/>
              </a:lnSpc>
            </a:pPr>
            <a:r>
              <a:rPr lang="es-HN" sz="825">
                <a:solidFill>
                  <a:srgbClr val="9AA0A8"/>
                </a:solidFill>
                <a:latin typeface="Consolas" panose="020B0609020204030204" pitchFamily="49" charset="0"/>
              </a:rPr>
              <a:t>04</a:t>
            </a:r>
          </a:p>
        </p:txBody>
      </p:sp>
      <p:sp>
        <p:nvSpPr>
          <p:cNvPr id="30" name="CuadroTexto 29">
            <a:extLst>
              <a:ext uri="{FF2B5EF4-FFF2-40B4-BE49-F238E27FC236}">
                <a16:creationId xmlns:a16="http://schemas.microsoft.com/office/drawing/2014/main" id="{724E7E5C-9BC4-85C6-6843-04A60BF270F8}"/>
              </a:ext>
            </a:extLst>
          </p:cNvPr>
          <p:cNvSpPr txBox="1"/>
          <p:nvPr/>
        </p:nvSpPr>
        <p:spPr>
          <a:xfrm>
            <a:off x="7981950" y="3524250"/>
            <a:ext cx="3486150" cy="276999"/>
          </a:xfrm>
          <a:prstGeom prst="rect">
            <a:avLst/>
          </a:prstGeom>
          <a:noFill/>
        </p:spPr>
        <p:txBody>
          <a:bodyPr vert="horz" wrap="square" lIns="0" tIns="0" rIns="0" bIns="0" rtlCol="0" anchor="t">
            <a:noAutofit/>
          </a:bodyPr>
          <a:lstStyle/>
          <a:p>
            <a:pPr>
              <a:lnSpc>
                <a:spcPct val="130000"/>
              </a:lnSpc>
            </a:pPr>
            <a:r>
              <a:rPr lang="es-HN" sz="1013" b="1">
                <a:solidFill>
                  <a:srgbClr val="14171C"/>
                </a:solidFill>
                <a:latin typeface="Calibri" panose="020F0502020204030204" pitchFamily="34" charset="0"/>
              </a:rPr>
              <a:t>Tablero estadístico</a:t>
            </a:r>
            <a:r>
              <a:rPr lang="es-HN" sz="1013">
                <a:solidFill>
                  <a:srgbClr val="14171C"/>
                </a:solidFill>
                <a:latin typeface="Calibri" panose="020F0502020204030204" pitchFamily="34" charset="0"/>
              </a:rPr>
              <a:t> de doce indicadores</a:t>
            </a:r>
          </a:p>
        </p:txBody>
      </p:sp>
      <p:sp>
        <p:nvSpPr>
          <p:cNvPr id="31" name="Rectángulo: esquinas redondeadas 30">
            <a:extLst>
              <a:ext uri="{FF2B5EF4-FFF2-40B4-BE49-F238E27FC236}">
                <a16:creationId xmlns:a16="http://schemas.microsoft.com/office/drawing/2014/main" id="{3C0E7EA7-2162-9562-9288-B6BD02BE9F8A}"/>
              </a:ext>
            </a:extLst>
          </p:cNvPr>
          <p:cNvSpPr/>
          <p:nvPr/>
        </p:nvSpPr>
        <p:spPr>
          <a:xfrm>
            <a:off x="7543800" y="4095750"/>
            <a:ext cx="4038600" cy="5905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2" name="Rectángulo 31">
            <a:extLst>
              <a:ext uri="{FF2B5EF4-FFF2-40B4-BE49-F238E27FC236}">
                <a16:creationId xmlns:a16="http://schemas.microsoft.com/office/drawing/2014/main" id="{9B456427-3503-8B67-F2CA-57811EAF0A9E}"/>
              </a:ext>
            </a:extLst>
          </p:cNvPr>
          <p:cNvSpPr/>
          <p:nvPr/>
        </p:nvSpPr>
        <p:spPr>
          <a:xfrm>
            <a:off x="7543800" y="4124325"/>
            <a:ext cx="28575" cy="533400"/>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3" name="CuadroTexto 32">
            <a:extLst>
              <a:ext uri="{FF2B5EF4-FFF2-40B4-BE49-F238E27FC236}">
                <a16:creationId xmlns:a16="http://schemas.microsoft.com/office/drawing/2014/main" id="{8A25B9F5-A362-F5F8-7500-2435DC82C0A3}"/>
              </a:ext>
            </a:extLst>
          </p:cNvPr>
          <p:cNvSpPr txBox="1"/>
          <p:nvPr/>
        </p:nvSpPr>
        <p:spPr>
          <a:xfrm>
            <a:off x="7696200" y="4200525"/>
            <a:ext cx="285750" cy="276999"/>
          </a:xfrm>
          <a:prstGeom prst="rect">
            <a:avLst/>
          </a:prstGeom>
          <a:noFill/>
        </p:spPr>
        <p:txBody>
          <a:bodyPr vert="horz" wrap="square" lIns="0" tIns="0" rIns="0" bIns="0" rtlCol="0" anchor="t">
            <a:noAutofit/>
          </a:bodyPr>
          <a:lstStyle/>
          <a:p>
            <a:pPr>
              <a:lnSpc>
                <a:spcPct val="125000"/>
              </a:lnSpc>
            </a:pPr>
            <a:r>
              <a:rPr lang="es-HN" sz="825">
                <a:solidFill>
                  <a:srgbClr val="9AA0A8"/>
                </a:solidFill>
                <a:latin typeface="Consolas" panose="020B0609020204030204" pitchFamily="49" charset="0"/>
              </a:rPr>
              <a:t>05</a:t>
            </a:r>
          </a:p>
        </p:txBody>
      </p:sp>
      <p:sp>
        <p:nvSpPr>
          <p:cNvPr id="34" name="CuadroTexto 33">
            <a:extLst>
              <a:ext uri="{FF2B5EF4-FFF2-40B4-BE49-F238E27FC236}">
                <a16:creationId xmlns:a16="http://schemas.microsoft.com/office/drawing/2014/main" id="{6139E764-EE73-D102-F2C5-3FCEDE87F88F}"/>
              </a:ext>
            </a:extLst>
          </p:cNvPr>
          <p:cNvSpPr txBox="1"/>
          <p:nvPr/>
        </p:nvSpPr>
        <p:spPr>
          <a:xfrm>
            <a:off x="7981950" y="4191000"/>
            <a:ext cx="3486150" cy="276999"/>
          </a:xfrm>
          <a:prstGeom prst="rect">
            <a:avLst/>
          </a:prstGeom>
          <a:noFill/>
        </p:spPr>
        <p:txBody>
          <a:bodyPr vert="horz" wrap="square" lIns="0" tIns="0" rIns="0" bIns="0" rtlCol="0" anchor="t">
            <a:noAutofit/>
          </a:bodyPr>
          <a:lstStyle/>
          <a:p>
            <a:pPr>
              <a:lnSpc>
                <a:spcPct val="130000"/>
              </a:lnSpc>
            </a:pPr>
            <a:r>
              <a:rPr lang="es-ES" sz="1013" b="1">
                <a:solidFill>
                  <a:srgbClr val="14171C"/>
                </a:solidFill>
                <a:latin typeface="Calibri" panose="020F0502020204030204" pitchFamily="34" charset="0"/>
              </a:rPr>
              <a:t>Participación</a:t>
            </a:r>
            <a:r>
              <a:rPr lang="es-ES" sz="1013">
                <a:solidFill>
                  <a:srgbClr val="14171C"/>
                </a:solidFill>
                <a:latin typeface="Calibri" panose="020F0502020204030204" pitchFamily="34" charset="0"/>
              </a:rPr>
              <a:t>: valoraciones, comentarios y encuestas</a:t>
            </a:r>
            <a:endParaRPr lang="es-HN" sz="1013">
              <a:solidFill>
                <a:srgbClr val="14171C"/>
              </a:solidFill>
              <a:latin typeface="Calibri" panose="020F0502020204030204" pitchFamily="34" charset="0"/>
            </a:endParaRPr>
          </a:p>
        </p:txBody>
      </p:sp>
      <p:sp>
        <p:nvSpPr>
          <p:cNvPr id="35" name="Rectángulo: esquinas redondeadas 34">
            <a:extLst>
              <a:ext uri="{FF2B5EF4-FFF2-40B4-BE49-F238E27FC236}">
                <a16:creationId xmlns:a16="http://schemas.microsoft.com/office/drawing/2014/main" id="{E406C05B-AC51-DF51-192C-06E3B864CB42}"/>
              </a:ext>
            </a:extLst>
          </p:cNvPr>
          <p:cNvSpPr/>
          <p:nvPr/>
        </p:nvSpPr>
        <p:spPr>
          <a:xfrm>
            <a:off x="7543800" y="4762500"/>
            <a:ext cx="4038600" cy="5905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6" name="Rectángulo 35">
            <a:extLst>
              <a:ext uri="{FF2B5EF4-FFF2-40B4-BE49-F238E27FC236}">
                <a16:creationId xmlns:a16="http://schemas.microsoft.com/office/drawing/2014/main" id="{96448050-CFE6-469F-F0C8-574A48D4014E}"/>
              </a:ext>
            </a:extLst>
          </p:cNvPr>
          <p:cNvSpPr/>
          <p:nvPr/>
        </p:nvSpPr>
        <p:spPr>
          <a:xfrm>
            <a:off x="7543800" y="4791075"/>
            <a:ext cx="28575" cy="53340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7" name="CuadroTexto 36">
            <a:extLst>
              <a:ext uri="{FF2B5EF4-FFF2-40B4-BE49-F238E27FC236}">
                <a16:creationId xmlns:a16="http://schemas.microsoft.com/office/drawing/2014/main" id="{CFA16A5E-F775-0D99-6312-7268F2AC0597}"/>
              </a:ext>
            </a:extLst>
          </p:cNvPr>
          <p:cNvSpPr txBox="1"/>
          <p:nvPr/>
        </p:nvSpPr>
        <p:spPr>
          <a:xfrm>
            <a:off x="7696200" y="4867275"/>
            <a:ext cx="285750" cy="276999"/>
          </a:xfrm>
          <a:prstGeom prst="rect">
            <a:avLst/>
          </a:prstGeom>
          <a:noFill/>
        </p:spPr>
        <p:txBody>
          <a:bodyPr vert="horz" wrap="square" lIns="0" tIns="0" rIns="0" bIns="0" rtlCol="0" anchor="t">
            <a:noAutofit/>
          </a:bodyPr>
          <a:lstStyle/>
          <a:p>
            <a:pPr>
              <a:lnSpc>
                <a:spcPct val="125000"/>
              </a:lnSpc>
            </a:pPr>
            <a:r>
              <a:rPr lang="es-HN" sz="825">
                <a:solidFill>
                  <a:srgbClr val="9AA0A8"/>
                </a:solidFill>
                <a:latin typeface="Consolas" panose="020B0609020204030204" pitchFamily="49" charset="0"/>
              </a:rPr>
              <a:t>06</a:t>
            </a:r>
          </a:p>
        </p:txBody>
      </p:sp>
      <p:sp>
        <p:nvSpPr>
          <p:cNvPr id="38" name="CuadroTexto 37">
            <a:extLst>
              <a:ext uri="{FF2B5EF4-FFF2-40B4-BE49-F238E27FC236}">
                <a16:creationId xmlns:a16="http://schemas.microsoft.com/office/drawing/2014/main" id="{1E79AE8C-833F-412D-E335-5A74E93D10C8}"/>
              </a:ext>
            </a:extLst>
          </p:cNvPr>
          <p:cNvSpPr txBox="1"/>
          <p:nvPr/>
        </p:nvSpPr>
        <p:spPr>
          <a:xfrm>
            <a:off x="7981950" y="4857750"/>
            <a:ext cx="3486150" cy="276999"/>
          </a:xfrm>
          <a:prstGeom prst="rect">
            <a:avLst/>
          </a:prstGeom>
          <a:noFill/>
        </p:spPr>
        <p:txBody>
          <a:bodyPr vert="horz" wrap="square" lIns="0" tIns="0" rIns="0" bIns="0" rtlCol="0" anchor="t">
            <a:noAutofit/>
          </a:bodyPr>
          <a:lstStyle/>
          <a:p>
            <a:pPr>
              <a:lnSpc>
                <a:spcPct val="130000"/>
              </a:lnSpc>
            </a:pPr>
            <a:r>
              <a:rPr lang="es-ES" sz="1013" b="1">
                <a:solidFill>
                  <a:srgbClr val="14171C"/>
                </a:solidFill>
                <a:latin typeface="Calibri" panose="020F0502020204030204" pitchFamily="34" charset="0"/>
              </a:rPr>
              <a:t>Asistente de IA</a:t>
            </a:r>
            <a:r>
              <a:rPr lang="es-ES" sz="1013">
                <a:solidFill>
                  <a:srgbClr val="14171C"/>
                </a:solidFill>
                <a:latin typeface="Calibri" panose="020F0502020204030204" pitchFamily="34" charset="0"/>
              </a:rPr>
              <a:t> en lenguaje natural</a:t>
            </a:r>
            <a:endParaRPr lang="es-HN" sz="1013">
              <a:solidFill>
                <a:srgbClr val="14171C"/>
              </a:solidFill>
              <a:latin typeface="Calibri" panose="020F0502020204030204" pitchFamily="34" charset="0"/>
            </a:endParaRPr>
          </a:p>
        </p:txBody>
      </p:sp>
      <p:sp>
        <p:nvSpPr>
          <p:cNvPr id="39" name="CuadroTexto 38">
            <a:extLst>
              <a:ext uri="{FF2B5EF4-FFF2-40B4-BE49-F238E27FC236}">
                <a16:creationId xmlns:a16="http://schemas.microsoft.com/office/drawing/2014/main" id="{88F872D5-C476-6919-A29E-FC9AB01E6222}"/>
              </a:ext>
            </a:extLst>
          </p:cNvPr>
          <p:cNvSpPr txBox="1"/>
          <p:nvPr/>
        </p:nvSpPr>
        <p:spPr>
          <a:xfrm>
            <a:off x="609600" y="6057900"/>
            <a:ext cx="10972800" cy="276999"/>
          </a:xfrm>
          <a:prstGeom prst="rect">
            <a:avLst/>
          </a:prstGeom>
          <a:noFill/>
        </p:spPr>
        <p:txBody>
          <a:bodyPr vert="horz" wrap="square" lIns="0" tIns="0" rIns="0" bIns="0" rtlCol="0" anchor="t">
            <a:noAutofit/>
          </a:bodyPr>
          <a:lstStyle/>
          <a:p>
            <a:pPr>
              <a:lnSpc>
                <a:spcPct val="135000"/>
              </a:lnSpc>
            </a:pPr>
            <a:r>
              <a:rPr lang="es-ES" sz="975">
                <a:solidFill>
                  <a:srgbClr val="6A7078"/>
                </a:solidFill>
                <a:latin typeface="Calibri" panose="020F0502020204030204" pitchFamily="34" charset="0"/>
              </a:rPr>
              <a:t>Los seis módulos comprometidos en el FO-GR-013 aprobado están construidos y funcionando. Las cifras de la portada se leen en vivo de la base de datos.</a:t>
            </a:r>
            <a:endParaRPr lang="es-HN" sz="975">
              <a:solidFill>
                <a:srgbClr val="6A7078"/>
              </a:solidFill>
              <a:latin typeface="Calibri" panose="020F0502020204030204" pitchFamily="34" charset="0"/>
            </a:endParaRPr>
          </a:p>
        </p:txBody>
      </p:sp>
    </p:spTree>
    <p:extLst>
      <p:ext uri="{BB962C8B-B14F-4D97-AF65-F5344CB8AC3E}">
        <p14:creationId xmlns:p14="http://schemas.microsoft.com/office/powerpoint/2010/main" val="689354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23054"/>
            </a:gs>
            <a:gs pos="100000">
              <a:srgbClr val="0A1728"/>
            </a:gs>
          </a:gsLst>
          <a:lin ang="18900000" scaled="1"/>
          <a:tileRect/>
        </a:gra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D370D673-318A-B4D7-12FD-9184719E49D9}"/>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99AAC186-010F-D631-F709-68FAC76B7A1E}"/>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9E66B3E0-8926-E3E6-1915-7DD16A0068F3}"/>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CD9F5A7B-2ECE-38B3-6E5E-D1D6DE91A02C}"/>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ADAEA94E-EE1B-9C8A-D4AD-7BF5AA3065A7}"/>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7FC4D8"/>
                </a:solidFill>
                <a:latin typeface="Calibri" panose="020F0502020204030204" pitchFamily="34" charset="0"/>
              </a:rPr>
              <a:t>ARQUITECTURA · TOPOLOGÍA</a:t>
            </a:r>
          </a:p>
        </p:txBody>
      </p:sp>
      <p:sp>
        <p:nvSpPr>
          <p:cNvPr id="7" name="CuadroTexto 6">
            <a:extLst>
              <a:ext uri="{FF2B5EF4-FFF2-40B4-BE49-F238E27FC236}">
                <a16:creationId xmlns:a16="http://schemas.microsoft.com/office/drawing/2014/main" id="{2E9EADE9-3381-88CF-9DE0-026A65E8D114}"/>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850" b="1">
                <a:solidFill>
                  <a:srgbClr val="FFFFFF"/>
                </a:solidFill>
                <a:latin typeface="Georgia" panose="02040502050405020303" pitchFamily="18" charset="0"/>
              </a:rPr>
              <a:t>Tres capas, y una sola habla con la base</a:t>
            </a:r>
            <a:endParaRPr lang="es-HN" sz="2850" b="1">
              <a:solidFill>
                <a:srgbClr val="FFFFFF"/>
              </a:solidFill>
              <a:latin typeface="Georgia" panose="02040502050405020303" pitchFamily="18" charset="0"/>
            </a:endParaRPr>
          </a:p>
        </p:txBody>
      </p:sp>
      <p:sp>
        <p:nvSpPr>
          <p:cNvPr id="8" name="CuadroTexto 7">
            <a:extLst>
              <a:ext uri="{FF2B5EF4-FFF2-40B4-BE49-F238E27FC236}">
                <a16:creationId xmlns:a16="http://schemas.microsoft.com/office/drawing/2014/main" id="{287125CC-839B-F69C-740C-4843F079D6C1}"/>
              </a:ext>
            </a:extLst>
          </p:cNvPr>
          <p:cNvSpPr txBox="1"/>
          <p:nvPr/>
        </p:nvSpPr>
        <p:spPr>
          <a:xfrm>
            <a:off x="704850" y="1676400"/>
            <a:ext cx="2171700" cy="276999"/>
          </a:xfrm>
          <a:prstGeom prst="rect">
            <a:avLst/>
          </a:prstGeom>
          <a:noFill/>
        </p:spPr>
        <p:txBody>
          <a:bodyPr vert="horz" wrap="square" lIns="0" tIns="0" rIns="0" bIns="0" rtlCol="0" anchor="t">
            <a:noAutofit/>
          </a:bodyPr>
          <a:lstStyle/>
          <a:p>
            <a:pPr>
              <a:lnSpc>
                <a:spcPct val="125000"/>
              </a:lnSpc>
            </a:pPr>
            <a:r>
              <a:rPr lang="es-HN" sz="788" b="1" spc="80">
                <a:solidFill>
                  <a:srgbClr val="7FC4D8"/>
                </a:solidFill>
                <a:latin typeface="Calibri" panose="020F0502020204030204" pitchFamily="34" charset="0"/>
              </a:rPr>
              <a:t>CLIENTE</a:t>
            </a:r>
          </a:p>
        </p:txBody>
      </p:sp>
      <p:sp>
        <p:nvSpPr>
          <p:cNvPr id="9" name="Rectángulo: esquinas redondeadas 8">
            <a:extLst>
              <a:ext uri="{FF2B5EF4-FFF2-40B4-BE49-F238E27FC236}">
                <a16:creationId xmlns:a16="http://schemas.microsoft.com/office/drawing/2014/main" id="{4AB04AAC-FB86-D1BD-ECF3-9EAE3636EC48}"/>
              </a:ext>
            </a:extLst>
          </p:cNvPr>
          <p:cNvSpPr/>
          <p:nvPr/>
        </p:nvSpPr>
        <p:spPr>
          <a:xfrm>
            <a:off x="704850" y="1866900"/>
            <a:ext cx="2171700" cy="1504950"/>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0" name="CuadroTexto 9">
            <a:extLst>
              <a:ext uri="{FF2B5EF4-FFF2-40B4-BE49-F238E27FC236}">
                <a16:creationId xmlns:a16="http://schemas.microsoft.com/office/drawing/2014/main" id="{46AB2521-84A9-E061-87D7-A2036BCE3B96}"/>
              </a:ext>
            </a:extLst>
          </p:cNvPr>
          <p:cNvSpPr txBox="1"/>
          <p:nvPr/>
        </p:nvSpPr>
        <p:spPr>
          <a:xfrm>
            <a:off x="895350" y="2038350"/>
            <a:ext cx="1828800" cy="276999"/>
          </a:xfrm>
          <a:prstGeom prst="rect">
            <a:avLst/>
          </a:prstGeom>
          <a:noFill/>
        </p:spPr>
        <p:txBody>
          <a:bodyPr vert="horz" wrap="square" lIns="0" tIns="0" rIns="0" bIns="0" rtlCol="0" anchor="t">
            <a:noAutofit/>
          </a:bodyPr>
          <a:lstStyle/>
          <a:p>
            <a:pPr>
              <a:lnSpc>
                <a:spcPct val="125000"/>
              </a:lnSpc>
            </a:pPr>
            <a:r>
              <a:rPr lang="es-HN" sz="1125" b="1">
                <a:solidFill>
                  <a:srgbClr val="FFFFFF"/>
                </a:solidFill>
                <a:latin typeface="Calibri" panose="020F0502020204030204" pitchFamily="34" charset="0"/>
              </a:rPr>
              <a:t>Navegador</a:t>
            </a:r>
          </a:p>
        </p:txBody>
      </p:sp>
      <p:sp>
        <p:nvSpPr>
          <p:cNvPr id="11" name="CuadroTexto 10">
            <a:extLst>
              <a:ext uri="{FF2B5EF4-FFF2-40B4-BE49-F238E27FC236}">
                <a16:creationId xmlns:a16="http://schemas.microsoft.com/office/drawing/2014/main" id="{417A7EB4-7883-7A65-C366-3DC126DDCAA8}"/>
              </a:ext>
            </a:extLst>
          </p:cNvPr>
          <p:cNvSpPr txBox="1"/>
          <p:nvPr/>
        </p:nvSpPr>
        <p:spPr>
          <a:xfrm>
            <a:off x="895350" y="2324100"/>
            <a:ext cx="1866900" cy="276999"/>
          </a:xfrm>
          <a:prstGeom prst="rect">
            <a:avLst/>
          </a:prstGeom>
          <a:noFill/>
        </p:spPr>
        <p:txBody>
          <a:bodyPr vert="horz" wrap="square" lIns="0" tIns="0" rIns="0" bIns="0" rtlCol="0" anchor="t">
            <a:noAutofit/>
          </a:bodyPr>
          <a:lstStyle/>
          <a:p>
            <a:pPr>
              <a:lnSpc>
                <a:spcPct val="125000"/>
              </a:lnSpc>
            </a:pPr>
            <a:r>
              <a:rPr lang="es-ES" sz="863">
                <a:solidFill>
                  <a:srgbClr val="BACADD"/>
                </a:solidFill>
                <a:latin typeface="Calibri" panose="020F0502020204030204" pitchFamily="34" charset="0"/>
              </a:rPr>
              <a:t>HTML renderizado en el servidor</a:t>
            </a:r>
            <a:endParaRPr lang="es-HN" sz="863">
              <a:solidFill>
                <a:srgbClr val="BACADD"/>
              </a:solidFill>
              <a:latin typeface="Calibri" panose="020F0502020204030204" pitchFamily="34" charset="0"/>
            </a:endParaRPr>
          </a:p>
        </p:txBody>
      </p:sp>
      <p:sp>
        <p:nvSpPr>
          <p:cNvPr id="12" name="CuadroTexto 11">
            <a:extLst>
              <a:ext uri="{FF2B5EF4-FFF2-40B4-BE49-F238E27FC236}">
                <a16:creationId xmlns:a16="http://schemas.microsoft.com/office/drawing/2014/main" id="{FBC36A4A-0756-A164-88D5-5A59A509548A}"/>
              </a:ext>
            </a:extLst>
          </p:cNvPr>
          <p:cNvSpPr txBox="1"/>
          <p:nvPr/>
        </p:nvSpPr>
        <p:spPr>
          <a:xfrm>
            <a:off x="895350" y="2514600"/>
            <a:ext cx="186690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alibri" panose="020F0502020204030204" pitchFamily="34" charset="0"/>
              </a:rPr>
              <a:t>Bootstrap solo para la grilla</a:t>
            </a:r>
          </a:p>
        </p:txBody>
      </p:sp>
      <p:sp>
        <p:nvSpPr>
          <p:cNvPr id="13" name="CuadroTexto 12">
            <a:extLst>
              <a:ext uri="{FF2B5EF4-FFF2-40B4-BE49-F238E27FC236}">
                <a16:creationId xmlns:a16="http://schemas.microsoft.com/office/drawing/2014/main" id="{3060241D-6642-ACB4-AC38-4CC59EF28892}"/>
              </a:ext>
            </a:extLst>
          </p:cNvPr>
          <p:cNvSpPr txBox="1"/>
          <p:nvPr/>
        </p:nvSpPr>
        <p:spPr>
          <a:xfrm>
            <a:off x="895350" y="2705100"/>
            <a:ext cx="186690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alibri" panose="020F0502020204030204" pitchFamily="34" charset="0"/>
              </a:rPr>
              <a:t>Sin dependencias externas</a:t>
            </a:r>
          </a:p>
        </p:txBody>
      </p:sp>
      <p:sp>
        <p:nvSpPr>
          <p:cNvPr id="14" name="CuadroTexto 13">
            <a:extLst>
              <a:ext uri="{FF2B5EF4-FFF2-40B4-BE49-F238E27FC236}">
                <a16:creationId xmlns:a16="http://schemas.microsoft.com/office/drawing/2014/main" id="{D1C40315-393D-7BCB-AE7D-A01FF3140C58}"/>
              </a:ext>
            </a:extLst>
          </p:cNvPr>
          <p:cNvSpPr txBox="1"/>
          <p:nvPr/>
        </p:nvSpPr>
        <p:spPr>
          <a:xfrm>
            <a:off x="895350" y="3067050"/>
            <a:ext cx="1866900" cy="276999"/>
          </a:xfrm>
          <a:prstGeom prst="rect">
            <a:avLst/>
          </a:prstGeom>
          <a:noFill/>
        </p:spPr>
        <p:txBody>
          <a:bodyPr vert="horz" wrap="square" lIns="0" tIns="0" rIns="0" bIns="0" rtlCol="0" anchor="t">
            <a:noAutofit/>
          </a:bodyPr>
          <a:lstStyle/>
          <a:p>
            <a:pPr>
              <a:lnSpc>
                <a:spcPct val="125000"/>
              </a:lnSpc>
            </a:pPr>
            <a:r>
              <a:rPr lang="es-ES" sz="825">
                <a:solidFill>
                  <a:srgbClr val="9ED4E6"/>
                </a:solidFill>
                <a:latin typeface="Consolas" panose="020B0609020204030204" pitchFamily="49" charset="0"/>
              </a:rPr>
              <a:t>jQuery · 387 líneas de JS</a:t>
            </a:r>
            <a:endParaRPr lang="es-HN" sz="825">
              <a:solidFill>
                <a:srgbClr val="9ED4E6"/>
              </a:solidFill>
              <a:latin typeface="Consolas" panose="020B0609020204030204" pitchFamily="49" charset="0"/>
            </a:endParaRPr>
          </a:p>
        </p:txBody>
      </p:sp>
      <p:sp>
        <p:nvSpPr>
          <p:cNvPr id="15" name="CuadroTexto 14">
            <a:extLst>
              <a:ext uri="{FF2B5EF4-FFF2-40B4-BE49-F238E27FC236}">
                <a16:creationId xmlns:a16="http://schemas.microsoft.com/office/drawing/2014/main" id="{4308692F-BD03-5653-4F3D-75976B2E4B18}"/>
              </a:ext>
            </a:extLst>
          </p:cNvPr>
          <p:cNvSpPr txBox="1"/>
          <p:nvPr/>
        </p:nvSpPr>
        <p:spPr>
          <a:xfrm>
            <a:off x="3543300" y="1676400"/>
            <a:ext cx="2171700" cy="276999"/>
          </a:xfrm>
          <a:prstGeom prst="rect">
            <a:avLst/>
          </a:prstGeom>
          <a:noFill/>
        </p:spPr>
        <p:txBody>
          <a:bodyPr vert="horz" wrap="square" lIns="0" tIns="0" rIns="0" bIns="0" rtlCol="0" anchor="t">
            <a:noAutofit/>
          </a:bodyPr>
          <a:lstStyle/>
          <a:p>
            <a:pPr>
              <a:lnSpc>
                <a:spcPct val="125000"/>
              </a:lnSpc>
            </a:pPr>
            <a:r>
              <a:rPr lang="es-HN" sz="788" b="1" spc="80">
                <a:solidFill>
                  <a:srgbClr val="7FC4D8"/>
                </a:solidFill>
                <a:latin typeface="Calibri" panose="020F0502020204030204" pitchFamily="34" charset="0"/>
              </a:rPr>
              <a:t>PRESENTACIÓN</a:t>
            </a:r>
          </a:p>
        </p:txBody>
      </p:sp>
      <p:sp>
        <p:nvSpPr>
          <p:cNvPr id="16" name="Rectángulo: esquinas redondeadas 15">
            <a:extLst>
              <a:ext uri="{FF2B5EF4-FFF2-40B4-BE49-F238E27FC236}">
                <a16:creationId xmlns:a16="http://schemas.microsoft.com/office/drawing/2014/main" id="{56076C4D-85AD-1875-B289-7D513D306454}"/>
              </a:ext>
            </a:extLst>
          </p:cNvPr>
          <p:cNvSpPr/>
          <p:nvPr/>
        </p:nvSpPr>
        <p:spPr>
          <a:xfrm>
            <a:off x="3543300" y="1866900"/>
            <a:ext cx="2171700" cy="1504950"/>
          </a:xfrm>
          <a:prstGeom prst="roundRect">
            <a:avLst>
              <a:gd name="adj" fmla="val 6000"/>
            </a:avLst>
          </a:prstGeom>
          <a:solidFill>
            <a:srgbClr val="17475F"/>
          </a:solidFill>
          <a:ln w="12700">
            <a:solidFill>
              <a:srgbClr val="4FA8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7" name="CuadroTexto 16">
            <a:extLst>
              <a:ext uri="{FF2B5EF4-FFF2-40B4-BE49-F238E27FC236}">
                <a16:creationId xmlns:a16="http://schemas.microsoft.com/office/drawing/2014/main" id="{1C85CEDD-E6B8-AC14-20AE-948B95141017}"/>
              </a:ext>
            </a:extLst>
          </p:cNvPr>
          <p:cNvSpPr txBox="1"/>
          <p:nvPr/>
        </p:nvSpPr>
        <p:spPr>
          <a:xfrm>
            <a:off x="3733800" y="2038350"/>
            <a:ext cx="1828800" cy="276999"/>
          </a:xfrm>
          <a:prstGeom prst="rect">
            <a:avLst/>
          </a:prstGeom>
          <a:noFill/>
        </p:spPr>
        <p:txBody>
          <a:bodyPr vert="horz" wrap="square" lIns="0" tIns="0" rIns="0" bIns="0" rtlCol="0" anchor="t">
            <a:noAutofit/>
          </a:bodyPr>
          <a:lstStyle/>
          <a:p>
            <a:pPr>
              <a:lnSpc>
                <a:spcPct val="125000"/>
              </a:lnSpc>
            </a:pPr>
            <a:r>
              <a:rPr lang="es-HN" sz="1125" b="1">
                <a:solidFill>
                  <a:srgbClr val="FFFFFF"/>
                </a:solidFill>
                <a:latin typeface="Calibri" panose="020F0502020204030204" pitchFamily="34" charset="0"/>
              </a:rPr>
              <a:t>Frontend</a:t>
            </a:r>
          </a:p>
        </p:txBody>
      </p:sp>
      <p:sp>
        <p:nvSpPr>
          <p:cNvPr id="18" name="CuadroTexto 17">
            <a:extLst>
              <a:ext uri="{FF2B5EF4-FFF2-40B4-BE49-F238E27FC236}">
                <a16:creationId xmlns:a16="http://schemas.microsoft.com/office/drawing/2014/main" id="{D16D4BF3-AEAA-25B9-DCAD-F28CBFA59C2E}"/>
              </a:ext>
            </a:extLst>
          </p:cNvPr>
          <p:cNvSpPr txBox="1"/>
          <p:nvPr/>
        </p:nvSpPr>
        <p:spPr>
          <a:xfrm>
            <a:off x="3733800" y="2324100"/>
            <a:ext cx="1866900" cy="276999"/>
          </a:xfrm>
          <a:prstGeom prst="rect">
            <a:avLst/>
          </a:prstGeom>
          <a:noFill/>
        </p:spPr>
        <p:txBody>
          <a:bodyPr vert="horz" wrap="square" lIns="0" tIns="0" rIns="0" bIns="0" rtlCol="0" anchor="t">
            <a:noAutofit/>
          </a:bodyPr>
          <a:lstStyle/>
          <a:p>
            <a:pPr>
              <a:lnSpc>
                <a:spcPct val="125000"/>
              </a:lnSpc>
            </a:pPr>
            <a:r>
              <a:rPr lang="en-US" sz="863">
                <a:solidFill>
                  <a:srgbClr val="BACADD"/>
                </a:solidFill>
                <a:latin typeface="Calibri" panose="020F0502020204030204" pitchFamily="34" charset="0"/>
              </a:rPr>
              <a:t>ASP.NET Web Forms · C#</a:t>
            </a:r>
            <a:endParaRPr lang="es-HN" sz="863">
              <a:solidFill>
                <a:srgbClr val="BACADD"/>
              </a:solidFill>
              <a:latin typeface="Calibri" panose="020F0502020204030204" pitchFamily="34" charset="0"/>
            </a:endParaRPr>
          </a:p>
        </p:txBody>
      </p:sp>
      <p:sp>
        <p:nvSpPr>
          <p:cNvPr id="19" name="CuadroTexto 18">
            <a:extLst>
              <a:ext uri="{FF2B5EF4-FFF2-40B4-BE49-F238E27FC236}">
                <a16:creationId xmlns:a16="http://schemas.microsoft.com/office/drawing/2014/main" id="{6DD48624-AE0C-8D93-903F-B48510495097}"/>
              </a:ext>
            </a:extLst>
          </p:cNvPr>
          <p:cNvSpPr txBox="1"/>
          <p:nvPr/>
        </p:nvSpPr>
        <p:spPr>
          <a:xfrm>
            <a:off x="3733800" y="2514600"/>
            <a:ext cx="186690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alibri" panose="020F0502020204030204" pitchFamily="34" charset="0"/>
              </a:rPr>
              <a:t>29 páginas · 8 controles</a:t>
            </a:r>
          </a:p>
        </p:txBody>
      </p:sp>
      <p:sp>
        <p:nvSpPr>
          <p:cNvPr id="20" name="CuadroTexto 19">
            <a:extLst>
              <a:ext uri="{FF2B5EF4-FFF2-40B4-BE49-F238E27FC236}">
                <a16:creationId xmlns:a16="http://schemas.microsoft.com/office/drawing/2014/main" id="{5E70EB1B-91A9-67B2-E8B3-B2BC216F1255}"/>
              </a:ext>
            </a:extLst>
          </p:cNvPr>
          <p:cNvSpPr txBox="1"/>
          <p:nvPr/>
        </p:nvSpPr>
        <p:spPr>
          <a:xfrm>
            <a:off x="3733800" y="2705100"/>
            <a:ext cx="186690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alibri" panose="020F0502020204030204" pitchFamily="34" charset="0"/>
              </a:rPr>
              <a:t>IIS Express · puerto 5080</a:t>
            </a:r>
          </a:p>
        </p:txBody>
      </p:sp>
      <p:sp>
        <p:nvSpPr>
          <p:cNvPr id="21" name="CuadroTexto 20">
            <a:extLst>
              <a:ext uri="{FF2B5EF4-FFF2-40B4-BE49-F238E27FC236}">
                <a16:creationId xmlns:a16="http://schemas.microsoft.com/office/drawing/2014/main" id="{94363F4B-C876-2BAB-70D9-F1BB36C33C10}"/>
              </a:ext>
            </a:extLst>
          </p:cNvPr>
          <p:cNvSpPr txBox="1"/>
          <p:nvPr/>
        </p:nvSpPr>
        <p:spPr>
          <a:xfrm>
            <a:off x="3733800" y="3067050"/>
            <a:ext cx="1866900" cy="276999"/>
          </a:xfrm>
          <a:prstGeom prst="rect">
            <a:avLst/>
          </a:prstGeom>
          <a:noFill/>
        </p:spPr>
        <p:txBody>
          <a:bodyPr vert="horz" wrap="square" lIns="0" tIns="0" rIns="0" bIns="0" rtlCol="0" anchor="t">
            <a:noAutofit/>
          </a:bodyPr>
          <a:lstStyle/>
          <a:p>
            <a:pPr>
              <a:lnSpc>
                <a:spcPct val="125000"/>
              </a:lnSpc>
            </a:pPr>
            <a:r>
              <a:rPr lang="es-HN" sz="825">
                <a:solidFill>
                  <a:srgbClr val="9ED4E6"/>
                </a:solidFill>
                <a:latin typeface="Consolas" panose="020B0609020204030204" pitchFamily="49" charset="0"/>
              </a:rPr>
              <a:t>IContenidoServicio</a:t>
            </a:r>
          </a:p>
        </p:txBody>
      </p:sp>
      <p:sp>
        <p:nvSpPr>
          <p:cNvPr id="22" name="CuadroTexto 21">
            <a:extLst>
              <a:ext uri="{FF2B5EF4-FFF2-40B4-BE49-F238E27FC236}">
                <a16:creationId xmlns:a16="http://schemas.microsoft.com/office/drawing/2014/main" id="{DA3A8261-2E6E-4C82-4E53-44F3D8211DB6}"/>
              </a:ext>
            </a:extLst>
          </p:cNvPr>
          <p:cNvSpPr txBox="1"/>
          <p:nvPr/>
        </p:nvSpPr>
        <p:spPr>
          <a:xfrm>
            <a:off x="6381750" y="1676400"/>
            <a:ext cx="2171700" cy="276999"/>
          </a:xfrm>
          <a:prstGeom prst="rect">
            <a:avLst/>
          </a:prstGeom>
          <a:noFill/>
        </p:spPr>
        <p:txBody>
          <a:bodyPr vert="horz" wrap="square" lIns="0" tIns="0" rIns="0" bIns="0" rtlCol="0" anchor="t">
            <a:noAutofit/>
          </a:bodyPr>
          <a:lstStyle/>
          <a:p>
            <a:pPr>
              <a:lnSpc>
                <a:spcPct val="125000"/>
              </a:lnSpc>
            </a:pPr>
            <a:r>
              <a:rPr lang="es-ES" sz="788" b="1" spc="80">
                <a:solidFill>
                  <a:srgbClr val="7FC4D8"/>
                </a:solidFill>
                <a:latin typeface="Calibri" panose="020F0502020204030204" pitchFamily="34" charset="0"/>
              </a:rPr>
              <a:t>LÓGICA Y ACCESO A DATOS</a:t>
            </a:r>
            <a:endParaRPr lang="es-HN" sz="788" b="1" spc="80">
              <a:solidFill>
                <a:srgbClr val="7FC4D8"/>
              </a:solidFill>
              <a:latin typeface="Calibri" panose="020F0502020204030204" pitchFamily="34" charset="0"/>
            </a:endParaRPr>
          </a:p>
        </p:txBody>
      </p:sp>
      <p:sp>
        <p:nvSpPr>
          <p:cNvPr id="23" name="Rectángulo: esquinas redondeadas 22">
            <a:extLst>
              <a:ext uri="{FF2B5EF4-FFF2-40B4-BE49-F238E27FC236}">
                <a16:creationId xmlns:a16="http://schemas.microsoft.com/office/drawing/2014/main" id="{1C91A435-DA95-B149-21CD-E1A3BC4BEFAA}"/>
              </a:ext>
            </a:extLst>
          </p:cNvPr>
          <p:cNvSpPr/>
          <p:nvPr/>
        </p:nvSpPr>
        <p:spPr>
          <a:xfrm>
            <a:off x="6381750" y="1866900"/>
            <a:ext cx="2171700" cy="1504950"/>
          </a:xfrm>
          <a:prstGeom prst="roundRect">
            <a:avLst>
              <a:gd name="adj" fmla="val 6000"/>
            </a:avLst>
          </a:prstGeom>
          <a:solidFill>
            <a:srgbClr val="17475F"/>
          </a:solidFill>
          <a:ln w="12700">
            <a:solidFill>
              <a:srgbClr val="4FA8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4" name="CuadroTexto 23">
            <a:extLst>
              <a:ext uri="{FF2B5EF4-FFF2-40B4-BE49-F238E27FC236}">
                <a16:creationId xmlns:a16="http://schemas.microsoft.com/office/drawing/2014/main" id="{7353B3D0-0D41-95E5-A11D-9DCB7BA3C667}"/>
              </a:ext>
            </a:extLst>
          </p:cNvPr>
          <p:cNvSpPr txBox="1"/>
          <p:nvPr/>
        </p:nvSpPr>
        <p:spPr>
          <a:xfrm>
            <a:off x="6572250" y="2038350"/>
            <a:ext cx="1828800" cy="276999"/>
          </a:xfrm>
          <a:prstGeom prst="rect">
            <a:avLst/>
          </a:prstGeom>
          <a:noFill/>
        </p:spPr>
        <p:txBody>
          <a:bodyPr vert="horz" wrap="square" lIns="0" tIns="0" rIns="0" bIns="0" rtlCol="0" anchor="t">
            <a:noAutofit/>
          </a:bodyPr>
          <a:lstStyle/>
          <a:p>
            <a:pPr>
              <a:lnSpc>
                <a:spcPct val="125000"/>
              </a:lnSpc>
            </a:pPr>
            <a:r>
              <a:rPr lang="es-HN" sz="1125" b="1">
                <a:solidFill>
                  <a:srgbClr val="FFFFFF"/>
                </a:solidFill>
                <a:latin typeface="Calibri" panose="020F0502020204030204" pitchFamily="34" charset="0"/>
              </a:rPr>
              <a:t>Web Service ASMX</a:t>
            </a:r>
          </a:p>
        </p:txBody>
      </p:sp>
      <p:sp>
        <p:nvSpPr>
          <p:cNvPr id="25" name="CuadroTexto 24">
            <a:extLst>
              <a:ext uri="{FF2B5EF4-FFF2-40B4-BE49-F238E27FC236}">
                <a16:creationId xmlns:a16="http://schemas.microsoft.com/office/drawing/2014/main" id="{551A736D-A6C2-FCFE-9F55-9A44A80D106D}"/>
              </a:ext>
            </a:extLst>
          </p:cNvPr>
          <p:cNvSpPr txBox="1"/>
          <p:nvPr/>
        </p:nvSpPr>
        <p:spPr>
          <a:xfrm>
            <a:off x="6572250" y="2324100"/>
            <a:ext cx="1866900" cy="276999"/>
          </a:xfrm>
          <a:prstGeom prst="rect">
            <a:avLst/>
          </a:prstGeom>
          <a:noFill/>
        </p:spPr>
        <p:txBody>
          <a:bodyPr vert="horz" wrap="square" lIns="0" tIns="0" rIns="0" bIns="0" rtlCol="0" anchor="t">
            <a:noAutofit/>
          </a:bodyPr>
          <a:lstStyle/>
          <a:p>
            <a:pPr>
              <a:lnSpc>
                <a:spcPct val="125000"/>
              </a:lnSpc>
            </a:pPr>
            <a:r>
              <a:rPr lang="es-ES" sz="863">
                <a:solidFill>
                  <a:srgbClr val="BACADD"/>
                </a:solidFill>
                <a:latin typeface="Calibri" panose="020F0502020204030204" pitchFamily="34" charset="0"/>
              </a:rPr>
              <a:t>51 métodos · SOAP y JSON</a:t>
            </a:r>
            <a:endParaRPr lang="es-HN" sz="863">
              <a:solidFill>
                <a:srgbClr val="BACADD"/>
              </a:solidFill>
              <a:latin typeface="Calibri" panose="020F0502020204030204" pitchFamily="34" charset="0"/>
            </a:endParaRPr>
          </a:p>
        </p:txBody>
      </p:sp>
      <p:sp>
        <p:nvSpPr>
          <p:cNvPr id="26" name="CuadroTexto 25">
            <a:extLst>
              <a:ext uri="{FF2B5EF4-FFF2-40B4-BE49-F238E27FC236}">
                <a16:creationId xmlns:a16="http://schemas.microsoft.com/office/drawing/2014/main" id="{9D6178BA-3467-FFDA-7799-57D3531C2D55}"/>
              </a:ext>
            </a:extLst>
          </p:cNvPr>
          <p:cNvSpPr txBox="1"/>
          <p:nvPr/>
        </p:nvSpPr>
        <p:spPr>
          <a:xfrm>
            <a:off x="6572250" y="2514600"/>
            <a:ext cx="1866900" cy="276999"/>
          </a:xfrm>
          <a:prstGeom prst="rect">
            <a:avLst/>
          </a:prstGeom>
          <a:noFill/>
        </p:spPr>
        <p:txBody>
          <a:bodyPr vert="horz" wrap="square" lIns="0" tIns="0" rIns="0" bIns="0" rtlCol="0" anchor="t">
            <a:noAutofit/>
          </a:bodyPr>
          <a:lstStyle/>
          <a:p>
            <a:pPr>
              <a:lnSpc>
                <a:spcPct val="125000"/>
              </a:lnSpc>
            </a:pPr>
            <a:r>
              <a:rPr lang="es-ES" sz="863">
                <a:solidFill>
                  <a:srgbClr val="BACADD"/>
                </a:solidFill>
                <a:latin typeface="Calibri" panose="020F0502020204030204" pitchFamily="34" charset="0"/>
              </a:rPr>
              <a:t>ADO.NET siempre con parámetros</a:t>
            </a:r>
            <a:endParaRPr lang="es-HN" sz="863">
              <a:solidFill>
                <a:srgbClr val="BACADD"/>
              </a:solidFill>
              <a:latin typeface="Calibri" panose="020F0502020204030204" pitchFamily="34" charset="0"/>
            </a:endParaRPr>
          </a:p>
        </p:txBody>
      </p:sp>
      <p:sp>
        <p:nvSpPr>
          <p:cNvPr id="27" name="CuadroTexto 26">
            <a:extLst>
              <a:ext uri="{FF2B5EF4-FFF2-40B4-BE49-F238E27FC236}">
                <a16:creationId xmlns:a16="http://schemas.microsoft.com/office/drawing/2014/main" id="{43646BFE-66DA-D96B-EEB7-1E319D5951AE}"/>
              </a:ext>
            </a:extLst>
          </p:cNvPr>
          <p:cNvSpPr txBox="1"/>
          <p:nvPr/>
        </p:nvSpPr>
        <p:spPr>
          <a:xfrm>
            <a:off x="6572250" y="2705100"/>
            <a:ext cx="186690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alibri" panose="020F0502020204030204" pitchFamily="34" charset="0"/>
              </a:rPr>
              <a:t>IIS Express · puerto 44359</a:t>
            </a:r>
          </a:p>
        </p:txBody>
      </p:sp>
      <p:sp>
        <p:nvSpPr>
          <p:cNvPr id="28" name="CuadroTexto 27">
            <a:extLst>
              <a:ext uri="{FF2B5EF4-FFF2-40B4-BE49-F238E27FC236}">
                <a16:creationId xmlns:a16="http://schemas.microsoft.com/office/drawing/2014/main" id="{0DC5955E-5F2A-7CF1-59FB-0596564CD130}"/>
              </a:ext>
            </a:extLst>
          </p:cNvPr>
          <p:cNvSpPr txBox="1"/>
          <p:nvPr/>
        </p:nvSpPr>
        <p:spPr>
          <a:xfrm>
            <a:off x="6572250" y="3067050"/>
            <a:ext cx="1866900" cy="276999"/>
          </a:xfrm>
          <a:prstGeom prst="rect">
            <a:avLst/>
          </a:prstGeom>
          <a:noFill/>
        </p:spPr>
        <p:txBody>
          <a:bodyPr vert="horz" wrap="square" lIns="0" tIns="0" rIns="0" bIns="0" rtlCol="0" anchor="t">
            <a:noAutofit/>
          </a:bodyPr>
          <a:lstStyle/>
          <a:p>
            <a:pPr>
              <a:lnSpc>
                <a:spcPct val="125000"/>
              </a:lnSpc>
            </a:pPr>
            <a:r>
              <a:rPr lang="es-HN" sz="825">
                <a:solidFill>
                  <a:srgbClr val="9ED4E6"/>
                </a:solidFill>
                <a:latin typeface="Consolas" panose="020B0609020204030204" pitchFamily="49" charset="0"/>
              </a:rPr>
              <a:t>WebServiceGlobal.asmx</a:t>
            </a:r>
          </a:p>
        </p:txBody>
      </p:sp>
      <p:sp>
        <p:nvSpPr>
          <p:cNvPr id="29" name="CuadroTexto 28">
            <a:extLst>
              <a:ext uri="{FF2B5EF4-FFF2-40B4-BE49-F238E27FC236}">
                <a16:creationId xmlns:a16="http://schemas.microsoft.com/office/drawing/2014/main" id="{CACD10C0-2E18-FCEB-3F49-715FE8FA2797}"/>
              </a:ext>
            </a:extLst>
          </p:cNvPr>
          <p:cNvSpPr txBox="1"/>
          <p:nvPr/>
        </p:nvSpPr>
        <p:spPr>
          <a:xfrm>
            <a:off x="9220200" y="1676400"/>
            <a:ext cx="2362200" cy="276999"/>
          </a:xfrm>
          <a:prstGeom prst="rect">
            <a:avLst/>
          </a:prstGeom>
          <a:noFill/>
        </p:spPr>
        <p:txBody>
          <a:bodyPr vert="horz" wrap="square" lIns="0" tIns="0" rIns="0" bIns="0" rtlCol="0" anchor="t">
            <a:noAutofit/>
          </a:bodyPr>
          <a:lstStyle/>
          <a:p>
            <a:pPr>
              <a:lnSpc>
                <a:spcPct val="125000"/>
              </a:lnSpc>
            </a:pPr>
            <a:r>
              <a:rPr lang="es-HN" sz="788" b="1" spc="80">
                <a:solidFill>
                  <a:srgbClr val="7FC4D8"/>
                </a:solidFill>
                <a:latin typeface="Calibri" panose="020F0502020204030204" pitchFamily="34" charset="0"/>
              </a:rPr>
              <a:t>PERSISTENCIA</a:t>
            </a:r>
          </a:p>
        </p:txBody>
      </p:sp>
      <p:sp>
        <p:nvSpPr>
          <p:cNvPr id="30" name="Rectángulo: esquinas redondeadas 29">
            <a:extLst>
              <a:ext uri="{FF2B5EF4-FFF2-40B4-BE49-F238E27FC236}">
                <a16:creationId xmlns:a16="http://schemas.microsoft.com/office/drawing/2014/main" id="{9FD268B5-37D0-4F4E-46F5-DBEC7B33C8E9}"/>
              </a:ext>
            </a:extLst>
          </p:cNvPr>
          <p:cNvSpPr/>
          <p:nvPr/>
        </p:nvSpPr>
        <p:spPr>
          <a:xfrm>
            <a:off x="9220200" y="1866900"/>
            <a:ext cx="2362200" cy="1504950"/>
          </a:xfrm>
          <a:prstGeom prst="roundRect">
            <a:avLst>
              <a:gd name="adj" fmla="val 6000"/>
            </a:avLst>
          </a:prstGeom>
          <a:solidFill>
            <a:srgbClr val="1B4838"/>
          </a:solidFill>
          <a:ln w="12700">
            <a:solidFill>
              <a:srgbClr val="5AAB8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1" name="CuadroTexto 30">
            <a:extLst>
              <a:ext uri="{FF2B5EF4-FFF2-40B4-BE49-F238E27FC236}">
                <a16:creationId xmlns:a16="http://schemas.microsoft.com/office/drawing/2014/main" id="{5E2289C7-70A9-5144-8D9F-CED44D15FE26}"/>
              </a:ext>
            </a:extLst>
          </p:cNvPr>
          <p:cNvSpPr txBox="1"/>
          <p:nvPr/>
        </p:nvSpPr>
        <p:spPr>
          <a:xfrm>
            <a:off x="9410700" y="2038350"/>
            <a:ext cx="2019300" cy="276999"/>
          </a:xfrm>
          <a:prstGeom prst="rect">
            <a:avLst/>
          </a:prstGeom>
          <a:noFill/>
        </p:spPr>
        <p:txBody>
          <a:bodyPr vert="horz" wrap="square" lIns="0" tIns="0" rIns="0" bIns="0" rtlCol="0" anchor="t">
            <a:noAutofit/>
          </a:bodyPr>
          <a:lstStyle/>
          <a:p>
            <a:pPr>
              <a:lnSpc>
                <a:spcPct val="125000"/>
              </a:lnSpc>
            </a:pPr>
            <a:r>
              <a:rPr lang="es-HN" sz="1125" b="1">
                <a:solidFill>
                  <a:srgbClr val="FFFFFF"/>
                </a:solidFill>
                <a:latin typeface="Calibri" panose="020F0502020204030204" pitchFamily="34" charset="0"/>
              </a:rPr>
              <a:t>SQL Server Express</a:t>
            </a:r>
          </a:p>
        </p:txBody>
      </p:sp>
      <p:sp>
        <p:nvSpPr>
          <p:cNvPr id="32" name="CuadroTexto 31">
            <a:extLst>
              <a:ext uri="{FF2B5EF4-FFF2-40B4-BE49-F238E27FC236}">
                <a16:creationId xmlns:a16="http://schemas.microsoft.com/office/drawing/2014/main" id="{621466EA-BA8A-A33A-C2BD-92261B14A4E2}"/>
              </a:ext>
            </a:extLst>
          </p:cNvPr>
          <p:cNvSpPr txBox="1"/>
          <p:nvPr/>
        </p:nvSpPr>
        <p:spPr>
          <a:xfrm>
            <a:off x="9410700" y="2324100"/>
            <a:ext cx="2057400" cy="276999"/>
          </a:xfrm>
          <a:prstGeom prst="rect">
            <a:avLst/>
          </a:prstGeom>
          <a:noFill/>
        </p:spPr>
        <p:txBody>
          <a:bodyPr vert="horz" wrap="square" lIns="0" tIns="0" rIns="0" bIns="0" rtlCol="0" anchor="t">
            <a:noAutofit/>
          </a:bodyPr>
          <a:lstStyle/>
          <a:p>
            <a:pPr>
              <a:lnSpc>
                <a:spcPct val="125000"/>
              </a:lnSpc>
            </a:pPr>
            <a:r>
              <a:rPr lang="es-ES" sz="863">
                <a:solidFill>
                  <a:srgbClr val="BACADD"/>
                </a:solidFill>
                <a:latin typeface="Calibri" panose="020F0502020204030204" pitchFamily="34" charset="0"/>
              </a:rPr>
              <a:t>23 tablas · 7 vistas · 3 funciones</a:t>
            </a:r>
            <a:endParaRPr lang="es-HN" sz="863">
              <a:solidFill>
                <a:srgbClr val="BACADD"/>
              </a:solidFill>
              <a:latin typeface="Calibri" panose="020F0502020204030204" pitchFamily="34" charset="0"/>
            </a:endParaRPr>
          </a:p>
        </p:txBody>
      </p:sp>
      <p:sp>
        <p:nvSpPr>
          <p:cNvPr id="33" name="CuadroTexto 32">
            <a:extLst>
              <a:ext uri="{FF2B5EF4-FFF2-40B4-BE49-F238E27FC236}">
                <a16:creationId xmlns:a16="http://schemas.microsoft.com/office/drawing/2014/main" id="{A27A1171-DB5C-F8D4-1E68-AEB368DC4A61}"/>
              </a:ext>
            </a:extLst>
          </p:cNvPr>
          <p:cNvSpPr txBox="1"/>
          <p:nvPr/>
        </p:nvSpPr>
        <p:spPr>
          <a:xfrm>
            <a:off x="9410700" y="2514600"/>
            <a:ext cx="205740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alibri" panose="020F0502020204030204" pitchFamily="34" charset="0"/>
              </a:rPr>
              <a:t>44 procedimientos almacenados</a:t>
            </a:r>
          </a:p>
        </p:txBody>
      </p:sp>
      <p:sp>
        <p:nvSpPr>
          <p:cNvPr id="34" name="CuadroTexto 33">
            <a:extLst>
              <a:ext uri="{FF2B5EF4-FFF2-40B4-BE49-F238E27FC236}">
                <a16:creationId xmlns:a16="http://schemas.microsoft.com/office/drawing/2014/main" id="{C6E7E934-609C-EFA8-6A0D-37E867D68B8B}"/>
              </a:ext>
            </a:extLst>
          </p:cNvPr>
          <p:cNvSpPr txBox="1"/>
          <p:nvPr/>
        </p:nvSpPr>
        <p:spPr>
          <a:xfrm>
            <a:off x="9410700" y="2705100"/>
            <a:ext cx="205740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alibri" panose="020F0502020204030204" pitchFamily="34" charset="0"/>
              </a:rPr>
              <a:t>35 llaves foráneas</a:t>
            </a:r>
          </a:p>
        </p:txBody>
      </p:sp>
      <p:sp>
        <p:nvSpPr>
          <p:cNvPr id="35" name="CuadroTexto 34">
            <a:extLst>
              <a:ext uri="{FF2B5EF4-FFF2-40B4-BE49-F238E27FC236}">
                <a16:creationId xmlns:a16="http://schemas.microsoft.com/office/drawing/2014/main" id="{F8D7FB50-DFD3-0C94-FE7F-394ED27CB3A4}"/>
              </a:ext>
            </a:extLst>
          </p:cNvPr>
          <p:cNvSpPr txBox="1"/>
          <p:nvPr/>
        </p:nvSpPr>
        <p:spPr>
          <a:xfrm>
            <a:off x="9410700" y="3067050"/>
            <a:ext cx="2057400" cy="276999"/>
          </a:xfrm>
          <a:prstGeom prst="rect">
            <a:avLst/>
          </a:prstGeom>
          <a:noFill/>
        </p:spPr>
        <p:txBody>
          <a:bodyPr vert="horz" wrap="square" lIns="0" tIns="0" rIns="0" bIns="0" rtlCol="0" anchor="t">
            <a:noAutofit/>
          </a:bodyPr>
          <a:lstStyle/>
          <a:p>
            <a:pPr>
              <a:lnSpc>
                <a:spcPct val="125000"/>
              </a:lnSpc>
            </a:pPr>
            <a:r>
              <a:rPr lang="es-HN" sz="825">
                <a:solidFill>
                  <a:srgbClr val="9ED4E6"/>
                </a:solidFill>
                <a:latin typeface="Consolas" panose="020B0609020204030204" pitchFamily="49" charset="0"/>
              </a:rPr>
              <a:t>BDCUMPLEHN</a:t>
            </a:r>
          </a:p>
        </p:txBody>
      </p:sp>
      <p:cxnSp>
        <p:nvCxnSpPr>
          <p:cNvPr id="36" name="Conector recto 35">
            <a:extLst>
              <a:ext uri="{FF2B5EF4-FFF2-40B4-BE49-F238E27FC236}">
                <a16:creationId xmlns:a16="http://schemas.microsoft.com/office/drawing/2014/main" id="{5DED21FF-327E-DA42-DE55-70043326ACC5}"/>
              </a:ext>
            </a:extLst>
          </p:cNvPr>
          <p:cNvCxnSpPr/>
          <p:nvPr/>
        </p:nvCxnSpPr>
        <p:spPr>
          <a:xfrm>
            <a:off x="2876550" y="2619375"/>
            <a:ext cx="609600" cy="0"/>
          </a:xfrm>
          <a:prstGeom prst="line">
            <a:avLst/>
          </a:prstGeom>
          <a:ln w="25400">
            <a:solidFill>
              <a:srgbClr val="4FA8C4"/>
            </a:solidFill>
            <a:tailEnd type="arrow" w="sm" len="sm"/>
          </a:ln>
        </p:spPr>
        <p:style>
          <a:lnRef idx="2">
            <a:schemeClr val="accent1"/>
          </a:lnRef>
          <a:fillRef idx="0">
            <a:schemeClr val="accent1"/>
          </a:fillRef>
          <a:effectRef idx="1">
            <a:schemeClr val="accent1"/>
          </a:effectRef>
          <a:fontRef idx="minor">
            <a:schemeClr val="tx1"/>
          </a:fontRef>
        </p:style>
      </p:cxnSp>
      <p:sp>
        <p:nvSpPr>
          <p:cNvPr id="37" name="CuadroTexto 36">
            <a:extLst>
              <a:ext uri="{FF2B5EF4-FFF2-40B4-BE49-F238E27FC236}">
                <a16:creationId xmlns:a16="http://schemas.microsoft.com/office/drawing/2014/main" id="{479590D9-14B5-F094-264A-43D5FF4AD36E}"/>
              </a:ext>
            </a:extLst>
          </p:cNvPr>
          <p:cNvSpPr txBox="1"/>
          <p:nvPr/>
        </p:nvSpPr>
        <p:spPr>
          <a:xfrm>
            <a:off x="2762250" y="2400300"/>
            <a:ext cx="857250" cy="276999"/>
          </a:xfrm>
          <a:prstGeom prst="rect">
            <a:avLst/>
          </a:prstGeom>
          <a:noFill/>
        </p:spPr>
        <p:txBody>
          <a:bodyPr vert="horz" wrap="square" lIns="0" tIns="0" rIns="0" bIns="0" rtlCol="0" anchor="t">
            <a:noAutofit/>
          </a:bodyPr>
          <a:lstStyle/>
          <a:p>
            <a:pPr algn="ctr">
              <a:lnSpc>
                <a:spcPct val="125000"/>
              </a:lnSpc>
            </a:pPr>
            <a:r>
              <a:rPr lang="es-HN" sz="788" b="1">
                <a:solidFill>
                  <a:srgbClr val="7FC4D8"/>
                </a:solidFill>
                <a:latin typeface="Calibri" panose="020F0502020204030204" pitchFamily="34" charset="0"/>
              </a:rPr>
              <a:t>HTTPS</a:t>
            </a:r>
          </a:p>
        </p:txBody>
      </p:sp>
      <p:cxnSp>
        <p:nvCxnSpPr>
          <p:cNvPr id="38" name="Conector recto 37">
            <a:extLst>
              <a:ext uri="{FF2B5EF4-FFF2-40B4-BE49-F238E27FC236}">
                <a16:creationId xmlns:a16="http://schemas.microsoft.com/office/drawing/2014/main" id="{C105FF76-F61C-EF1C-B0AC-503B390E663E}"/>
              </a:ext>
            </a:extLst>
          </p:cNvPr>
          <p:cNvCxnSpPr/>
          <p:nvPr/>
        </p:nvCxnSpPr>
        <p:spPr>
          <a:xfrm>
            <a:off x="5715000" y="2619375"/>
            <a:ext cx="609600" cy="0"/>
          </a:xfrm>
          <a:prstGeom prst="line">
            <a:avLst/>
          </a:prstGeom>
          <a:ln w="25400">
            <a:solidFill>
              <a:srgbClr val="4FA8C4"/>
            </a:solidFill>
            <a:tailEnd type="arrow" w="sm" len="sm"/>
          </a:ln>
        </p:spPr>
        <p:style>
          <a:lnRef idx="2">
            <a:schemeClr val="accent1"/>
          </a:lnRef>
          <a:fillRef idx="0">
            <a:schemeClr val="accent1"/>
          </a:fillRef>
          <a:effectRef idx="1">
            <a:schemeClr val="accent1"/>
          </a:effectRef>
          <a:fontRef idx="minor">
            <a:schemeClr val="tx1"/>
          </a:fontRef>
        </p:style>
      </p:cxnSp>
      <p:sp>
        <p:nvSpPr>
          <p:cNvPr id="39" name="CuadroTexto 38">
            <a:extLst>
              <a:ext uri="{FF2B5EF4-FFF2-40B4-BE49-F238E27FC236}">
                <a16:creationId xmlns:a16="http://schemas.microsoft.com/office/drawing/2014/main" id="{14631B57-4647-E684-84FB-4D6D38E74475}"/>
              </a:ext>
            </a:extLst>
          </p:cNvPr>
          <p:cNvSpPr txBox="1"/>
          <p:nvPr/>
        </p:nvSpPr>
        <p:spPr>
          <a:xfrm>
            <a:off x="5600700" y="2400300"/>
            <a:ext cx="857250" cy="276999"/>
          </a:xfrm>
          <a:prstGeom prst="rect">
            <a:avLst/>
          </a:prstGeom>
          <a:noFill/>
        </p:spPr>
        <p:txBody>
          <a:bodyPr vert="horz" wrap="square" lIns="0" tIns="0" rIns="0" bIns="0" rtlCol="0" anchor="t">
            <a:noAutofit/>
          </a:bodyPr>
          <a:lstStyle/>
          <a:p>
            <a:pPr algn="ctr">
              <a:lnSpc>
                <a:spcPct val="125000"/>
              </a:lnSpc>
            </a:pPr>
            <a:r>
              <a:rPr lang="es-HN" sz="788" b="1">
                <a:solidFill>
                  <a:srgbClr val="7FC4D8"/>
                </a:solidFill>
                <a:latin typeface="Calibri" panose="020F0502020204030204" pitchFamily="34" charset="0"/>
              </a:rPr>
              <a:t>SOAP · HTTPS</a:t>
            </a:r>
          </a:p>
        </p:txBody>
      </p:sp>
      <p:cxnSp>
        <p:nvCxnSpPr>
          <p:cNvPr id="40" name="Conector recto 39">
            <a:extLst>
              <a:ext uri="{FF2B5EF4-FFF2-40B4-BE49-F238E27FC236}">
                <a16:creationId xmlns:a16="http://schemas.microsoft.com/office/drawing/2014/main" id="{0899ADF9-EF20-42E5-5299-99221B71CB57}"/>
              </a:ext>
            </a:extLst>
          </p:cNvPr>
          <p:cNvCxnSpPr/>
          <p:nvPr/>
        </p:nvCxnSpPr>
        <p:spPr>
          <a:xfrm>
            <a:off x="8553450" y="2619375"/>
            <a:ext cx="609600" cy="0"/>
          </a:xfrm>
          <a:prstGeom prst="line">
            <a:avLst/>
          </a:prstGeom>
          <a:ln w="25400">
            <a:solidFill>
              <a:srgbClr val="4FA8C4"/>
            </a:solidFill>
            <a:tailEnd type="arrow" w="sm" len="sm"/>
          </a:ln>
        </p:spPr>
        <p:style>
          <a:lnRef idx="2">
            <a:schemeClr val="accent1"/>
          </a:lnRef>
          <a:fillRef idx="0">
            <a:schemeClr val="accent1"/>
          </a:fillRef>
          <a:effectRef idx="1">
            <a:schemeClr val="accent1"/>
          </a:effectRef>
          <a:fontRef idx="minor">
            <a:schemeClr val="tx1"/>
          </a:fontRef>
        </p:style>
      </p:cxnSp>
      <p:sp>
        <p:nvSpPr>
          <p:cNvPr id="41" name="CuadroTexto 40">
            <a:extLst>
              <a:ext uri="{FF2B5EF4-FFF2-40B4-BE49-F238E27FC236}">
                <a16:creationId xmlns:a16="http://schemas.microsoft.com/office/drawing/2014/main" id="{F270E660-B841-4E6B-E95E-3843D22B63FD}"/>
              </a:ext>
            </a:extLst>
          </p:cNvPr>
          <p:cNvSpPr txBox="1"/>
          <p:nvPr/>
        </p:nvSpPr>
        <p:spPr>
          <a:xfrm>
            <a:off x="8439150" y="2400300"/>
            <a:ext cx="857250" cy="276999"/>
          </a:xfrm>
          <a:prstGeom prst="rect">
            <a:avLst/>
          </a:prstGeom>
          <a:noFill/>
        </p:spPr>
        <p:txBody>
          <a:bodyPr vert="horz" wrap="square" lIns="0" tIns="0" rIns="0" bIns="0" rtlCol="0" anchor="t">
            <a:noAutofit/>
          </a:bodyPr>
          <a:lstStyle/>
          <a:p>
            <a:pPr algn="ctr">
              <a:lnSpc>
                <a:spcPct val="125000"/>
              </a:lnSpc>
            </a:pPr>
            <a:r>
              <a:rPr lang="es-HN" sz="788" b="1">
                <a:solidFill>
                  <a:srgbClr val="7FC4D8"/>
                </a:solidFill>
                <a:latin typeface="Calibri" panose="020F0502020204030204" pitchFamily="34" charset="0"/>
              </a:rPr>
              <a:t>ADO.NET</a:t>
            </a:r>
          </a:p>
        </p:txBody>
      </p:sp>
      <p:cxnSp>
        <p:nvCxnSpPr>
          <p:cNvPr id="42" name="Conector recto 41">
            <a:extLst>
              <a:ext uri="{FF2B5EF4-FFF2-40B4-BE49-F238E27FC236}">
                <a16:creationId xmlns:a16="http://schemas.microsoft.com/office/drawing/2014/main" id="{39102816-BB0F-4F36-ECAA-203A107AA949}"/>
              </a:ext>
            </a:extLst>
          </p:cNvPr>
          <p:cNvCxnSpPr/>
          <p:nvPr/>
        </p:nvCxnSpPr>
        <p:spPr>
          <a:xfrm>
            <a:off x="4629150" y="3505200"/>
            <a:ext cx="0" cy="342900"/>
          </a:xfrm>
          <a:prstGeom prst="line">
            <a:avLst/>
          </a:prstGeom>
          <a:ln w="15240">
            <a:solidFill>
              <a:srgbClr val="A07A3C"/>
            </a:solidFill>
            <a:prstDash val="dash"/>
          </a:ln>
        </p:spPr>
        <p:style>
          <a:lnRef idx="2">
            <a:schemeClr val="accent1"/>
          </a:lnRef>
          <a:fillRef idx="0">
            <a:schemeClr val="accent1"/>
          </a:fillRef>
          <a:effectRef idx="1">
            <a:schemeClr val="accent1"/>
          </a:effectRef>
          <a:fontRef idx="minor">
            <a:schemeClr val="tx1"/>
          </a:fontRef>
        </p:style>
      </p:cxnSp>
      <p:cxnSp>
        <p:nvCxnSpPr>
          <p:cNvPr id="43" name="Conector recto 42">
            <a:extLst>
              <a:ext uri="{FF2B5EF4-FFF2-40B4-BE49-F238E27FC236}">
                <a16:creationId xmlns:a16="http://schemas.microsoft.com/office/drawing/2014/main" id="{FD4C657C-DF5E-C8F2-F67E-06D805CEC2EB}"/>
              </a:ext>
            </a:extLst>
          </p:cNvPr>
          <p:cNvCxnSpPr/>
          <p:nvPr/>
        </p:nvCxnSpPr>
        <p:spPr>
          <a:xfrm>
            <a:off x="4629150" y="3848100"/>
            <a:ext cx="5715000" cy="0"/>
          </a:xfrm>
          <a:prstGeom prst="line">
            <a:avLst/>
          </a:prstGeom>
          <a:ln w="15240">
            <a:solidFill>
              <a:srgbClr val="A07A3C"/>
            </a:solidFill>
            <a:prstDash val="dash"/>
          </a:ln>
        </p:spPr>
        <p:style>
          <a:lnRef idx="2">
            <a:schemeClr val="accent1"/>
          </a:lnRef>
          <a:fillRef idx="0">
            <a:schemeClr val="accent1"/>
          </a:fillRef>
          <a:effectRef idx="1">
            <a:schemeClr val="accent1"/>
          </a:effectRef>
          <a:fontRef idx="minor">
            <a:schemeClr val="tx1"/>
          </a:fontRef>
        </p:style>
      </p:cxnSp>
      <p:cxnSp>
        <p:nvCxnSpPr>
          <p:cNvPr id="44" name="Conector recto 43">
            <a:extLst>
              <a:ext uri="{FF2B5EF4-FFF2-40B4-BE49-F238E27FC236}">
                <a16:creationId xmlns:a16="http://schemas.microsoft.com/office/drawing/2014/main" id="{F2BB29F4-83DB-C5A6-B5AF-0B7B60831360}"/>
              </a:ext>
            </a:extLst>
          </p:cNvPr>
          <p:cNvCxnSpPr/>
          <p:nvPr/>
        </p:nvCxnSpPr>
        <p:spPr>
          <a:xfrm flipV="1">
            <a:off x="10344150" y="3505200"/>
            <a:ext cx="0" cy="342900"/>
          </a:xfrm>
          <a:prstGeom prst="line">
            <a:avLst/>
          </a:prstGeom>
          <a:ln w="15240">
            <a:solidFill>
              <a:srgbClr val="A07A3C"/>
            </a:solidFill>
            <a:prstDash val="dash"/>
          </a:ln>
        </p:spPr>
        <p:style>
          <a:lnRef idx="2">
            <a:schemeClr val="accent1"/>
          </a:lnRef>
          <a:fillRef idx="0">
            <a:schemeClr val="accent1"/>
          </a:fillRef>
          <a:effectRef idx="1">
            <a:schemeClr val="accent1"/>
          </a:effectRef>
          <a:fontRef idx="minor">
            <a:schemeClr val="tx1"/>
          </a:fontRef>
        </p:style>
      </p:cxnSp>
      <p:sp>
        <p:nvSpPr>
          <p:cNvPr id="45" name="Rectángulo: esquinas redondeadas 44">
            <a:extLst>
              <a:ext uri="{FF2B5EF4-FFF2-40B4-BE49-F238E27FC236}">
                <a16:creationId xmlns:a16="http://schemas.microsoft.com/office/drawing/2014/main" id="{2AB5832F-B6C2-D3DE-9657-05592487F0F6}"/>
              </a:ext>
            </a:extLst>
          </p:cNvPr>
          <p:cNvSpPr/>
          <p:nvPr/>
        </p:nvSpPr>
        <p:spPr>
          <a:xfrm>
            <a:off x="4457700" y="3943350"/>
            <a:ext cx="6057900" cy="704850"/>
          </a:xfrm>
          <a:prstGeom prst="roundRect">
            <a:avLst>
              <a:gd name="adj" fmla="val 6000"/>
            </a:avLst>
          </a:prstGeom>
          <a:solidFill>
            <a:srgbClr val="4A3A18"/>
          </a:solidFill>
          <a:ln w="12700">
            <a:solidFill>
              <a:srgbClr val="A07A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6" name="CuadroTexto 45">
            <a:extLst>
              <a:ext uri="{FF2B5EF4-FFF2-40B4-BE49-F238E27FC236}">
                <a16:creationId xmlns:a16="http://schemas.microsoft.com/office/drawing/2014/main" id="{8B0CB4F7-86FA-1AEC-8979-F97F66AAAD98}"/>
              </a:ext>
            </a:extLst>
          </p:cNvPr>
          <p:cNvSpPr txBox="1"/>
          <p:nvPr/>
        </p:nvSpPr>
        <p:spPr>
          <a:xfrm>
            <a:off x="4667250" y="4095750"/>
            <a:ext cx="5715000" cy="276999"/>
          </a:xfrm>
          <a:prstGeom prst="rect">
            <a:avLst/>
          </a:prstGeom>
          <a:noFill/>
        </p:spPr>
        <p:txBody>
          <a:bodyPr vert="horz" wrap="square" lIns="0" tIns="0" rIns="0" bIns="0" rtlCol="0" anchor="t">
            <a:noAutofit/>
          </a:bodyPr>
          <a:lstStyle/>
          <a:p>
            <a:pPr>
              <a:lnSpc>
                <a:spcPct val="125000"/>
              </a:lnSpc>
            </a:pPr>
            <a:r>
              <a:rPr lang="es-ES" sz="1013" b="1">
                <a:solidFill>
                  <a:srgbClr val="F0CF90"/>
                </a:solidFill>
                <a:latin typeface="Calibri" panose="020F0502020204030204" pitchFamily="34" charset="0"/>
              </a:rPr>
              <a:t>La cadena de conexión vive solo en el Web Service.</a:t>
            </a:r>
            <a:endParaRPr lang="es-HN" sz="1013" b="1">
              <a:solidFill>
                <a:srgbClr val="F0CF90"/>
              </a:solidFill>
              <a:latin typeface="Calibri" panose="020F0502020204030204" pitchFamily="34" charset="0"/>
            </a:endParaRPr>
          </a:p>
        </p:txBody>
      </p:sp>
      <p:sp>
        <p:nvSpPr>
          <p:cNvPr id="47" name="CuadroTexto 46">
            <a:extLst>
              <a:ext uri="{FF2B5EF4-FFF2-40B4-BE49-F238E27FC236}">
                <a16:creationId xmlns:a16="http://schemas.microsoft.com/office/drawing/2014/main" id="{4F655849-37CC-ED20-C49D-88F7B02457DC}"/>
              </a:ext>
            </a:extLst>
          </p:cNvPr>
          <p:cNvSpPr txBox="1"/>
          <p:nvPr/>
        </p:nvSpPr>
        <p:spPr>
          <a:xfrm>
            <a:off x="4667250" y="4305300"/>
            <a:ext cx="5715000" cy="276999"/>
          </a:xfrm>
          <a:prstGeom prst="rect">
            <a:avLst/>
          </a:prstGeom>
          <a:noFill/>
        </p:spPr>
        <p:txBody>
          <a:bodyPr vert="horz" wrap="square" lIns="0" tIns="0" rIns="0" bIns="0" rtlCol="0" anchor="t">
            <a:noAutofit/>
          </a:bodyPr>
          <a:lstStyle/>
          <a:p>
            <a:pPr>
              <a:lnSpc>
                <a:spcPct val="130000"/>
              </a:lnSpc>
            </a:pPr>
            <a:r>
              <a:rPr lang="es-ES" sz="863">
                <a:solidFill>
                  <a:srgbClr val="F0CF90"/>
                </a:solidFill>
                <a:latin typeface="Calibri" panose="020F0502020204030204" pitchFamily="34" charset="0"/>
              </a:rPr>
              <a:t>El frontend no la tiene, no referencia System.Data y no puede consultar la base ni por error.</a:t>
            </a:r>
            <a:endParaRPr lang="es-HN" sz="863">
              <a:solidFill>
                <a:srgbClr val="F0CF90"/>
              </a:solidFill>
              <a:latin typeface="Calibri" panose="020F0502020204030204" pitchFamily="34" charset="0"/>
            </a:endParaRPr>
          </a:p>
        </p:txBody>
      </p:sp>
      <p:sp>
        <p:nvSpPr>
          <p:cNvPr id="48" name="CuadroTexto 47">
            <a:extLst>
              <a:ext uri="{FF2B5EF4-FFF2-40B4-BE49-F238E27FC236}">
                <a16:creationId xmlns:a16="http://schemas.microsoft.com/office/drawing/2014/main" id="{35871C94-642E-42E0-1900-02CB2AD9B996}"/>
              </a:ext>
            </a:extLst>
          </p:cNvPr>
          <p:cNvSpPr txBox="1"/>
          <p:nvPr/>
        </p:nvSpPr>
        <p:spPr>
          <a:xfrm>
            <a:off x="609600" y="6057900"/>
            <a:ext cx="10972800" cy="276999"/>
          </a:xfrm>
          <a:prstGeom prst="rect">
            <a:avLst/>
          </a:prstGeom>
          <a:noFill/>
        </p:spPr>
        <p:txBody>
          <a:bodyPr vert="horz" wrap="square" lIns="0" tIns="0" rIns="0" bIns="0" rtlCol="0" anchor="t">
            <a:noAutofit/>
          </a:bodyPr>
          <a:lstStyle/>
          <a:p>
            <a:pPr>
              <a:lnSpc>
                <a:spcPct val="135000"/>
              </a:lnSpc>
            </a:pPr>
            <a:r>
              <a:rPr lang="es-ES" sz="975">
                <a:solidFill>
                  <a:srgbClr val="8BA3BF"/>
                </a:solidFill>
                <a:latin typeface="Calibri" panose="020F0502020204030204" pitchFamily="34" charset="0"/>
              </a:rPr>
              <a:t>Dos soluciones de Visual Studio independientes más una capa de base de datos por scripts numerados, que se ejecutan en orden con </a:t>
            </a:r>
            <a:r>
              <a:rPr lang="es-ES" sz="877">
                <a:solidFill>
                  <a:srgbClr val="8BA3BF"/>
                </a:solidFill>
                <a:latin typeface="Consolas" panose="020B0609020204030204" pitchFamily="49" charset="0"/>
              </a:rPr>
              <a:t>sqlcmd</a:t>
            </a:r>
            <a:r>
              <a:rPr lang="es-ES" sz="975">
                <a:solidFill>
                  <a:srgbClr val="8BA3BF"/>
                </a:solidFill>
                <a:latin typeface="Calibri" panose="020F0502020204030204" pitchFamily="34" charset="0"/>
              </a:rPr>
              <a:t>.</a:t>
            </a:r>
            <a:endParaRPr lang="es-HN" sz="975">
              <a:solidFill>
                <a:srgbClr val="8BA3BF"/>
              </a:solidFill>
              <a:latin typeface="Calibri" panose="020F0502020204030204" pitchFamily="34" charset="0"/>
            </a:endParaRPr>
          </a:p>
        </p:txBody>
      </p:sp>
    </p:spTree>
    <p:extLst>
      <p:ext uri="{BB962C8B-B14F-4D97-AF65-F5344CB8AC3E}">
        <p14:creationId xmlns:p14="http://schemas.microsoft.com/office/powerpoint/2010/main" val="3103308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23054"/>
            </a:gs>
            <a:gs pos="100000">
              <a:srgbClr val="0A1728"/>
            </a:gs>
          </a:gsLst>
          <a:lin ang="18900000" scaled="1"/>
          <a:tileRect/>
        </a:gra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3E477DA7-875D-3BEE-9A7C-485D5D59949E}"/>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D4F90C6F-238A-2048-DE00-A05961899320}"/>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DAF68366-3114-58C2-2B7E-15C42675224D}"/>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F9BE7619-563D-DEE6-85CB-DF899C4FD612}"/>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54C54006-5357-AD59-808C-DD525F3986F9}"/>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7FC4D8"/>
                </a:solidFill>
                <a:latin typeface="Calibri" panose="020F0502020204030204" pitchFamily="34" charset="0"/>
              </a:rPr>
              <a:t>ARQUITECTURA · MODELO DE DATOS</a:t>
            </a:r>
          </a:p>
        </p:txBody>
      </p:sp>
      <p:sp>
        <p:nvSpPr>
          <p:cNvPr id="7" name="CuadroTexto 6">
            <a:extLst>
              <a:ext uri="{FF2B5EF4-FFF2-40B4-BE49-F238E27FC236}">
                <a16:creationId xmlns:a16="http://schemas.microsoft.com/office/drawing/2014/main" id="{FA8BD315-73C5-9BD8-B61F-F3BCC5FED37D}"/>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850" b="1">
                <a:solidFill>
                  <a:srgbClr val="FFFFFF"/>
                </a:solidFill>
                <a:latin typeface="Georgia" panose="02040502050405020303" pitchFamily="18" charset="0"/>
              </a:rPr>
              <a:t>23 tablas, y una relación que no lleva llave foránea</a:t>
            </a:r>
            <a:endParaRPr lang="es-HN" sz="2850" b="1">
              <a:solidFill>
                <a:srgbClr val="FFFFFF"/>
              </a:solidFill>
              <a:latin typeface="Georgia" panose="02040502050405020303" pitchFamily="18" charset="0"/>
            </a:endParaRPr>
          </a:p>
        </p:txBody>
      </p:sp>
      <p:sp>
        <p:nvSpPr>
          <p:cNvPr id="8" name="CuadroTexto 7">
            <a:extLst>
              <a:ext uri="{FF2B5EF4-FFF2-40B4-BE49-F238E27FC236}">
                <a16:creationId xmlns:a16="http://schemas.microsoft.com/office/drawing/2014/main" id="{51280B30-8CBB-8A71-9FD4-AC3B725B85A3}"/>
              </a:ext>
            </a:extLst>
          </p:cNvPr>
          <p:cNvSpPr txBox="1"/>
          <p:nvPr/>
        </p:nvSpPr>
        <p:spPr>
          <a:xfrm>
            <a:off x="609600" y="1447800"/>
            <a:ext cx="1581150" cy="276999"/>
          </a:xfrm>
          <a:prstGeom prst="rect">
            <a:avLst/>
          </a:prstGeom>
          <a:noFill/>
        </p:spPr>
        <p:txBody>
          <a:bodyPr vert="horz" wrap="square" lIns="0" tIns="0" rIns="0" bIns="0" rtlCol="0" anchor="t">
            <a:noAutofit/>
          </a:bodyPr>
          <a:lstStyle/>
          <a:p>
            <a:pPr>
              <a:lnSpc>
                <a:spcPct val="125000"/>
              </a:lnSpc>
            </a:pPr>
            <a:r>
              <a:rPr lang="es-HN" sz="788" b="1" spc="70">
                <a:solidFill>
                  <a:srgbClr val="7FC4D8"/>
                </a:solidFill>
                <a:latin typeface="Calibri" panose="020F0502020204030204" pitchFamily="34" charset="0"/>
              </a:rPr>
              <a:t>CATÁLOGOS · 6</a:t>
            </a:r>
          </a:p>
        </p:txBody>
      </p:sp>
      <p:sp>
        <p:nvSpPr>
          <p:cNvPr id="9" name="Rectángulo: esquinas redondeadas 8">
            <a:extLst>
              <a:ext uri="{FF2B5EF4-FFF2-40B4-BE49-F238E27FC236}">
                <a16:creationId xmlns:a16="http://schemas.microsoft.com/office/drawing/2014/main" id="{94C1A8E8-32CB-7219-3F61-8974EBB60DB3}"/>
              </a:ext>
            </a:extLst>
          </p:cNvPr>
          <p:cNvSpPr/>
          <p:nvPr/>
        </p:nvSpPr>
        <p:spPr>
          <a:xfrm>
            <a:off x="609600" y="1657350"/>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0" name="CuadroTexto 9">
            <a:extLst>
              <a:ext uri="{FF2B5EF4-FFF2-40B4-BE49-F238E27FC236}">
                <a16:creationId xmlns:a16="http://schemas.microsoft.com/office/drawing/2014/main" id="{92881163-020B-C07D-F58A-751543BA10BD}"/>
              </a:ext>
            </a:extLst>
          </p:cNvPr>
          <p:cNvSpPr txBox="1"/>
          <p:nvPr/>
        </p:nvSpPr>
        <p:spPr>
          <a:xfrm>
            <a:off x="695325" y="1724025"/>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Roles</a:t>
            </a:r>
          </a:p>
        </p:txBody>
      </p:sp>
      <p:sp>
        <p:nvSpPr>
          <p:cNvPr id="11" name="Rectángulo: esquinas redondeadas 10">
            <a:extLst>
              <a:ext uri="{FF2B5EF4-FFF2-40B4-BE49-F238E27FC236}">
                <a16:creationId xmlns:a16="http://schemas.microsoft.com/office/drawing/2014/main" id="{27E0539C-3081-29A0-7959-C8C8EF5AB92C}"/>
              </a:ext>
            </a:extLst>
          </p:cNvPr>
          <p:cNvSpPr/>
          <p:nvPr/>
        </p:nvSpPr>
        <p:spPr>
          <a:xfrm>
            <a:off x="609600" y="1971675"/>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2" name="CuadroTexto 11">
            <a:extLst>
              <a:ext uri="{FF2B5EF4-FFF2-40B4-BE49-F238E27FC236}">
                <a16:creationId xmlns:a16="http://schemas.microsoft.com/office/drawing/2014/main" id="{B2190CEE-C8AE-8D56-EF6D-4466D04F42C8}"/>
              </a:ext>
            </a:extLst>
          </p:cNvPr>
          <p:cNvSpPr txBox="1"/>
          <p:nvPr/>
        </p:nvSpPr>
        <p:spPr>
          <a:xfrm>
            <a:off x="695325" y="2038350"/>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Cargos</a:t>
            </a:r>
          </a:p>
        </p:txBody>
      </p:sp>
      <p:sp>
        <p:nvSpPr>
          <p:cNvPr id="13" name="Rectángulo: esquinas redondeadas 12">
            <a:extLst>
              <a:ext uri="{FF2B5EF4-FFF2-40B4-BE49-F238E27FC236}">
                <a16:creationId xmlns:a16="http://schemas.microsoft.com/office/drawing/2014/main" id="{D36FC24E-CE1A-7947-AE86-EE7678C20AB0}"/>
              </a:ext>
            </a:extLst>
          </p:cNvPr>
          <p:cNvSpPr/>
          <p:nvPr/>
        </p:nvSpPr>
        <p:spPr>
          <a:xfrm>
            <a:off x="609600" y="2286000"/>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4" name="CuadroTexto 13">
            <a:extLst>
              <a:ext uri="{FF2B5EF4-FFF2-40B4-BE49-F238E27FC236}">
                <a16:creationId xmlns:a16="http://schemas.microsoft.com/office/drawing/2014/main" id="{CA65B168-B5CD-0149-DB7E-90D45382A3FC}"/>
              </a:ext>
            </a:extLst>
          </p:cNvPr>
          <p:cNvSpPr txBox="1"/>
          <p:nvPr/>
        </p:nvSpPr>
        <p:spPr>
          <a:xfrm>
            <a:off x="695325" y="2352675"/>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Departamentos</a:t>
            </a:r>
          </a:p>
        </p:txBody>
      </p:sp>
      <p:sp>
        <p:nvSpPr>
          <p:cNvPr id="15" name="Rectángulo: esquinas redondeadas 14">
            <a:extLst>
              <a:ext uri="{FF2B5EF4-FFF2-40B4-BE49-F238E27FC236}">
                <a16:creationId xmlns:a16="http://schemas.microsoft.com/office/drawing/2014/main" id="{AEC673C5-AA82-4A46-85C2-18D5928906DA}"/>
              </a:ext>
            </a:extLst>
          </p:cNvPr>
          <p:cNvSpPr/>
          <p:nvPr/>
        </p:nvSpPr>
        <p:spPr>
          <a:xfrm>
            <a:off x="609600" y="2600325"/>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6" name="CuadroTexto 15">
            <a:extLst>
              <a:ext uri="{FF2B5EF4-FFF2-40B4-BE49-F238E27FC236}">
                <a16:creationId xmlns:a16="http://schemas.microsoft.com/office/drawing/2014/main" id="{56444398-A375-44A4-A6D0-13F04E6A0A1B}"/>
              </a:ext>
            </a:extLst>
          </p:cNvPr>
          <p:cNvSpPr txBox="1"/>
          <p:nvPr/>
        </p:nvSpPr>
        <p:spPr>
          <a:xfrm>
            <a:off x="695325" y="2667000"/>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Categorias</a:t>
            </a:r>
          </a:p>
        </p:txBody>
      </p:sp>
      <p:sp>
        <p:nvSpPr>
          <p:cNvPr id="17" name="Rectángulo: esquinas redondeadas 16">
            <a:extLst>
              <a:ext uri="{FF2B5EF4-FFF2-40B4-BE49-F238E27FC236}">
                <a16:creationId xmlns:a16="http://schemas.microsoft.com/office/drawing/2014/main" id="{F715DFEC-E821-A216-D208-39424B58348C}"/>
              </a:ext>
            </a:extLst>
          </p:cNvPr>
          <p:cNvSpPr/>
          <p:nvPr/>
        </p:nvSpPr>
        <p:spPr>
          <a:xfrm>
            <a:off x="609600" y="2914650"/>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8" name="CuadroTexto 17">
            <a:extLst>
              <a:ext uri="{FF2B5EF4-FFF2-40B4-BE49-F238E27FC236}">
                <a16:creationId xmlns:a16="http://schemas.microsoft.com/office/drawing/2014/main" id="{E00D7C9B-DCAF-D04E-8C5F-7B95F123BB29}"/>
              </a:ext>
            </a:extLst>
          </p:cNvPr>
          <p:cNvSpPr txBox="1"/>
          <p:nvPr/>
        </p:nvSpPr>
        <p:spPr>
          <a:xfrm>
            <a:off x="695325" y="2981325"/>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EstadosPropuesta</a:t>
            </a:r>
          </a:p>
        </p:txBody>
      </p:sp>
      <p:sp>
        <p:nvSpPr>
          <p:cNvPr id="19" name="Rectángulo: esquinas redondeadas 18">
            <a:extLst>
              <a:ext uri="{FF2B5EF4-FFF2-40B4-BE49-F238E27FC236}">
                <a16:creationId xmlns:a16="http://schemas.microsoft.com/office/drawing/2014/main" id="{98393A04-FA54-BF20-DBDA-C26D925E4CE6}"/>
              </a:ext>
            </a:extLst>
          </p:cNvPr>
          <p:cNvSpPr/>
          <p:nvPr/>
        </p:nvSpPr>
        <p:spPr>
          <a:xfrm>
            <a:off x="609600" y="3228975"/>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0" name="CuadroTexto 19">
            <a:extLst>
              <a:ext uri="{FF2B5EF4-FFF2-40B4-BE49-F238E27FC236}">
                <a16:creationId xmlns:a16="http://schemas.microsoft.com/office/drawing/2014/main" id="{8318738B-4E90-A278-C71C-5A1CCA62445F}"/>
              </a:ext>
            </a:extLst>
          </p:cNvPr>
          <p:cNvSpPr txBox="1"/>
          <p:nvPr/>
        </p:nvSpPr>
        <p:spPr>
          <a:xfrm>
            <a:off x="695325" y="3295650"/>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NivelesVerificacion</a:t>
            </a:r>
          </a:p>
        </p:txBody>
      </p:sp>
      <p:sp>
        <p:nvSpPr>
          <p:cNvPr id="21" name="CuadroTexto 20">
            <a:extLst>
              <a:ext uri="{FF2B5EF4-FFF2-40B4-BE49-F238E27FC236}">
                <a16:creationId xmlns:a16="http://schemas.microsoft.com/office/drawing/2014/main" id="{53CCB698-46FD-7D78-C27F-66B31553EF9F}"/>
              </a:ext>
            </a:extLst>
          </p:cNvPr>
          <p:cNvSpPr txBox="1"/>
          <p:nvPr/>
        </p:nvSpPr>
        <p:spPr>
          <a:xfrm>
            <a:off x="2328863" y="1447800"/>
            <a:ext cx="1581150" cy="276999"/>
          </a:xfrm>
          <a:prstGeom prst="rect">
            <a:avLst/>
          </a:prstGeom>
          <a:noFill/>
        </p:spPr>
        <p:txBody>
          <a:bodyPr vert="horz" wrap="square" lIns="0" tIns="0" rIns="0" bIns="0" rtlCol="0" anchor="t">
            <a:noAutofit/>
          </a:bodyPr>
          <a:lstStyle/>
          <a:p>
            <a:pPr>
              <a:lnSpc>
                <a:spcPct val="125000"/>
              </a:lnSpc>
            </a:pPr>
            <a:r>
              <a:rPr lang="es-HN" sz="788" b="1" spc="70">
                <a:solidFill>
                  <a:srgbClr val="7FC4D8"/>
                </a:solidFill>
                <a:latin typeface="Calibri" panose="020F0502020204030204" pitchFamily="34" charset="0"/>
              </a:rPr>
              <a:t>ENTIDADES · 6</a:t>
            </a:r>
          </a:p>
        </p:txBody>
      </p:sp>
      <p:sp>
        <p:nvSpPr>
          <p:cNvPr id="22" name="Rectángulo: esquinas redondeadas 21">
            <a:extLst>
              <a:ext uri="{FF2B5EF4-FFF2-40B4-BE49-F238E27FC236}">
                <a16:creationId xmlns:a16="http://schemas.microsoft.com/office/drawing/2014/main" id="{17B76B40-1FAE-5A89-BCBD-D68315C1C504}"/>
              </a:ext>
            </a:extLst>
          </p:cNvPr>
          <p:cNvSpPr/>
          <p:nvPr/>
        </p:nvSpPr>
        <p:spPr>
          <a:xfrm>
            <a:off x="2328863" y="1657350"/>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3" name="CuadroTexto 22">
            <a:extLst>
              <a:ext uri="{FF2B5EF4-FFF2-40B4-BE49-F238E27FC236}">
                <a16:creationId xmlns:a16="http://schemas.microsoft.com/office/drawing/2014/main" id="{8E52550F-3213-4C24-67DB-2BFD7703A377}"/>
              </a:ext>
            </a:extLst>
          </p:cNvPr>
          <p:cNvSpPr txBox="1"/>
          <p:nvPr/>
        </p:nvSpPr>
        <p:spPr>
          <a:xfrm>
            <a:off x="2414588" y="1724025"/>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Campanas</a:t>
            </a:r>
          </a:p>
        </p:txBody>
      </p:sp>
      <p:sp>
        <p:nvSpPr>
          <p:cNvPr id="24" name="Rectángulo: esquinas redondeadas 23">
            <a:extLst>
              <a:ext uri="{FF2B5EF4-FFF2-40B4-BE49-F238E27FC236}">
                <a16:creationId xmlns:a16="http://schemas.microsoft.com/office/drawing/2014/main" id="{8DBCB216-2578-4A1C-866E-38730D3F2974}"/>
              </a:ext>
            </a:extLst>
          </p:cNvPr>
          <p:cNvSpPr/>
          <p:nvPr/>
        </p:nvSpPr>
        <p:spPr>
          <a:xfrm>
            <a:off x="2328863" y="1971675"/>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5" name="CuadroTexto 24">
            <a:extLst>
              <a:ext uri="{FF2B5EF4-FFF2-40B4-BE49-F238E27FC236}">
                <a16:creationId xmlns:a16="http://schemas.microsoft.com/office/drawing/2014/main" id="{A630BB66-BEB3-8C20-6035-7322053A3151}"/>
              </a:ext>
            </a:extLst>
          </p:cNvPr>
          <p:cNvSpPr txBox="1"/>
          <p:nvPr/>
        </p:nvSpPr>
        <p:spPr>
          <a:xfrm>
            <a:off x="2414588" y="2038350"/>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Partidos</a:t>
            </a:r>
          </a:p>
        </p:txBody>
      </p:sp>
      <p:sp>
        <p:nvSpPr>
          <p:cNvPr id="26" name="Rectángulo: esquinas redondeadas 25">
            <a:extLst>
              <a:ext uri="{FF2B5EF4-FFF2-40B4-BE49-F238E27FC236}">
                <a16:creationId xmlns:a16="http://schemas.microsoft.com/office/drawing/2014/main" id="{8D9C6DBD-A717-2CDB-9534-4D33355A1043}"/>
              </a:ext>
            </a:extLst>
          </p:cNvPr>
          <p:cNvSpPr/>
          <p:nvPr/>
        </p:nvSpPr>
        <p:spPr>
          <a:xfrm>
            <a:off x="2328863" y="2286000"/>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7" name="CuadroTexto 26">
            <a:extLst>
              <a:ext uri="{FF2B5EF4-FFF2-40B4-BE49-F238E27FC236}">
                <a16:creationId xmlns:a16="http://schemas.microsoft.com/office/drawing/2014/main" id="{7F52B6DE-4614-6567-AEA4-D3361D7261A5}"/>
              </a:ext>
            </a:extLst>
          </p:cNvPr>
          <p:cNvSpPr txBox="1"/>
          <p:nvPr/>
        </p:nvSpPr>
        <p:spPr>
          <a:xfrm>
            <a:off x="2414588" y="2352675"/>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Candidatos</a:t>
            </a:r>
          </a:p>
        </p:txBody>
      </p:sp>
      <p:sp>
        <p:nvSpPr>
          <p:cNvPr id="28" name="Rectángulo: esquinas redondeadas 27">
            <a:extLst>
              <a:ext uri="{FF2B5EF4-FFF2-40B4-BE49-F238E27FC236}">
                <a16:creationId xmlns:a16="http://schemas.microsoft.com/office/drawing/2014/main" id="{D44FA02B-C12F-C2F7-4700-B61EE49C5B61}"/>
              </a:ext>
            </a:extLst>
          </p:cNvPr>
          <p:cNvSpPr/>
          <p:nvPr/>
        </p:nvSpPr>
        <p:spPr>
          <a:xfrm>
            <a:off x="2328863" y="2600325"/>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9" name="CuadroTexto 28">
            <a:extLst>
              <a:ext uri="{FF2B5EF4-FFF2-40B4-BE49-F238E27FC236}">
                <a16:creationId xmlns:a16="http://schemas.microsoft.com/office/drawing/2014/main" id="{E406B2FC-752D-5F74-A70D-CACC7D2B66E5}"/>
              </a:ext>
            </a:extLst>
          </p:cNvPr>
          <p:cNvSpPr txBox="1"/>
          <p:nvPr/>
        </p:nvSpPr>
        <p:spPr>
          <a:xfrm>
            <a:off x="2414588" y="2667000"/>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Propuestas</a:t>
            </a:r>
          </a:p>
        </p:txBody>
      </p:sp>
      <p:sp>
        <p:nvSpPr>
          <p:cNvPr id="30" name="Rectángulo: esquinas redondeadas 29">
            <a:extLst>
              <a:ext uri="{FF2B5EF4-FFF2-40B4-BE49-F238E27FC236}">
                <a16:creationId xmlns:a16="http://schemas.microsoft.com/office/drawing/2014/main" id="{BE02858F-056C-1757-7374-C2898E1454BC}"/>
              </a:ext>
            </a:extLst>
          </p:cNvPr>
          <p:cNvSpPr/>
          <p:nvPr/>
        </p:nvSpPr>
        <p:spPr>
          <a:xfrm>
            <a:off x="2328863" y="2914650"/>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1" name="CuadroTexto 30">
            <a:extLst>
              <a:ext uri="{FF2B5EF4-FFF2-40B4-BE49-F238E27FC236}">
                <a16:creationId xmlns:a16="http://schemas.microsoft.com/office/drawing/2014/main" id="{3CD0CC0B-A7A6-1450-32FC-4CC7A0F4B274}"/>
              </a:ext>
            </a:extLst>
          </p:cNvPr>
          <p:cNvSpPr txBox="1"/>
          <p:nvPr/>
        </p:nvSpPr>
        <p:spPr>
          <a:xfrm>
            <a:off x="2414588" y="2981325"/>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Publicaciones</a:t>
            </a:r>
          </a:p>
        </p:txBody>
      </p:sp>
      <p:sp>
        <p:nvSpPr>
          <p:cNvPr id="32" name="Rectángulo: esquinas redondeadas 31">
            <a:extLst>
              <a:ext uri="{FF2B5EF4-FFF2-40B4-BE49-F238E27FC236}">
                <a16:creationId xmlns:a16="http://schemas.microsoft.com/office/drawing/2014/main" id="{7FE5A153-5BDF-999D-2E0B-02B3F9D2F380}"/>
              </a:ext>
            </a:extLst>
          </p:cNvPr>
          <p:cNvSpPr/>
          <p:nvPr/>
        </p:nvSpPr>
        <p:spPr>
          <a:xfrm>
            <a:off x="2328863" y="3228975"/>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3" name="CuadroTexto 32">
            <a:extLst>
              <a:ext uri="{FF2B5EF4-FFF2-40B4-BE49-F238E27FC236}">
                <a16:creationId xmlns:a16="http://schemas.microsoft.com/office/drawing/2014/main" id="{33D9B430-EF2F-49A7-3C5E-66BA216C1F08}"/>
              </a:ext>
            </a:extLst>
          </p:cNvPr>
          <p:cNvSpPr txBox="1"/>
          <p:nvPr/>
        </p:nvSpPr>
        <p:spPr>
          <a:xfrm>
            <a:off x="2414588" y="3295650"/>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Usuarios</a:t>
            </a:r>
          </a:p>
        </p:txBody>
      </p:sp>
      <p:sp>
        <p:nvSpPr>
          <p:cNvPr id="34" name="CuadroTexto 33">
            <a:extLst>
              <a:ext uri="{FF2B5EF4-FFF2-40B4-BE49-F238E27FC236}">
                <a16:creationId xmlns:a16="http://schemas.microsoft.com/office/drawing/2014/main" id="{DD181C5F-408F-C058-F636-01F1B42D0783}"/>
              </a:ext>
            </a:extLst>
          </p:cNvPr>
          <p:cNvSpPr txBox="1"/>
          <p:nvPr/>
        </p:nvSpPr>
        <p:spPr>
          <a:xfrm>
            <a:off x="4048125" y="1447800"/>
            <a:ext cx="1581150" cy="276999"/>
          </a:xfrm>
          <a:prstGeom prst="rect">
            <a:avLst/>
          </a:prstGeom>
          <a:noFill/>
        </p:spPr>
        <p:txBody>
          <a:bodyPr vert="horz" wrap="square" lIns="0" tIns="0" rIns="0" bIns="0" rtlCol="0" anchor="t">
            <a:noAutofit/>
          </a:bodyPr>
          <a:lstStyle/>
          <a:p>
            <a:pPr>
              <a:lnSpc>
                <a:spcPct val="125000"/>
              </a:lnSpc>
            </a:pPr>
            <a:r>
              <a:rPr lang="es-HN" sz="788" b="1" spc="70">
                <a:solidFill>
                  <a:srgbClr val="7FC4D8"/>
                </a:solidFill>
                <a:latin typeface="Calibri" panose="020F0502020204030204" pitchFamily="34" charset="0"/>
              </a:rPr>
              <a:t>PARTICIPACIÓN · 6</a:t>
            </a:r>
          </a:p>
        </p:txBody>
      </p:sp>
      <p:sp>
        <p:nvSpPr>
          <p:cNvPr id="35" name="Rectángulo: esquinas redondeadas 34">
            <a:extLst>
              <a:ext uri="{FF2B5EF4-FFF2-40B4-BE49-F238E27FC236}">
                <a16:creationId xmlns:a16="http://schemas.microsoft.com/office/drawing/2014/main" id="{D955EE05-4A26-3933-0E78-00737C7D2E83}"/>
              </a:ext>
            </a:extLst>
          </p:cNvPr>
          <p:cNvSpPr/>
          <p:nvPr/>
        </p:nvSpPr>
        <p:spPr>
          <a:xfrm>
            <a:off x="4048125" y="1657350"/>
            <a:ext cx="1581150" cy="257175"/>
          </a:xfrm>
          <a:prstGeom prst="roundRect">
            <a:avLst>
              <a:gd name="adj" fmla="val 6000"/>
            </a:avLst>
          </a:prstGeom>
          <a:solidFill>
            <a:srgbClr val="4A3A18"/>
          </a:solidFill>
          <a:ln w="12700">
            <a:solidFill>
              <a:srgbClr val="D390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6" name="CuadroTexto 35">
            <a:extLst>
              <a:ext uri="{FF2B5EF4-FFF2-40B4-BE49-F238E27FC236}">
                <a16:creationId xmlns:a16="http://schemas.microsoft.com/office/drawing/2014/main" id="{676C54AB-A49A-06A3-C704-8EA9501917AE}"/>
              </a:ext>
            </a:extLst>
          </p:cNvPr>
          <p:cNvSpPr txBox="1"/>
          <p:nvPr/>
        </p:nvSpPr>
        <p:spPr>
          <a:xfrm>
            <a:off x="4133850" y="1724025"/>
            <a:ext cx="1428750" cy="276999"/>
          </a:xfrm>
          <a:prstGeom prst="rect">
            <a:avLst/>
          </a:prstGeom>
          <a:noFill/>
        </p:spPr>
        <p:txBody>
          <a:bodyPr vert="horz" wrap="square" lIns="0" tIns="0" rIns="0" bIns="0" rtlCol="0" anchor="t">
            <a:noAutofit/>
          </a:bodyPr>
          <a:lstStyle/>
          <a:p>
            <a:pPr>
              <a:lnSpc>
                <a:spcPct val="125000"/>
              </a:lnSpc>
            </a:pPr>
            <a:r>
              <a:rPr lang="es-HN" sz="863">
                <a:solidFill>
                  <a:srgbClr val="F0CF90"/>
                </a:solidFill>
                <a:latin typeface="Consolas" panose="020B0609020204030204" pitchFamily="49" charset="0"/>
              </a:rPr>
              <a:t>TiposObjeto</a:t>
            </a:r>
          </a:p>
        </p:txBody>
      </p:sp>
      <p:sp>
        <p:nvSpPr>
          <p:cNvPr id="37" name="Rectángulo: esquinas redondeadas 36">
            <a:extLst>
              <a:ext uri="{FF2B5EF4-FFF2-40B4-BE49-F238E27FC236}">
                <a16:creationId xmlns:a16="http://schemas.microsoft.com/office/drawing/2014/main" id="{AEA1D94A-F4DD-74FD-9EC0-6AAC90A4889A}"/>
              </a:ext>
            </a:extLst>
          </p:cNvPr>
          <p:cNvSpPr/>
          <p:nvPr/>
        </p:nvSpPr>
        <p:spPr>
          <a:xfrm>
            <a:off x="4048125" y="1971675"/>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8" name="CuadroTexto 37">
            <a:extLst>
              <a:ext uri="{FF2B5EF4-FFF2-40B4-BE49-F238E27FC236}">
                <a16:creationId xmlns:a16="http://schemas.microsoft.com/office/drawing/2014/main" id="{216CC959-A3B1-EB6C-B688-4AE699B6B9E7}"/>
              </a:ext>
            </a:extLst>
          </p:cNvPr>
          <p:cNvSpPr txBox="1"/>
          <p:nvPr/>
        </p:nvSpPr>
        <p:spPr>
          <a:xfrm>
            <a:off x="4133850" y="2038350"/>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Valoraciones</a:t>
            </a:r>
          </a:p>
        </p:txBody>
      </p:sp>
      <p:sp>
        <p:nvSpPr>
          <p:cNvPr id="39" name="Rectángulo: esquinas redondeadas 38">
            <a:extLst>
              <a:ext uri="{FF2B5EF4-FFF2-40B4-BE49-F238E27FC236}">
                <a16:creationId xmlns:a16="http://schemas.microsoft.com/office/drawing/2014/main" id="{597140B3-E773-BDB8-65AA-E0426402FD35}"/>
              </a:ext>
            </a:extLst>
          </p:cNvPr>
          <p:cNvSpPr/>
          <p:nvPr/>
        </p:nvSpPr>
        <p:spPr>
          <a:xfrm>
            <a:off x="4048125" y="2286000"/>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0" name="CuadroTexto 39">
            <a:extLst>
              <a:ext uri="{FF2B5EF4-FFF2-40B4-BE49-F238E27FC236}">
                <a16:creationId xmlns:a16="http://schemas.microsoft.com/office/drawing/2014/main" id="{0F64C036-0D37-53AA-76B8-95B7C9FB66AE}"/>
              </a:ext>
            </a:extLst>
          </p:cNvPr>
          <p:cNvSpPr txBox="1"/>
          <p:nvPr/>
        </p:nvSpPr>
        <p:spPr>
          <a:xfrm>
            <a:off x="4133850" y="2352675"/>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Comentarios</a:t>
            </a:r>
          </a:p>
        </p:txBody>
      </p:sp>
      <p:sp>
        <p:nvSpPr>
          <p:cNvPr id="41" name="Rectángulo: esquinas redondeadas 40">
            <a:extLst>
              <a:ext uri="{FF2B5EF4-FFF2-40B4-BE49-F238E27FC236}">
                <a16:creationId xmlns:a16="http://schemas.microsoft.com/office/drawing/2014/main" id="{2D8D4781-D4F2-31AC-619C-3284A3CE253F}"/>
              </a:ext>
            </a:extLst>
          </p:cNvPr>
          <p:cNvSpPr/>
          <p:nvPr/>
        </p:nvSpPr>
        <p:spPr>
          <a:xfrm>
            <a:off x="4048125" y="2600325"/>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2" name="CuadroTexto 41">
            <a:extLst>
              <a:ext uri="{FF2B5EF4-FFF2-40B4-BE49-F238E27FC236}">
                <a16:creationId xmlns:a16="http://schemas.microsoft.com/office/drawing/2014/main" id="{6A153F9A-E2B9-D55F-D658-57C114DB19B7}"/>
              </a:ext>
            </a:extLst>
          </p:cNvPr>
          <p:cNvSpPr txBox="1"/>
          <p:nvPr/>
        </p:nvSpPr>
        <p:spPr>
          <a:xfrm>
            <a:off x="4133850" y="2667000"/>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Encuestas</a:t>
            </a:r>
          </a:p>
        </p:txBody>
      </p:sp>
      <p:sp>
        <p:nvSpPr>
          <p:cNvPr id="43" name="Rectángulo: esquinas redondeadas 42">
            <a:extLst>
              <a:ext uri="{FF2B5EF4-FFF2-40B4-BE49-F238E27FC236}">
                <a16:creationId xmlns:a16="http://schemas.microsoft.com/office/drawing/2014/main" id="{EE99C378-307F-C57F-29DF-720AECB4C043}"/>
              </a:ext>
            </a:extLst>
          </p:cNvPr>
          <p:cNvSpPr/>
          <p:nvPr/>
        </p:nvSpPr>
        <p:spPr>
          <a:xfrm>
            <a:off x="4048125" y="2914650"/>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4" name="CuadroTexto 43">
            <a:extLst>
              <a:ext uri="{FF2B5EF4-FFF2-40B4-BE49-F238E27FC236}">
                <a16:creationId xmlns:a16="http://schemas.microsoft.com/office/drawing/2014/main" id="{4195977D-7645-7312-C5FE-1F032EEF4E9E}"/>
              </a:ext>
            </a:extLst>
          </p:cNvPr>
          <p:cNvSpPr txBox="1"/>
          <p:nvPr/>
        </p:nvSpPr>
        <p:spPr>
          <a:xfrm>
            <a:off x="4133850" y="2981325"/>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EncuestaOpciones</a:t>
            </a:r>
          </a:p>
        </p:txBody>
      </p:sp>
      <p:sp>
        <p:nvSpPr>
          <p:cNvPr id="45" name="Rectángulo: esquinas redondeadas 44">
            <a:extLst>
              <a:ext uri="{FF2B5EF4-FFF2-40B4-BE49-F238E27FC236}">
                <a16:creationId xmlns:a16="http://schemas.microsoft.com/office/drawing/2014/main" id="{16F4AB3E-FC73-C417-5662-F4D81AAEF851}"/>
              </a:ext>
            </a:extLst>
          </p:cNvPr>
          <p:cNvSpPr/>
          <p:nvPr/>
        </p:nvSpPr>
        <p:spPr>
          <a:xfrm>
            <a:off x="4048125" y="3228975"/>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6" name="CuadroTexto 45">
            <a:extLst>
              <a:ext uri="{FF2B5EF4-FFF2-40B4-BE49-F238E27FC236}">
                <a16:creationId xmlns:a16="http://schemas.microsoft.com/office/drawing/2014/main" id="{DF182F8E-D4A6-3BB9-AA24-06BC412D1094}"/>
              </a:ext>
            </a:extLst>
          </p:cNvPr>
          <p:cNvSpPr txBox="1"/>
          <p:nvPr/>
        </p:nvSpPr>
        <p:spPr>
          <a:xfrm>
            <a:off x="4133850" y="3295650"/>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EncuestaVotos</a:t>
            </a:r>
          </a:p>
        </p:txBody>
      </p:sp>
      <p:sp>
        <p:nvSpPr>
          <p:cNvPr id="47" name="CuadroTexto 46">
            <a:extLst>
              <a:ext uri="{FF2B5EF4-FFF2-40B4-BE49-F238E27FC236}">
                <a16:creationId xmlns:a16="http://schemas.microsoft.com/office/drawing/2014/main" id="{31DAA8DD-0C0B-A07B-CFB4-3D0C71F53F79}"/>
              </a:ext>
            </a:extLst>
          </p:cNvPr>
          <p:cNvSpPr txBox="1"/>
          <p:nvPr/>
        </p:nvSpPr>
        <p:spPr>
          <a:xfrm>
            <a:off x="5767388" y="1447800"/>
            <a:ext cx="1581150" cy="276999"/>
          </a:xfrm>
          <a:prstGeom prst="rect">
            <a:avLst/>
          </a:prstGeom>
          <a:noFill/>
        </p:spPr>
        <p:txBody>
          <a:bodyPr vert="horz" wrap="square" lIns="0" tIns="0" rIns="0" bIns="0" rtlCol="0" anchor="t">
            <a:noAutofit/>
          </a:bodyPr>
          <a:lstStyle/>
          <a:p>
            <a:pPr>
              <a:lnSpc>
                <a:spcPct val="125000"/>
              </a:lnSpc>
            </a:pPr>
            <a:r>
              <a:rPr lang="es-HN" sz="788" b="1" spc="70">
                <a:solidFill>
                  <a:srgbClr val="7FC4D8"/>
                </a:solidFill>
                <a:latin typeface="Calibri" panose="020F0502020204030204" pitchFamily="34" charset="0"/>
              </a:rPr>
              <a:t>GOBIERNO · 5</a:t>
            </a:r>
          </a:p>
        </p:txBody>
      </p:sp>
      <p:sp>
        <p:nvSpPr>
          <p:cNvPr id="48" name="Rectángulo: esquinas redondeadas 47">
            <a:extLst>
              <a:ext uri="{FF2B5EF4-FFF2-40B4-BE49-F238E27FC236}">
                <a16:creationId xmlns:a16="http://schemas.microsoft.com/office/drawing/2014/main" id="{BFB1FA31-9669-481D-31DE-0AE1FAA11ED6}"/>
              </a:ext>
            </a:extLst>
          </p:cNvPr>
          <p:cNvSpPr/>
          <p:nvPr/>
        </p:nvSpPr>
        <p:spPr>
          <a:xfrm>
            <a:off x="5767388" y="1657350"/>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9" name="CuadroTexto 48">
            <a:extLst>
              <a:ext uri="{FF2B5EF4-FFF2-40B4-BE49-F238E27FC236}">
                <a16:creationId xmlns:a16="http://schemas.microsoft.com/office/drawing/2014/main" id="{FA0F60BA-578C-5AB2-B0E8-608124C9F26E}"/>
              </a:ext>
            </a:extLst>
          </p:cNvPr>
          <p:cNvSpPr txBox="1"/>
          <p:nvPr/>
        </p:nvSpPr>
        <p:spPr>
          <a:xfrm>
            <a:off x="5853113" y="1724025"/>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Auditoria</a:t>
            </a:r>
          </a:p>
        </p:txBody>
      </p:sp>
      <p:sp>
        <p:nvSpPr>
          <p:cNvPr id="50" name="Rectángulo: esquinas redondeadas 49">
            <a:extLst>
              <a:ext uri="{FF2B5EF4-FFF2-40B4-BE49-F238E27FC236}">
                <a16:creationId xmlns:a16="http://schemas.microsoft.com/office/drawing/2014/main" id="{7A0AB6B0-7EC2-AD4A-702F-C12657898322}"/>
              </a:ext>
            </a:extLst>
          </p:cNvPr>
          <p:cNvSpPr/>
          <p:nvPr/>
        </p:nvSpPr>
        <p:spPr>
          <a:xfrm>
            <a:off x="5767388" y="1971675"/>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1" name="CuadroTexto 50">
            <a:extLst>
              <a:ext uri="{FF2B5EF4-FFF2-40B4-BE49-F238E27FC236}">
                <a16:creationId xmlns:a16="http://schemas.microsoft.com/office/drawing/2014/main" id="{6DE40C32-C43E-5D05-A1E3-05913C9442A5}"/>
              </a:ext>
            </a:extLst>
          </p:cNvPr>
          <p:cNvSpPr txBox="1"/>
          <p:nvPr/>
        </p:nvSpPr>
        <p:spPr>
          <a:xfrm>
            <a:off x="5853113" y="2038350"/>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Modulos</a:t>
            </a:r>
          </a:p>
        </p:txBody>
      </p:sp>
      <p:sp>
        <p:nvSpPr>
          <p:cNvPr id="52" name="Rectángulo: esquinas redondeadas 51">
            <a:extLst>
              <a:ext uri="{FF2B5EF4-FFF2-40B4-BE49-F238E27FC236}">
                <a16:creationId xmlns:a16="http://schemas.microsoft.com/office/drawing/2014/main" id="{C2B880B8-D580-FDE2-C227-D7BED0377A4D}"/>
              </a:ext>
            </a:extLst>
          </p:cNvPr>
          <p:cNvSpPr/>
          <p:nvPr/>
        </p:nvSpPr>
        <p:spPr>
          <a:xfrm>
            <a:off x="5767388" y="2286000"/>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3" name="CuadroTexto 52">
            <a:extLst>
              <a:ext uri="{FF2B5EF4-FFF2-40B4-BE49-F238E27FC236}">
                <a16:creationId xmlns:a16="http://schemas.microsoft.com/office/drawing/2014/main" id="{E0DC7E3E-4B7D-C289-AC24-B561C148BBBE}"/>
              </a:ext>
            </a:extLst>
          </p:cNvPr>
          <p:cNvSpPr txBox="1"/>
          <p:nvPr/>
        </p:nvSpPr>
        <p:spPr>
          <a:xfrm>
            <a:off x="5853113" y="2352675"/>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ConsultasIA</a:t>
            </a:r>
          </a:p>
        </p:txBody>
      </p:sp>
      <p:sp>
        <p:nvSpPr>
          <p:cNvPr id="54" name="Rectángulo: esquinas redondeadas 53">
            <a:extLst>
              <a:ext uri="{FF2B5EF4-FFF2-40B4-BE49-F238E27FC236}">
                <a16:creationId xmlns:a16="http://schemas.microsoft.com/office/drawing/2014/main" id="{D509F297-6BB8-A5F0-D479-DF129CB77CD9}"/>
              </a:ext>
            </a:extLst>
          </p:cNvPr>
          <p:cNvSpPr/>
          <p:nvPr/>
        </p:nvSpPr>
        <p:spPr>
          <a:xfrm>
            <a:off x="5767388" y="2600325"/>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5" name="CuadroTexto 54">
            <a:extLst>
              <a:ext uri="{FF2B5EF4-FFF2-40B4-BE49-F238E27FC236}">
                <a16:creationId xmlns:a16="http://schemas.microsoft.com/office/drawing/2014/main" id="{09426E5A-0F2E-F810-07FA-F98E5E64A7A8}"/>
              </a:ext>
            </a:extLst>
          </p:cNvPr>
          <p:cNvSpPr txBox="1"/>
          <p:nvPr/>
        </p:nvSpPr>
        <p:spPr>
          <a:xfrm>
            <a:off x="5853113" y="2667000"/>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DominiosCorreo</a:t>
            </a:r>
          </a:p>
        </p:txBody>
      </p:sp>
      <p:sp>
        <p:nvSpPr>
          <p:cNvPr id="56" name="Rectángulo: esquinas redondeadas 55">
            <a:extLst>
              <a:ext uri="{FF2B5EF4-FFF2-40B4-BE49-F238E27FC236}">
                <a16:creationId xmlns:a16="http://schemas.microsoft.com/office/drawing/2014/main" id="{7A861F7D-FA73-DD2A-148A-C5CCF49A5555}"/>
              </a:ext>
            </a:extLst>
          </p:cNvPr>
          <p:cNvSpPr/>
          <p:nvPr/>
        </p:nvSpPr>
        <p:spPr>
          <a:xfrm>
            <a:off x="5767388" y="2914650"/>
            <a:ext cx="1581150" cy="257175"/>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7" name="CuadroTexto 56">
            <a:extLst>
              <a:ext uri="{FF2B5EF4-FFF2-40B4-BE49-F238E27FC236}">
                <a16:creationId xmlns:a16="http://schemas.microsoft.com/office/drawing/2014/main" id="{C7239296-94F0-4738-F32A-9DBCF6A278FF}"/>
              </a:ext>
            </a:extLst>
          </p:cNvPr>
          <p:cNvSpPr txBox="1"/>
          <p:nvPr/>
        </p:nvSpPr>
        <p:spPr>
          <a:xfrm>
            <a:off x="5853113" y="2981325"/>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onsolas" panose="020B0609020204030204" pitchFamily="49" charset="0"/>
              </a:rPr>
              <a:t>ConfirmacionesCorreo</a:t>
            </a:r>
          </a:p>
        </p:txBody>
      </p:sp>
      <p:sp>
        <p:nvSpPr>
          <p:cNvPr id="58" name="Rectángulo: esquinas redondeadas 57">
            <a:extLst>
              <a:ext uri="{FF2B5EF4-FFF2-40B4-BE49-F238E27FC236}">
                <a16:creationId xmlns:a16="http://schemas.microsoft.com/office/drawing/2014/main" id="{0B9E9748-7262-741C-830E-6E0D20344D11}"/>
              </a:ext>
            </a:extLst>
          </p:cNvPr>
          <p:cNvSpPr/>
          <p:nvPr/>
        </p:nvSpPr>
        <p:spPr>
          <a:xfrm>
            <a:off x="8172450" y="1447800"/>
            <a:ext cx="2838450" cy="514350"/>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9" name="CuadroTexto 58">
            <a:extLst>
              <a:ext uri="{FF2B5EF4-FFF2-40B4-BE49-F238E27FC236}">
                <a16:creationId xmlns:a16="http://schemas.microsoft.com/office/drawing/2014/main" id="{54A20353-93D9-524C-FADC-DCF2E6411219}"/>
              </a:ext>
            </a:extLst>
          </p:cNvPr>
          <p:cNvSpPr txBox="1"/>
          <p:nvPr/>
        </p:nvSpPr>
        <p:spPr>
          <a:xfrm>
            <a:off x="8324850" y="1543050"/>
            <a:ext cx="2571750" cy="276999"/>
          </a:xfrm>
          <a:prstGeom prst="rect">
            <a:avLst/>
          </a:prstGeom>
          <a:noFill/>
        </p:spPr>
        <p:txBody>
          <a:bodyPr vert="horz" wrap="square" lIns="0" tIns="0" rIns="0" bIns="0" rtlCol="0" anchor="t">
            <a:noAutofit/>
          </a:bodyPr>
          <a:lstStyle/>
          <a:p>
            <a:pPr>
              <a:lnSpc>
                <a:spcPct val="125000"/>
              </a:lnSpc>
            </a:pPr>
            <a:r>
              <a:rPr lang="es-HN" sz="938" b="1">
                <a:solidFill>
                  <a:srgbClr val="FFFFFF"/>
                </a:solidFill>
                <a:latin typeface="Calibri" panose="020F0502020204030204" pitchFamily="34" charset="0"/>
              </a:rPr>
              <a:t>Valoraciones · Comentarios · Auditoria</a:t>
            </a:r>
          </a:p>
        </p:txBody>
      </p:sp>
      <p:sp>
        <p:nvSpPr>
          <p:cNvPr id="60" name="CuadroTexto 59">
            <a:extLst>
              <a:ext uri="{FF2B5EF4-FFF2-40B4-BE49-F238E27FC236}">
                <a16:creationId xmlns:a16="http://schemas.microsoft.com/office/drawing/2014/main" id="{F35E08C1-39FC-3BEE-1667-A42F57701EFF}"/>
              </a:ext>
            </a:extLst>
          </p:cNvPr>
          <p:cNvSpPr txBox="1"/>
          <p:nvPr/>
        </p:nvSpPr>
        <p:spPr>
          <a:xfrm>
            <a:off x="8324850" y="1733550"/>
            <a:ext cx="2571750" cy="276999"/>
          </a:xfrm>
          <a:prstGeom prst="rect">
            <a:avLst/>
          </a:prstGeom>
          <a:noFill/>
        </p:spPr>
        <p:txBody>
          <a:bodyPr vert="horz" wrap="square" lIns="0" tIns="0" rIns="0" bIns="0" rtlCol="0" anchor="t">
            <a:noAutofit/>
          </a:bodyPr>
          <a:lstStyle/>
          <a:p>
            <a:pPr>
              <a:lnSpc>
                <a:spcPct val="125000"/>
              </a:lnSpc>
            </a:pPr>
            <a:r>
              <a:rPr lang="es-ES" sz="825">
                <a:solidFill>
                  <a:srgbClr val="BACADD"/>
                </a:solidFill>
                <a:latin typeface="Calibri" panose="020F0502020204030204" pitchFamily="34" charset="0"/>
              </a:rPr>
              <a:t>apuntan a cualquier objeto de la plataforma</a:t>
            </a:r>
            <a:endParaRPr lang="es-HN" sz="825">
              <a:solidFill>
                <a:srgbClr val="BACADD"/>
              </a:solidFill>
              <a:latin typeface="Calibri" panose="020F0502020204030204" pitchFamily="34" charset="0"/>
            </a:endParaRPr>
          </a:p>
        </p:txBody>
      </p:sp>
      <p:cxnSp>
        <p:nvCxnSpPr>
          <p:cNvPr id="61" name="Conector recto 60">
            <a:extLst>
              <a:ext uri="{FF2B5EF4-FFF2-40B4-BE49-F238E27FC236}">
                <a16:creationId xmlns:a16="http://schemas.microsoft.com/office/drawing/2014/main" id="{7F03FB8D-463D-F861-8BF4-60D0FE7EEF09}"/>
              </a:ext>
            </a:extLst>
          </p:cNvPr>
          <p:cNvCxnSpPr/>
          <p:nvPr/>
        </p:nvCxnSpPr>
        <p:spPr>
          <a:xfrm>
            <a:off x="9591675" y="1962150"/>
            <a:ext cx="0" cy="323850"/>
          </a:xfrm>
          <a:prstGeom prst="line">
            <a:avLst/>
          </a:prstGeom>
          <a:ln w="15240">
            <a:solidFill>
              <a:srgbClr val="3E5F86"/>
            </a:solidFill>
            <a:tailEnd type="arrow" w="sm" len="sm"/>
          </a:ln>
        </p:spPr>
        <p:style>
          <a:lnRef idx="2">
            <a:schemeClr val="accent1"/>
          </a:lnRef>
          <a:fillRef idx="0">
            <a:schemeClr val="accent1"/>
          </a:fillRef>
          <a:effectRef idx="1">
            <a:schemeClr val="accent1"/>
          </a:effectRef>
          <a:fontRef idx="minor">
            <a:schemeClr val="tx1"/>
          </a:fontRef>
        </p:style>
      </p:cxnSp>
      <p:sp>
        <p:nvSpPr>
          <p:cNvPr id="62" name="Rectángulo: esquinas redondeadas 61">
            <a:extLst>
              <a:ext uri="{FF2B5EF4-FFF2-40B4-BE49-F238E27FC236}">
                <a16:creationId xmlns:a16="http://schemas.microsoft.com/office/drawing/2014/main" id="{ED723451-7734-8016-C5C2-CE2441B33C36}"/>
              </a:ext>
            </a:extLst>
          </p:cNvPr>
          <p:cNvSpPr/>
          <p:nvPr/>
        </p:nvSpPr>
        <p:spPr>
          <a:xfrm>
            <a:off x="8324850" y="2324100"/>
            <a:ext cx="2533650" cy="323850"/>
          </a:xfrm>
          <a:prstGeom prst="roundRect">
            <a:avLst>
              <a:gd name="adj" fmla="val 6000"/>
            </a:avLst>
          </a:prstGeom>
          <a:solidFill>
            <a:srgbClr val="4A3A18"/>
          </a:solidFill>
          <a:ln w="12700">
            <a:solidFill>
              <a:srgbClr val="A07A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3" name="CuadroTexto 62">
            <a:extLst>
              <a:ext uri="{FF2B5EF4-FFF2-40B4-BE49-F238E27FC236}">
                <a16:creationId xmlns:a16="http://schemas.microsoft.com/office/drawing/2014/main" id="{DA184136-6864-B393-84E0-499C492830C0}"/>
              </a:ext>
            </a:extLst>
          </p:cNvPr>
          <p:cNvSpPr txBox="1"/>
          <p:nvPr/>
        </p:nvSpPr>
        <p:spPr>
          <a:xfrm>
            <a:off x="8324850" y="2409825"/>
            <a:ext cx="2533650" cy="276999"/>
          </a:xfrm>
          <a:prstGeom prst="rect">
            <a:avLst/>
          </a:prstGeom>
          <a:noFill/>
        </p:spPr>
        <p:txBody>
          <a:bodyPr vert="horz" wrap="square" lIns="0" tIns="0" rIns="0" bIns="0" rtlCol="0" anchor="t">
            <a:noAutofit/>
          </a:bodyPr>
          <a:lstStyle/>
          <a:p>
            <a:pPr algn="ctr">
              <a:lnSpc>
                <a:spcPct val="125000"/>
              </a:lnSpc>
            </a:pPr>
            <a:r>
              <a:rPr lang="es-HN" sz="863">
                <a:solidFill>
                  <a:srgbClr val="F0CF90"/>
                </a:solidFill>
                <a:latin typeface="Consolas" panose="020B0609020204030204" pitchFamily="49" charset="0"/>
              </a:rPr>
              <a:t>(codigoTipoObjeto, codigoObjeto)</a:t>
            </a:r>
          </a:p>
        </p:txBody>
      </p:sp>
      <p:cxnSp>
        <p:nvCxnSpPr>
          <p:cNvPr id="64" name="Conector recto 63">
            <a:extLst>
              <a:ext uri="{FF2B5EF4-FFF2-40B4-BE49-F238E27FC236}">
                <a16:creationId xmlns:a16="http://schemas.microsoft.com/office/drawing/2014/main" id="{505BF044-D824-42BF-C303-0DAC1CB612C1}"/>
              </a:ext>
            </a:extLst>
          </p:cNvPr>
          <p:cNvCxnSpPr/>
          <p:nvPr/>
        </p:nvCxnSpPr>
        <p:spPr>
          <a:xfrm>
            <a:off x="9591675" y="2647950"/>
            <a:ext cx="0" cy="266700"/>
          </a:xfrm>
          <a:prstGeom prst="line">
            <a:avLst/>
          </a:prstGeom>
          <a:ln w="15240">
            <a:solidFill>
              <a:srgbClr val="3E5F86"/>
            </a:solidFill>
            <a:tailEnd type="arrow" w="sm" len="sm"/>
          </a:ln>
        </p:spPr>
        <p:style>
          <a:lnRef idx="2">
            <a:schemeClr val="accent1"/>
          </a:lnRef>
          <a:fillRef idx="0">
            <a:schemeClr val="accent1"/>
          </a:fillRef>
          <a:effectRef idx="1">
            <a:schemeClr val="accent1"/>
          </a:effectRef>
          <a:fontRef idx="minor">
            <a:schemeClr val="tx1"/>
          </a:fontRef>
        </p:style>
      </p:cxnSp>
      <p:sp>
        <p:nvSpPr>
          <p:cNvPr id="65" name="Rectángulo: esquinas redondeadas 64">
            <a:extLst>
              <a:ext uri="{FF2B5EF4-FFF2-40B4-BE49-F238E27FC236}">
                <a16:creationId xmlns:a16="http://schemas.microsoft.com/office/drawing/2014/main" id="{D9961261-ECC6-C7A7-43B9-78F37CC76F8A}"/>
              </a:ext>
            </a:extLst>
          </p:cNvPr>
          <p:cNvSpPr/>
          <p:nvPr/>
        </p:nvSpPr>
        <p:spPr>
          <a:xfrm>
            <a:off x="8724900" y="2933700"/>
            <a:ext cx="1733550" cy="361950"/>
          </a:xfrm>
          <a:prstGeom prst="roundRect">
            <a:avLst>
              <a:gd name="adj" fmla="val 6000"/>
            </a:avLst>
          </a:prstGeom>
          <a:solidFill>
            <a:srgbClr val="17475F"/>
          </a:solidFill>
          <a:ln w="12700">
            <a:solidFill>
              <a:srgbClr val="4FA8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6" name="CuadroTexto 65">
            <a:extLst>
              <a:ext uri="{FF2B5EF4-FFF2-40B4-BE49-F238E27FC236}">
                <a16:creationId xmlns:a16="http://schemas.microsoft.com/office/drawing/2014/main" id="{54FAF3ED-8FD8-DE87-8BBF-BF3D4B432344}"/>
              </a:ext>
            </a:extLst>
          </p:cNvPr>
          <p:cNvSpPr txBox="1"/>
          <p:nvPr/>
        </p:nvSpPr>
        <p:spPr>
          <a:xfrm>
            <a:off x="8724900" y="3038475"/>
            <a:ext cx="1733550" cy="276999"/>
          </a:xfrm>
          <a:prstGeom prst="rect">
            <a:avLst/>
          </a:prstGeom>
          <a:noFill/>
        </p:spPr>
        <p:txBody>
          <a:bodyPr vert="horz" wrap="square" lIns="0" tIns="0" rIns="0" bIns="0" rtlCol="0" anchor="t">
            <a:noAutofit/>
          </a:bodyPr>
          <a:lstStyle/>
          <a:p>
            <a:pPr algn="ctr">
              <a:lnSpc>
                <a:spcPct val="125000"/>
              </a:lnSpc>
            </a:pPr>
            <a:r>
              <a:rPr lang="es-HN" sz="900">
                <a:solidFill>
                  <a:srgbClr val="FFFFFF"/>
                </a:solidFill>
                <a:latin typeface="Consolas" panose="020B0609020204030204" pitchFamily="49" charset="0"/>
              </a:rPr>
              <a:t>TiposObjeto</a:t>
            </a:r>
          </a:p>
        </p:txBody>
      </p:sp>
      <p:cxnSp>
        <p:nvCxnSpPr>
          <p:cNvPr id="67" name="Conector recto 66">
            <a:extLst>
              <a:ext uri="{FF2B5EF4-FFF2-40B4-BE49-F238E27FC236}">
                <a16:creationId xmlns:a16="http://schemas.microsoft.com/office/drawing/2014/main" id="{B8673F8F-7016-171F-66F4-7DFD77FF1F3E}"/>
              </a:ext>
            </a:extLst>
          </p:cNvPr>
          <p:cNvCxnSpPr/>
          <p:nvPr/>
        </p:nvCxnSpPr>
        <p:spPr>
          <a:xfrm>
            <a:off x="9591675" y="3295650"/>
            <a:ext cx="0" cy="152400"/>
          </a:xfrm>
          <a:prstGeom prst="line">
            <a:avLst/>
          </a:prstGeom>
          <a:ln w="15240">
            <a:solidFill>
              <a:srgbClr val="A07A3C"/>
            </a:solidFill>
            <a:prstDash val="dash"/>
          </a:ln>
        </p:spPr>
        <p:style>
          <a:lnRef idx="2">
            <a:schemeClr val="accent1"/>
          </a:lnRef>
          <a:fillRef idx="0">
            <a:schemeClr val="accent1"/>
          </a:fillRef>
          <a:effectRef idx="1">
            <a:schemeClr val="accent1"/>
          </a:effectRef>
          <a:fontRef idx="minor">
            <a:schemeClr val="tx1"/>
          </a:fontRef>
        </p:style>
      </p:cxnSp>
      <p:cxnSp>
        <p:nvCxnSpPr>
          <p:cNvPr id="68" name="Conector recto 67">
            <a:extLst>
              <a:ext uri="{FF2B5EF4-FFF2-40B4-BE49-F238E27FC236}">
                <a16:creationId xmlns:a16="http://schemas.microsoft.com/office/drawing/2014/main" id="{CA0AAC80-3BD7-9430-1687-BB97045585AF}"/>
              </a:ext>
            </a:extLst>
          </p:cNvPr>
          <p:cNvCxnSpPr/>
          <p:nvPr/>
        </p:nvCxnSpPr>
        <p:spPr>
          <a:xfrm>
            <a:off x="7677150" y="3448050"/>
            <a:ext cx="3829050" cy="0"/>
          </a:xfrm>
          <a:prstGeom prst="line">
            <a:avLst/>
          </a:prstGeom>
          <a:ln w="15240">
            <a:solidFill>
              <a:srgbClr val="A07A3C"/>
            </a:solidFill>
            <a:prstDash val="dash"/>
          </a:ln>
        </p:spPr>
        <p:style>
          <a:lnRef idx="2">
            <a:schemeClr val="accent1"/>
          </a:lnRef>
          <a:fillRef idx="0">
            <a:schemeClr val="accent1"/>
          </a:fillRef>
          <a:effectRef idx="1">
            <a:schemeClr val="accent1"/>
          </a:effectRef>
          <a:fontRef idx="minor">
            <a:schemeClr val="tx1"/>
          </a:fontRef>
        </p:style>
      </p:cxnSp>
      <p:cxnSp>
        <p:nvCxnSpPr>
          <p:cNvPr id="69" name="Conector recto 68">
            <a:extLst>
              <a:ext uri="{FF2B5EF4-FFF2-40B4-BE49-F238E27FC236}">
                <a16:creationId xmlns:a16="http://schemas.microsoft.com/office/drawing/2014/main" id="{758A2DA1-96E9-EA9F-BBF4-7DAC248B8DD8}"/>
              </a:ext>
            </a:extLst>
          </p:cNvPr>
          <p:cNvCxnSpPr/>
          <p:nvPr/>
        </p:nvCxnSpPr>
        <p:spPr>
          <a:xfrm>
            <a:off x="7981950" y="3448050"/>
            <a:ext cx="0" cy="133350"/>
          </a:xfrm>
          <a:prstGeom prst="line">
            <a:avLst/>
          </a:prstGeom>
          <a:ln w="15240">
            <a:solidFill>
              <a:srgbClr val="A07A3C"/>
            </a:solidFill>
            <a:prstDash val="dash"/>
          </a:ln>
        </p:spPr>
        <p:style>
          <a:lnRef idx="2">
            <a:schemeClr val="accent1"/>
          </a:lnRef>
          <a:fillRef idx="0">
            <a:schemeClr val="accent1"/>
          </a:fillRef>
          <a:effectRef idx="1">
            <a:schemeClr val="accent1"/>
          </a:effectRef>
          <a:fontRef idx="minor">
            <a:schemeClr val="tx1"/>
          </a:fontRef>
        </p:style>
      </p:cxnSp>
      <p:sp>
        <p:nvSpPr>
          <p:cNvPr id="70" name="Rectángulo: esquinas redondeadas 69">
            <a:extLst>
              <a:ext uri="{FF2B5EF4-FFF2-40B4-BE49-F238E27FC236}">
                <a16:creationId xmlns:a16="http://schemas.microsoft.com/office/drawing/2014/main" id="{7A735DBB-56BB-FD74-B313-45223AFE1E51}"/>
              </a:ext>
            </a:extLst>
          </p:cNvPr>
          <p:cNvSpPr/>
          <p:nvPr/>
        </p:nvSpPr>
        <p:spPr>
          <a:xfrm>
            <a:off x="7600950" y="3600450"/>
            <a:ext cx="762000" cy="247650"/>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71" name="CuadroTexto 70">
            <a:extLst>
              <a:ext uri="{FF2B5EF4-FFF2-40B4-BE49-F238E27FC236}">
                <a16:creationId xmlns:a16="http://schemas.microsoft.com/office/drawing/2014/main" id="{7A578E83-01F1-0758-4AAD-F3C563832724}"/>
              </a:ext>
            </a:extLst>
          </p:cNvPr>
          <p:cNvSpPr txBox="1"/>
          <p:nvPr/>
        </p:nvSpPr>
        <p:spPr>
          <a:xfrm>
            <a:off x="7629525" y="3667125"/>
            <a:ext cx="704850" cy="276999"/>
          </a:xfrm>
          <a:prstGeom prst="rect">
            <a:avLst/>
          </a:prstGeom>
          <a:noFill/>
        </p:spPr>
        <p:txBody>
          <a:bodyPr vert="horz" wrap="square" lIns="0" tIns="0" rIns="0" bIns="0" rtlCol="0" anchor="t">
            <a:noAutofit/>
          </a:bodyPr>
          <a:lstStyle/>
          <a:p>
            <a:pPr algn="ctr">
              <a:lnSpc>
                <a:spcPct val="125000"/>
              </a:lnSpc>
            </a:pPr>
            <a:r>
              <a:rPr lang="es-HN" sz="675">
                <a:solidFill>
                  <a:srgbClr val="BACADD"/>
                </a:solidFill>
                <a:latin typeface="Consolas" panose="020B0609020204030204" pitchFamily="49" charset="0"/>
              </a:rPr>
              <a:t>Candidatos</a:t>
            </a:r>
          </a:p>
        </p:txBody>
      </p:sp>
      <p:cxnSp>
        <p:nvCxnSpPr>
          <p:cNvPr id="72" name="Conector recto 71">
            <a:extLst>
              <a:ext uri="{FF2B5EF4-FFF2-40B4-BE49-F238E27FC236}">
                <a16:creationId xmlns:a16="http://schemas.microsoft.com/office/drawing/2014/main" id="{228091F0-D595-E0C5-7DF4-56D68ACDE60A}"/>
              </a:ext>
            </a:extLst>
          </p:cNvPr>
          <p:cNvCxnSpPr/>
          <p:nvPr/>
        </p:nvCxnSpPr>
        <p:spPr>
          <a:xfrm>
            <a:off x="8782050" y="3448050"/>
            <a:ext cx="0" cy="133350"/>
          </a:xfrm>
          <a:prstGeom prst="line">
            <a:avLst/>
          </a:prstGeom>
          <a:ln w="15240">
            <a:solidFill>
              <a:srgbClr val="A07A3C"/>
            </a:solidFill>
            <a:prstDash val="dash"/>
          </a:ln>
        </p:spPr>
        <p:style>
          <a:lnRef idx="2">
            <a:schemeClr val="accent1"/>
          </a:lnRef>
          <a:fillRef idx="0">
            <a:schemeClr val="accent1"/>
          </a:fillRef>
          <a:effectRef idx="1">
            <a:schemeClr val="accent1"/>
          </a:effectRef>
          <a:fontRef idx="minor">
            <a:schemeClr val="tx1"/>
          </a:fontRef>
        </p:style>
      </p:cxnSp>
      <p:sp>
        <p:nvSpPr>
          <p:cNvPr id="73" name="Rectángulo: esquinas redondeadas 72">
            <a:extLst>
              <a:ext uri="{FF2B5EF4-FFF2-40B4-BE49-F238E27FC236}">
                <a16:creationId xmlns:a16="http://schemas.microsoft.com/office/drawing/2014/main" id="{1BC2823E-8D6F-DF04-5E48-F0DFCB8E038E}"/>
              </a:ext>
            </a:extLst>
          </p:cNvPr>
          <p:cNvSpPr/>
          <p:nvPr/>
        </p:nvSpPr>
        <p:spPr>
          <a:xfrm>
            <a:off x="8401050" y="3600450"/>
            <a:ext cx="762000" cy="247650"/>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74" name="CuadroTexto 73">
            <a:extLst>
              <a:ext uri="{FF2B5EF4-FFF2-40B4-BE49-F238E27FC236}">
                <a16:creationId xmlns:a16="http://schemas.microsoft.com/office/drawing/2014/main" id="{93919EF5-12BF-5BF2-22D2-99D71A991AFE}"/>
              </a:ext>
            </a:extLst>
          </p:cNvPr>
          <p:cNvSpPr txBox="1"/>
          <p:nvPr/>
        </p:nvSpPr>
        <p:spPr>
          <a:xfrm>
            <a:off x="8429625" y="3667125"/>
            <a:ext cx="704850" cy="276999"/>
          </a:xfrm>
          <a:prstGeom prst="rect">
            <a:avLst/>
          </a:prstGeom>
          <a:noFill/>
        </p:spPr>
        <p:txBody>
          <a:bodyPr vert="horz" wrap="square" lIns="0" tIns="0" rIns="0" bIns="0" rtlCol="0" anchor="t">
            <a:noAutofit/>
          </a:bodyPr>
          <a:lstStyle/>
          <a:p>
            <a:pPr algn="ctr">
              <a:lnSpc>
                <a:spcPct val="125000"/>
              </a:lnSpc>
            </a:pPr>
            <a:r>
              <a:rPr lang="es-HN" sz="675">
                <a:solidFill>
                  <a:srgbClr val="BACADD"/>
                </a:solidFill>
                <a:latin typeface="Consolas" panose="020B0609020204030204" pitchFamily="49" charset="0"/>
              </a:rPr>
              <a:t>Propuestas</a:t>
            </a:r>
          </a:p>
        </p:txBody>
      </p:sp>
      <p:cxnSp>
        <p:nvCxnSpPr>
          <p:cNvPr id="75" name="Conector recto 74">
            <a:extLst>
              <a:ext uri="{FF2B5EF4-FFF2-40B4-BE49-F238E27FC236}">
                <a16:creationId xmlns:a16="http://schemas.microsoft.com/office/drawing/2014/main" id="{CF10F460-D847-D50E-669B-597C6C8E5C68}"/>
              </a:ext>
            </a:extLst>
          </p:cNvPr>
          <p:cNvCxnSpPr/>
          <p:nvPr/>
        </p:nvCxnSpPr>
        <p:spPr>
          <a:xfrm>
            <a:off x="9582150" y="3448050"/>
            <a:ext cx="0" cy="133350"/>
          </a:xfrm>
          <a:prstGeom prst="line">
            <a:avLst/>
          </a:prstGeom>
          <a:ln w="15240">
            <a:solidFill>
              <a:srgbClr val="A07A3C"/>
            </a:solidFill>
            <a:prstDash val="dash"/>
          </a:ln>
        </p:spPr>
        <p:style>
          <a:lnRef idx="2">
            <a:schemeClr val="accent1"/>
          </a:lnRef>
          <a:fillRef idx="0">
            <a:schemeClr val="accent1"/>
          </a:fillRef>
          <a:effectRef idx="1">
            <a:schemeClr val="accent1"/>
          </a:effectRef>
          <a:fontRef idx="minor">
            <a:schemeClr val="tx1"/>
          </a:fontRef>
        </p:style>
      </p:cxnSp>
      <p:sp>
        <p:nvSpPr>
          <p:cNvPr id="76" name="Rectángulo: esquinas redondeadas 75">
            <a:extLst>
              <a:ext uri="{FF2B5EF4-FFF2-40B4-BE49-F238E27FC236}">
                <a16:creationId xmlns:a16="http://schemas.microsoft.com/office/drawing/2014/main" id="{5A26564E-DD18-F813-3DE2-7B81248225EC}"/>
              </a:ext>
            </a:extLst>
          </p:cNvPr>
          <p:cNvSpPr/>
          <p:nvPr/>
        </p:nvSpPr>
        <p:spPr>
          <a:xfrm>
            <a:off x="9201150" y="3600450"/>
            <a:ext cx="762000" cy="247650"/>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77" name="CuadroTexto 76">
            <a:extLst>
              <a:ext uri="{FF2B5EF4-FFF2-40B4-BE49-F238E27FC236}">
                <a16:creationId xmlns:a16="http://schemas.microsoft.com/office/drawing/2014/main" id="{89BD5D02-C992-7A05-7BC6-A1DB83A74C5B}"/>
              </a:ext>
            </a:extLst>
          </p:cNvPr>
          <p:cNvSpPr txBox="1"/>
          <p:nvPr/>
        </p:nvSpPr>
        <p:spPr>
          <a:xfrm>
            <a:off x="9229725" y="3667125"/>
            <a:ext cx="704850" cy="276999"/>
          </a:xfrm>
          <a:prstGeom prst="rect">
            <a:avLst/>
          </a:prstGeom>
          <a:noFill/>
        </p:spPr>
        <p:txBody>
          <a:bodyPr vert="horz" wrap="square" lIns="0" tIns="0" rIns="0" bIns="0" rtlCol="0" anchor="t">
            <a:noAutofit/>
          </a:bodyPr>
          <a:lstStyle/>
          <a:p>
            <a:pPr algn="ctr">
              <a:lnSpc>
                <a:spcPct val="125000"/>
              </a:lnSpc>
            </a:pPr>
            <a:r>
              <a:rPr lang="es-HN" sz="675">
                <a:solidFill>
                  <a:srgbClr val="BACADD"/>
                </a:solidFill>
                <a:latin typeface="Consolas" panose="020B0609020204030204" pitchFamily="49" charset="0"/>
              </a:rPr>
              <a:t>Publicaciones</a:t>
            </a:r>
          </a:p>
        </p:txBody>
      </p:sp>
      <p:cxnSp>
        <p:nvCxnSpPr>
          <p:cNvPr id="78" name="Conector recto 77">
            <a:extLst>
              <a:ext uri="{FF2B5EF4-FFF2-40B4-BE49-F238E27FC236}">
                <a16:creationId xmlns:a16="http://schemas.microsoft.com/office/drawing/2014/main" id="{419CF7D3-B030-A8CC-0B73-DE69BEF373BF}"/>
              </a:ext>
            </a:extLst>
          </p:cNvPr>
          <p:cNvCxnSpPr/>
          <p:nvPr/>
        </p:nvCxnSpPr>
        <p:spPr>
          <a:xfrm>
            <a:off x="10382250" y="3448050"/>
            <a:ext cx="0" cy="133350"/>
          </a:xfrm>
          <a:prstGeom prst="line">
            <a:avLst/>
          </a:prstGeom>
          <a:ln w="15240">
            <a:solidFill>
              <a:srgbClr val="A07A3C"/>
            </a:solidFill>
            <a:prstDash val="dash"/>
          </a:ln>
        </p:spPr>
        <p:style>
          <a:lnRef idx="2">
            <a:schemeClr val="accent1"/>
          </a:lnRef>
          <a:fillRef idx="0">
            <a:schemeClr val="accent1"/>
          </a:fillRef>
          <a:effectRef idx="1">
            <a:schemeClr val="accent1"/>
          </a:effectRef>
          <a:fontRef idx="minor">
            <a:schemeClr val="tx1"/>
          </a:fontRef>
        </p:style>
      </p:cxnSp>
      <p:sp>
        <p:nvSpPr>
          <p:cNvPr id="79" name="Rectángulo: esquinas redondeadas 78">
            <a:extLst>
              <a:ext uri="{FF2B5EF4-FFF2-40B4-BE49-F238E27FC236}">
                <a16:creationId xmlns:a16="http://schemas.microsoft.com/office/drawing/2014/main" id="{FE008FFE-8FB7-3252-BEEA-4386BABB01A2}"/>
              </a:ext>
            </a:extLst>
          </p:cNvPr>
          <p:cNvSpPr/>
          <p:nvPr/>
        </p:nvSpPr>
        <p:spPr>
          <a:xfrm>
            <a:off x="10001250" y="3600450"/>
            <a:ext cx="762000" cy="247650"/>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80" name="CuadroTexto 79">
            <a:extLst>
              <a:ext uri="{FF2B5EF4-FFF2-40B4-BE49-F238E27FC236}">
                <a16:creationId xmlns:a16="http://schemas.microsoft.com/office/drawing/2014/main" id="{54E7D2C9-7ED4-36F0-146D-439B7DAF5944}"/>
              </a:ext>
            </a:extLst>
          </p:cNvPr>
          <p:cNvSpPr txBox="1"/>
          <p:nvPr/>
        </p:nvSpPr>
        <p:spPr>
          <a:xfrm>
            <a:off x="10029825" y="3667125"/>
            <a:ext cx="704850" cy="276999"/>
          </a:xfrm>
          <a:prstGeom prst="rect">
            <a:avLst/>
          </a:prstGeom>
          <a:noFill/>
        </p:spPr>
        <p:txBody>
          <a:bodyPr vert="horz" wrap="square" lIns="0" tIns="0" rIns="0" bIns="0" rtlCol="0" anchor="t">
            <a:noAutofit/>
          </a:bodyPr>
          <a:lstStyle/>
          <a:p>
            <a:pPr algn="ctr">
              <a:lnSpc>
                <a:spcPct val="125000"/>
              </a:lnSpc>
            </a:pPr>
            <a:r>
              <a:rPr lang="es-HN" sz="675">
                <a:solidFill>
                  <a:srgbClr val="BACADD"/>
                </a:solidFill>
                <a:latin typeface="Consolas" panose="020B0609020204030204" pitchFamily="49" charset="0"/>
              </a:rPr>
              <a:t>Partidos</a:t>
            </a:r>
          </a:p>
        </p:txBody>
      </p:sp>
      <p:cxnSp>
        <p:nvCxnSpPr>
          <p:cNvPr id="81" name="Conector recto 80">
            <a:extLst>
              <a:ext uri="{FF2B5EF4-FFF2-40B4-BE49-F238E27FC236}">
                <a16:creationId xmlns:a16="http://schemas.microsoft.com/office/drawing/2014/main" id="{654904AB-944D-7A6B-A5E5-D196DE768BD9}"/>
              </a:ext>
            </a:extLst>
          </p:cNvPr>
          <p:cNvCxnSpPr/>
          <p:nvPr/>
        </p:nvCxnSpPr>
        <p:spPr>
          <a:xfrm>
            <a:off x="11182350" y="3448050"/>
            <a:ext cx="0" cy="133350"/>
          </a:xfrm>
          <a:prstGeom prst="line">
            <a:avLst/>
          </a:prstGeom>
          <a:ln w="15240">
            <a:solidFill>
              <a:srgbClr val="A07A3C"/>
            </a:solidFill>
            <a:prstDash val="dash"/>
          </a:ln>
        </p:spPr>
        <p:style>
          <a:lnRef idx="2">
            <a:schemeClr val="accent1"/>
          </a:lnRef>
          <a:fillRef idx="0">
            <a:schemeClr val="accent1"/>
          </a:fillRef>
          <a:effectRef idx="1">
            <a:schemeClr val="accent1"/>
          </a:effectRef>
          <a:fontRef idx="minor">
            <a:schemeClr val="tx1"/>
          </a:fontRef>
        </p:style>
      </p:cxnSp>
      <p:sp>
        <p:nvSpPr>
          <p:cNvPr id="82" name="Rectángulo: esquinas redondeadas 81">
            <a:extLst>
              <a:ext uri="{FF2B5EF4-FFF2-40B4-BE49-F238E27FC236}">
                <a16:creationId xmlns:a16="http://schemas.microsoft.com/office/drawing/2014/main" id="{3ADBF5C2-3DFC-0792-22AE-996C83DEE590}"/>
              </a:ext>
            </a:extLst>
          </p:cNvPr>
          <p:cNvSpPr/>
          <p:nvPr/>
        </p:nvSpPr>
        <p:spPr>
          <a:xfrm>
            <a:off x="10801350" y="3600450"/>
            <a:ext cx="762000" cy="247650"/>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83" name="CuadroTexto 82">
            <a:extLst>
              <a:ext uri="{FF2B5EF4-FFF2-40B4-BE49-F238E27FC236}">
                <a16:creationId xmlns:a16="http://schemas.microsoft.com/office/drawing/2014/main" id="{CA98369B-F7DA-B443-B834-E0BDD6ED25F7}"/>
              </a:ext>
            </a:extLst>
          </p:cNvPr>
          <p:cNvSpPr txBox="1"/>
          <p:nvPr/>
        </p:nvSpPr>
        <p:spPr>
          <a:xfrm>
            <a:off x="10829925" y="3667125"/>
            <a:ext cx="704850" cy="276999"/>
          </a:xfrm>
          <a:prstGeom prst="rect">
            <a:avLst/>
          </a:prstGeom>
          <a:noFill/>
        </p:spPr>
        <p:txBody>
          <a:bodyPr vert="horz" wrap="square" lIns="0" tIns="0" rIns="0" bIns="0" rtlCol="0" anchor="t">
            <a:noAutofit/>
          </a:bodyPr>
          <a:lstStyle/>
          <a:p>
            <a:pPr algn="ctr">
              <a:lnSpc>
                <a:spcPct val="125000"/>
              </a:lnSpc>
            </a:pPr>
            <a:r>
              <a:rPr lang="es-HN" sz="675">
                <a:solidFill>
                  <a:srgbClr val="BACADD"/>
                </a:solidFill>
                <a:latin typeface="Consolas" panose="020B0609020204030204" pitchFamily="49" charset="0"/>
              </a:rPr>
              <a:t>Encuestas</a:t>
            </a:r>
          </a:p>
        </p:txBody>
      </p:sp>
      <p:sp>
        <p:nvSpPr>
          <p:cNvPr id="84" name="CuadroTexto 83">
            <a:extLst>
              <a:ext uri="{FF2B5EF4-FFF2-40B4-BE49-F238E27FC236}">
                <a16:creationId xmlns:a16="http://schemas.microsoft.com/office/drawing/2014/main" id="{CCFC33A0-946D-2FBB-A3E1-ECDA2F702E05}"/>
              </a:ext>
            </a:extLst>
          </p:cNvPr>
          <p:cNvSpPr txBox="1"/>
          <p:nvPr/>
        </p:nvSpPr>
        <p:spPr>
          <a:xfrm>
            <a:off x="7600950" y="3981450"/>
            <a:ext cx="3981450" cy="276999"/>
          </a:xfrm>
          <a:prstGeom prst="rect">
            <a:avLst/>
          </a:prstGeom>
          <a:noFill/>
        </p:spPr>
        <p:txBody>
          <a:bodyPr vert="horz" wrap="square" lIns="0" tIns="0" rIns="0" bIns="0" rtlCol="0" anchor="t">
            <a:noAutofit/>
          </a:bodyPr>
          <a:lstStyle/>
          <a:p>
            <a:pPr algn="ctr">
              <a:lnSpc>
                <a:spcPct val="135000"/>
              </a:lnSpc>
            </a:pPr>
            <a:r>
              <a:rPr lang="es-ES" sz="863">
                <a:solidFill>
                  <a:srgbClr val="BACADD"/>
                </a:solidFill>
                <a:latin typeface="Calibri" panose="020F0502020204030204" pitchFamily="34" charset="0"/>
              </a:rPr>
              <a:t>Sin llave foránea: el destino cambia según el tipo. La existencia la valida el Web Service, y la alternativa era repetir ocho tablas iguales.</a:t>
            </a:r>
            <a:endParaRPr lang="es-HN" sz="863">
              <a:solidFill>
                <a:srgbClr val="BACADD"/>
              </a:solidFill>
              <a:latin typeface="Calibri" panose="020F0502020204030204" pitchFamily="34" charset="0"/>
            </a:endParaRPr>
          </a:p>
        </p:txBody>
      </p:sp>
      <p:sp>
        <p:nvSpPr>
          <p:cNvPr id="85" name="CuadroTexto 84">
            <a:extLst>
              <a:ext uri="{FF2B5EF4-FFF2-40B4-BE49-F238E27FC236}">
                <a16:creationId xmlns:a16="http://schemas.microsoft.com/office/drawing/2014/main" id="{23E79F93-D9ED-BB78-572E-6481A5C1079F}"/>
              </a:ext>
            </a:extLst>
          </p:cNvPr>
          <p:cNvSpPr txBox="1"/>
          <p:nvPr/>
        </p:nvSpPr>
        <p:spPr>
          <a:xfrm>
            <a:off x="609600" y="6057900"/>
            <a:ext cx="10972800" cy="276999"/>
          </a:xfrm>
          <a:prstGeom prst="rect">
            <a:avLst/>
          </a:prstGeom>
          <a:noFill/>
        </p:spPr>
        <p:txBody>
          <a:bodyPr vert="horz" wrap="square" lIns="0" tIns="0" rIns="0" bIns="0" rtlCol="0" anchor="t">
            <a:noAutofit/>
          </a:bodyPr>
          <a:lstStyle/>
          <a:p>
            <a:pPr>
              <a:lnSpc>
                <a:spcPct val="135000"/>
              </a:lnSpc>
            </a:pPr>
            <a:r>
              <a:rPr lang="es-ES" sz="975">
                <a:solidFill>
                  <a:srgbClr val="8BA3BF"/>
                </a:solidFill>
                <a:latin typeface="Calibri" panose="020F0502020204030204" pitchFamily="34" charset="0"/>
              </a:rPr>
              <a:t>Los contadores de «me gusta» y de comentarios </a:t>
            </a:r>
            <a:r>
              <a:rPr lang="es-ES" sz="975" b="1">
                <a:solidFill>
                  <a:srgbClr val="8BA3BF"/>
                </a:solidFill>
                <a:latin typeface="Calibri" panose="020F0502020204030204" pitchFamily="34" charset="0"/>
              </a:rPr>
              <a:t>no se guardan</a:t>
            </a:r>
            <a:r>
              <a:rPr lang="es-ES" sz="975">
                <a:solidFill>
                  <a:srgbClr val="8BA3BF"/>
                </a:solidFill>
                <a:latin typeface="Calibri" panose="020F0502020204030204" pitchFamily="34" charset="0"/>
              </a:rPr>
              <a:t>: se derivan con subconsultas, para que el número mostrado no pueda contradecir a las filas reales.</a:t>
            </a:r>
            <a:endParaRPr lang="es-HN" sz="975">
              <a:solidFill>
                <a:srgbClr val="8BA3BF"/>
              </a:solidFill>
              <a:latin typeface="Calibri" panose="020F0502020204030204" pitchFamily="34" charset="0"/>
            </a:endParaRPr>
          </a:p>
        </p:txBody>
      </p:sp>
    </p:spTree>
    <p:extLst>
      <p:ext uri="{BB962C8B-B14F-4D97-AF65-F5344CB8AC3E}">
        <p14:creationId xmlns:p14="http://schemas.microsoft.com/office/powerpoint/2010/main" val="14773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E9970145-2ACF-59AC-661F-4C7E21FFECF6}"/>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B178D3A5-2905-3525-1BC6-1143A387640C}"/>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310C1A08-26DD-2BB9-F948-3A5A399A62E0}"/>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280677C2-118B-3338-4CC7-103A2BA066F6}"/>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1FCD1FA7-B0FD-CD8C-D9DA-B3A0D7306209}"/>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17708A"/>
                </a:solidFill>
                <a:latin typeface="Calibri" panose="020F0502020204030204" pitchFamily="34" charset="0"/>
              </a:rPr>
              <a:t>NEUTRALIDAD</a:t>
            </a:r>
          </a:p>
        </p:txBody>
      </p:sp>
      <p:sp>
        <p:nvSpPr>
          <p:cNvPr id="7" name="CuadroTexto 6">
            <a:extLst>
              <a:ext uri="{FF2B5EF4-FFF2-40B4-BE49-F238E27FC236}">
                <a16:creationId xmlns:a16="http://schemas.microsoft.com/office/drawing/2014/main" id="{34F14D86-479C-F579-1134-013195054EED}"/>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HN" sz="2850" b="1">
                <a:solidFill>
                  <a:srgbClr val="14171C"/>
                </a:solidFill>
                <a:latin typeface="Georgia" panose="02040502050405020303" pitchFamily="18" charset="0"/>
              </a:rPr>
              <a:t>La neutralidad no se declara: se construye</a:t>
            </a:r>
          </a:p>
        </p:txBody>
      </p:sp>
      <p:sp>
        <p:nvSpPr>
          <p:cNvPr id="8" name="Rectángulo: esquinas redondeadas 7">
            <a:extLst>
              <a:ext uri="{FF2B5EF4-FFF2-40B4-BE49-F238E27FC236}">
                <a16:creationId xmlns:a16="http://schemas.microsoft.com/office/drawing/2014/main" id="{B4287A43-ACAE-A432-05B1-ED13AE45B86F}"/>
              </a:ext>
            </a:extLst>
          </p:cNvPr>
          <p:cNvSpPr/>
          <p:nvPr/>
        </p:nvSpPr>
        <p:spPr>
          <a:xfrm>
            <a:off x="609600" y="1333500"/>
            <a:ext cx="5419725" cy="16764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9" name="Rectángulo 8">
            <a:extLst>
              <a:ext uri="{FF2B5EF4-FFF2-40B4-BE49-F238E27FC236}">
                <a16:creationId xmlns:a16="http://schemas.microsoft.com/office/drawing/2014/main" id="{0B38E650-E829-1233-B3D1-7F1DF0097397}"/>
              </a:ext>
            </a:extLst>
          </p:cNvPr>
          <p:cNvSpPr/>
          <p:nvPr/>
        </p:nvSpPr>
        <p:spPr>
          <a:xfrm>
            <a:off x="609600" y="1362075"/>
            <a:ext cx="28575" cy="1619250"/>
          </a:xfrm>
          <a:prstGeom prst="rect">
            <a:avLst/>
          </a:prstGeom>
          <a:solidFill>
            <a:srgbClr val="1B4F9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0" name="CuadroTexto 9">
            <a:extLst>
              <a:ext uri="{FF2B5EF4-FFF2-40B4-BE49-F238E27FC236}">
                <a16:creationId xmlns:a16="http://schemas.microsoft.com/office/drawing/2014/main" id="{9BF171F3-6368-A695-D201-FC7A1157EC48}"/>
              </a:ext>
            </a:extLst>
          </p:cNvPr>
          <p:cNvSpPr txBox="1"/>
          <p:nvPr/>
        </p:nvSpPr>
        <p:spPr>
          <a:xfrm>
            <a:off x="781050" y="1466850"/>
            <a:ext cx="5076825" cy="276999"/>
          </a:xfrm>
          <a:prstGeom prst="rect">
            <a:avLst/>
          </a:prstGeom>
          <a:noFill/>
        </p:spPr>
        <p:txBody>
          <a:bodyPr vert="horz" wrap="square" lIns="0" tIns="0" rIns="0" bIns="0" rtlCol="0" anchor="t">
            <a:noAutofit/>
          </a:bodyPr>
          <a:lstStyle/>
          <a:p>
            <a:pPr>
              <a:lnSpc>
                <a:spcPct val="125000"/>
              </a:lnSpc>
            </a:pPr>
            <a:r>
              <a:rPr lang="es-ES" sz="1313" b="1">
                <a:solidFill>
                  <a:srgbClr val="14171C"/>
                </a:solidFill>
                <a:latin typeface="Georgia" panose="02040502050405020303" pitchFamily="18" charset="0"/>
              </a:rPr>
              <a:t>Verificación y cumplimiento son dos ejes distintos</a:t>
            </a:r>
            <a:endParaRPr lang="es-HN" sz="1313" b="1">
              <a:solidFill>
                <a:srgbClr val="14171C"/>
              </a:solidFill>
              <a:latin typeface="Georgia" panose="02040502050405020303" pitchFamily="18" charset="0"/>
            </a:endParaRPr>
          </a:p>
        </p:txBody>
      </p:sp>
      <p:sp>
        <p:nvSpPr>
          <p:cNvPr id="11" name="CuadroTexto 10">
            <a:extLst>
              <a:ext uri="{FF2B5EF4-FFF2-40B4-BE49-F238E27FC236}">
                <a16:creationId xmlns:a16="http://schemas.microsoft.com/office/drawing/2014/main" id="{FF7BF1EE-B151-690A-FFBB-FC286920B658}"/>
              </a:ext>
            </a:extLst>
          </p:cNvPr>
          <p:cNvSpPr txBox="1"/>
          <p:nvPr/>
        </p:nvSpPr>
        <p:spPr>
          <a:xfrm>
            <a:off x="781050" y="1733550"/>
            <a:ext cx="5076825" cy="276999"/>
          </a:xfrm>
          <a:prstGeom prst="rect">
            <a:avLst/>
          </a:prstGeom>
          <a:noFill/>
        </p:spPr>
        <p:txBody>
          <a:bodyPr vert="horz" wrap="square" lIns="0" tIns="0" rIns="0" bIns="0" rtlCol="0" anchor="t">
            <a:noAutofit/>
          </a:bodyPr>
          <a:lstStyle/>
          <a:p>
            <a:pPr>
              <a:lnSpc>
                <a:spcPct val="140000"/>
              </a:lnSpc>
            </a:pPr>
            <a:r>
              <a:rPr lang="es-ES" sz="1050">
                <a:solidFill>
                  <a:srgbClr val="39404A"/>
                </a:solidFill>
                <a:latin typeface="Calibri" panose="020F0502020204030204" pitchFamily="34" charset="0"/>
              </a:rPr>
              <a:t>Se llaman parecido y no son lo mismo. Una propuesta puede estar </a:t>
            </a:r>
            <a:r>
              <a:rPr lang="es-ES" sz="1050" b="1">
                <a:solidFill>
                  <a:srgbClr val="39404A"/>
                </a:solidFill>
                <a:latin typeface="Calibri" panose="020F0502020204030204" pitchFamily="34" charset="0"/>
              </a:rPr>
              <a:t>Verificada</a:t>
            </a:r>
            <a:r>
              <a:rPr lang="es-ES" sz="1050">
                <a:solidFill>
                  <a:srgbClr val="39404A"/>
                </a:solidFill>
                <a:latin typeface="Calibri" panose="020F0502020204030204" pitchFamily="34" charset="0"/>
              </a:rPr>
              <a:t> y seguir </a:t>
            </a:r>
            <a:r>
              <a:rPr lang="es-ES" sz="1050" b="1">
                <a:solidFill>
                  <a:srgbClr val="39404A"/>
                </a:solidFill>
                <a:latin typeface="Calibri" panose="020F0502020204030204" pitchFamily="34" charset="0"/>
              </a:rPr>
              <a:t>Declarada</a:t>
            </a:r>
            <a:r>
              <a:rPr lang="es-ES" sz="1050">
                <a:solidFill>
                  <a:srgbClr val="39404A"/>
                </a:solidFill>
                <a:latin typeface="Calibri" panose="020F0502020204030204" pitchFamily="34" charset="0"/>
              </a:rPr>
              <a:t>, y eso no es una contradicción.</a:t>
            </a:r>
            <a:endParaRPr lang="es-HN" sz="1050">
              <a:solidFill>
                <a:srgbClr val="39404A"/>
              </a:solidFill>
              <a:latin typeface="Calibri" panose="020F0502020204030204" pitchFamily="34" charset="0"/>
            </a:endParaRPr>
          </a:p>
        </p:txBody>
      </p:sp>
      <p:sp>
        <p:nvSpPr>
          <p:cNvPr id="12" name="CuadroTexto 11">
            <a:extLst>
              <a:ext uri="{FF2B5EF4-FFF2-40B4-BE49-F238E27FC236}">
                <a16:creationId xmlns:a16="http://schemas.microsoft.com/office/drawing/2014/main" id="{82CFD22A-7104-C566-85C5-966C0EE2D24F}"/>
              </a:ext>
            </a:extLst>
          </p:cNvPr>
          <p:cNvSpPr txBox="1"/>
          <p:nvPr/>
        </p:nvSpPr>
        <p:spPr>
          <a:xfrm>
            <a:off x="781050" y="2171700"/>
            <a:ext cx="914400" cy="276999"/>
          </a:xfrm>
          <a:prstGeom prst="rect">
            <a:avLst/>
          </a:prstGeom>
          <a:noFill/>
        </p:spPr>
        <p:txBody>
          <a:bodyPr vert="horz" wrap="square" lIns="0" tIns="0" rIns="0" bIns="0" rtlCol="0" anchor="t">
            <a:noAutofit/>
          </a:bodyPr>
          <a:lstStyle/>
          <a:p>
            <a:pPr>
              <a:lnSpc>
                <a:spcPct val="125000"/>
              </a:lnSpc>
            </a:pPr>
            <a:r>
              <a:rPr lang="es-HN" sz="788" b="1">
                <a:solidFill>
                  <a:srgbClr val="6A7078"/>
                </a:solidFill>
                <a:latin typeface="Calibri" panose="020F0502020204030204" pitchFamily="34" charset="0"/>
              </a:rPr>
              <a:t>VERIFICACIÓN</a:t>
            </a:r>
          </a:p>
        </p:txBody>
      </p:sp>
      <p:sp>
        <p:nvSpPr>
          <p:cNvPr id="13" name="Rectángulo: esquinas redondeadas 12">
            <a:extLst>
              <a:ext uri="{FF2B5EF4-FFF2-40B4-BE49-F238E27FC236}">
                <a16:creationId xmlns:a16="http://schemas.microsoft.com/office/drawing/2014/main" id="{8CF8C1E1-F364-F8E6-5ED2-1C2A5D072788}"/>
              </a:ext>
            </a:extLst>
          </p:cNvPr>
          <p:cNvSpPr/>
          <p:nvPr/>
        </p:nvSpPr>
        <p:spPr>
          <a:xfrm>
            <a:off x="1771650" y="2133600"/>
            <a:ext cx="1304925" cy="228600"/>
          </a:xfrm>
          <a:prstGeom prst="roundRect">
            <a:avLst>
              <a:gd name="adj" fmla="val 6000"/>
            </a:avLst>
          </a:prstGeom>
          <a:solidFill>
            <a:srgbClr val="EE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4" name="CuadroTexto 13">
            <a:extLst>
              <a:ext uri="{FF2B5EF4-FFF2-40B4-BE49-F238E27FC236}">
                <a16:creationId xmlns:a16="http://schemas.microsoft.com/office/drawing/2014/main" id="{657F6F6D-4745-1CF1-0373-80C6841C6523}"/>
              </a:ext>
            </a:extLst>
          </p:cNvPr>
          <p:cNvSpPr txBox="1"/>
          <p:nvPr/>
        </p:nvSpPr>
        <p:spPr>
          <a:xfrm>
            <a:off x="1771650" y="2190750"/>
            <a:ext cx="1304925" cy="276999"/>
          </a:xfrm>
          <a:prstGeom prst="rect">
            <a:avLst/>
          </a:prstGeom>
          <a:noFill/>
        </p:spPr>
        <p:txBody>
          <a:bodyPr vert="horz" wrap="square" lIns="0" tIns="0" rIns="0" bIns="0" rtlCol="0" anchor="t">
            <a:noAutofit/>
          </a:bodyPr>
          <a:lstStyle/>
          <a:p>
            <a:pPr algn="ctr">
              <a:lnSpc>
                <a:spcPct val="125000"/>
              </a:lnSpc>
            </a:pPr>
            <a:r>
              <a:rPr lang="es-HN" sz="863" b="1">
                <a:solidFill>
                  <a:srgbClr val="6A7078"/>
                </a:solidFill>
                <a:latin typeface="Calibri" panose="020F0502020204030204" pitchFamily="34" charset="0"/>
              </a:rPr>
              <a:t>Declarado</a:t>
            </a:r>
          </a:p>
        </p:txBody>
      </p:sp>
      <p:sp>
        <p:nvSpPr>
          <p:cNvPr id="15" name="Rectángulo: esquinas redondeadas 14">
            <a:extLst>
              <a:ext uri="{FF2B5EF4-FFF2-40B4-BE49-F238E27FC236}">
                <a16:creationId xmlns:a16="http://schemas.microsoft.com/office/drawing/2014/main" id="{040BF751-5CC9-0535-E46A-3281E8032DB4}"/>
              </a:ext>
            </a:extLst>
          </p:cNvPr>
          <p:cNvSpPr/>
          <p:nvPr/>
        </p:nvSpPr>
        <p:spPr>
          <a:xfrm>
            <a:off x="3133725" y="2133600"/>
            <a:ext cx="1304925" cy="228600"/>
          </a:xfrm>
          <a:prstGeom prst="roundRect">
            <a:avLst>
              <a:gd name="adj" fmla="val 6000"/>
            </a:avLst>
          </a:prstGeom>
          <a:solidFill>
            <a:srgbClr val="EE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6" name="CuadroTexto 15">
            <a:extLst>
              <a:ext uri="{FF2B5EF4-FFF2-40B4-BE49-F238E27FC236}">
                <a16:creationId xmlns:a16="http://schemas.microsoft.com/office/drawing/2014/main" id="{CCED8839-6666-9AEE-5864-A8675BF2E86F}"/>
              </a:ext>
            </a:extLst>
          </p:cNvPr>
          <p:cNvSpPr txBox="1"/>
          <p:nvPr/>
        </p:nvSpPr>
        <p:spPr>
          <a:xfrm>
            <a:off x="3133725" y="2190750"/>
            <a:ext cx="1304925" cy="276999"/>
          </a:xfrm>
          <a:prstGeom prst="rect">
            <a:avLst/>
          </a:prstGeom>
          <a:noFill/>
        </p:spPr>
        <p:txBody>
          <a:bodyPr vert="horz" wrap="square" lIns="0" tIns="0" rIns="0" bIns="0" rtlCol="0" anchor="t">
            <a:noAutofit/>
          </a:bodyPr>
          <a:lstStyle/>
          <a:p>
            <a:pPr algn="ctr">
              <a:lnSpc>
                <a:spcPct val="125000"/>
              </a:lnSpc>
            </a:pPr>
            <a:r>
              <a:rPr lang="es-HN" sz="863" b="1">
                <a:solidFill>
                  <a:srgbClr val="6A7078"/>
                </a:solidFill>
                <a:latin typeface="Calibri" panose="020F0502020204030204" pitchFamily="34" charset="0"/>
              </a:rPr>
              <a:t>En revisión</a:t>
            </a:r>
          </a:p>
        </p:txBody>
      </p:sp>
      <p:sp>
        <p:nvSpPr>
          <p:cNvPr id="17" name="Rectángulo: esquinas redondeadas 16">
            <a:extLst>
              <a:ext uri="{FF2B5EF4-FFF2-40B4-BE49-F238E27FC236}">
                <a16:creationId xmlns:a16="http://schemas.microsoft.com/office/drawing/2014/main" id="{ECF18CC3-6AE0-34BA-2D62-2C131E0EAD6C}"/>
              </a:ext>
            </a:extLst>
          </p:cNvPr>
          <p:cNvSpPr/>
          <p:nvPr/>
        </p:nvSpPr>
        <p:spPr>
          <a:xfrm>
            <a:off x="4495800" y="2133600"/>
            <a:ext cx="1304925" cy="228600"/>
          </a:xfrm>
          <a:prstGeom prst="roundRect">
            <a:avLst>
              <a:gd name="adj" fmla="val 6000"/>
            </a:avLst>
          </a:prstGeom>
          <a:solidFill>
            <a:srgbClr val="EEF7F2"/>
          </a:solidFill>
          <a:ln w="12700">
            <a:solidFill>
              <a:srgbClr val="2C7A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8" name="CuadroTexto 17">
            <a:extLst>
              <a:ext uri="{FF2B5EF4-FFF2-40B4-BE49-F238E27FC236}">
                <a16:creationId xmlns:a16="http://schemas.microsoft.com/office/drawing/2014/main" id="{C1A4F196-F336-8CE4-D6A4-1455EC6746BC}"/>
              </a:ext>
            </a:extLst>
          </p:cNvPr>
          <p:cNvSpPr txBox="1"/>
          <p:nvPr/>
        </p:nvSpPr>
        <p:spPr>
          <a:xfrm>
            <a:off x="4495800" y="2190750"/>
            <a:ext cx="1304925" cy="276999"/>
          </a:xfrm>
          <a:prstGeom prst="rect">
            <a:avLst/>
          </a:prstGeom>
          <a:noFill/>
        </p:spPr>
        <p:txBody>
          <a:bodyPr vert="horz" wrap="square" lIns="0" tIns="0" rIns="0" bIns="0" rtlCol="0" anchor="t">
            <a:noAutofit/>
          </a:bodyPr>
          <a:lstStyle/>
          <a:p>
            <a:pPr algn="ctr">
              <a:lnSpc>
                <a:spcPct val="125000"/>
              </a:lnSpc>
            </a:pPr>
            <a:r>
              <a:rPr lang="es-HN" sz="863" b="1">
                <a:solidFill>
                  <a:srgbClr val="2C7A58"/>
                </a:solidFill>
                <a:latin typeface="Calibri" panose="020F0502020204030204" pitchFamily="34" charset="0"/>
              </a:rPr>
              <a:t>Verificado</a:t>
            </a:r>
          </a:p>
        </p:txBody>
      </p:sp>
      <p:sp>
        <p:nvSpPr>
          <p:cNvPr id="19" name="CuadroTexto 18">
            <a:extLst>
              <a:ext uri="{FF2B5EF4-FFF2-40B4-BE49-F238E27FC236}">
                <a16:creationId xmlns:a16="http://schemas.microsoft.com/office/drawing/2014/main" id="{D0669A66-14D3-CFFD-8F60-934F13B82B85}"/>
              </a:ext>
            </a:extLst>
          </p:cNvPr>
          <p:cNvSpPr txBox="1"/>
          <p:nvPr/>
        </p:nvSpPr>
        <p:spPr>
          <a:xfrm>
            <a:off x="781050" y="2495550"/>
            <a:ext cx="914400" cy="276999"/>
          </a:xfrm>
          <a:prstGeom prst="rect">
            <a:avLst/>
          </a:prstGeom>
          <a:noFill/>
        </p:spPr>
        <p:txBody>
          <a:bodyPr vert="horz" wrap="square" lIns="0" tIns="0" rIns="0" bIns="0" rtlCol="0" anchor="t">
            <a:noAutofit/>
          </a:bodyPr>
          <a:lstStyle/>
          <a:p>
            <a:pPr>
              <a:lnSpc>
                <a:spcPct val="125000"/>
              </a:lnSpc>
            </a:pPr>
            <a:r>
              <a:rPr lang="es-HN" sz="788" b="1">
                <a:solidFill>
                  <a:srgbClr val="6A7078"/>
                </a:solidFill>
                <a:latin typeface="Calibri" panose="020F0502020204030204" pitchFamily="34" charset="0"/>
              </a:rPr>
              <a:t>CUMPLIMIENTO</a:t>
            </a:r>
          </a:p>
        </p:txBody>
      </p:sp>
      <p:sp>
        <p:nvSpPr>
          <p:cNvPr id="20" name="Rectángulo: esquinas redondeadas 19">
            <a:extLst>
              <a:ext uri="{FF2B5EF4-FFF2-40B4-BE49-F238E27FC236}">
                <a16:creationId xmlns:a16="http://schemas.microsoft.com/office/drawing/2014/main" id="{B1A8802A-A70D-2314-D779-1991328E20B6}"/>
              </a:ext>
            </a:extLst>
          </p:cNvPr>
          <p:cNvSpPr/>
          <p:nvPr/>
        </p:nvSpPr>
        <p:spPr>
          <a:xfrm>
            <a:off x="1771650" y="2457450"/>
            <a:ext cx="952500" cy="228600"/>
          </a:xfrm>
          <a:prstGeom prst="roundRect">
            <a:avLst>
              <a:gd name="adj" fmla="val 6000"/>
            </a:avLst>
          </a:prstGeom>
          <a:solidFill>
            <a:srgbClr val="FDF6E9"/>
          </a:solidFill>
          <a:ln w="12700">
            <a:solidFill>
              <a:srgbClr val="D390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1" name="CuadroTexto 20">
            <a:extLst>
              <a:ext uri="{FF2B5EF4-FFF2-40B4-BE49-F238E27FC236}">
                <a16:creationId xmlns:a16="http://schemas.microsoft.com/office/drawing/2014/main" id="{89E9DC3A-3FA2-0154-0B5A-D3F661CE7312}"/>
              </a:ext>
            </a:extLst>
          </p:cNvPr>
          <p:cNvSpPr txBox="1"/>
          <p:nvPr/>
        </p:nvSpPr>
        <p:spPr>
          <a:xfrm>
            <a:off x="1771650" y="2514600"/>
            <a:ext cx="952500" cy="276999"/>
          </a:xfrm>
          <a:prstGeom prst="rect">
            <a:avLst/>
          </a:prstGeom>
          <a:noFill/>
        </p:spPr>
        <p:txBody>
          <a:bodyPr vert="horz" wrap="square" lIns="0" tIns="0" rIns="0" bIns="0" rtlCol="0" anchor="t">
            <a:noAutofit/>
          </a:bodyPr>
          <a:lstStyle/>
          <a:p>
            <a:pPr algn="ctr">
              <a:lnSpc>
                <a:spcPct val="125000"/>
              </a:lnSpc>
            </a:pPr>
            <a:r>
              <a:rPr lang="es-HN" sz="825" b="1">
                <a:solidFill>
                  <a:srgbClr val="B8791A"/>
                </a:solidFill>
                <a:latin typeface="Calibri" panose="020F0502020204030204" pitchFamily="34" charset="0"/>
              </a:rPr>
              <a:t>Declarada</a:t>
            </a:r>
          </a:p>
        </p:txBody>
      </p:sp>
      <p:sp>
        <p:nvSpPr>
          <p:cNvPr id="22" name="Rectángulo: esquinas redondeadas 21">
            <a:extLst>
              <a:ext uri="{FF2B5EF4-FFF2-40B4-BE49-F238E27FC236}">
                <a16:creationId xmlns:a16="http://schemas.microsoft.com/office/drawing/2014/main" id="{8C25F800-BC6A-3FA0-4B77-183124ED54ED}"/>
              </a:ext>
            </a:extLst>
          </p:cNvPr>
          <p:cNvSpPr/>
          <p:nvPr/>
        </p:nvSpPr>
        <p:spPr>
          <a:xfrm>
            <a:off x="2790825" y="2457450"/>
            <a:ext cx="952500" cy="228600"/>
          </a:xfrm>
          <a:prstGeom prst="roundRect">
            <a:avLst>
              <a:gd name="adj" fmla="val 6000"/>
            </a:avLst>
          </a:prstGeom>
          <a:solidFill>
            <a:srgbClr val="EE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3" name="CuadroTexto 22">
            <a:extLst>
              <a:ext uri="{FF2B5EF4-FFF2-40B4-BE49-F238E27FC236}">
                <a16:creationId xmlns:a16="http://schemas.microsoft.com/office/drawing/2014/main" id="{B75B29DD-B696-3846-D90A-A6F7B0DCFCF7}"/>
              </a:ext>
            </a:extLst>
          </p:cNvPr>
          <p:cNvSpPr txBox="1"/>
          <p:nvPr/>
        </p:nvSpPr>
        <p:spPr>
          <a:xfrm>
            <a:off x="2790825" y="2514600"/>
            <a:ext cx="952500" cy="276999"/>
          </a:xfrm>
          <a:prstGeom prst="rect">
            <a:avLst/>
          </a:prstGeom>
          <a:noFill/>
        </p:spPr>
        <p:txBody>
          <a:bodyPr vert="horz" wrap="square" lIns="0" tIns="0" rIns="0" bIns="0" rtlCol="0" anchor="t">
            <a:noAutofit/>
          </a:bodyPr>
          <a:lstStyle/>
          <a:p>
            <a:pPr algn="ctr">
              <a:lnSpc>
                <a:spcPct val="125000"/>
              </a:lnSpc>
            </a:pPr>
            <a:r>
              <a:rPr lang="es-HN" sz="825" b="1">
                <a:solidFill>
                  <a:srgbClr val="6A7078"/>
                </a:solidFill>
                <a:latin typeface="Calibri" panose="020F0502020204030204" pitchFamily="34" charset="0"/>
              </a:rPr>
              <a:t>En proceso</a:t>
            </a:r>
          </a:p>
        </p:txBody>
      </p:sp>
      <p:sp>
        <p:nvSpPr>
          <p:cNvPr id="24" name="Rectángulo: esquinas redondeadas 23">
            <a:extLst>
              <a:ext uri="{FF2B5EF4-FFF2-40B4-BE49-F238E27FC236}">
                <a16:creationId xmlns:a16="http://schemas.microsoft.com/office/drawing/2014/main" id="{50256448-6A1A-6B32-E350-75D057B8EDF2}"/>
              </a:ext>
            </a:extLst>
          </p:cNvPr>
          <p:cNvSpPr/>
          <p:nvPr/>
        </p:nvSpPr>
        <p:spPr>
          <a:xfrm>
            <a:off x="3810000" y="2457450"/>
            <a:ext cx="952500" cy="228600"/>
          </a:xfrm>
          <a:prstGeom prst="roundRect">
            <a:avLst>
              <a:gd name="adj" fmla="val 6000"/>
            </a:avLst>
          </a:prstGeom>
          <a:solidFill>
            <a:srgbClr val="EE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5" name="CuadroTexto 24">
            <a:extLst>
              <a:ext uri="{FF2B5EF4-FFF2-40B4-BE49-F238E27FC236}">
                <a16:creationId xmlns:a16="http://schemas.microsoft.com/office/drawing/2014/main" id="{EA9F2347-3CEB-D25A-3683-CDDDC4EEB544}"/>
              </a:ext>
            </a:extLst>
          </p:cNvPr>
          <p:cNvSpPr txBox="1"/>
          <p:nvPr/>
        </p:nvSpPr>
        <p:spPr>
          <a:xfrm>
            <a:off x="3810000" y="2514600"/>
            <a:ext cx="952500" cy="276999"/>
          </a:xfrm>
          <a:prstGeom prst="rect">
            <a:avLst/>
          </a:prstGeom>
          <a:noFill/>
        </p:spPr>
        <p:txBody>
          <a:bodyPr vert="horz" wrap="square" lIns="0" tIns="0" rIns="0" bIns="0" rtlCol="0" anchor="t">
            <a:noAutofit/>
          </a:bodyPr>
          <a:lstStyle/>
          <a:p>
            <a:pPr algn="ctr">
              <a:lnSpc>
                <a:spcPct val="125000"/>
              </a:lnSpc>
            </a:pPr>
            <a:r>
              <a:rPr lang="es-HN" sz="825" b="1">
                <a:solidFill>
                  <a:srgbClr val="6A7078"/>
                </a:solidFill>
                <a:latin typeface="Calibri" panose="020F0502020204030204" pitchFamily="34" charset="0"/>
              </a:rPr>
              <a:t>Cumplida</a:t>
            </a:r>
          </a:p>
        </p:txBody>
      </p:sp>
      <p:sp>
        <p:nvSpPr>
          <p:cNvPr id="26" name="Rectángulo: esquinas redondeadas 25">
            <a:extLst>
              <a:ext uri="{FF2B5EF4-FFF2-40B4-BE49-F238E27FC236}">
                <a16:creationId xmlns:a16="http://schemas.microsoft.com/office/drawing/2014/main" id="{2A077C0C-B20A-8B26-C379-3529D809B6CB}"/>
              </a:ext>
            </a:extLst>
          </p:cNvPr>
          <p:cNvSpPr/>
          <p:nvPr/>
        </p:nvSpPr>
        <p:spPr>
          <a:xfrm>
            <a:off x="4829175" y="2457450"/>
            <a:ext cx="952500" cy="228600"/>
          </a:xfrm>
          <a:prstGeom prst="roundRect">
            <a:avLst>
              <a:gd name="adj" fmla="val 6000"/>
            </a:avLst>
          </a:prstGeom>
          <a:solidFill>
            <a:srgbClr val="EEEC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7" name="CuadroTexto 26">
            <a:extLst>
              <a:ext uri="{FF2B5EF4-FFF2-40B4-BE49-F238E27FC236}">
                <a16:creationId xmlns:a16="http://schemas.microsoft.com/office/drawing/2014/main" id="{58CF7873-F516-D463-72A2-45E7F5DDFF5E}"/>
              </a:ext>
            </a:extLst>
          </p:cNvPr>
          <p:cNvSpPr txBox="1"/>
          <p:nvPr/>
        </p:nvSpPr>
        <p:spPr>
          <a:xfrm>
            <a:off x="4829175" y="2514600"/>
            <a:ext cx="952500" cy="276999"/>
          </a:xfrm>
          <a:prstGeom prst="rect">
            <a:avLst/>
          </a:prstGeom>
          <a:noFill/>
        </p:spPr>
        <p:txBody>
          <a:bodyPr vert="horz" wrap="square" lIns="0" tIns="0" rIns="0" bIns="0" rtlCol="0" anchor="t">
            <a:noAutofit/>
          </a:bodyPr>
          <a:lstStyle/>
          <a:p>
            <a:pPr algn="ctr">
              <a:lnSpc>
                <a:spcPct val="125000"/>
              </a:lnSpc>
            </a:pPr>
            <a:r>
              <a:rPr lang="es-HN" sz="825" b="1">
                <a:solidFill>
                  <a:srgbClr val="6A7078"/>
                </a:solidFill>
                <a:latin typeface="Calibri" panose="020F0502020204030204" pitchFamily="34" charset="0"/>
              </a:rPr>
              <a:t>Incumplida</a:t>
            </a:r>
          </a:p>
        </p:txBody>
      </p:sp>
      <p:sp>
        <p:nvSpPr>
          <p:cNvPr id="28" name="Rectángulo: esquinas redondeadas 27">
            <a:extLst>
              <a:ext uri="{FF2B5EF4-FFF2-40B4-BE49-F238E27FC236}">
                <a16:creationId xmlns:a16="http://schemas.microsoft.com/office/drawing/2014/main" id="{E9400308-4E6D-B777-189B-BD384DBFF0C2}"/>
              </a:ext>
            </a:extLst>
          </p:cNvPr>
          <p:cNvSpPr/>
          <p:nvPr/>
        </p:nvSpPr>
        <p:spPr>
          <a:xfrm>
            <a:off x="6162675" y="1333500"/>
            <a:ext cx="5419725" cy="16764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9" name="Rectángulo 28">
            <a:extLst>
              <a:ext uri="{FF2B5EF4-FFF2-40B4-BE49-F238E27FC236}">
                <a16:creationId xmlns:a16="http://schemas.microsoft.com/office/drawing/2014/main" id="{3E10B7AD-EAD9-74B3-0D6E-B92DE0BAB510}"/>
              </a:ext>
            </a:extLst>
          </p:cNvPr>
          <p:cNvSpPr/>
          <p:nvPr/>
        </p:nvSpPr>
        <p:spPr>
          <a:xfrm>
            <a:off x="6162675" y="1362075"/>
            <a:ext cx="28575" cy="16192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0" name="CuadroTexto 29">
            <a:extLst>
              <a:ext uri="{FF2B5EF4-FFF2-40B4-BE49-F238E27FC236}">
                <a16:creationId xmlns:a16="http://schemas.microsoft.com/office/drawing/2014/main" id="{42E40710-22CF-C333-BB67-A99C0180C31C}"/>
              </a:ext>
            </a:extLst>
          </p:cNvPr>
          <p:cNvSpPr txBox="1"/>
          <p:nvPr/>
        </p:nvSpPr>
        <p:spPr>
          <a:xfrm>
            <a:off x="6334125" y="1466850"/>
            <a:ext cx="5095875" cy="276999"/>
          </a:xfrm>
          <a:prstGeom prst="rect">
            <a:avLst/>
          </a:prstGeom>
          <a:noFill/>
        </p:spPr>
        <p:txBody>
          <a:bodyPr vert="horz" wrap="square" lIns="0" tIns="0" rIns="0" bIns="0" rtlCol="0" anchor="t">
            <a:noAutofit/>
          </a:bodyPr>
          <a:lstStyle/>
          <a:p>
            <a:pPr>
              <a:lnSpc>
                <a:spcPct val="112000"/>
              </a:lnSpc>
            </a:pPr>
            <a:r>
              <a:rPr lang="es-ES" sz="1313" b="1">
                <a:solidFill>
                  <a:srgbClr val="14171C"/>
                </a:solidFill>
                <a:latin typeface="Georgia" panose="02040502050405020303" pitchFamily="18" charset="0"/>
              </a:rPr>
              <a:t>La candidatura no se califica a sí misma</a:t>
            </a:r>
            <a:endParaRPr lang="es-HN" sz="1313" b="1">
              <a:solidFill>
                <a:srgbClr val="14171C"/>
              </a:solidFill>
              <a:latin typeface="Georgia" panose="02040502050405020303" pitchFamily="18" charset="0"/>
            </a:endParaRPr>
          </a:p>
        </p:txBody>
      </p:sp>
      <p:sp>
        <p:nvSpPr>
          <p:cNvPr id="31" name="CuadroTexto 30">
            <a:extLst>
              <a:ext uri="{FF2B5EF4-FFF2-40B4-BE49-F238E27FC236}">
                <a16:creationId xmlns:a16="http://schemas.microsoft.com/office/drawing/2014/main" id="{D624EBC5-E36E-7368-78E5-3228F405ECF1}"/>
              </a:ext>
            </a:extLst>
          </p:cNvPr>
          <p:cNvSpPr txBox="1"/>
          <p:nvPr/>
        </p:nvSpPr>
        <p:spPr>
          <a:xfrm>
            <a:off x="6334125" y="1943100"/>
            <a:ext cx="5095875" cy="276999"/>
          </a:xfrm>
          <a:prstGeom prst="rect">
            <a:avLst/>
          </a:prstGeom>
          <a:noFill/>
        </p:spPr>
        <p:txBody>
          <a:bodyPr vert="horz" wrap="square" lIns="0" tIns="0" rIns="0" bIns="0" rtlCol="0" anchor="t">
            <a:noAutofit/>
          </a:bodyPr>
          <a:lstStyle/>
          <a:p>
            <a:pPr>
              <a:lnSpc>
                <a:spcPct val="140000"/>
              </a:lnSpc>
            </a:pPr>
            <a:r>
              <a:rPr lang="es-ES" sz="1050">
                <a:solidFill>
                  <a:srgbClr val="39404A"/>
                </a:solidFill>
                <a:latin typeface="Calibri" panose="020F0502020204030204" pitchFamily="34" charset="0"/>
              </a:rPr>
              <a:t>El candidato solo declara su propuesta o la marca en proceso. Los estados de cumplimiento —esquema de PolitiFact, siete niveles con su ponderación— los asigna la plataforma con evidencia. Como el candidato es autor de su propio contenido, todo se muestra identificado como </a:t>
            </a:r>
            <a:r>
              <a:rPr lang="es-ES" sz="1050" b="1">
                <a:solidFill>
                  <a:srgbClr val="39404A"/>
                </a:solidFill>
                <a:latin typeface="Calibri" panose="020F0502020204030204" pitchFamily="34" charset="0"/>
              </a:rPr>
              <a:t>declarado</a:t>
            </a:r>
            <a:r>
              <a:rPr lang="es-ES" sz="1050">
                <a:solidFill>
                  <a:srgbClr val="39404A"/>
                </a:solidFill>
                <a:latin typeface="Calibri" panose="020F0502020204030204" pitchFamily="34" charset="0"/>
              </a:rPr>
              <a:t> hasta que exista fuente verificable.</a:t>
            </a:r>
            <a:endParaRPr lang="es-HN" sz="1050">
              <a:solidFill>
                <a:srgbClr val="39404A"/>
              </a:solidFill>
              <a:latin typeface="Calibri" panose="020F0502020204030204" pitchFamily="34" charset="0"/>
            </a:endParaRPr>
          </a:p>
        </p:txBody>
      </p:sp>
      <p:sp>
        <p:nvSpPr>
          <p:cNvPr id="32" name="Rectángulo: esquinas redondeadas 31">
            <a:extLst>
              <a:ext uri="{FF2B5EF4-FFF2-40B4-BE49-F238E27FC236}">
                <a16:creationId xmlns:a16="http://schemas.microsoft.com/office/drawing/2014/main" id="{FC43FF03-7E23-423E-4496-7CB3EFB0EE0A}"/>
              </a:ext>
            </a:extLst>
          </p:cNvPr>
          <p:cNvSpPr/>
          <p:nvPr/>
        </p:nvSpPr>
        <p:spPr>
          <a:xfrm>
            <a:off x="609600" y="3143250"/>
            <a:ext cx="5419725" cy="15049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3" name="Rectángulo 32">
            <a:extLst>
              <a:ext uri="{FF2B5EF4-FFF2-40B4-BE49-F238E27FC236}">
                <a16:creationId xmlns:a16="http://schemas.microsoft.com/office/drawing/2014/main" id="{0A66BDF7-69C1-EA20-1124-34ADA80BBEF0}"/>
              </a:ext>
            </a:extLst>
          </p:cNvPr>
          <p:cNvSpPr/>
          <p:nvPr/>
        </p:nvSpPr>
        <p:spPr>
          <a:xfrm>
            <a:off x="609600" y="3171825"/>
            <a:ext cx="28575" cy="1447800"/>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4" name="CuadroTexto 33">
            <a:extLst>
              <a:ext uri="{FF2B5EF4-FFF2-40B4-BE49-F238E27FC236}">
                <a16:creationId xmlns:a16="http://schemas.microsoft.com/office/drawing/2014/main" id="{D6DD7283-94DF-85D2-D2C2-C600226726AD}"/>
              </a:ext>
            </a:extLst>
          </p:cNvPr>
          <p:cNvSpPr txBox="1"/>
          <p:nvPr/>
        </p:nvSpPr>
        <p:spPr>
          <a:xfrm>
            <a:off x="781050" y="3276600"/>
            <a:ext cx="5095875" cy="276999"/>
          </a:xfrm>
          <a:prstGeom prst="rect">
            <a:avLst/>
          </a:prstGeom>
          <a:noFill/>
        </p:spPr>
        <p:txBody>
          <a:bodyPr vert="horz" wrap="square" lIns="0" tIns="0" rIns="0" bIns="0" rtlCol="0" anchor="t">
            <a:noAutofit/>
          </a:bodyPr>
          <a:lstStyle/>
          <a:p>
            <a:pPr>
              <a:lnSpc>
                <a:spcPct val="112000"/>
              </a:lnSpc>
            </a:pPr>
            <a:r>
              <a:rPr lang="es-ES" sz="1313" b="1">
                <a:solidFill>
                  <a:srgbClr val="14171C"/>
                </a:solidFill>
                <a:latin typeface="Georgia" panose="02040502050405020303" pitchFamily="18" charset="0"/>
              </a:rPr>
              <a:t>Nada se borra, y todo queda anotado</a:t>
            </a:r>
            <a:endParaRPr lang="es-HN" sz="1313" b="1">
              <a:solidFill>
                <a:srgbClr val="14171C"/>
              </a:solidFill>
              <a:latin typeface="Georgia" panose="02040502050405020303" pitchFamily="18" charset="0"/>
            </a:endParaRPr>
          </a:p>
        </p:txBody>
      </p:sp>
      <p:sp>
        <p:nvSpPr>
          <p:cNvPr id="35" name="CuadroTexto 34">
            <a:extLst>
              <a:ext uri="{FF2B5EF4-FFF2-40B4-BE49-F238E27FC236}">
                <a16:creationId xmlns:a16="http://schemas.microsoft.com/office/drawing/2014/main" id="{4810FCAB-2530-9C20-7000-E5DC5564C168}"/>
              </a:ext>
            </a:extLst>
          </p:cNvPr>
          <p:cNvSpPr txBox="1"/>
          <p:nvPr/>
        </p:nvSpPr>
        <p:spPr>
          <a:xfrm>
            <a:off x="781050" y="3752850"/>
            <a:ext cx="5095875" cy="276999"/>
          </a:xfrm>
          <a:prstGeom prst="rect">
            <a:avLst/>
          </a:prstGeom>
          <a:noFill/>
        </p:spPr>
        <p:txBody>
          <a:bodyPr vert="horz" wrap="square" lIns="0" tIns="0" rIns="0" bIns="0" rtlCol="0" anchor="t">
            <a:noAutofit/>
          </a:bodyPr>
          <a:lstStyle/>
          <a:p>
            <a:pPr>
              <a:lnSpc>
                <a:spcPct val="140000"/>
              </a:lnSpc>
            </a:pPr>
            <a:r>
              <a:rPr lang="es-ES" sz="1050">
                <a:solidFill>
                  <a:srgbClr val="39404A"/>
                </a:solidFill>
                <a:latin typeface="Calibri" panose="020F0502020204030204" pitchFamily="34" charset="0"/>
              </a:rPr>
              <a:t>Retirar una publicación es baja lógica con motivo obligatorio, nunca </a:t>
            </a:r>
            <a:r>
              <a:rPr lang="es-ES" sz="945">
                <a:solidFill>
                  <a:srgbClr val="39404A"/>
                </a:solidFill>
                <a:latin typeface="Consolas" panose="020B0609020204030204" pitchFamily="49" charset="0"/>
              </a:rPr>
              <a:t>DELETE</a:t>
            </a:r>
            <a:r>
              <a:rPr lang="es-ES" sz="1050">
                <a:solidFill>
                  <a:srgbClr val="39404A"/>
                </a:solidFill>
                <a:latin typeface="Calibri" panose="020F0502020204030204" pitchFamily="34" charset="0"/>
              </a:rPr>
              <a:t>. Cada acción de administración escribe en </a:t>
            </a:r>
            <a:r>
              <a:rPr lang="es-ES" sz="945">
                <a:solidFill>
                  <a:srgbClr val="39404A"/>
                </a:solidFill>
                <a:latin typeface="Consolas" panose="020B0609020204030204" pitchFamily="49" charset="0"/>
              </a:rPr>
              <a:t>Auditoria</a:t>
            </a:r>
            <a:r>
              <a:rPr lang="es-ES" sz="1050">
                <a:solidFill>
                  <a:srgbClr val="39404A"/>
                </a:solidFill>
                <a:latin typeface="Calibri" panose="020F0502020204030204" pitchFamily="34" charset="0"/>
              </a:rPr>
              <a:t>, que conserva la fila aunque el objeto desaparezca. No hay pantalla ni método para editar esa bitácora, y no debe haberlos.</a:t>
            </a:r>
            <a:endParaRPr lang="es-HN" sz="1050">
              <a:solidFill>
                <a:srgbClr val="39404A"/>
              </a:solidFill>
              <a:latin typeface="Calibri" panose="020F0502020204030204" pitchFamily="34" charset="0"/>
            </a:endParaRPr>
          </a:p>
        </p:txBody>
      </p:sp>
      <p:sp>
        <p:nvSpPr>
          <p:cNvPr id="36" name="Rectángulo: esquinas redondeadas 35">
            <a:extLst>
              <a:ext uri="{FF2B5EF4-FFF2-40B4-BE49-F238E27FC236}">
                <a16:creationId xmlns:a16="http://schemas.microsoft.com/office/drawing/2014/main" id="{9A80DE0D-E031-F9BA-F104-C1723CE35AF6}"/>
              </a:ext>
            </a:extLst>
          </p:cNvPr>
          <p:cNvSpPr/>
          <p:nvPr/>
        </p:nvSpPr>
        <p:spPr>
          <a:xfrm>
            <a:off x="6162675" y="3143250"/>
            <a:ext cx="5419725" cy="15049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7" name="Rectángulo 36">
            <a:extLst>
              <a:ext uri="{FF2B5EF4-FFF2-40B4-BE49-F238E27FC236}">
                <a16:creationId xmlns:a16="http://schemas.microsoft.com/office/drawing/2014/main" id="{E4C0E78C-9304-FBE7-7B35-DFBA444322B5}"/>
              </a:ext>
            </a:extLst>
          </p:cNvPr>
          <p:cNvSpPr/>
          <p:nvPr/>
        </p:nvSpPr>
        <p:spPr>
          <a:xfrm>
            <a:off x="6162675" y="3171825"/>
            <a:ext cx="28575" cy="1447800"/>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8" name="CuadroTexto 37">
            <a:extLst>
              <a:ext uri="{FF2B5EF4-FFF2-40B4-BE49-F238E27FC236}">
                <a16:creationId xmlns:a16="http://schemas.microsoft.com/office/drawing/2014/main" id="{30CCCEB8-887F-532A-54C0-89937F006F36}"/>
              </a:ext>
            </a:extLst>
          </p:cNvPr>
          <p:cNvSpPr txBox="1"/>
          <p:nvPr/>
        </p:nvSpPr>
        <p:spPr>
          <a:xfrm>
            <a:off x="6334125" y="3276600"/>
            <a:ext cx="5095875" cy="276999"/>
          </a:xfrm>
          <a:prstGeom prst="rect">
            <a:avLst/>
          </a:prstGeom>
          <a:noFill/>
        </p:spPr>
        <p:txBody>
          <a:bodyPr vert="horz" wrap="square" lIns="0" tIns="0" rIns="0" bIns="0" rtlCol="0" anchor="t">
            <a:noAutofit/>
          </a:bodyPr>
          <a:lstStyle/>
          <a:p>
            <a:pPr>
              <a:lnSpc>
                <a:spcPct val="112000"/>
              </a:lnSpc>
            </a:pPr>
            <a:r>
              <a:rPr lang="es-ES" sz="1313" b="1">
                <a:solidFill>
                  <a:srgbClr val="14171C"/>
                </a:solidFill>
                <a:latin typeface="Georgia" panose="02040502050405020303" pitchFamily="18" charset="0"/>
              </a:rPr>
              <a:t>Cada cifra declara de qué no es evidencia</a:t>
            </a:r>
            <a:endParaRPr lang="es-HN" sz="1313" b="1">
              <a:solidFill>
                <a:srgbClr val="14171C"/>
              </a:solidFill>
              <a:latin typeface="Georgia" panose="02040502050405020303" pitchFamily="18" charset="0"/>
            </a:endParaRPr>
          </a:p>
        </p:txBody>
      </p:sp>
      <p:sp>
        <p:nvSpPr>
          <p:cNvPr id="39" name="CuadroTexto 38">
            <a:extLst>
              <a:ext uri="{FF2B5EF4-FFF2-40B4-BE49-F238E27FC236}">
                <a16:creationId xmlns:a16="http://schemas.microsoft.com/office/drawing/2014/main" id="{58476EF2-A19B-4108-B3B6-DDE0719B978E}"/>
              </a:ext>
            </a:extLst>
          </p:cNvPr>
          <p:cNvSpPr txBox="1"/>
          <p:nvPr/>
        </p:nvSpPr>
        <p:spPr>
          <a:xfrm>
            <a:off x="6334125" y="3752850"/>
            <a:ext cx="5095875" cy="276999"/>
          </a:xfrm>
          <a:prstGeom prst="rect">
            <a:avLst/>
          </a:prstGeom>
          <a:noFill/>
        </p:spPr>
        <p:txBody>
          <a:bodyPr vert="horz" wrap="square" lIns="0" tIns="0" rIns="0" bIns="0" rtlCol="0" anchor="t">
            <a:noAutofit/>
          </a:bodyPr>
          <a:lstStyle/>
          <a:p>
            <a:pPr>
              <a:lnSpc>
                <a:spcPct val="140000"/>
              </a:lnSpc>
            </a:pPr>
            <a:r>
              <a:rPr lang="es-ES" sz="1050">
                <a:solidFill>
                  <a:srgbClr val="39404A"/>
                </a:solidFill>
                <a:latin typeface="Calibri" panose="020F0502020204030204" pitchFamily="34" charset="0"/>
              </a:rPr>
              <a:t>La cuadrícula de departamentos dice que no es un mapa. La tarjeta de encuesta dice que describe a quienes respondieron y no a la población hondureña. El tablero omite la comparación contra el período anterior porque tres días de registro no la sostienen.</a:t>
            </a:r>
            <a:endParaRPr lang="es-HN" sz="1050">
              <a:solidFill>
                <a:srgbClr val="39404A"/>
              </a:solidFill>
              <a:latin typeface="Calibri" panose="020F0502020204030204" pitchFamily="34" charset="0"/>
            </a:endParaRPr>
          </a:p>
        </p:txBody>
      </p:sp>
      <p:sp>
        <p:nvSpPr>
          <p:cNvPr id="40" name="Rectángulo 39">
            <a:extLst>
              <a:ext uri="{FF2B5EF4-FFF2-40B4-BE49-F238E27FC236}">
                <a16:creationId xmlns:a16="http://schemas.microsoft.com/office/drawing/2014/main" id="{BF923056-58D4-4CFA-FC50-8C1D3556A30F}"/>
              </a:ext>
            </a:extLst>
          </p:cNvPr>
          <p:cNvSpPr/>
          <p:nvPr/>
        </p:nvSpPr>
        <p:spPr>
          <a:xfrm>
            <a:off x="609600" y="4819650"/>
            <a:ext cx="28575" cy="914400"/>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1" name="CuadroTexto 40">
            <a:extLst>
              <a:ext uri="{FF2B5EF4-FFF2-40B4-BE49-F238E27FC236}">
                <a16:creationId xmlns:a16="http://schemas.microsoft.com/office/drawing/2014/main" id="{45F0AAAA-6ADF-CDDA-EFF4-C1F9DE16B94A}"/>
              </a:ext>
            </a:extLst>
          </p:cNvPr>
          <p:cNvSpPr txBox="1"/>
          <p:nvPr/>
        </p:nvSpPr>
        <p:spPr>
          <a:xfrm>
            <a:off x="800100" y="4819650"/>
            <a:ext cx="10096500" cy="276999"/>
          </a:xfrm>
          <a:prstGeom prst="rect">
            <a:avLst/>
          </a:prstGeom>
          <a:noFill/>
        </p:spPr>
        <p:txBody>
          <a:bodyPr vert="horz" wrap="square" lIns="0" tIns="0" rIns="0" bIns="0" rtlCol="0" anchor="t">
            <a:noAutofit/>
          </a:bodyPr>
          <a:lstStyle/>
          <a:p>
            <a:pPr>
              <a:lnSpc>
                <a:spcPct val="130000"/>
              </a:lnSpc>
            </a:pPr>
            <a:r>
              <a:rPr lang="es-ES" sz="1275">
                <a:solidFill>
                  <a:srgbClr val="14171C"/>
                </a:solidFill>
                <a:latin typeface="Georgia" panose="02040502050405020303" pitchFamily="18" charset="0"/>
              </a:rPr>
              <a:t>«Esta sí está Verificada, lo que significa que hay una fuente registrada que respalda que la propuesta existe, aunque su estado de cumplimiento sigue siendo Declarada.»</a:t>
            </a:r>
            <a:endParaRPr lang="es-HN" sz="1275">
              <a:solidFill>
                <a:srgbClr val="14171C"/>
              </a:solidFill>
              <a:latin typeface="Georgia" panose="02040502050405020303" pitchFamily="18" charset="0"/>
            </a:endParaRPr>
          </a:p>
        </p:txBody>
      </p:sp>
      <p:sp>
        <p:nvSpPr>
          <p:cNvPr id="42" name="CuadroTexto 41">
            <a:extLst>
              <a:ext uri="{FF2B5EF4-FFF2-40B4-BE49-F238E27FC236}">
                <a16:creationId xmlns:a16="http://schemas.microsoft.com/office/drawing/2014/main" id="{B67B1EE1-9E03-E345-20EC-41C9BBDF9690}"/>
              </a:ext>
            </a:extLst>
          </p:cNvPr>
          <p:cNvSpPr txBox="1"/>
          <p:nvPr/>
        </p:nvSpPr>
        <p:spPr>
          <a:xfrm>
            <a:off x="800100" y="5505450"/>
            <a:ext cx="10096500" cy="276999"/>
          </a:xfrm>
          <a:prstGeom prst="rect">
            <a:avLst/>
          </a:prstGeom>
          <a:noFill/>
        </p:spPr>
        <p:txBody>
          <a:bodyPr vert="horz" wrap="square" lIns="0" tIns="0" rIns="0" bIns="0" rtlCol="0" anchor="t">
            <a:noAutofit/>
          </a:bodyPr>
          <a:lstStyle/>
          <a:p>
            <a:pPr>
              <a:lnSpc>
                <a:spcPct val="130000"/>
              </a:lnSpc>
            </a:pPr>
            <a:r>
              <a:rPr lang="es-ES" sz="975">
                <a:solidFill>
                  <a:srgbClr val="6A7078"/>
                </a:solidFill>
                <a:latin typeface="Calibri" panose="020F0502020204030204" pitchFamily="34" charset="0"/>
              </a:rPr>
              <a:t>Respuesta real del asistente de CumpleHN, sin que se le preguntara por la diferencia entre los dos ejes.</a:t>
            </a:r>
            <a:endParaRPr lang="es-HN" sz="975">
              <a:solidFill>
                <a:srgbClr val="6A7078"/>
              </a:solidFill>
              <a:latin typeface="Calibri" panose="020F0502020204030204" pitchFamily="34" charset="0"/>
            </a:endParaRPr>
          </a:p>
        </p:txBody>
      </p:sp>
    </p:spTree>
    <p:extLst>
      <p:ext uri="{BB962C8B-B14F-4D97-AF65-F5344CB8AC3E}">
        <p14:creationId xmlns:p14="http://schemas.microsoft.com/office/powerpoint/2010/main" val="3298037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23054"/>
            </a:gs>
            <a:gs pos="100000">
              <a:srgbClr val="0A1728"/>
            </a:gs>
          </a:gsLst>
          <a:lin ang="18900000" scaled="1"/>
          <a:tileRect/>
        </a:gra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7672FBF9-45D0-BFAB-2CF1-FD9A00130B17}"/>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FDD1C990-C06E-3F93-C29D-3EF7C8904906}"/>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A0E5DC7E-1DE5-3F1F-D8D9-D7DFF5D91E0E}"/>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2FEEC6FA-1CC3-B20A-6866-5081644E1430}"/>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40204E0A-45F5-403E-9537-393521573E1F}"/>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7FC4D8"/>
                </a:solidFill>
                <a:latin typeface="Calibri" panose="020F0502020204030204" pitchFamily="34" charset="0"/>
              </a:rPr>
              <a:t>SEGURIDAD · CONTROL DE ACCESO</a:t>
            </a:r>
          </a:p>
        </p:txBody>
      </p:sp>
      <p:sp>
        <p:nvSpPr>
          <p:cNvPr id="7" name="CuadroTexto 6">
            <a:extLst>
              <a:ext uri="{FF2B5EF4-FFF2-40B4-BE49-F238E27FC236}">
                <a16:creationId xmlns:a16="http://schemas.microsoft.com/office/drawing/2014/main" id="{F21BA649-EA58-F912-8B76-EFD14B946EFF}"/>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850" b="1">
                <a:solidFill>
                  <a:srgbClr val="FFFFFF"/>
                </a:solidFill>
                <a:latin typeface="Georgia" panose="02040502050405020303" pitchFamily="18" charset="0"/>
              </a:rPr>
              <a:t>Lo que el frontend sabe decide qué botones muestra, nunca qué se permite</a:t>
            </a:r>
            <a:endParaRPr lang="es-HN" sz="2850" b="1">
              <a:solidFill>
                <a:srgbClr val="FFFFFF"/>
              </a:solidFill>
              <a:latin typeface="Georgia" panose="02040502050405020303" pitchFamily="18" charset="0"/>
            </a:endParaRPr>
          </a:p>
        </p:txBody>
      </p:sp>
      <p:sp>
        <p:nvSpPr>
          <p:cNvPr id="8" name="CuadroTexto 7">
            <a:extLst>
              <a:ext uri="{FF2B5EF4-FFF2-40B4-BE49-F238E27FC236}">
                <a16:creationId xmlns:a16="http://schemas.microsoft.com/office/drawing/2014/main" id="{4D063779-4414-620B-C502-2907498AC3A1}"/>
              </a:ext>
            </a:extLst>
          </p:cNvPr>
          <p:cNvSpPr txBox="1"/>
          <p:nvPr/>
        </p:nvSpPr>
        <p:spPr>
          <a:xfrm>
            <a:off x="704850" y="1771650"/>
            <a:ext cx="3810000" cy="276999"/>
          </a:xfrm>
          <a:prstGeom prst="rect">
            <a:avLst/>
          </a:prstGeom>
          <a:noFill/>
        </p:spPr>
        <p:txBody>
          <a:bodyPr vert="horz" wrap="square" lIns="0" tIns="0" rIns="0" bIns="0" rtlCol="0" anchor="t">
            <a:noAutofit/>
          </a:bodyPr>
          <a:lstStyle/>
          <a:p>
            <a:pPr>
              <a:lnSpc>
                <a:spcPct val="125000"/>
              </a:lnSpc>
            </a:pPr>
            <a:r>
              <a:rPr lang="es-HN" sz="788" b="1" spc="80">
                <a:solidFill>
                  <a:srgbClr val="7FC4D8"/>
                </a:solidFill>
                <a:latin typeface="Calibri" panose="020F0502020204030204" pitchFamily="34" charset="0"/>
              </a:rPr>
              <a:t>CAMINO NORMAL</a:t>
            </a:r>
          </a:p>
        </p:txBody>
      </p:sp>
      <p:sp>
        <p:nvSpPr>
          <p:cNvPr id="9" name="Rectángulo: esquinas redondeadas 8">
            <a:extLst>
              <a:ext uri="{FF2B5EF4-FFF2-40B4-BE49-F238E27FC236}">
                <a16:creationId xmlns:a16="http://schemas.microsoft.com/office/drawing/2014/main" id="{FB21E5CF-367F-63AD-A640-9670AC57DAA2}"/>
              </a:ext>
            </a:extLst>
          </p:cNvPr>
          <p:cNvSpPr/>
          <p:nvPr/>
        </p:nvSpPr>
        <p:spPr>
          <a:xfrm>
            <a:off x="704850" y="1943100"/>
            <a:ext cx="1676400" cy="666750"/>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0" name="CuadroTexto 9">
            <a:extLst>
              <a:ext uri="{FF2B5EF4-FFF2-40B4-BE49-F238E27FC236}">
                <a16:creationId xmlns:a16="http://schemas.microsoft.com/office/drawing/2014/main" id="{AA0C93DD-4A72-B2EC-8E42-77A445F27BF6}"/>
              </a:ext>
            </a:extLst>
          </p:cNvPr>
          <p:cNvSpPr txBox="1"/>
          <p:nvPr/>
        </p:nvSpPr>
        <p:spPr>
          <a:xfrm>
            <a:off x="857250" y="2076450"/>
            <a:ext cx="1390650" cy="276999"/>
          </a:xfrm>
          <a:prstGeom prst="rect">
            <a:avLst/>
          </a:prstGeom>
          <a:noFill/>
        </p:spPr>
        <p:txBody>
          <a:bodyPr vert="horz" wrap="square" lIns="0" tIns="0" rIns="0" bIns="0" rtlCol="0" anchor="t">
            <a:noAutofit/>
          </a:bodyPr>
          <a:lstStyle/>
          <a:p>
            <a:pPr>
              <a:lnSpc>
                <a:spcPct val="125000"/>
              </a:lnSpc>
            </a:pPr>
            <a:r>
              <a:rPr lang="es-HN" sz="1013" b="1">
                <a:solidFill>
                  <a:srgbClr val="FFFFFF"/>
                </a:solidFill>
                <a:latin typeface="Calibri" panose="020F0502020204030204" pitchFamily="34" charset="0"/>
              </a:rPr>
              <a:t>Navegador</a:t>
            </a:r>
          </a:p>
        </p:txBody>
      </p:sp>
      <p:sp>
        <p:nvSpPr>
          <p:cNvPr id="11" name="CuadroTexto 10">
            <a:extLst>
              <a:ext uri="{FF2B5EF4-FFF2-40B4-BE49-F238E27FC236}">
                <a16:creationId xmlns:a16="http://schemas.microsoft.com/office/drawing/2014/main" id="{97B4A64F-2A23-7F17-CC43-DD6C70A02A0F}"/>
              </a:ext>
            </a:extLst>
          </p:cNvPr>
          <p:cNvSpPr txBox="1"/>
          <p:nvPr/>
        </p:nvSpPr>
        <p:spPr>
          <a:xfrm>
            <a:off x="857250" y="2305050"/>
            <a:ext cx="13906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alibri" panose="020F0502020204030204" pitchFamily="34" charset="0"/>
              </a:rPr>
              <a:t>sesión en Session</a:t>
            </a:r>
          </a:p>
        </p:txBody>
      </p:sp>
      <p:cxnSp>
        <p:nvCxnSpPr>
          <p:cNvPr id="12" name="Conector recto 11">
            <a:extLst>
              <a:ext uri="{FF2B5EF4-FFF2-40B4-BE49-F238E27FC236}">
                <a16:creationId xmlns:a16="http://schemas.microsoft.com/office/drawing/2014/main" id="{A16D073B-BFF9-567A-55AE-7F9F5F689968}"/>
              </a:ext>
            </a:extLst>
          </p:cNvPr>
          <p:cNvCxnSpPr/>
          <p:nvPr/>
        </p:nvCxnSpPr>
        <p:spPr>
          <a:xfrm>
            <a:off x="2381250" y="2276475"/>
            <a:ext cx="609600" cy="0"/>
          </a:xfrm>
          <a:prstGeom prst="line">
            <a:avLst/>
          </a:prstGeom>
          <a:ln w="20320">
            <a:solidFill>
              <a:srgbClr val="3E5F86"/>
            </a:solidFill>
            <a:tailEnd type="arrow" w="sm" len="sm"/>
          </a:ln>
        </p:spPr>
        <p:style>
          <a:lnRef idx="2">
            <a:schemeClr val="accent1"/>
          </a:lnRef>
          <a:fillRef idx="0">
            <a:schemeClr val="accent1"/>
          </a:fillRef>
          <a:effectRef idx="1">
            <a:schemeClr val="accent1"/>
          </a:effectRef>
          <a:fontRef idx="minor">
            <a:schemeClr val="tx1"/>
          </a:fontRef>
        </p:style>
      </p:cxnSp>
      <p:sp>
        <p:nvSpPr>
          <p:cNvPr id="13" name="Rectángulo: esquinas redondeadas 12">
            <a:extLst>
              <a:ext uri="{FF2B5EF4-FFF2-40B4-BE49-F238E27FC236}">
                <a16:creationId xmlns:a16="http://schemas.microsoft.com/office/drawing/2014/main" id="{6C663F94-60F6-F72B-ADE0-1C3BA4701403}"/>
              </a:ext>
            </a:extLst>
          </p:cNvPr>
          <p:cNvSpPr/>
          <p:nvPr/>
        </p:nvSpPr>
        <p:spPr>
          <a:xfrm>
            <a:off x="3028950" y="1943100"/>
            <a:ext cx="2266950" cy="666750"/>
          </a:xfrm>
          <a:prstGeom prst="roundRect">
            <a:avLst>
              <a:gd name="adj" fmla="val 6000"/>
            </a:avLst>
          </a:prstGeom>
          <a:solidFill>
            <a:srgbClr val="17475F"/>
          </a:solidFill>
          <a:ln w="12700">
            <a:solidFill>
              <a:srgbClr val="4FA8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4" name="CuadroTexto 13">
            <a:extLst>
              <a:ext uri="{FF2B5EF4-FFF2-40B4-BE49-F238E27FC236}">
                <a16:creationId xmlns:a16="http://schemas.microsoft.com/office/drawing/2014/main" id="{7E1FE1CD-9AA0-5B38-C79F-F3044B6AE510}"/>
              </a:ext>
            </a:extLst>
          </p:cNvPr>
          <p:cNvSpPr txBox="1"/>
          <p:nvPr/>
        </p:nvSpPr>
        <p:spPr>
          <a:xfrm>
            <a:off x="3181350" y="2076450"/>
            <a:ext cx="1981200" cy="276999"/>
          </a:xfrm>
          <a:prstGeom prst="rect">
            <a:avLst/>
          </a:prstGeom>
          <a:noFill/>
        </p:spPr>
        <p:txBody>
          <a:bodyPr vert="horz" wrap="square" lIns="0" tIns="0" rIns="0" bIns="0" rtlCol="0" anchor="t">
            <a:noAutofit/>
          </a:bodyPr>
          <a:lstStyle/>
          <a:p>
            <a:pPr>
              <a:lnSpc>
                <a:spcPct val="125000"/>
              </a:lnSpc>
            </a:pPr>
            <a:r>
              <a:rPr lang="es-HN" sz="938" b="1">
                <a:solidFill>
                  <a:srgbClr val="FFFFFF"/>
                </a:solidFill>
                <a:latin typeface="Consolas" panose="020B0609020204030204" pitchFamily="49" charset="0"/>
              </a:rPr>
              <a:t>PaginaSegura.OnPreInit</a:t>
            </a:r>
          </a:p>
        </p:txBody>
      </p:sp>
      <p:sp>
        <p:nvSpPr>
          <p:cNvPr id="15" name="CuadroTexto 14">
            <a:extLst>
              <a:ext uri="{FF2B5EF4-FFF2-40B4-BE49-F238E27FC236}">
                <a16:creationId xmlns:a16="http://schemas.microsoft.com/office/drawing/2014/main" id="{76BF03B7-56BE-EC03-67E0-2252A36659B5}"/>
              </a:ext>
            </a:extLst>
          </p:cNvPr>
          <p:cNvSpPr txBox="1"/>
          <p:nvPr/>
        </p:nvSpPr>
        <p:spPr>
          <a:xfrm>
            <a:off x="3181350" y="2305050"/>
            <a:ext cx="1981200" cy="276999"/>
          </a:xfrm>
          <a:prstGeom prst="rect">
            <a:avLst/>
          </a:prstGeom>
          <a:noFill/>
        </p:spPr>
        <p:txBody>
          <a:bodyPr vert="horz" wrap="square" lIns="0" tIns="0" rIns="0" bIns="0" rtlCol="0" anchor="t">
            <a:noAutofit/>
          </a:bodyPr>
          <a:lstStyle/>
          <a:p>
            <a:pPr>
              <a:lnSpc>
                <a:spcPct val="125000"/>
              </a:lnSpc>
            </a:pPr>
            <a:r>
              <a:rPr lang="es-ES" sz="863">
                <a:solidFill>
                  <a:srgbClr val="BACADD"/>
                </a:solidFill>
                <a:latin typeface="Calibri" panose="020F0502020204030204" pitchFamily="34" charset="0"/>
              </a:rPr>
              <a:t>antes de que exista un solo control</a:t>
            </a:r>
            <a:endParaRPr lang="es-HN" sz="863">
              <a:solidFill>
                <a:srgbClr val="BACADD"/>
              </a:solidFill>
              <a:latin typeface="Calibri" panose="020F0502020204030204" pitchFamily="34" charset="0"/>
            </a:endParaRPr>
          </a:p>
        </p:txBody>
      </p:sp>
      <p:cxnSp>
        <p:nvCxnSpPr>
          <p:cNvPr id="16" name="Conector recto 15">
            <a:extLst>
              <a:ext uri="{FF2B5EF4-FFF2-40B4-BE49-F238E27FC236}">
                <a16:creationId xmlns:a16="http://schemas.microsoft.com/office/drawing/2014/main" id="{B4B3E170-B0D4-4903-7051-B8DD5A37AC82}"/>
              </a:ext>
            </a:extLst>
          </p:cNvPr>
          <p:cNvCxnSpPr/>
          <p:nvPr/>
        </p:nvCxnSpPr>
        <p:spPr>
          <a:xfrm>
            <a:off x="5295900" y="2276475"/>
            <a:ext cx="609600" cy="0"/>
          </a:xfrm>
          <a:prstGeom prst="line">
            <a:avLst/>
          </a:prstGeom>
          <a:ln w="20320">
            <a:solidFill>
              <a:srgbClr val="3E5F86"/>
            </a:solidFill>
            <a:tailEnd type="arrow" w="sm" len="sm"/>
          </a:ln>
        </p:spPr>
        <p:style>
          <a:lnRef idx="2">
            <a:schemeClr val="accent1"/>
          </a:lnRef>
          <a:fillRef idx="0">
            <a:schemeClr val="accent1"/>
          </a:fillRef>
          <a:effectRef idx="1">
            <a:schemeClr val="accent1"/>
          </a:effectRef>
          <a:fontRef idx="minor">
            <a:schemeClr val="tx1"/>
          </a:fontRef>
        </p:style>
      </p:cxnSp>
      <p:sp>
        <p:nvSpPr>
          <p:cNvPr id="17" name="Rectángulo: esquinas redondeadas 16">
            <a:extLst>
              <a:ext uri="{FF2B5EF4-FFF2-40B4-BE49-F238E27FC236}">
                <a16:creationId xmlns:a16="http://schemas.microsoft.com/office/drawing/2014/main" id="{652D480A-FDD4-9E1B-5F01-E2230388D718}"/>
              </a:ext>
            </a:extLst>
          </p:cNvPr>
          <p:cNvSpPr/>
          <p:nvPr/>
        </p:nvSpPr>
        <p:spPr>
          <a:xfrm>
            <a:off x="5943600" y="1943100"/>
            <a:ext cx="1905000" cy="666750"/>
          </a:xfrm>
          <a:prstGeom prst="roundRect">
            <a:avLst>
              <a:gd name="adj" fmla="val 6000"/>
            </a:avLst>
          </a:prstGeom>
          <a:solidFill>
            <a:srgbClr val="1B4838"/>
          </a:solidFill>
          <a:ln w="12700">
            <a:solidFill>
              <a:srgbClr val="5AAB8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8" name="CuadroTexto 17">
            <a:extLst>
              <a:ext uri="{FF2B5EF4-FFF2-40B4-BE49-F238E27FC236}">
                <a16:creationId xmlns:a16="http://schemas.microsoft.com/office/drawing/2014/main" id="{3D0BA8BB-24C9-284E-2F59-BDE1A6048A4E}"/>
              </a:ext>
            </a:extLst>
          </p:cNvPr>
          <p:cNvSpPr txBox="1"/>
          <p:nvPr/>
        </p:nvSpPr>
        <p:spPr>
          <a:xfrm>
            <a:off x="6096000" y="2076450"/>
            <a:ext cx="1619250" cy="276999"/>
          </a:xfrm>
          <a:prstGeom prst="rect">
            <a:avLst/>
          </a:prstGeom>
          <a:noFill/>
        </p:spPr>
        <p:txBody>
          <a:bodyPr vert="horz" wrap="square" lIns="0" tIns="0" rIns="0" bIns="0" rtlCol="0" anchor="t">
            <a:noAutofit/>
          </a:bodyPr>
          <a:lstStyle/>
          <a:p>
            <a:pPr>
              <a:lnSpc>
                <a:spcPct val="125000"/>
              </a:lnSpc>
            </a:pPr>
            <a:r>
              <a:rPr lang="es-HN" sz="1013" b="1">
                <a:solidFill>
                  <a:srgbClr val="FFFFFF"/>
                </a:solidFill>
                <a:latin typeface="Calibri" panose="020F0502020204030204" pitchFamily="34" charset="0"/>
              </a:rPr>
              <a:t>Su propia área</a:t>
            </a:r>
          </a:p>
        </p:txBody>
      </p:sp>
      <p:sp>
        <p:nvSpPr>
          <p:cNvPr id="19" name="CuadroTexto 18">
            <a:extLst>
              <a:ext uri="{FF2B5EF4-FFF2-40B4-BE49-F238E27FC236}">
                <a16:creationId xmlns:a16="http://schemas.microsoft.com/office/drawing/2014/main" id="{7852F46B-18A6-884C-A677-4D66993BD0C4}"/>
              </a:ext>
            </a:extLst>
          </p:cNvPr>
          <p:cNvSpPr txBox="1"/>
          <p:nvPr/>
        </p:nvSpPr>
        <p:spPr>
          <a:xfrm>
            <a:off x="6096000" y="2305050"/>
            <a:ext cx="16192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alibri" panose="020F0502020204030204" pitchFamily="34" charset="0"/>
              </a:rPr>
              <a:t>Admin · Panel · portada</a:t>
            </a:r>
          </a:p>
        </p:txBody>
      </p:sp>
      <p:sp>
        <p:nvSpPr>
          <p:cNvPr id="20" name="CuadroTexto 19">
            <a:extLst>
              <a:ext uri="{FF2B5EF4-FFF2-40B4-BE49-F238E27FC236}">
                <a16:creationId xmlns:a16="http://schemas.microsoft.com/office/drawing/2014/main" id="{A2FF5754-6777-E367-C5E2-379314D2F125}"/>
              </a:ext>
            </a:extLst>
          </p:cNvPr>
          <p:cNvSpPr txBox="1"/>
          <p:nvPr/>
        </p:nvSpPr>
        <p:spPr>
          <a:xfrm>
            <a:off x="8172450" y="1771650"/>
            <a:ext cx="3409950" cy="276999"/>
          </a:xfrm>
          <a:prstGeom prst="rect">
            <a:avLst/>
          </a:prstGeom>
          <a:noFill/>
        </p:spPr>
        <p:txBody>
          <a:bodyPr vert="horz" wrap="square" lIns="0" tIns="0" rIns="0" bIns="0" rtlCol="0" anchor="t">
            <a:noAutofit/>
          </a:bodyPr>
          <a:lstStyle/>
          <a:p>
            <a:pPr>
              <a:lnSpc>
                <a:spcPct val="125000"/>
              </a:lnSpc>
            </a:pPr>
            <a:r>
              <a:rPr lang="es-HN" sz="788" b="1" spc="80">
                <a:solidFill>
                  <a:srgbClr val="7FC4D8"/>
                </a:solidFill>
                <a:latin typeface="Calibri" panose="020F0502020204030204" pitchFamily="34" charset="0"/>
              </a:rPr>
              <a:t>TRES ROLES</a:t>
            </a:r>
          </a:p>
        </p:txBody>
      </p:sp>
      <p:sp>
        <p:nvSpPr>
          <p:cNvPr id="21" name="Rectángulo: esquinas redondeadas 20">
            <a:extLst>
              <a:ext uri="{FF2B5EF4-FFF2-40B4-BE49-F238E27FC236}">
                <a16:creationId xmlns:a16="http://schemas.microsoft.com/office/drawing/2014/main" id="{302DF1C6-2BF1-A235-7317-EBDF9BB5572D}"/>
              </a:ext>
            </a:extLst>
          </p:cNvPr>
          <p:cNvSpPr/>
          <p:nvPr/>
        </p:nvSpPr>
        <p:spPr>
          <a:xfrm>
            <a:off x="8172450" y="1943100"/>
            <a:ext cx="3409950" cy="666750"/>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2" name="CuadroTexto 21">
            <a:extLst>
              <a:ext uri="{FF2B5EF4-FFF2-40B4-BE49-F238E27FC236}">
                <a16:creationId xmlns:a16="http://schemas.microsoft.com/office/drawing/2014/main" id="{66285047-6795-0BD9-B33B-733303A88819}"/>
              </a:ext>
            </a:extLst>
          </p:cNvPr>
          <p:cNvSpPr txBox="1"/>
          <p:nvPr/>
        </p:nvSpPr>
        <p:spPr>
          <a:xfrm>
            <a:off x="8362950" y="2095500"/>
            <a:ext cx="3048000" cy="276999"/>
          </a:xfrm>
          <a:prstGeom prst="rect">
            <a:avLst/>
          </a:prstGeom>
          <a:noFill/>
        </p:spPr>
        <p:txBody>
          <a:bodyPr vert="horz" wrap="square" lIns="0" tIns="0" rIns="0" bIns="0" rtlCol="0" anchor="t">
            <a:noAutofit/>
          </a:bodyPr>
          <a:lstStyle/>
          <a:p>
            <a:pPr>
              <a:lnSpc>
                <a:spcPct val="125000"/>
              </a:lnSpc>
            </a:pPr>
            <a:r>
              <a:rPr lang="es-HN" sz="938" b="1">
                <a:solidFill>
                  <a:srgbClr val="FFFFFF"/>
                </a:solidFill>
                <a:latin typeface="Calibri" panose="020F0502020204030204" pitchFamily="34" charset="0"/>
              </a:rPr>
              <a:t>Administrador · Candidato · Ciudadano</a:t>
            </a:r>
          </a:p>
        </p:txBody>
      </p:sp>
      <p:sp>
        <p:nvSpPr>
          <p:cNvPr id="23" name="CuadroTexto 22">
            <a:extLst>
              <a:ext uri="{FF2B5EF4-FFF2-40B4-BE49-F238E27FC236}">
                <a16:creationId xmlns:a16="http://schemas.microsoft.com/office/drawing/2014/main" id="{633FAB01-FD8E-9AB9-FEB1-0FC7005BC997}"/>
              </a:ext>
            </a:extLst>
          </p:cNvPr>
          <p:cNvSpPr txBox="1"/>
          <p:nvPr/>
        </p:nvSpPr>
        <p:spPr>
          <a:xfrm>
            <a:off x="8362950" y="2305050"/>
            <a:ext cx="3048000" cy="276999"/>
          </a:xfrm>
          <a:prstGeom prst="rect">
            <a:avLst/>
          </a:prstGeom>
          <a:noFill/>
        </p:spPr>
        <p:txBody>
          <a:bodyPr vert="horz" wrap="square" lIns="0" tIns="0" rIns="0" bIns="0" rtlCol="0" anchor="t">
            <a:noAutofit/>
          </a:bodyPr>
          <a:lstStyle/>
          <a:p>
            <a:pPr>
              <a:lnSpc>
                <a:spcPct val="125000"/>
              </a:lnSpc>
            </a:pPr>
            <a:r>
              <a:rPr lang="es-ES" sz="825">
                <a:solidFill>
                  <a:srgbClr val="BACADD"/>
                </a:solidFill>
                <a:latin typeface="Calibri" panose="020F0502020204030204" pitchFamily="34" charset="0"/>
              </a:rPr>
              <a:t>La correspondencia rol → área vive solo en un lugar.</a:t>
            </a:r>
            <a:endParaRPr lang="es-HN" sz="825">
              <a:solidFill>
                <a:srgbClr val="BACADD"/>
              </a:solidFill>
              <a:latin typeface="Calibri" panose="020F0502020204030204" pitchFamily="34" charset="0"/>
            </a:endParaRPr>
          </a:p>
        </p:txBody>
      </p:sp>
      <p:sp>
        <p:nvSpPr>
          <p:cNvPr id="24" name="CuadroTexto 23">
            <a:extLst>
              <a:ext uri="{FF2B5EF4-FFF2-40B4-BE49-F238E27FC236}">
                <a16:creationId xmlns:a16="http://schemas.microsoft.com/office/drawing/2014/main" id="{D6F3235D-FB41-2B3E-4718-9E256799ECD7}"/>
              </a:ext>
            </a:extLst>
          </p:cNvPr>
          <p:cNvSpPr txBox="1"/>
          <p:nvPr/>
        </p:nvSpPr>
        <p:spPr>
          <a:xfrm>
            <a:off x="704850" y="3009900"/>
            <a:ext cx="6667500" cy="276999"/>
          </a:xfrm>
          <a:prstGeom prst="rect">
            <a:avLst/>
          </a:prstGeom>
          <a:noFill/>
        </p:spPr>
        <p:txBody>
          <a:bodyPr vert="horz" wrap="square" lIns="0" tIns="0" rIns="0" bIns="0" rtlCol="0" anchor="t">
            <a:noAutofit/>
          </a:bodyPr>
          <a:lstStyle/>
          <a:p>
            <a:pPr>
              <a:lnSpc>
                <a:spcPct val="125000"/>
              </a:lnSpc>
            </a:pPr>
            <a:r>
              <a:rPr lang="es-ES" sz="788" b="1" spc="80">
                <a:solidFill>
                  <a:srgbClr val="E0685C"/>
                </a:solidFill>
                <a:latin typeface="Calibri" panose="020F0502020204030204" pitchFamily="34" charset="0"/>
              </a:rPr>
              <a:t>LLAMADA DIRECTA AL SERVICIO, SALTÁNDOSE LAS PÁGINAS</a:t>
            </a:r>
            <a:endParaRPr lang="es-HN" sz="788" b="1" spc="80">
              <a:solidFill>
                <a:srgbClr val="E0685C"/>
              </a:solidFill>
              <a:latin typeface="Calibri" panose="020F0502020204030204" pitchFamily="34" charset="0"/>
            </a:endParaRPr>
          </a:p>
        </p:txBody>
      </p:sp>
      <p:sp>
        <p:nvSpPr>
          <p:cNvPr id="25" name="Rectángulo: esquinas redondeadas 24">
            <a:extLst>
              <a:ext uri="{FF2B5EF4-FFF2-40B4-BE49-F238E27FC236}">
                <a16:creationId xmlns:a16="http://schemas.microsoft.com/office/drawing/2014/main" id="{0F0891CC-158D-C438-5DCC-35371F96F3C6}"/>
              </a:ext>
            </a:extLst>
          </p:cNvPr>
          <p:cNvSpPr/>
          <p:nvPr/>
        </p:nvSpPr>
        <p:spPr>
          <a:xfrm>
            <a:off x="704850" y="3181350"/>
            <a:ext cx="2266950" cy="704850"/>
          </a:xfrm>
          <a:prstGeom prst="roundRect">
            <a:avLst>
              <a:gd name="adj" fmla="val 6000"/>
            </a:avLst>
          </a:prstGeom>
          <a:solidFill>
            <a:srgbClr val="5A2420"/>
          </a:solidFill>
          <a:ln w="12700">
            <a:solidFill>
              <a:srgbClr val="E068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6" name="CuadroTexto 25">
            <a:extLst>
              <a:ext uri="{FF2B5EF4-FFF2-40B4-BE49-F238E27FC236}">
                <a16:creationId xmlns:a16="http://schemas.microsoft.com/office/drawing/2014/main" id="{9030674F-E478-69EA-9DF7-EC3C0964C90A}"/>
              </a:ext>
            </a:extLst>
          </p:cNvPr>
          <p:cNvSpPr txBox="1"/>
          <p:nvPr/>
        </p:nvSpPr>
        <p:spPr>
          <a:xfrm>
            <a:off x="857250" y="3314700"/>
            <a:ext cx="1981200" cy="276999"/>
          </a:xfrm>
          <a:prstGeom prst="rect">
            <a:avLst/>
          </a:prstGeom>
          <a:noFill/>
        </p:spPr>
        <p:txBody>
          <a:bodyPr vert="horz" wrap="square" lIns="0" tIns="0" rIns="0" bIns="0" rtlCol="0" anchor="t">
            <a:noAutofit/>
          </a:bodyPr>
          <a:lstStyle/>
          <a:p>
            <a:pPr>
              <a:lnSpc>
                <a:spcPct val="125000"/>
              </a:lnSpc>
            </a:pPr>
            <a:r>
              <a:rPr lang="es-HN" sz="1013" b="1">
                <a:solidFill>
                  <a:srgbClr val="F2B3AC"/>
                </a:solidFill>
                <a:latin typeface="Calibri" panose="020F0502020204030204" pitchFamily="34" charset="0"/>
              </a:rPr>
              <a:t>Cliente SOAP propio</a:t>
            </a:r>
          </a:p>
        </p:txBody>
      </p:sp>
      <p:sp>
        <p:nvSpPr>
          <p:cNvPr id="27" name="CuadroTexto 26">
            <a:extLst>
              <a:ext uri="{FF2B5EF4-FFF2-40B4-BE49-F238E27FC236}">
                <a16:creationId xmlns:a16="http://schemas.microsoft.com/office/drawing/2014/main" id="{162B78F3-CB91-D8C2-5369-0DC974442870}"/>
              </a:ext>
            </a:extLst>
          </p:cNvPr>
          <p:cNvSpPr txBox="1"/>
          <p:nvPr/>
        </p:nvSpPr>
        <p:spPr>
          <a:xfrm>
            <a:off x="857250" y="3543300"/>
            <a:ext cx="1981200" cy="276999"/>
          </a:xfrm>
          <a:prstGeom prst="rect">
            <a:avLst/>
          </a:prstGeom>
          <a:noFill/>
        </p:spPr>
        <p:txBody>
          <a:bodyPr vert="horz" wrap="square" lIns="0" tIns="0" rIns="0" bIns="0" rtlCol="0" anchor="t">
            <a:noAutofit/>
          </a:bodyPr>
          <a:lstStyle/>
          <a:p>
            <a:pPr>
              <a:lnSpc>
                <a:spcPct val="125000"/>
              </a:lnSpc>
            </a:pPr>
            <a:r>
              <a:rPr lang="es-ES" sz="863">
                <a:solidFill>
                  <a:srgbClr val="F2B3AC"/>
                </a:solidFill>
                <a:latin typeface="Calibri" panose="020F0502020204030204" pitchFamily="34" charset="0"/>
              </a:rPr>
              <a:t>envía el código de usuario que quiera</a:t>
            </a:r>
            <a:endParaRPr lang="es-HN" sz="863">
              <a:solidFill>
                <a:srgbClr val="F2B3AC"/>
              </a:solidFill>
              <a:latin typeface="Calibri" panose="020F0502020204030204" pitchFamily="34" charset="0"/>
            </a:endParaRPr>
          </a:p>
        </p:txBody>
      </p:sp>
      <p:cxnSp>
        <p:nvCxnSpPr>
          <p:cNvPr id="28" name="Conector recto 27">
            <a:extLst>
              <a:ext uri="{FF2B5EF4-FFF2-40B4-BE49-F238E27FC236}">
                <a16:creationId xmlns:a16="http://schemas.microsoft.com/office/drawing/2014/main" id="{BA5005BF-9F1D-5901-25DE-5FA7D1B3E97D}"/>
              </a:ext>
            </a:extLst>
          </p:cNvPr>
          <p:cNvCxnSpPr/>
          <p:nvPr/>
        </p:nvCxnSpPr>
        <p:spPr>
          <a:xfrm>
            <a:off x="2971800" y="3533775"/>
            <a:ext cx="647700" cy="0"/>
          </a:xfrm>
          <a:prstGeom prst="line">
            <a:avLst/>
          </a:prstGeom>
          <a:ln w="20320">
            <a:solidFill>
              <a:srgbClr val="E0685C"/>
            </a:solidFill>
            <a:tailEnd type="arrow" w="sm" len="sm"/>
          </a:ln>
        </p:spPr>
        <p:style>
          <a:lnRef idx="2">
            <a:schemeClr val="accent1"/>
          </a:lnRef>
          <a:fillRef idx="0">
            <a:schemeClr val="accent1"/>
          </a:fillRef>
          <a:effectRef idx="1">
            <a:schemeClr val="accent1"/>
          </a:effectRef>
          <a:fontRef idx="minor">
            <a:schemeClr val="tx1"/>
          </a:fontRef>
        </p:style>
      </p:cxnSp>
      <p:sp>
        <p:nvSpPr>
          <p:cNvPr id="29" name="Rectángulo: esquinas redondeadas 28">
            <a:extLst>
              <a:ext uri="{FF2B5EF4-FFF2-40B4-BE49-F238E27FC236}">
                <a16:creationId xmlns:a16="http://schemas.microsoft.com/office/drawing/2014/main" id="{18860C1C-EB56-D60E-94BE-96B38619B7FA}"/>
              </a:ext>
            </a:extLst>
          </p:cNvPr>
          <p:cNvSpPr/>
          <p:nvPr/>
        </p:nvSpPr>
        <p:spPr>
          <a:xfrm>
            <a:off x="3657600" y="3181350"/>
            <a:ext cx="2400300" cy="704850"/>
          </a:xfrm>
          <a:prstGeom prst="roundRect">
            <a:avLst>
              <a:gd name="adj" fmla="val 6000"/>
            </a:avLst>
          </a:prstGeom>
          <a:solidFill>
            <a:srgbClr val="17475F"/>
          </a:solidFill>
          <a:ln w="12700">
            <a:solidFill>
              <a:srgbClr val="4FA8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0" name="CuadroTexto 29">
            <a:extLst>
              <a:ext uri="{FF2B5EF4-FFF2-40B4-BE49-F238E27FC236}">
                <a16:creationId xmlns:a16="http://schemas.microsoft.com/office/drawing/2014/main" id="{68FAE338-F1A8-EF95-3BB4-5183DEB00913}"/>
              </a:ext>
            </a:extLst>
          </p:cNvPr>
          <p:cNvSpPr txBox="1"/>
          <p:nvPr/>
        </p:nvSpPr>
        <p:spPr>
          <a:xfrm>
            <a:off x="3829050" y="3314700"/>
            <a:ext cx="2095500" cy="276999"/>
          </a:xfrm>
          <a:prstGeom prst="rect">
            <a:avLst/>
          </a:prstGeom>
          <a:noFill/>
        </p:spPr>
        <p:txBody>
          <a:bodyPr vert="horz" wrap="square" lIns="0" tIns="0" rIns="0" bIns="0" rtlCol="0" anchor="t">
            <a:noAutofit/>
          </a:bodyPr>
          <a:lstStyle/>
          <a:p>
            <a:pPr>
              <a:lnSpc>
                <a:spcPct val="125000"/>
              </a:lnSpc>
            </a:pPr>
            <a:r>
              <a:rPr lang="es-HN" sz="750" b="1">
                <a:solidFill>
                  <a:srgbClr val="7FC4D8"/>
                </a:solidFill>
                <a:latin typeface="Calibri" panose="020F0502020204030204" pitchFamily="34" charset="0"/>
              </a:rPr>
              <a:t>BARRERA 1 · WEB SERVICE</a:t>
            </a:r>
          </a:p>
        </p:txBody>
      </p:sp>
      <p:sp>
        <p:nvSpPr>
          <p:cNvPr id="31" name="CuadroTexto 30">
            <a:extLst>
              <a:ext uri="{FF2B5EF4-FFF2-40B4-BE49-F238E27FC236}">
                <a16:creationId xmlns:a16="http://schemas.microsoft.com/office/drawing/2014/main" id="{7F95C109-CC81-959C-DFDA-FBCBC2D7384E}"/>
              </a:ext>
            </a:extLst>
          </p:cNvPr>
          <p:cNvSpPr txBox="1"/>
          <p:nvPr/>
        </p:nvSpPr>
        <p:spPr>
          <a:xfrm>
            <a:off x="3829050" y="3524250"/>
            <a:ext cx="2095500" cy="276999"/>
          </a:xfrm>
          <a:prstGeom prst="rect">
            <a:avLst/>
          </a:prstGeom>
          <a:noFill/>
        </p:spPr>
        <p:txBody>
          <a:bodyPr vert="horz" wrap="square" lIns="0" tIns="0" rIns="0" bIns="0" rtlCol="0" anchor="t">
            <a:noAutofit/>
          </a:bodyPr>
          <a:lstStyle/>
          <a:p>
            <a:pPr>
              <a:lnSpc>
                <a:spcPct val="125000"/>
              </a:lnSpc>
            </a:pPr>
            <a:r>
              <a:rPr lang="es-HN" sz="900">
                <a:solidFill>
                  <a:srgbClr val="FFFFFF"/>
                </a:solidFill>
                <a:latin typeface="Consolas" panose="020B0609020204030204" pitchFamily="49" charset="0"/>
              </a:rPr>
              <a:t>EsAdministrador(conn, codigo)</a:t>
            </a:r>
          </a:p>
        </p:txBody>
      </p:sp>
      <p:cxnSp>
        <p:nvCxnSpPr>
          <p:cNvPr id="32" name="Conector recto 31">
            <a:extLst>
              <a:ext uri="{FF2B5EF4-FFF2-40B4-BE49-F238E27FC236}">
                <a16:creationId xmlns:a16="http://schemas.microsoft.com/office/drawing/2014/main" id="{B73DD546-DB37-FC49-31EE-FF3E4DF1A507}"/>
              </a:ext>
            </a:extLst>
          </p:cNvPr>
          <p:cNvCxnSpPr/>
          <p:nvPr/>
        </p:nvCxnSpPr>
        <p:spPr>
          <a:xfrm>
            <a:off x="6057900" y="3533775"/>
            <a:ext cx="647700" cy="0"/>
          </a:xfrm>
          <a:prstGeom prst="line">
            <a:avLst/>
          </a:prstGeom>
          <a:ln w="20320">
            <a:solidFill>
              <a:srgbClr val="E0685C"/>
            </a:solidFill>
            <a:tailEnd type="arrow" w="sm" len="sm"/>
          </a:ln>
        </p:spPr>
        <p:style>
          <a:lnRef idx="2">
            <a:schemeClr val="accent1"/>
          </a:lnRef>
          <a:fillRef idx="0">
            <a:schemeClr val="accent1"/>
          </a:fillRef>
          <a:effectRef idx="1">
            <a:schemeClr val="accent1"/>
          </a:effectRef>
          <a:fontRef idx="minor">
            <a:schemeClr val="tx1"/>
          </a:fontRef>
        </p:style>
      </p:cxnSp>
      <p:sp>
        <p:nvSpPr>
          <p:cNvPr id="33" name="Rectángulo: esquinas redondeadas 32">
            <a:extLst>
              <a:ext uri="{FF2B5EF4-FFF2-40B4-BE49-F238E27FC236}">
                <a16:creationId xmlns:a16="http://schemas.microsoft.com/office/drawing/2014/main" id="{0BC1DD76-0FAB-07B6-52B8-F905D5EBCE08}"/>
              </a:ext>
            </a:extLst>
          </p:cNvPr>
          <p:cNvSpPr/>
          <p:nvPr/>
        </p:nvSpPr>
        <p:spPr>
          <a:xfrm>
            <a:off x="6743700" y="3181350"/>
            <a:ext cx="2400300" cy="704850"/>
          </a:xfrm>
          <a:prstGeom prst="roundRect">
            <a:avLst>
              <a:gd name="adj" fmla="val 6000"/>
            </a:avLst>
          </a:prstGeom>
          <a:solidFill>
            <a:srgbClr val="17475F"/>
          </a:solidFill>
          <a:ln w="12700">
            <a:solidFill>
              <a:srgbClr val="4FA8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4" name="CuadroTexto 33">
            <a:extLst>
              <a:ext uri="{FF2B5EF4-FFF2-40B4-BE49-F238E27FC236}">
                <a16:creationId xmlns:a16="http://schemas.microsoft.com/office/drawing/2014/main" id="{48A5A8D7-BEFF-DBD0-8E19-7F3A3D2D7FB3}"/>
              </a:ext>
            </a:extLst>
          </p:cNvPr>
          <p:cNvSpPr txBox="1"/>
          <p:nvPr/>
        </p:nvSpPr>
        <p:spPr>
          <a:xfrm>
            <a:off x="6915150" y="3314700"/>
            <a:ext cx="2095500" cy="276999"/>
          </a:xfrm>
          <a:prstGeom prst="rect">
            <a:avLst/>
          </a:prstGeom>
          <a:noFill/>
        </p:spPr>
        <p:txBody>
          <a:bodyPr vert="horz" wrap="square" lIns="0" tIns="0" rIns="0" bIns="0" rtlCol="0" anchor="t">
            <a:noAutofit/>
          </a:bodyPr>
          <a:lstStyle/>
          <a:p>
            <a:pPr>
              <a:lnSpc>
                <a:spcPct val="125000"/>
              </a:lnSpc>
            </a:pPr>
            <a:r>
              <a:rPr lang="es-HN" sz="750" b="1">
                <a:solidFill>
                  <a:srgbClr val="7FC4D8"/>
                </a:solidFill>
                <a:latin typeface="Calibri" panose="020F0502020204030204" pitchFamily="34" charset="0"/>
              </a:rPr>
              <a:t>BARRERA 2 · DENTRO DE LA BASE</a:t>
            </a:r>
          </a:p>
        </p:txBody>
      </p:sp>
      <p:sp>
        <p:nvSpPr>
          <p:cNvPr id="35" name="CuadroTexto 34">
            <a:extLst>
              <a:ext uri="{FF2B5EF4-FFF2-40B4-BE49-F238E27FC236}">
                <a16:creationId xmlns:a16="http://schemas.microsoft.com/office/drawing/2014/main" id="{B02EA8A1-E7E1-1B58-F4E1-2AF0BFCD6EC0}"/>
              </a:ext>
            </a:extLst>
          </p:cNvPr>
          <p:cNvSpPr txBox="1"/>
          <p:nvPr/>
        </p:nvSpPr>
        <p:spPr>
          <a:xfrm>
            <a:off x="6915150" y="3524250"/>
            <a:ext cx="2095500" cy="276999"/>
          </a:xfrm>
          <a:prstGeom prst="rect">
            <a:avLst/>
          </a:prstGeom>
          <a:noFill/>
        </p:spPr>
        <p:txBody>
          <a:bodyPr vert="horz" wrap="square" lIns="0" tIns="0" rIns="0" bIns="0" rtlCol="0" anchor="t">
            <a:noAutofit/>
          </a:bodyPr>
          <a:lstStyle/>
          <a:p>
            <a:pPr>
              <a:lnSpc>
                <a:spcPct val="125000"/>
              </a:lnSpc>
            </a:pPr>
            <a:r>
              <a:rPr lang="es-HN" sz="900">
                <a:solidFill>
                  <a:srgbClr val="FFFFFF"/>
                </a:solidFill>
                <a:latin typeface="Consolas" panose="020B0609020204030204" pitchFamily="49" charset="0"/>
              </a:rPr>
              <a:t>fnEsAdministrador(@codigo)</a:t>
            </a:r>
          </a:p>
        </p:txBody>
      </p:sp>
      <p:cxnSp>
        <p:nvCxnSpPr>
          <p:cNvPr id="36" name="Conector recto 35">
            <a:extLst>
              <a:ext uri="{FF2B5EF4-FFF2-40B4-BE49-F238E27FC236}">
                <a16:creationId xmlns:a16="http://schemas.microsoft.com/office/drawing/2014/main" id="{B1EF05AE-265A-6712-D7B4-BC100C894A64}"/>
              </a:ext>
            </a:extLst>
          </p:cNvPr>
          <p:cNvCxnSpPr/>
          <p:nvPr/>
        </p:nvCxnSpPr>
        <p:spPr>
          <a:xfrm>
            <a:off x="9144000" y="3533775"/>
            <a:ext cx="533400" cy="0"/>
          </a:xfrm>
          <a:prstGeom prst="line">
            <a:avLst/>
          </a:prstGeom>
          <a:ln w="20320">
            <a:solidFill>
              <a:srgbClr val="E0685C"/>
            </a:solidFill>
            <a:tailEnd type="arrow" w="sm" len="sm"/>
          </a:ln>
        </p:spPr>
        <p:style>
          <a:lnRef idx="2">
            <a:schemeClr val="accent1"/>
          </a:lnRef>
          <a:fillRef idx="0">
            <a:schemeClr val="accent1"/>
          </a:fillRef>
          <a:effectRef idx="1">
            <a:schemeClr val="accent1"/>
          </a:effectRef>
          <a:fontRef idx="minor">
            <a:schemeClr val="tx1"/>
          </a:fontRef>
        </p:style>
      </p:cxnSp>
      <p:sp>
        <p:nvSpPr>
          <p:cNvPr id="37" name="CuadroTexto 36">
            <a:extLst>
              <a:ext uri="{FF2B5EF4-FFF2-40B4-BE49-F238E27FC236}">
                <a16:creationId xmlns:a16="http://schemas.microsoft.com/office/drawing/2014/main" id="{4DC83A8D-9793-7E99-A2BF-CDD3A34DCB07}"/>
              </a:ext>
            </a:extLst>
          </p:cNvPr>
          <p:cNvSpPr txBox="1"/>
          <p:nvPr/>
        </p:nvSpPr>
        <p:spPr>
          <a:xfrm>
            <a:off x="9734550" y="3390900"/>
            <a:ext cx="1847850" cy="276999"/>
          </a:xfrm>
          <a:prstGeom prst="rect">
            <a:avLst/>
          </a:prstGeom>
          <a:noFill/>
        </p:spPr>
        <p:txBody>
          <a:bodyPr vert="horz" wrap="square" lIns="0" tIns="0" rIns="0" bIns="0" rtlCol="0" anchor="t">
            <a:noAutofit/>
          </a:bodyPr>
          <a:lstStyle/>
          <a:p>
            <a:pPr>
              <a:lnSpc>
                <a:spcPct val="125000"/>
              </a:lnSpc>
            </a:pPr>
            <a:r>
              <a:rPr lang="es-HN" sz="1013" b="1">
                <a:solidFill>
                  <a:srgbClr val="F2B3AC"/>
                </a:solidFill>
                <a:latin typeface="Calibri" panose="020F0502020204030204" pitchFamily="34" charset="0"/>
              </a:rPr>
              <a:t>Rechazado</a:t>
            </a:r>
          </a:p>
        </p:txBody>
      </p:sp>
      <p:sp>
        <p:nvSpPr>
          <p:cNvPr id="38" name="CuadroTexto 37">
            <a:extLst>
              <a:ext uri="{FF2B5EF4-FFF2-40B4-BE49-F238E27FC236}">
                <a16:creationId xmlns:a16="http://schemas.microsoft.com/office/drawing/2014/main" id="{D5740C8A-4E3D-1F6F-2D97-547917AAB4E0}"/>
              </a:ext>
            </a:extLst>
          </p:cNvPr>
          <p:cNvSpPr txBox="1"/>
          <p:nvPr/>
        </p:nvSpPr>
        <p:spPr>
          <a:xfrm>
            <a:off x="9734550" y="3581400"/>
            <a:ext cx="1847850" cy="276999"/>
          </a:xfrm>
          <a:prstGeom prst="rect">
            <a:avLst/>
          </a:prstGeom>
          <a:noFill/>
        </p:spPr>
        <p:txBody>
          <a:bodyPr vert="horz" wrap="square" lIns="0" tIns="0" rIns="0" bIns="0" rtlCol="0" anchor="t">
            <a:noAutofit/>
          </a:bodyPr>
          <a:lstStyle/>
          <a:p>
            <a:pPr>
              <a:lnSpc>
                <a:spcPct val="125000"/>
              </a:lnSpc>
            </a:pPr>
            <a:r>
              <a:rPr lang="es-ES" sz="825">
                <a:solidFill>
                  <a:srgbClr val="F2B3AC"/>
                </a:solidFill>
                <a:latin typeface="Calibri" panose="020F0502020204030204" pitchFamily="34" charset="0"/>
              </a:rPr>
              <a:t>con motivo, en las dos capas</a:t>
            </a:r>
            <a:endParaRPr lang="es-HN" sz="825">
              <a:solidFill>
                <a:srgbClr val="F2B3AC"/>
              </a:solidFill>
              <a:latin typeface="Calibri" panose="020F0502020204030204" pitchFamily="34" charset="0"/>
            </a:endParaRPr>
          </a:p>
        </p:txBody>
      </p:sp>
      <p:sp>
        <p:nvSpPr>
          <p:cNvPr id="39" name="Rectángulo: esquinas redondeadas 38">
            <a:extLst>
              <a:ext uri="{FF2B5EF4-FFF2-40B4-BE49-F238E27FC236}">
                <a16:creationId xmlns:a16="http://schemas.microsoft.com/office/drawing/2014/main" id="{2A41598A-8002-079C-080B-EA5ED8DD8B42}"/>
              </a:ext>
            </a:extLst>
          </p:cNvPr>
          <p:cNvSpPr/>
          <p:nvPr/>
        </p:nvSpPr>
        <p:spPr>
          <a:xfrm>
            <a:off x="609600" y="4114800"/>
            <a:ext cx="10972800" cy="876300"/>
          </a:xfrm>
          <a:prstGeom prst="roundRect">
            <a:avLst>
              <a:gd name="adj" fmla="val 6000"/>
            </a:avLst>
          </a:prstGeom>
          <a:solidFill>
            <a:srgbClr val="1B4838"/>
          </a:solidFill>
          <a:ln w="12700">
            <a:solidFill>
              <a:srgbClr val="5AAB8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0" name="CuadroTexto 39">
            <a:extLst>
              <a:ext uri="{FF2B5EF4-FFF2-40B4-BE49-F238E27FC236}">
                <a16:creationId xmlns:a16="http://schemas.microsoft.com/office/drawing/2014/main" id="{F86BDC8E-FF8B-2292-0612-2B5EFD0B2845}"/>
              </a:ext>
            </a:extLst>
          </p:cNvPr>
          <p:cNvSpPr txBox="1"/>
          <p:nvPr/>
        </p:nvSpPr>
        <p:spPr>
          <a:xfrm>
            <a:off x="838200" y="4267200"/>
            <a:ext cx="10515600" cy="276999"/>
          </a:xfrm>
          <a:prstGeom prst="rect">
            <a:avLst/>
          </a:prstGeom>
          <a:noFill/>
        </p:spPr>
        <p:txBody>
          <a:bodyPr vert="horz" wrap="square" lIns="0" tIns="0" rIns="0" bIns="0" rtlCol="0" anchor="t">
            <a:noAutofit/>
          </a:bodyPr>
          <a:lstStyle/>
          <a:p>
            <a:pPr>
              <a:lnSpc>
                <a:spcPct val="125000"/>
              </a:lnSpc>
            </a:pPr>
            <a:r>
              <a:rPr lang="es-ES" sz="1013" b="1">
                <a:solidFill>
                  <a:srgbClr val="9ED9BD"/>
                </a:solidFill>
                <a:latin typeface="Calibri" panose="020F0502020204030204" pitchFamily="34" charset="0"/>
              </a:rPr>
              <a:t>La protección va en la clase base, no repetida en cada página.</a:t>
            </a:r>
            <a:endParaRPr lang="es-HN" sz="1013" b="1">
              <a:solidFill>
                <a:srgbClr val="9ED9BD"/>
              </a:solidFill>
              <a:latin typeface="Calibri" panose="020F0502020204030204" pitchFamily="34" charset="0"/>
            </a:endParaRPr>
          </a:p>
        </p:txBody>
      </p:sp>
      <p:sp>
        <p:nvSpPr>
          <p:cNvPr id="41" name="CuadroTexto 40">
            <a:extLst>
              <a:ext uri="{FF2B5EF4-FFF2-40B4-BE49-F238E27FC236}">
                <a16:creationId xmlns:a16="http://schemas.microsoft.com/office/drawing/2014/main" id="{F8FD471B-F2C7-147F-64EA-D3F572C829AF}"/>
              </a:ext>
            </a:extLst>
          </p:cNvPr>
          <p:cNvSpPr txBox="1"/>
          <p:nvPr/>
        </p:nvSpPr>
        <p:spPr>
          <a:xfrm>
            <a:off x="838200" y="4495800"/>
            <a:ext cx="10515600" cy="276999"/>
          </a:xfrm>
          <a:prstGeom prst="rect">
            <a:avLst/>
          </a:prstGeom>
          <a:noFill/>
        </p:spPr>
        <p:txBody>
          <a:bodyPr vert="horz" wrap="square" lIns="0" tIns="0" rIns="0" bIns="0" rtlCol="0" anchor="t">
            <a:noAutofit/>
          </a:bodyPr>
          <a:lstStyle/>
          <a:p>
            <a:pPr>
              <a:lnSpc>
                <a:spcPct val="135000"/>
              </a:lnSpc>
            </a:pPr>
            <a:r>
              <a:rPr lang="es-ES" sz="863">
                <a:solidFill>
                  <a:srgbClr val="9ED9BD"/>
                </a:solidFill>
                <a:latin typeface="Calibri" panose="020F0502020204030204" pitchFamily="34" charset="0"/>
              </a:rPr>
              <a:t>Antes cada página del panel repetía el mismo bloque, así que una página nueva que olvidara copiarlo quedaba abierta — el fallo A01 de OWASP. Con la clase base, olvidarse significa no compilar. Y las plantillas maestras no protegen nada: se aplican cuando la página ya empezó su ciclo de vida.</a:t>
            </a:r>
            <a:endParaRPr lang="es-HN" sz="863">
              <a:solidFill>
                <a:srgbClr val="9ED9BD"/>
              </a:solidFill>
              <a:latin typeface="Calibri" panose="020F0502020204030204" pitchFamily="34" charset="0"/>
            </a:endParaRPr>
          </a:p>
        </p:txBody>
      </p:sp>
      <p:sp>
        <p:nvSpPr>
          <p:cNvPr id="42" name="CuadroTexto 41">
            <a:extLst>
              <a:ext uri="{FF2B5EF4-FFF2-40B4-BE49-F238E27FC236}">
                <a16:creationId xmlns:a16="http://schemas.microsoft.com/office/drawing/2014/main" id="{D7236B96-9619-861D-CDFB-097444FA9A52}"/>
              </a:ext>
            </a:extLst>
          </p:cNvPr>
          <p:cNvSpPr txBox="1"/>
          <p:nvPr/>
        </p:nvSpPr>
        <p:spPr>
          <a:xfrm>
            <a:off x="609600" y="6057900"/>
            <a:ext cx="10972800" cy="276999"/>
          </a:xfrm>
          <a:prstGeom prst="rect">
            <a:avLst/>
          </a:prstGeom>
          <a:noFill/>
        </p:spPr>
        <p:txBody>
          <a:bodyPr vert="horz" wrap="square" lIns="0" tIns="0" rIns="0" bIns="0" rtlCol="0" anchor="t">
            <a:noAutofit/>
          </a:bodyPr>
          <a:lstStyle/>
          <a:p>
            <a:pPr>
              <a:lnSpc>
                <a:spcPct val="135000"/>
              </a:lnSpc>
            </a:pPr>
            <a:r>
              <a:rPr lang="es-ES" sz="975">
                <a:solidFill>
                  <a:srgbClr val="8BA3BF"/>
                </a:solidFill>
                <a:latin typeface="Calibri" panose="020F0502020204030204" pitchFamily="34" charset="0"/>
              </a:rPr>
              <a:t>Está verificado llamando al ASMX directamente con el código de un ciudadano y con el de un candidato: ninguno de los dos consigue verificar ni moderar.</a:t>
            </a:r>
            <a:endParaRPr lang="es-HN" sz="975">
              <a:solidFill>
                <a:srgbClr val="8BA3BF"/>
              </a:solidFill>
              <a:latin typeface="Calibri" panose="020F0502020204030204" pitchFamily="34" charset="0"/>
            </a:endParaRPr>
          </a:p>
        </p:txBody>
      </p:sp>
    </p:spTree>
    <p:extLst>
      <p:ext uri="{BB962C8B-B14F-4D97-AF65-F5344CB8AC3E}">
        <p14:creationId xmlns:p14="http://schemas.microsoft.com/office/powerpoint/2010/main" val="2783788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F03730B6-1782-2653-0B1B-9EA30791D11A}"/>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58D019DE-F0CF-0D56-2A4C-F8222012A5C0}"/>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488B39EA-56CD-972E-6F8A-0B813A59C2D9}"/>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BA3ADCCA-6304-AC5E-1AE2-486BD146A650}"/>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AB188941-70F7-3F5E-06E1-E8D343F1519D}"/>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17708A"/>
                </a:solidFill>
                <a:latin typeface="Calibri" panose="020F0502020204030204" pitchFamily="34" charset="0"/>
              </a:rPr>
              <a:t>MÓDULO DE ANALÍTICA</a:t>
            </a:r>
          </a:p>
        </p:txBody>
      </p:sp>
      <p:sp>
        <p:nvSpPr>
          <p:cNvPr id="7" name="CuadroTexto 6">
            <a:extLst>
              <a:ext uri="{FF2B5EF4-FFF2-40B4-BE49-F238E27FC236}">
                <a16:creationId xmlns:a16="http://schemas.microsoft.com/office/drawing/2014/main" id="{6D625D02-A4A9-5DF4-BC27-FDB31C0FFDD7}"/>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850" b="1">
                <a:solidFill>
                  <a:srgbClr val="14171C"/>
                </a:solidFill>
                <a:latin typeface="Georgia" panose="02040502050405020303" pitchFamily="18" charset="0"/>
              </a:rPr>
              <a:t>Doce indicadores en una sola llamada</a:t>
            </a:r>
            <a:endParaRPr lang="es-HN" sz="2850" b="1">
              <a:solidFill>
                <a:srgbClr val="14171C"/>
              </a:solidFill>
              <a:latin typeface="Georgia" panose="02040502050405020303" pitchFamily="18" charset="0"/>
            </a:endParaRPr>
          </a:p>
        </p:txBody>
      </p:sp>
      <p:sp>
        <p:nvSpPr>
          <p:cNvPr id="8" name="Rectángulo 7">
            <a:extLst>
              <a:ext uri="{FF2B5EF4-FFF2-40B4-BE49-F238E27FC236}">
                <a16:creationId xmlns:a16="http://schemas.microsoft.com/office/drawing/2014/main" id="{E0DD42D1-524C-2568-3999-B86EA7B29523}"/>
              </a:ext>
            </a:extLst>
          </p:cNvPr>
          <p:cNvSpPr/>
          <p:nvPr/>
        </p:nvSpPr>
        <p:spPr>
          <a:xfrm>
            <a:off x="609600" y="1428750"/>
            <a:ext cx="7048500" cy="285750"/>
          </a:xfrm>
          <a:prstGeom prst="rect">
            <a:avLst/>
          </a:prstGeom>
          <a:solidFill>
            <a:srgbClr val="EEECE8"/>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9" name="Elipse 8">
            <a:extLst>
              <a:ext uri="{FF2B5EF4-FFF2-40B4-BE49-F238E27FC236}">
                <a16:creationId xmlns:a16="http://schemas.microsoft.com/office/drawing/2014/main" id="{C8632441-9EC5-6815-AB81-2B3BE7265143}"/>
              </a:ext>
            </a:extLst>
          </p:cNvPr>
          <p:cNvSpPr/>
          <p:nvPr/>
        </p:nvSpPr>
        <p:spPr>
          <a:xfrm>
            <a:off x="762000" y="1533525"/>
            <a:ext cx="76200" cy="76200"/>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0" name="Elipse 9">
            <a:extLst>
              <a:ext uri="{FF2B5EF4-FFF2-40B4-BE49-F238E27FC236}">
                <a16:creationId xmlns:a16="http://schemas.microsoft.com/office/drawing/2014/main" id="{49560EF9-DF3A-8333-0ED7-4F993D2DE3CD}"/>
              </a:ext>
            </a:extLst>
          </p:cNvPr>
          <p:cNvSpPr/>
          <p:nvPr/>
        </p:nvSpPr>
        <p:spPr>
          <a:xfrm>
            <a:off x="895350" y="1533525"/>
            <a:ext cx="76200" cy="76200"/>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1" name="Elipse 10">
            <a:extLst>
              <a:ext uri="{FF2B5EF4-FFF2-40B4-BE49-F238E27FC236}">
                <a16:creationId xmlns:a16="http://schemas.microsoft.com/office/drawing/2014/main" id="{3A0CE134-2F87-6195-1E1D-CC0FE0FDD3CB}"/>
              </a:ext>
            </a:extLst>
          </p:cNvPr>
          <p:cNvSpPr/>
          <p:nvPr/>
        </p:nvSpPr>
        <p:spPr>
          <a:xfrm>
            <a:off x="1028700" y="1533525"/>
            <a:ext cx="76200" cy="76200"/>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2" name="CuadroTexto 11">
            <a:extLst>
              <a:ext uri="{FF2B5EF4-FFF2-40B4-BE49-F238E27FC236}">
                <a16:creationId xmlns:a16="http://schemas.microsoft.com/office/drawing/2014/main" id="{FB828F98-B270-257E-3E6C-37E68F980B60}"/>
              </a:ext>
            </a:extLst>
          </p:cNvPr>
          <p:cNvSpPr txBox="1"/>
          <p:nvPr/>
        </p:nvSpPr>
        <p:spPr>
          <a:xfrm>
            <a:off x="1219200" y="1504950"/>
            <a:ext cx="3810000" cy="276999"/>
          </a:xfrm>
          <a:prstGeom prst="rect">
            <a:avLst/>
          </a:prstGeom>
          <a:noFill/>
        </p:spPr>
        <p:txBody>
          <a:bodyPr vert="horz" wrap="square" lIns="0" tIns="0" rIns="0" bIns="0" rtlCol="0" anchor="t">
            <a:noAutofit/>
          </a:bodyPr>
          <a:lstStyle/>
          <a:p>
            <a:pPr>
              <a:lnSpc>
                <a:spcPct val="125000"/>
              </a:lnSpc>
            </a:pPr>
            <a:r>
              <a:rPr lang="es-HN" sz="825">
                <a:solidFill>
                  <a:srgbClr val="6A7078"/>
                </a:solidFill>
                <a:latin typeface="Consolas" panose="020B0609020204030204" pitchFamily="49" charset="0"/>
              </a:rPr>
              <a:t>cumplehn / Analitica</a:t>
            </a:r>
          </a:p>
        </p:txBody>
      </p:sp>
      <p:pic>
        <p:nvPicPr>
          <p:cNvPr id="14" name="Imagen 13">
            <a:extLst>
              <a:ext uri="{FF2B5EF4-FFF2-40B4-BE49-F238E27FC236}">
                <a16:creationId xmlns:a16="http://schemas.microsoft.com/office/drawing/2014/main" id="{FF94614C-F234-93C8-8024-AA0A477498AA}"/>
              </a:ext>
            </a:extLst>
          </p:cNvPr>
          <p:cNvPicPr>
            <a:picLocks/>
          </p:cNvPicPr>
          <p:nvPr/>
        </p:nvPicPr>
        <p:blipFill>
          <a:blip r:embed="rId3">
            <a:extLst>
              <a:ext uri="{28A0092B-C50C-407E-A947-70E740481C1C}">
                <a14:useLocalDpi xmlns:a14="http://schemas.microsoft.com/office/drawing/2010/main" val="0"/>
              </a:ext>
            </a:extLst>
          </a:blip>
          <a:srcRect b="19111"/>
          <a:stretch>
            <a:fillRect/>
          </a:stretch>
        </p:blipFill>
        <p:spPr>
          <a:xfrm>
            <a:off x="609600" y="1714500"/>
            <a:ext cx="7048500" cy="5701454"/>
          </a:xfrm>
          <a:prstGeom prst="rect">
            <a:avLst/>
          </a:prstGeom>
          <a:ln w="9525">
            <a:solidFill>
              <a:srgbClr val="E3E1DD"/>
            </a:solidFill>
          </a:ln>
        </p:spPr>
      </p:pic>
      <p:sp>
        <p:nvSpPr>
          <p:cNvPr id="15" name="Rectángulo: esquinas redondeadas 14">
            <a:extLst>
              <a:ext uri="{FF2B5EF4-FFF2-40B4-BE49-F238E27FC236}">
                <a16:creationId xmlns:a16="http://schemas.microsoft.com/office/drawing/2014/main" id="{D87A7627-F5B4-686D-76D7-1338153DAE23}"/>
              </a:ext>
            </a:extLst>
          </p:cNvPr>
          <p:cNvSpPr/>
          <p:nvPr/>
        </p:nvSpPr>
        <p:spPr>
          <a:xfrm>
            <a:off x="7886700" y="1428750"/>
            <a:ext cx="3695700" cy="5905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6" name="Rectángulo 15">
            <a:extLst>
              <a:ext uri="{FF2B5EF4-FFF2-40B4-BE49-F238E27FC236}">
                <a16:creationId xmlns:a16="http://schemas.microsoft.com/office/drawing/2014/main" id="{271F898D-FDD8-8730-4507-B529B3B36809}"/>
              </a:ext>
            </a:extLst>
          </p:cNvPr>
          <p:cNvSpPr/>
          <p:nvPr/>
        </p:nvSpPr>
        <p:spPr>
          <a:xfrm>
            <a:off x="7886700" y="1457325"/>
            <a:ext cx="28575" cy="533400"/>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7" name="CuadroTexto 16">
            <a:extLst>
              <a:ext uri="{FF2B5EF4-FFF2-40B4-BE49-F238E27FC236}">
                <a16:creationId xmlns:a16="http://schemas.microsoft.com/office/drawing/2014/main" id="{7AD44ED7-4BF7-5199-6F17-55D685B333E2}"/>
              </a:ext>
            </a:extLst>
          </p:cNvPr>
          <p:cNvSpPr txBox="1"/>
          <p:nvPr/>
        </p:nvSpPr>
        <p:spPr>
          <a:xfrm>
            <a:off x="8058150" y="1543050"/>
            <a:ext cx="1447800" cy="276999"/>
          </a:xfrm>
          <a:prstGeom prst="rect">
            <a:avLst/>
          </a:prstGeom>
          <a:noFill/>
        </p:spPr>
        <p:txBody>
          <a:bodyPr vert="horz" wrap="square" lIns="0" tIns="0" rIns="0" bIns="0" rtlCol="0" anchor="t">
            <a:noAutofit/>
          </a:bodyPr>
          <a:lstStyle/>
          <a:p>
            <a:pPr>
              <a:lnSpc>
                <a:spcPct val="125000"/>
              </a:lnSpc>
            </a:pPr>
            <a:r>
              <a:rPr lang="es-HN" sz="938">
                <a:solidFill>
                  <a:srgbClr val="1B4F9C"/>
                </a:solidFill>
                <a:latin typeface="Consolas" panose="020B0609020204030204" pitchFamily="49" charset="0"/>
              </a:rPr>
              <a:t>base de datos</a:t>
            </a:r>
          </a:p>
        </p:txBody>
      </p:sp>
      <p:sp>
        <p:nvSpPr>
          <p:cNvPr id="18" name="CuadroTexto 17">
            <a:extLst>
              <a:ext uri="{FF2B5EF4-FFF2-40B4-BE49-F238E27FC236}">
                <a16:creationId xmlns:a16="http://schemas.microsoft.com/office/drawing/2014/main" id="{14B96443-99BC-98ED-4B80-ACC52FCC559F}"/>
              </a:ext>
            </a:extLst>
          </p:cNvPr>
          <p:cNvSpPr txBox="1"/>
          <p:nvPr/>
        </p:nvSpPr>
        <p:spPr>
          <a:xfrm>
            <a:off x="8058150" y="1733550"/>
            <a:ext cx="1447800" cy="276999"/>
          </a:xfrm>
          <a:prstGeom prst="rect">
            <a:avLst/>
          </a:prstGeom>
          <a:noFill/>
        </p:spPr>
        <p:txBody>
          <a:bodyPr vert="horz" wrap="square" lIns="0" tIns="0" rIns="0" bIns="0" rtlCol="0" anchor="t">
            <a:noAutofit/>
          </a:bodyPr>
          <a:lstStyle/>
          <a:p>
            <a:pPr>
              <a:lnSpc>
                <a:spcPct val="125000"/>
              </a:lnSpc>
            </a:pPr>
            <a:r>
              <a:rPr lang="es-HN" sz="1275" b="1">
                <a:solidFill>
                  <a:srgbClr val="14171C"/>
                </a:solidFill>
                <a:latin typeface="Georgia" panose="02040502050405020303" pitchFamily="18" charset="0"/>
              </a:rPr>
              <a:t>calcula</a:t>
            </a:r>
          </a:p>
        </p:txBody>
      </p:sp>
      <p:sp>
        <p:nvSpPr>
          <p:cNvPr id="19" name="CuadroTexto 18">
            <a:extLst>
              <a:ext uri="{FF2B5EF4-FFF2-40B4-BE49-F238E27FC236}">
                <a16:creationId xmlns:a16="http://schemas.microsoft.com/office/drawing/2014/main" id="{B9CA126F-ED32-9396-051D-63F75D60B72C}"/>
              </a:ext>
            </a:extLst>
          </p:cNvPr>
          <p:cNvSpPr txBox="1"/>
          <p:nvPr/>
        </p:nvSpPr>
        <p:spPr>
          <a:xfrm>
            <a:off x="9563100" y="1562100"/>
            <a:ext cx="1866900" cy="276999"/>
          </a:xfrm>
          <a:prstGeom prst="rect">
            <a:avLst/>
          </a:prstGeom>
          <a:noFill/>
        </p:spPr>
        <p:txBody>
          <a:bodyPr vert="horz" wrap="square" lIns="0" tIns="0" rIns="0" bIns="0" rtlCol="0" anchor="t">
            <a:noAutofit/>
          </a:bodyPr>
          <a:lstStyle/>
          <a:p>
            <a:pPr>
              <a:lnSpc>
                <a:spcPct val="130000"/>
              </a:lnSpc>
            </a:pPr>
            <a:r>
              <a:rPr lang="es-ES" sz="938">
                <a:solidFill>
                  <a:srgbClr val="39404A"/>
                </a:solidFill>
                <a:latin typeface="Calibri" panose="020F0502020204030204" pitchFamily="34" charset="0"/>
              </a:rPr>
              <a:t>5 vistas de detalle y 10 procedimientos</a:t>
            </a:r>
            <a:endParaRPr lang="es-HN" sz="938">
              <a:solidFill>
                <a:srgbClr val="39404A"/>
              </a:solidFill>
              <a:latin typeface="Calibri" panose="020F0502020204030204" pitchFamily="34" charset="0"/>
            </a:endParaRPr>
          </a:p>
        </p:txBody>
      </p:sp>
      <p:sp>
        <p:nvSpPr>
          <p:cNvPr id="20" name="Rectángulo: esquinas redondeadas 19">
            <a:extLst>
              <a:ext uri="{FF2B5EF4-FFF2-40B4-BE49-F238E27FC236}">
                <a16:creationId xmlns:a16="http://schemas.microsoft.com/office/drawing/2014/main" id="{7F18D156-1FEF-4BDA-1934-A401F3377967}"/>
              </a:ext>
            </a:extLst>
          </p:cNvPr>
          <p:cNvSpPr/>
          <p:nvPr/>
        </p:nvSpPr>
        <p:spPr>
          <a:xfrm>
            <a:off x="7886700" y="2095500"/>
            <a:ext cx="3695700" cy="5905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1" name="Rectángulo 20">
            <a:extLst>
              <a:ext uri="{FF2B5EF4-FFF2-40B4-BE49-F238E27FC236}">
                <a16:creationId xmlns:a16="http://schemas.microsoft.com/office/drawing/2014/main" id="{2B42B57D-27D2-BB2C-F1F7-22C8780D1A04}"/>
              </a:ext>
            </a:extLst>
          </p:cNvPr>
          <p:cNvSpPr/>
          <p:nvPr/>
        </p:nvSpPr>
        <p:spPr>
          <a:xfrm>
            <a:off x="7886700" y="2124075"/>
            <a:ext cx="28575" cy="533400"/>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2" name="CuadroTexto 21">
            <a:extLst>
              <a:ext uri="{FF2B5EF4-FFF2-40B4-BE49-F238E27FC236}">
                <a16:creationId xmlns:a16="http://schemas.microsoft.com/office/drawing/2014/main" id="{0BAC24B2-9879-06E8-3D67-C84D76C9F670}"/>
              </a:ext>
            </a:extLst>
          </p:cNvPr>
          <p:cNvSpPr txBox="1"/>
          <p:nvPr/>
        </p:nvSpPr>
        <p:spPr>
          <a:xfrm>
            <a:off x="8058150" y="2209800"/>
            <a:ext cx="1447800" cy="276999"/>
          </a:xfrm>
          <a:prstGeom prst="rect">
            <a:avLst/>
          </a:prstGeom>
          <a:noFill/>
        </p:spPr>
        <p:txBody>
          <a:bodyPr vert="horz" wrap="square" lIns="0" tIns="0" rIns="0" bIns="0" rtlCol="0" anchor="t">
            <a:noAutofit/>
          </a:bodyPr>
          <a:lstStyle/>
          <a:p>
            <a:pPr>
              <a:lnSpc>
                <a:spcPct val="125000"/>
              </a:lnSpc>
            </a:pPr>
            <a:r>
              <a:rPr lang="es-HN" sz="938">
                <a:solidFill>
                  <a:srgbClr val="1B4F9C"/>
                </a:solidFill>
                <a:latin typeface="Consolas" panose="020B0609020204030204" pitchFamily="49" charset="0"/>
              </a:rPr>
              <a:t>Web Service</a:t>
            </a:r>
          </a:p>
        </p:txBody>
      </p:sp>
      <p:sp>
        <p:nvSpPr>
          <p:cNvPr id="23" name="CuadroTexto 22">
            <a:extLst>
              <a:ext uri="{FF2B5EF4-FFF2-40B4-BE49-F238E27FC236}">
                <a16:creationId xmlns:a16="http://schemas.microsoft.com/office/drawing/2014/main" id="{BD08EC6A-0591-3DBC-DE8F-1758B206B1B5}"/>
              </a:ext>
            </a:extLst>
          </p:cNvPr>
          <p:cNvSpPr txBox="1"/>
          <p:nvPr/>
        </p:nvSpPr>
        <p:spPr>
          <a:xfrm>
            <a:off x="8058150" y="2400300"/>
            <a:ext cx="1447800" cy="276999"/>
          </a:xfrm>
          <a:prstGeom prst="rect">
            <a:avLst/>
          </a:prstGeom>
          <a:noFill/>
        </p:spPr>
        <p:txBody>
          <a:bodyPr vert="horz" wrap="square" lIns="0" tIns="0" rIns="0" bIns="0" rtlCol="0" anchor="t">
            <a:noAutofit/>
          </a:bodyPr>
          <a:lstStyle/>
          <a:p>
            <a:pPr>
              <a:lnSpc>
                <a:spcPct val="125000"/>
              </a:lnSpc>
            </a:pPr>
            <a:r>
              <a:rPr lang="es-HN" sz="1275" b="1">
                <a:solidFill>
                  <a:srgbClr val="14171C"/>
                </a:solidFill>
                <a:latin typeface="Georgia" panose="02040502050405020303" pitchFamily="18" charset="0"/>
              </a:rPr>
              <a:t>transporta</a:t>
            </a:r>
          </a:p>
        </p:txBody>
      </p:sp>
      <p:sp>
        <p:nvSpPr>
          <p:cNvPr id="24" name="CuadroTexto 23">
            <a:extLst>
              <a:ext uri="{FF2B5EF4-FFF2-40B4-BE49-F238E27FC236}">
                <a16:creationId xmlns:a16="http://schemas.microsoft.com/office/drawing/2014/main" id="{B09C9183-94C4-D3DF-91B5-D5530BB28A41}"/>
              </a:ext>
            </a:extLst>
          </p:cNvPr>
          <p:cNvSpPr txBox="1"/>
          <p:nvPr/>
        </p:nvSpPr>
        <p:spPr>
          <a:xfrm>
            <a:off x="9563100" y="2228850"/>
            <a:ext cx="1866900" cy="276999"/>
          </a:xfrm>
          <a:prstGeom prst="rect">
            <a:avLst/>
          </a:prstGeom>
          <a:noFill/>
        </p:spPr>
        <p:txBody>
          <a:bodyPr vert="horz" wrap="square" lIns="0" tIns="0" rIns="0" bIns="0" rtlCol="0" anchor="t">
            <a:noAutofit/>
          </a:bodyPr>
          <a:lstStyle/>
          <a:p>
            <a:pPr>
              <a:lnSpc>
                <a:spcPct val="130000"/>
              </a:lnSpc>
            </a:pPr>
            <a:r>
              <a:rPr lang="es-ES" sz="938">
                <a:solidFill>
                  <a:srgbClr val="39404A"/>
                </a:solidFill>
                <a:latin typeface="Calibri" panose="020F0502020204030204" pitchFamily="34" charset="0"/>
              </a:rPr>
              <a:t>sin una línea de SQL escrita a mano</a:t>
            </a:r>
            <a:endParaRPr lang="es-HN" sz="938">
              <a:solidFill>
                <a:srgbClr val="39404A"/>
              </a:solidFill>
              <a:latin typeface="Calibri" panose="020F0502020204030204" pitchFamily="34" charset="0"/>
            </a:endParaRPr>
          </a:p>
        </p:txBody>
      </p:sp>
      <p:sp>
        <p:nvSpPr>
          <p:cNvPr id="25" name="Rectángulo: esquinas redondeadas 24">
            <a:extLst>
              <a:ext uri="{FF2B5EF4-FFF2-40B4-BE49-F238E27FC236}">
                <a16:creationId xmlns:a16="http://schemas.microsoft.com/office/drawing/2014/main" id="{EA9B9F05-86E0-6EB1-FD35-1B572F4B1FDA}"/>
              </a:ext>
            </a:extLst>
          </p:cNvPr>
          <p:cNvSpPr/>
          <p:nvPr/>
        </p:nvSpPr>
        <p:spPr>
          <a:xfrm>
            <a:off x="7886700" y="2762250"/>
            <a:ext cx="3695700" cy="5905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6" name="Rectángulo 25">
            <a:extLst>
              <a:ext uri="{FF2B5EF4-FFF2-40B4-BE49-F238E27FC236}">
                <a16:creationId xmlns:a16="http://schemas.microsoft.com/office/drawing/2014/main" id="{E48E7A32-7E8C-2E3D-8D89-8174516D6D7C}"/>
              </a:ext>
            </a:extLst>
          </p:cNvPr>
          <p:cNvSpPr/>
          <p:nvPr/>
        </p:nvSpPr>
        <p:spPr>
          <a:xfrm>
            <a:off x="7886700" y="2790825"/>
            <a:ext cx="28575" cy="533400"/>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7" name="CuadroTexto 26">
            <a:extLst>
              <a:ext uri="{FF2B5EF4-FFF2-40B4-BE49-F238E27FC236}">
                <a16:creationId xmlns:a16="http://schemas.microsoft.com/office/drawing/2014/main" id="{5A330668-2289-3F08-FABC-A2BB1BA4D7E2}"/>
              </a:ext>
            </a:extLst>
          </p:cNvPr>
          <p:cNvSpPr txBox="1"/>
          <p:nvPr/>
        </p:nvSpPr>
        <p:spPr>
          <a:xfrm>
            <a:off x="8058150" y="2876550"/>
            <a:ext cx="1447800" cy="276999"/>
          </a:xfrm>
          <a:prstGeom prst="rect">
            <a:avLst/>
          </a:prstGeom>
          <a:noFill/>
        </p:spPr>
        <p:txBody>
          <a:bodyPr vert="horz" wrap="square" lIns="0" tIns="0" rIns="0" bIns="0" rtlCol="0" anchor="t">
            <a:noAutofit/>
          </a:bodyPr>
          <a:lstStyle/>
          <a:p>
            <a:pPr>
              <a:lnSpc>
                <a:spcPct val="125000"/>
              </a:lnSpc>
            </a:pPr>
            <a:r>
              <a:rPr lang="es-HN" sz="938">
                <a:solidFill>
                  <a:srgbClr val="1B4F9C"/>
                </a:solidFill>
                <a:latin typeface="Consolas" panose="020B0609020204030204" pitchFamily="49" charset="0"/>
              </a:rPr>
              <a:t>Modelos/</a:t>
            </a:r>
          </a:p>
        </p:txBody>
      </p:sp>
      <p:sp>
        <p:nvSpPr>
          <p:cNvPr id="28" name="CuadroTexto 27">
            <a:extLst>
              <a:ext uri="{FF2B5EF4-FFF2-40B4-BE49-F238E27FC236}">
                <a16:creationId xmlns:a16="http://schemas.microsoft.com/office/drawing/2014/main" id="{386C94D1-61B7-15D0-8466-8889E6E196B3}"/>
              </a:ext>
            </a:extLst>
          </p:cNvPr>
          <p:cNvSpPr txBox="1"/>
          <p:nvPr/>
        </p:nvSpPr>
        <p:spPr>
          <a:xfrm>
            <a:off x="8058150" y="3067050"/>
            <a:ext cx="1447800" cy="276999"/>
          </a:xfrm>
          <a:prstGeom prst="rect">
            <a:avLst/>
          </a:prstGeom>
          <a:noFill/>
        </p:spPr>
        <p:txBody>
          <a:bodyPr vert="horz" wrap="square" lIns="0" tIns="0" rIns="0" bIns="0" rtlCol="0" anchor="t">
            <a:noAutofit/>
          </a:bodyPr>
          <a:lstStyle/>
          <a:p>
            <a:pPr>
              <a:lnSpc>
                <a:spcPct val="125000"/>
              </a:lnSpc>
            </a:pPr>
            <a:r>
              <a:rPr lang="es-HN" sz="1275" b="1">
                <a:solidFill>
                  <a:srgbClr val="14171C"/>
                </a:solidFill>
                <a:latin typeface="Georgia" panose="02040502050405020303" pitchFamily="18" charset="0"/>
              </a:rPr>
              <a:t>interpreta</a:t>
            </a:r>
          </a:p>
        </p:txBody>
      </p:sp>
      <p:sp>
        <p:nvSpPr>
          <p:cNvPr id="29" name="CuadroTexto 28">
            <a:extLst>
              <a:ext uri="{FF2B5EF4-FFF2-40B4-BE49-F238E27FC236}">
                <a16:creationId xmlns:a16="http://schemas.microsoft.com/office/drawing/2014/main" id="{597D2F18-70ED-EDBB-D60F-557FEEBEA28F}"/>
              </a:ext>
            </a:extLst>
          </p:cNvPr>
          <p:cNvSpPr txBox="1"/>
          <p:nvPr/>
        </p:nvSpPr>
        <p:spPr>
          <a:xfrm>
            <a:off x="9563100" y="2895600"/>
            <a:ext cx="1866900" cy="276999"/>
          </a:xfrm>
          <a:prstGeom prst="rect">
            <a:avLst/>
          </a:prstGeom>
          <a:noFill/>
        </p:spPr>
        <p:txBody>
          <a:bodyPr vert="horz" wrap="square" lIns="0" tIns="0" rIns="0" bIns="0" rtlCol="0" anchor="t">
            <a:noAutofit/>
          </a:bodyPr>
          <a:lstStyle/>
          <a:p>
            <a:pPr>
              <a:lnSpc>
                <a:spcPct val="130000"/>
              </a:lnSpc>
            </a:pPr>
            <a:r>
              <a:rPr lang="es-HN" sz="938">
                <a:solidFill>
                  <a:srgbClr val="39404A"/>
                </a:solidFill>
                <a:latin typeface="Calibri" panose="020F0502020204030204" pitchFamily="34" charset="0"/>
              </a:rPr>
              <a:t>KPI, hallazgos y proporciones</a:t>
            </a:r>
          </a:p>
        </p:txBody>
      </p:sp>
      <p:sp>
        <p:nvSpPr>
          <p:cNvPr id="30" name="Rectángulo: esquinas redondeadas 29">
            <a:extLst>
              <a:ext uri="{FF2B5EF4-FFF2-40B4-BE49-F238E27FC236}">
                <a16:creationId xmlns:a16="http://schemas.microsoft.com/office/drawing/2014/main" id="{BF357B1B-41C0-905B-CEF1-8FE0EA30A912}"/>
              </a:ext>
            </a:extLst>
          </p:cNvPr>
          <p:cNvSpPr/>
          <p:nvPr/>
        </p:nvSpPr>
        <p:spPr>
          <a:xfrm>
            <a:off x="7886700" y="3429000"/>
            <a:ext cx="3695700" cy="5905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1" name="Rectángulo 30">
            <a:extLst>
              <a:ext uri="{FF2B5EF4-FFF2-40B4-BE49-F238E27FC236}">
                <a16:creationId xmlns:a16="http://schemas.microsoft.com/office/drawing/2014/main" id="{16471224-2848-5B2B-46E6-7CDB892D4FDD}"/>
              </a:ext>
            </a:extLst>
          </p:cNvPr>
          <p:cNvSpPr/>
          <p:nvPr/>
        </p:nvSpPr>
        <p:spPr>
          <a:xfrm>
            <a:off x="7886700" y="3457575"/>
            <a:ext cx="28575" cy="533400"/>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2" name="CuadroTexto 31">
            <a:extLst>
              <a:ext uri="{FF2B5EF4-FFF2-40B4-BE49-F238E27FC236}">
                <a16:creationId xmlns:a16="http://schemas.microsoft.com/office/drawing/2014/main" id="{BE0CC809-6167-7270-1D60-50EA6D612D4E}"/>
              </a:ext>
            </a:extLst>
          </p:cNvPr>
          <p:cNvSpPr txBox="1"/>
          <p:nvPr/>
        </p:nvSpPr>
        <p:spPr>
          <a:xfrm>
            <a:off x="8058150" y="3543300"/>
            <a:ext cx="1447800" cy="276999"/>
          </a:xfrm>
          <a:prstGeom prst="rect">
            <a:avLst/>
          </a:prstGeom>
          <a:noFill/>
        </p:spPr>
        <p:txBody>
          <a:bodyPr vert="horz" wrap="square" lIns="0" tIns="0" rIns="0" bIns="0" rtlCol="0" anchor="t">
            <a:noAutofit/>
          </a:bodyPr>
          <a:lstStyle/>
          <a:p>
            <a:pPr>
              <a:lnSpc>
                <a:spcPct val="125000"/>
              </a:lnSpc>
            </a:pPr>
            <a:r>
              <a:rPr lang="es-HN" sz="938">
                <a:solidFill>
                  <a:srgbClr val="1B4F9C"/>
                </a:solidFill>
                <a:latin typeface="Consolas" panose="020B0609020204030204" pitchFamily="49" charset="0"/>
              </a:rPr>
              <a:t>Analitica.aspx</a:t>
            </a:r>
          </a:p>
        </p:txBody>
      </p:sp>
      <p:sp>
        <p:nvSpPr>
          <p:cNvPr id="33" name="CuadroTexto 32">
            <a:extLst>
              <a:ext uri="{FF2B5EF4-FFF2-40B4-BE49-F238E27FC236}">
                <a16:creationId xmlns:a16="http://schemas.microsoft.com/office/drawing/2014/main" id="{F45B3966-DEDD-9BE7-6905-958C28B3C8BD}"/>
              </a:ext>
            </a:extLst>
          </p:cNvPr>
          <p:cNvSpPr txBox="1"/>
          <p:nvPr/>
        </p:nvSpPr>
        <p:spPr>
          <a:xfrm>
            <a:off x="8058150" y="3733800"/>
            <a:ext cx="1447800" cy="276999"/>
          </a:xfrm>
          <a:prstGeom prst="rect">
            <a:avLst/>
          </a:prstGeom>
          <a:noFill/>
        </p:spPr>
        <p:txBody>
          <a:bodyPr vert="horz" wrap="square" lIns="0" tIns="0" rIns="0" bIns="0" rtlCol="0" anchor="t">
            <a:noAutofit/>
          </a:bodyPr>
          <a:lstStyle/>
          <a:p>
            <a:pPr>
              <a:lnSpc>
                <a:spcPct val="125000"/>
              </a:lnSpc>
            </a:pPr>
            <a:r>
              <a:rPr lang="es-HN" sz="1275" b="1">
                <a:solidFill>
                  <a:srgbClr val="14171C"/>
                </a:solidFill>
                <a:latin typeface="Georgia" panose="02040502050405020303" pitchFamily="18" charset="0"/>
              </a:rPr>
              <a:t>dibuja</a:t>
            </a:r>
          </a:p>
        </p:txBody>
      </p:sp>
      <p:sp>
        <p:nvSpPr>
          <p:cNvPr id="34" name="CuadroTexto 33">
            <a:extLst>
              <a:ext uri="{FF2B5EF4-FFF2-40B4-BE49-F238E27FC236}">
                <a16:creationId xmlns:a16="http://schemas.microsoft.com/office/drawing/2014/main" id="{70E35655-7E3A-2F34-FEB9-8543FE6025DB}"/>
              </a:ext>
            </a:extLst>
          </p:cNvPr>
          <p:cNvSpPr txBox="1"/>
          <p:nvPr/>
        </p:nvSpPr>
        <p:spPr>
          <a:xfrm>
            <a:off x="9563100" y="3562350"/>
            <a:ext cx="1866900" cy="276999"/>
          </a:xfrm>
          <a:prstGeom prst="rect">
            <a:avLst/>
          </a:prstGeom>
          <a:noFill/>
        </p:spPr>
        <p:txBody>
          <a:bodyPr vert="horz" wrap="square" lIns="0" tIns="0" rIns="0" bIns="0" rtlCol="0" anchor="t">
            <a:noAutofit/>
          </a:bodyPr>
          <a:lstStyle/>
          <a:p>
            <a:pPr>
              <a:lnSpc>
                <a:spcPct val="130000"/>
              </a:lnSpc>
            </a:pPr>
            <a:r>
              <a:rPr lang="es-ES" sz="938">
                <a:solidFill>
                  <a:srgbClr val="39404A"/>
                </a:solidFill>
                <a:latin typeface="Calibri" panose="020F0502020204030204" pitchFamily="34" charset="0"/>
              </a:rPr>
              <a:t>anchos de barra, clases y SVG en el servidor</a:t>
            </a:r>
            <a:endParaRPr lang="es-HN" sz="938">
              <a:solidFill>
                <a:srgbClr val="39404A"/>
              </a:solidFill>
              <a:latin typeface="Calibri" panose="020F0502020204030204" pitchFamily="34" charset="0"/>
            </a:endParaRPr>
          </a:p>
        </p:txBody>
      </p:sp>
      <p:sp>
        <p:nvSpPr>
          <p:cNvPr id="35" name="Rectángulo: esquinas redondeadas 34">
            <a:extLst>
              <a:ext uri="{FF2B5EF4-FFF2-40B4-BE49-F238E27FC236}">
                <a16:creationId xmlns:a16="http://schemas.microsoft.com/office/drawing/2014/main" id="{A0273A4A-D587-971B-AB82-43C357B1BCB4}"/>
              </a:ext>
            </a:extLst>
          </p:cNvPr>
          <p:cNvSpPr/>
          <p:nvPr/>
        </p:nvSpPr>
        <p:spPr>
          <a:xfrm>
            <a:off x="7886700" y="4133850"/>
            <a:ext cx="3695700" cy="11239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6" name="Rectángulo 35">
            <a:extLst>
              <a:ext uri="{FF2B5EF4-FFF2-40B4-BE49-F238E27FC236}">
                <a16:creationId xmlns:a16="http://schemas.microsoft.com/office/drawing/2014/main" id="{2A084964-1BC3-6D33-30B4-5E90309C274B}"/>
              </a:ext>
            </a:extLst>
          </p:cNvPr>
          <p:cNvSpPr/>
          <p:nvPr/>
        </p:nvSpPr>
        <p:spPr>
          <a:xfrm>
            <a:off x="7886700" y="4162425"/>
            <a:ext cx="28575" cy="1066800"/>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7" name="CuadroTexto 36">
            <a:extLst>
              <a:ext uri="{FF2B5EF4-FFF2-40B4-BE49-F238E27FC236}">
                <a16:creationId xmlns:a16="http://schemas.microsoft.com/office/drawing/2014/main" id="{461F72BE-059D-328F-2BB7-CB75D61F0E12}"/>
              </a:ext>
            </a:extLst>
          </p:cNvPr>
          <p:cNvSpPr txBox="1"/>
          <p:nvPr/>
        </p:nvSpPr>
        <p:spPr>
          <a:xfrm>
            <a:off x="8058150" y="4286250"/>
            <a:ext cx="3371850" cy="276999"/>
          </a:xfrm>
          <a:prstGeom prst="rect">
            <a:avLst/>
          </a:prstGeom>
          <a:noFill/>
        </p:spPr>
        <p:txBody>
          <a:bodyPr vert="horz" wrap="square" lIns="0" tIns="0" rIns="0" bIns="0" rtlCol="0" anchor="t">
            <a:noAutofit/>
          </a:bodyPr>
          <a:lstStyle/>
          <a:p>
            <a:pPr>
              <a:lnSpc>
                <a:spcPct val="140000"/>
              </a:lnSpc>
            </a:pPr>
            <a:r>
              <a:rPr lang="es-ES" sz="1050">
                <a:solidFill>
                  <a:srgbClr val="39404A"/>
                </a:solidFill>
                <a:latin typeface="Calibri" panose="020F0502020204030204" pitchFamily="34" charset="0"/>
              </a:rPr>
              <a:t>Un indicador nuevo se agrega </a:t>
            </a:r>
            <a:r>
              <a:rPr lang="es-ES" sz="1050" b="1">
                <a:solidFill>
                  <a:srgbClr val="39404A"/>
                </a:solidFill>
                <a:latin typeface="Calibri" panose="020F0502020204030204" pitchFamily="34" charset="0"/>
              </a:rPr>
              <a:t>creando primero su procedimiento almacenado</a:t>
            </a:r>
            <a:r>
              <a:rPr lang="es-ES" sz="1050">
                <a:solidFill>
                  <a:srgbClr val="39404A"/>
                </a:solidFill>
                <a:latin typeface="Calibri" panose="020F0502020204030204" pitchFamily="34" charset="0"/>
              </a:rPr>
              <a:t>, para que el cálculo quede documentado en la base y no escondido en el servicio.</a:t>
            </a:r>
            <a:endParaRPr lang="es-HN" sz="1050">
              <a:solidFill>
                <a:srgbClr val="39404A"/>
              </a:solidFill>
              <a:latin typeface="Calibri" panose="020F0502020204030204" pitchFamily="34" charset="0"/>
            </a:endParaRPr>
          </a:p>
        </p:txBody>
      </p:sp>
      <p:sp>
        <p:nvSpPr>
          <p:cNvPr id="38" name="CuadroTexto 37">
            <a:extLst>
              <a:ext uri="{FF2B5EF4-FFF2-40B4-BE49-F238E27FC236}">
                <a16:creationId xmlns:a16="http://schemas.microsoft.com/office/drawing/2014/main" id="{D7A7CFD3-F9E1-46C1-2A61-94BB46507081}"/>
              </a:ext>
            </a:extLst>
          </p:cNvPr>
          <p:cNvSpPr txBox="1"/>
          <p:nvPr/>
        </p:nvSpPr>
        <p:spPr>
          <a:xfrm>
            <a:off x="609600" y="6057900"/>
            <a:ext cx="10972800" cy="276999"/>
          </a:xfrm>
          <a:prstGeom prst="rect">
            <a:avLst/>
          </a:prstGeom>
          <a:noFill/>
        </p:spPr>
        <p:txBody>
          <a:bodyPr vert="horz" wrap="square" lIns="0" tIns="0" rIns="0" bIns="0" rtlCol="0" anchor="t">
            <a:noAutofit/>
          </a:bodyPr>
          <a:lstStyle/>
          <a:p>
            <a:pPr>
              <a:lnSpc>
                <a:spcPct val="135000"/>
              </a:lnSpc>
            </a:pPr>
            <a:r>
              <a:rPr lang="es-ES" sz="975">
                <a:solidFill>
                  <a:srgbClr val="6A7078"/>
                </a:solidFill>
                <a:latin typeface="Calibri" panose="020F0502020204030204" pitchFamily="34" charset="0"/>
              </a:rPr>
              <a:t>Todo el tablero viaja en una sola llamada. No es solo por costo: garantiza que los doce gráficos correspondan al mismo instante de los datos.</a:t>
            </a:r>
            <a:endParaRPr lang="es-HN" sz="975">
              <a:solidFill>
                <a:srgbClr val="6A7078"/>
              </a:solidFill>
              <a:latin typeface="Calibri" panose="020F0502020204030204" pitchFamily="34" charset="0"/>
            </a:endParaRPr>
          </a:p>
        </p:txBody>
      </p:sp>
    </p:spTree>
    <p:extLst>
      <p:ext uri="{BB962C8B-B14F-4D97-AF65-F5344CB8AC3E}">
        <p14:creationId xmlns:p14="http://schemas.microsoft.com/office/powerpoint/2010/main" val="1641827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580470DA-262E-52A3-E4E6-A7DC126A35BF}"/>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070E19E6-ED33-E75C-588E-1024BC5C81E3}"/>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504AA445-E205-7D99-D7AD-296B12095368}"/>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BCD4532E-7220-8DDE-38E0-75908ADFC5A9}"/>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A313BF30-07E8-B40C-C44B-45017E045330}"/>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17708A"/>
                </a:solidFill>
                <a:latin typeface="Calibri" panose="020F0502020204030204" pitchFamily="34" charset="0"/>
              </a:rPr>
              <a:t>EL INDICADOR CENTRAL</a:t>
            </a:r>
          </a:p>
        </p:txBody>
      </p:sp>
      <p:sp>
        <p:nvSpPr>
          <p:cNvPr id="7" name="CuadroTexto 6">
            <a:extLst>
              <a:ext uri="{FF2B5EF4-FFF2-40B4-BE49-F238E27FC236}">
                <a16:creationId xmlns:a16="http://schemas.microsoft.com/office/drawing/2014/main" id="{228AED32-CE05-11E1-CBC0-F921DAA287F1}"/>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850" b="1">
                <a:solidFill>
                  <a:srgbClr val="14171C"/>
                </a:solidFill>
                <a:latin typeface="Georgia" panose="02040502050405020303" pitchFamily="18" charset="0"/>
              </a:rPr>
              <a:t>Lo que la ciudadanía prioriza contra lo que las candidaturas proponen</a:t>
            </a:r>
            <a:endParaRPr lang="es-HN" sz="2850" b="1">
              <a:solidFill>
                <a:srgbClr val="14171C"/>
              </a:solidFill>
              <a:latin typeface="Georgia" panose="02040502050405020303" pitchFamily="18" charset="0"/>
            </a:endParaRPr>
          </a:p>
        </p:txBody>
      </p:sp>
      <p:sp>
        <p:nvSpPr>
          <p:cNvPr id="8" name="Rectángulo: esquinas redondeadas 7">
            <a:extLst>
              <a:ext uri="{FF2B5EF4-FFF2-40B4-BE49-F238E27FC236}">
                <a16:creationId xmlns:a16="http://schemas.microsoft.com/office/drawing/2014/main" id="{CF92AE35-FCB3-8020-CA43-D2339EBC150C}"/>
              </a:ext>
            </a:extLst>
          </p:cNvPr>
          <p:cNvSpPr/>
          <p:nvPr/>
        </p:nvSpPr>
        <p:spPr>
          <a:xfrm>
            <a:off x="609600" y="1752600"/>
            <a:ext cx="104775" cy="104775"/>
          </a:xfrm>
          <a:prstGeom prst="roundRect">
            <a:avLst>
              <a:gd name="adj" fmla="val 6000"/>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9" name="CuadroTexto 8">
            <a:extLst>
              <a:ext uri="{FF2B5EF4-FFF2-40B4-BE49-F238E27FC236}">
                <a16:creationId xmlns:a16="http://schemas.microsoft.com/office/drawing/2014/main" id="{B38F5FB2-B1A9-ACD1-DE82-BC2C8F442160}"/>
              </a:ext>
            </a:extLst>
          </p:cNvPr>
          <p:cNvSpPr txBox="1"/>
          <p:nvPr/>
        </p:nvSpPr>
        <p:spPr>
          <a:xfrm>
            <a:off x="781050" y="1724025"/>
            <a:ext cx="3238500" cy="276999"/>
          </a:xfrm>
          <a:prstGeom prst="rect">
            <a:avLst/>
          </a:prstGeom>
          <a:noFill/>
        </p:spPr>
        <p:txBody>
          <a:bodyPr vert="horz" wrap="square" lIns="0" tIns="0" rIns="0" bIns="0" rtlCol="0" anchor="t">
            <a:noAutofit/>
          </a:bodyPr>
          <a:lstStyle/>
          <a:p>
            <a:pPr>
              <a:lnSpc>
                <a:spcPct val="125000"/>
              </a:lnSpc>
            </a:pPr>
            <a:r>
              <a:rPr lang="es-ES" sz="975">
                <a:solidFill>
                  <a:srgbClr val="39404A"/>
                </a:solidFill>
                <a:latin typeface="Calibri" panose="020F0502020204030204" pitchFamily="34" charset="0"/>
              </a:rPr>
              <a:t>Interés ciudadano — encuesta del proyecto, n = 150</a:t>
            </a:r>
            <a:endParaRPr lang="es-HN" sz="975">
              <a:solidFill>
                <a:srgbClr val="39404A"/>
              </a:solidFill>
              <a:latin typeface="Calibri" panose="020F0502020204030204" pitchFamily="34" charset="0"/>
            </a:endParaRPr>
          </a:p>
        </p:txBody>
      </p:sp>
      <p:sp>
        <p:nvSpPr>
          <p:cNvPr id="10" name="Rectángulo: esquinas redondeadas 9">
            <a:extLst>
              <a:ext uri="{FF2B5EF4-FFF2-40B4-BE49-F238E27FC236}">
                <a16:creationId xmlns:a16="http://schemas.microsoft.com/office/drawing/2014/main" id="{5BD6A968-197C-3FC5-97D8-69D4717332CC}"/>
              </a:ext>
            </a:extLst>
          </p:cNvPr>
          <p:cNvSpPr/>
          <p:nvPr/>
        </p:nvSpPr>
        <p:spPr>
          <a:xfrm>
            <a:off x="4095750" y="1752600"/>
            <a:ext cx="104775" cy="104775"/>
          </a:xfrm>
          <a:prstGeom prst="roundRect">
            <a:avLst>
              <a:gd name="adj" fmla="val 6000"/>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1" name="CuadroTexto 10">
            <a:extLst>
              <a:ext uri="{FF2B5EF4-FFF2-40B4-BE49-F238E27FC236}">
                <a16:creationId xmlns:a16="http://schemas.microsoft.com/office/drawing/2014/main" id="{8396C79A-2D24-1C69-B6BE-40813B811763}"/>
              </a:ext>
            </a:extLst>
          </p:cNvPr>
          <p:cNvSpPr txBox="1"/>
          <p:nvPr/>
        </p:nvSpPr>
        <p:spPr>
          <a:xfrm>
            <a:off x="4267200" y="1724025"/>
            <a:ext cx="3238500" cy="276999"/>
          </a:xfrm>
          <a:prstGeom prst="rect">
            <a:avLst/>
          </a:prstGeom>
          <a:noFill/>
        </p:spPr>
        <p:txBody>
          <a:bodyPr vert="horz" wrap="square" lIns="0" tIns="0" rIns="0" bIns="0" rtlCol="0" anchor="t">
            <a:noAutofit/>
          </a:bodyPr>
          <a:lstStyle/>
          <a:p>
            <a:pPr>
              <a:lnSpc>
                <a:spcPct val="125000"/>
              </a:lnSpc>
            </a:pPr>
            <a:r>
              <a:rPr lang="es-ES" sz="975">
                <a:solidFill>
                  <a:srgbClr val="39404A"/>
                </a:solidFill>
                <a:latin typeface="Calibri" panose="020F0502020204030204" pitchFamily="34" charset="0"/>
              </a:rPr>
              <a:t>Propuestas registradas en la plataforma</a:t>
            </a:r>
            <a:endParaRPr lang="es-HN" sz="975">
              <a:solidFill>
                <a:srgbClr val="39404A"/>
              </a:solidFill>
              <a:latin typeface="Calibri" panose="020F0502020204030204" pitchFamily="34" charset="0"/>
            </a:endParaRPr>
          </a:p>
        </p:txBody>
      </p:sp>
      <p:sp>
        <p:nvSpPr>
          <p:cNvPr id="12" name="CuadroTexto 11">
            <a:extLst>
              <a:ext uri="{FF2B5EF4-FFF2-40B4-BE49-F238E27FC236}">
                <a16:creationId xmlns:a16="http://schemas.microsoft.com/office/drawing/2014/main" id="{F0B9E609-F2A2-5410-6F21-3291E323A384}"/>
              </a:ext>
            </a:extLst>
          </p:cNvPr>
          <p:cNvSpPr txBox="1"/>
          <p:nvPr/>
        </p:nvSpPr>
        <p:spPr>
          <a:xfrm>
            <a:off x="7048500" y="1724025"/>
            <a:ext cx="4533900" cy="276999"/>
          </a:xfrm>
          <a:prstGeom prst="rect">
            <a:avLst/>
          </a:prstGeom>
          <a:noFill/>
        </p:spPr>
        <p:txBody>
          <a:bodyPr vert="horz" wrap="square" lIns="0" tIns="0" rIns="0" bIns="0" rtlCol="0" anchor="t">
            <a:noAutofit/>
          </a:bodyPr>
          <a:lstStyle/>
          <a:p>
            <a:pPr>
              <a:lnSpc>
                <a:spcPct val="125000"/>
              </a:lnSpc>
            </a:pPr>
            <a:r>
              <a:rPr lang="es-ES" sz="975">
                <a:solidFill>
                  <a:srgbClr val="6A7078"/>
                </a:solidFill>
                <a:latin typeface="Calibri" panose="020F0502020204030204" pitchFamily="34" charset="0"/>
              </a:rPr>
              <a:t>Las dos medidas en porcentaje sobre su propio total.</a:t>
            </a:r>
            <a:endParaRPr lang="es-HN" sz="975">
              <a:solidFill>
                <a:srgbClr val="6A7078"/>
              </a:solidFill>
              <a:latin typeface="Calibri" panose="020F0502020204030204" pitchFamily="34" charset="0"/>
            </a:endParaRPr>
          </a:p>
        </p:txBody>
      </p:sp>
      <p:sp>
        <p:nvSpPr>
          <p:cNvPr id="13" name="CuadroTexto 12">
            <a:extLst>
              <a:ext uri="{FF2B5EF4-FFF2-40B4-BE49-F238E27FC236}">
                <a16:creationId xmlns:a16="http://schemas.microsoft.com/office/drawing/2014/main" id="{1ED69E08-0BC7-B649-93CA-5613A75C7780}"/>
              </a:ext>
            </a:extLst>
          </p:cNvPr>
          <p:cNvSpPr txBox="1"/>
          <p:nvPr/>
        </p:nvSpPr>
        <p:spPr>
          <a:xfrm>
            <a:off x="609600" y="2038350"/>
            <a:ext cx="1695450" cy="276999"/>
          </a:xfrm>
          <a:prstGeom prst="rect">
            <a:avLst/>
          </a:prstGeom>
          <a:noFill/>
        </p:spPr>
        <p:txBody>
          <a:bodyPr vert="horz" wrap="square" lIns="0" tIns="0" rIns="0" bIns="0" rtlCol="0" anchor="t">
            <a:noAutofit/>
          </a:bodyPr>
          <a:lstStyle/>
          <a:p>
            <a:pPr>
              <a:lnSpc>
                <a:spcPct val="125000"/>
              </a:lnSpc>
            </a:pPr>
            <a:r>
              <a:rPr lang="es-HN" sz="1088">
                <a:solidFill>
                  <a:srgbClr val="14171C"/>
                </a:solidFill>
                <a:latin typeface="Calibri" panose="020F0502020204030204" pitchFamily="34" charset="0"/>
              </a:rPr>
              <a:t>Seguridad y orden público</a:t>
            </a:r>
          </a:p>
        </p:txBody>
      </p:sp>
      <p:sp>
        <p:nvSpPr>
          <p:cNvPr id="14" name="CuadroTexto 13">
            <a:extLst>
              <a:ext uri="{FF2B5EF4-FFF2-40B4-BE49-F238E27FC236}">
                <a16:creationId xmlns:a16="http://schemas.microsoft.com/office/drawing/2014/main" id="{BD3BEA19-62F5-F4F2-68A8-617AF32DC902}"/>
              </a:ext>
            </a:extLst>
          </p:cNvPr>
          <p:cNvSpPr txBox="1"/>
          <p:nvPr/>
        </p:nvSpPr>
        <p:spPr>
          <a:xfrm>
            <a:off x="609600" y="2219325"/>
            <a:ext cx="1695450" cy="276999"/>
          </a:xfrm>
          <a:prstGeom prst="rect">
            <a:avLst/>
          </a:prstGeom>
          <a:noFill/>
        </p:spPr>
        <p:txBody>
          <a:bodyPr vert="horz" wrap="square" lIns="0" tIns="0" rIns="0" bIns="0" rtlCol="0" anchor="t">
            <a:noAutofit/>
          </a:bodyPr>
          <a:lstStyle/>
          <a:p>
            <a:pPr>
              <a:lnSpc>
                <a:spcPct val="125000"/>
              </a:lnSpc>
            </a:pPr>
            <a:r>
              <a:rPr lang="es-HN" sz="863">
                <a:solidFill>
                  <a:srgbClr val="6A7078"/>
                </a:solidFill>
                <a:latin typeface="Calibri" panose="020F0502020204030204" pitchFamily="34" charset="0"/>
              </a:rPr>
              <a:t>1 propuesta</a:t>
            </a:r>
          </a:p>
        </p:txBody>
      </p:sp>
      <p:sp>
        <p:nvSpPr>
          <p:cNvPr id="15" name="Rectángulo 14">
            <a:extLst>
              <a:ext uri="{FF2B5EF4-FFF2-40B4-BE49-F238E27FC236}">
                <a16:creationId xmlns:a16="http://schemas.microsoft.com/office/drawing/2014/main" id="{AB95548E-ED08-8F22-3AA6-2A8A3240C0B1}"/>
              </a:ext>
            </a:extLst>
          </p:cNvPr>
          <p:cNvSpPr/>
          <p:nvPr/>
        </p:nvSpPr>
        <p:spPr>
          <a:xfrm>
            <a:off x="2457450" y="2057400"/>
            <a:ext cx="7573735" cy="10477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6" name="Rectángulo 15">
            <a:extLst>
              <a:ext uri="{FF2B5EF4-FFF2-40B4-BE49-F238E27FC236}">
                <a16:creationId xmlns:a16="http://schemas.microsoft.com/office/drawing/2014/main" id="{3CEA7CF5-F3DE-CC8F-8EC9-C1451EF8331E}"/>
              </a:ext>
            </a:extLst>
          </p:cNvPr>
          <p:cNvSpPr/>
          <p:nvPr/>
        </p:nvSpPr>
        <p:spPr>
          <a:xfrm>
            <a:off x="2457450" y="2200275"/>
            <a:ext cx="2724150" cy="10477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7" name="CuadroTexto 16">
            <a:extLst>
              <a:ext uri="{FF2B5EF4-FFF2-40B4-BE49-F238E27FC236}">
                <a16:creationId xmlns:a16="http://schemas.microsoft.com/office/drawing/2014/main" id="{8EE60E23-D3CC-BA4F-B0B9-9D93B1AC2ED3}"/>
              </a:ext>
            </a:extLst>
          </p:cNvPr>
          <p:cNvSpPr txBox="1"/>
          <p:nvPr/>
        </p:nvSpPr>
        <p:spPr>
          <a:xfrm>
            <a:off x="10782300" y="2038350"/>
            <a:ext cx="800100" cy="276999"/>
          </a:xfrm>
          <a:prstGeom prst="rect">
            <a:avLst/>
          </a:prstGeom>
          <a:noFill/>
        </p:spPr>
        <p:txBody>
          <a:bodyPr vert="horz" wrap="square" lIns="0" tIns="0" rIns="0" bIns="0" rtlCol="0" anchor="t">
            <a:noAutofit/>
          </a:bodyPr>
          <a:lstStyle/>
          <a:p>
            <a:pPr algn="r">
              <a:lnSpc>
                <a:spcPct val="125000"/>
              </a:lnSpc>
            </a:pPr>
            <a:r>
              <a:rPr lang="es-HN" sz="1125" b="1">
                <a:solidFill>
                  <a:srgbClr val="B8791A"/>
                </a:solidFill>
                <a:latin typeface="Calibri" panose="020F0502020204030204" pitchFamily="34" charset="0"/>
              </a:rPr>
              <a:t>25.3 %</a:t>
            </a:r>
          </a:p>
        </p:txBody>
      </p:sp>
      <p:sp>
        <p:nvSpPr>
          <p:cNvPr id="18" name="CuadroTexto 17">
            <a:extLst>
              <a:ext uri="{FF2B5EF4-FFF2-40B4-BE49-F238E27FC236}">
                <a16:creationId xmlns:a16="http://schemas.microsoft.com/office/drawing/2014/main" id="{DD0C5787-BD09-B099-D501-D401D4D33E8D}"/>
              </a:ext>
            </a:extLst>
          </p:cNvPr>
          <p:cNvSpPr txBox="1"/>
          <p:nvPr/>
        </p:nvSpPr>
        <p:spPr>
          <a:xfrm>
            <a:off x="10782300" y="2219325"/>
            <a:ext cx="800100" cy="276999"/>
          </a:xfrm>
          <a:prstGeom prst="rect">
            <a:avLst/>
          </a:prstGeom>
          <a:noFill/>
        </p:spPr>
        <p:txBody>
          <a:bodyPr vert="horz" wrap="square" lIns="0" tIns="0" rIns="0" bIns="0" rtlCol="0" anchor="t">
            <a:noAutofit/>
          </a:bodyPr>
          <a:lstStyle/>
          <a:p>
            <a:pPr algn="r">
              <a:lnSpc>
                <a:spcPct val="125000"/>
              </a:lnSpc>
            </a:pPr>
            <a:r>
              <a:rPr lang="es-HN" sz="938">
                <a:solidFill>
                  <a:srgbClr val="17708A"/>
                </a:solidFill>
                <a:latin typeface="Calibri" panose="020F0502020204030204" pitchFamily="34" charset="0"/>
              </a:rPr>
              <a:t>9.1 %</a:t>
            </a:r>
          </a:p>
        </p:txBody>
      </p:sp>
      <p:sp>
        <p:nvSpPr>
          <p:cNvPr id="19" name="CuadroTexto 18">
            <a:extLst>
              <a:ext uri="{FF2B5EF4-FFF2-40B4-BE49-F238E27FC236}">
                <a16:creationId xmlns:a16="http://schemas.microsoft.com/office/drawing/2014/main" id="{E7BD48B5-E833-E3FA-CFE7-D722B3C02A15}"/>
              </a:ext>
            </a:extLst>
          </p:cNvPr>
          <p:cNvSpPr txBox="1"/>
          <p:nvPr/>
        </p:nvSpPr>
        <p:spPr>
          <a:xfrm>
            <a:off x="609600" y="2476500"/>
            <a:ext cx="1695450" cy="276999"/>
          </a:xfrm>
          <a:prstGeom prst="rect">
            <a:avLst/>
          </a:prstGeom>
          <a:noFill/>
        </p:spPr>
        <p:txBody>
          <a:bodyPr vert="horz" wrap="square" lIns="0" tIns="0" rIns="0" bIns="0" rtlCol="0" anchor="t">
            <a:noAutofit/>
          </a:bodyPr>
          <a:lstStyle/>
          <a:p>
            <a:pPr>
              <a:lnSpc>
                <a:spcPct val="125000"/>
              </a:lnSpc>
            </a:pPr>
            <a:r>
              <a:rPr lang="es-HN" sz="1088">
                <a:solidFill>
                  <a:srgbClr val="14171C"/>
                </a:solidFill>
                <a:latin typeface="Calibri" panose="020F0502020204030204" pitchFamily="34" charset="0"/>
              </a:rPr>
              <a:t>Salud</a:t>
            </a:r>
          </a:p>
        </p:txBody>
      </p:sp>
      <p:sp>
        <p:nvSpPr>
          <p:cNvPr id="20" name="CuadroTexto 19">
            <a:extLst>
              <a:ext uri="{FF2B5EF4-FFF2-40B4-BE49-F238E27FC236}">
                <a16:creationId xmlns:a16="http://schemas.microsoft.com/office/drawing/2014/main" id="{0651F78B-FC5F-2D96-3C12-DE0B5B41E17C}"/>
              </a:ext>
            </a:extLst>
          </p:cNvPr>
          <p:cNvSpPr txBox="1"/>
          <p:nvPr/>
        </p:nvSpPr>
        <p:spPr>
          <a:xfrm>
            <a:off x="609600" y="2657475"/>
            <a:ext cx="1695450" cy="276999"/>
          </a:xfrm>
          <a:prstGeom prst="rect">
            <a:avLst/>
          </a:prstGeom>
          <a:noFill/>
        </p:spPr>
        <p:txBody>
          <a:bodyPr vert="horz" wrap="square" lIns="0" tIns="0" rIns="0" bIns="0" rtlCol="0" anchor="t">
            <a:noAutofit/>
          </a:bodyPr>
          <a:lstStyle/>
          <a:p>
            <a:pPr>
              <a:lnSpc>
                <a:spcPct val="125000"/>
              </a:lnSpc>
            </a:pPr>
            <a:r>
              <a:rPr lang="es-HN" sz="863">
                <a:solidFill>
                  <a:srgbClr val="6A7078"/>
                </a:solidFill>
                <a:latin typeface="Calibri" panose="020F0502020204030204" pitchFamily="34" charset="0"/>
              </a:rPr>
              <a:t>2 propuestas</a:t>
            </a:r>
          </a:p>
        </p:txBody>
      </p:sp>
      <p:sp>
        <p:nvSpPr>
          <p:cNvPr id="21" name="Rectángulo 20">
            <a:extLst>
              <a:ext uri="{FF2B5EF4-FFF2-40B4-BE49-F238E27FC236}">
                <a16:creationId xmlns:a16="http://schemas.microsoft.com/office/drawing/2014/main" id="{37C70B6F-D6E7-CC62-1711-BD7D4FEE1AB7}"/>
              </a:ext>
            </a:extLst>
          </p:cNvPr>
          <p:cNvSpPr/>
          <p:nvPr/>
        </p:nvSpPr>
        <p:spPr>
          <a:xfrm>
            <a:off x="2457450" y="2495550"/>
            <a:ext cx="6975022" cy="10477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2" name="Rectángulo 21">
            <a:extLst>
              <a:ext uri="{FF2B5EF4-FFF2-40B4-BE49-F238E27FC236}">
                <a16:creationId xmlns:a16="http://schemas.microsoft.com/office/drawing/2014/main" id="{94D495DD-7E21-DF31-D576-CDF7361487EE}"/>
              </a:ext>
            </a:extLst>
          </p:cNvPr>
          <p:cNvSpPr/>
          <p:nvPr/>
        </p:nvSpPr>
        <p:spPr>
          <a:xfrm>
            <a:off x="2457450" y="2638425"/>
            <a:ext cx="5448300" cy="10477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3" name="CuadroTexto 22">
            <a:extLst>
              <a:ext uri="{FF2B5EF4-FFF2-40B4-BE49-F238E27FC236}">
                <a16:creationId xmlns:a16="http://schemas.microsoft.com/office/drawing/2014/main" id="{D270707D-4EB8-C0F4-377B-B93371BDD372}"/>
              </a:ext>
            </a:extLst>
          </p:cNvPr>
          <p:cNvSpPr txBox="1"/>
          <p:nvPr/>
        </p:nvSpPr>
        <p:spPr>
          <a:xfrm>
            <a:off x="10782300" y="2476500"/>
            <a:ext cx="800100" cy="276999"/>
          </a:xfrm>
          <a:prstGeom prst="rect">
            <a:avLst/>
          </a:prstGeom>
          <a:noFill/>
        </p:spPr>
        <p:txBody>
          <a:bodyPr vert="horz" wrap="square" lIns="0" tIns="0" rIns="0" bIns="0" rtlCol="0" anchor="t">
            <a:noAutofit/>
          </a:bodyPr>
          <a:lstStyle/>
          <a:p>
            <a:pPr algn="r">
              <a:lnSpc>
                <a:spcPct val="125000"/>
              </a:lnSpc>
            </a:pPr>
            <a:r>
              <a:rPr lang="es-HN" sz="1125" b="1">
                <a:solidFill>
                  <a:srgbClr val="B8791A"/>
                </a:solidFill>
                <a:latin typeface="Calibri" panose="020F0502020204030204" pitchFamily="34" charset="0"/>
              </a:rPr>
              <a:t>23.3 %</a:t>
            </a:r>
          </a:p>
        </p:txBody>
      </p:sp>
      <p:sp>
        <p:nvSpPr>
          <p:cNvPr id="24" name="CuadroTexto 23">
            <a:extLst>
              <a:ext uri="{FF2B5EF4-FFF2-40B4-BE49-F238E27FC236}">
                <a16:creationId xmlns:a16="http://schemas.microsoft.com/office/drawing/2014/main" id="{95C9C68B-4341-3F46-0D70-C77B98DDE6A9}"/>
              </a:ext>
            </a:extLst>
          </p:cNvPr>
          <p:cNvSpPr txBox="1"/>
          <p:nvPr/>
        </p:nvSpPr>
        <p:spPr>
          <a:xfrm>
            <a:off x="10782300" y="2657475"/>
            <a:ext cx="800100" cy="276999"/>
          </a:xfrm>
          <a:prstGeom prst="rect">
            <a:avLst/>
          </a:prstGeom>
          <a:noFill/>
        </p:spPr>
        <p:txBody>
          <a:bodyPr vert="horz" wrap="square" lIns="0" tIns="0" rIns="0" bIns="0" rtlCol="0" anchor="t">
            <a:noAutofit/>
          </a:bodyPr>
          <a:lstStyle/>
          <a:p>
            <a:pPr algn="r">
              <a:lnSpc>
                <a:spcPct val="125000"/>
              </a:lnSpc>
            </a:pPr>
            <a:r>
              <a:rPr lang="es-HN" sz="938">
                <a:solidFill>
                  <a:srgbClr val="17708A"/>
                </a:solidFill>
                <a:latin typeface="Calibri" panose="020F0502020204030204" pitchFamily="34" charset="0"/>
              </a:rPr>
              <a:t>18.2 %</a:t>
            </a:r>
          </a:p>
        </p:txBody>
      </p:sp>
      <p:sp>
        <p:nvSpPr>
          <p:cNvPr id="25" name="CuadroTexto 24">
            <a:extLst>
              <a:ext uri="{FF2B5EF4-FFF2-40B4-BE49-F238E27FC236}">
                <a16:creationId xmlns:a16="http://schemas.microsoft.com/office/drawing/2014/main" id="{CC088315-E57D-3664-D2E2-D5CDB6D540B2}"/>
              </a:ext>
            </a:extLst>
          </p:cNvPr>
          <p:cNvSpPr txBox="1"/>
          <p:nvPr/>
        </p:nvSpPr>
        <p:spPr>
          <a:xfrm>
            <a:off x="609600" y="2914650"/>
            <a:ext cx="1695450" cy="276999"/>
          </a:xfrm>
          <a:prstGeom prst="rect">
            <a:avLst/>
          </a:prstGeom>
          <a:noFill/>
        </p:spPr>
        <p:txBody>
          <a:bodyPr vert="horz" wrap="square" lIns="0" tIns="0" rIns="0" bIns="0" rtlCol="0" anchor="t">
            <a:noAutofit/>
          </a:bodyPr>
          <a:lstStyle/>
          <a:p>
            <a:pPr>
              <a:lnSpc>
                <a:spcPct val="125000"/>
              </a:lnSpc>
            </a:pPr>
            <a:r>
              <a:rPr lang="es-HN" sz="1088">
                <a:solidFill>
                  <a:srgbClr val="14171C"/>
                </a:solidFill>
                <a:latin typeface="Calibri" panose="020F0502020204030204" pitchFamily="34" charset="0"/>
              </a:rPr>
              <a:t>Educación</a:t>
            </a:r>
          </a:p>
        </p:txBody>
      </p:sp>
      <p:sp>
        <p:nvSpPr>
          <p:cNvPr id="26" name="CuadroTexto 25">
            <a:extLst>
              <a:ext uri="{FF2B5EF4-FFF2-40B4-BE49-F238E27FC236}">
                <a16:creationId xmlns:a16="http://schemas.microsoft.com/office/drawing/2014/main" id="{E798C2BC-386E-88C1-B358-C239C15A2122}"/>
              </a:ext>
            </a:extLst>
          </p:cNvPr>
          <p:cNvSpPr txBox="1"/>
          <p:nvPr/>
        </p:nvSpPr>
        <p:spPr>
          <a:xfrm>
            <a:off x="609600" y="3095625"/>
            <a:ext cx="1695450" cy="276999"/>
          </a:xfrm>
          <a:prstGeom prst="rect">
            <a:avLst/>
          </a:prstGeom>
          <a:noFill/>
        </p:spPr>
        <p:txBody>
          <a:bodyPr vert="horz" wrap="square" lIns="0" tIns="0" rIns="0" bIns="0" rtlCol="0" anchor="t">
            <a:noAutofit/>
          </a:bodyPr>
          <a:lstStyle/>
          <a:p>
            <a:pPr>
              <a:lnSpc>
                <a:spcPct val="125000"/>
              </a:lnSpc>
            </a:pPr>
            <a:r>
              <a:rPr lang="es-HN" sz="863">
                <a:solidFill>
                  <a:srgbClr val="6A7078"/>
                </a:solidFill>
                <a:latin typeface="Calibri" panose="020F0502020204030204" pitchFamily="34" charset="0"/>
              </a:rPr>
              <a:t>1 propuesta</a:t>
            </a:r>
          </a:p>
        </p:txBody>
      </p:sp>
      <p:sp>
        <p:nvSpPr>
          <p:cNvPr id="27" name="Rectángulo 26">
            <a:extLst>
              <a:ext uri="{FF2B5EF4-FFF2-40B4-BE49-F238E27FC236}">
                <a16:creationId xmlns:a16="http://schemas.microsoft.com/office/drawing/2014/main" id="{E4B221FE-D65D-4034-E732-A3F06D121C6D}"/>
              </a:ext>
            </a:extLst>
          </p:cNvPr>
          <p:cNvSpPr/>
          <p:nvPr/>
        </p:nvSpPr>
        <p:spPr>
          <a:xfrm>
            <a:off x="2457450" y="2933700"/>
            <a:ext cx="5388428" cy="10477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8" name="Rectángulo 27">
            <a:extLst>
              <a:ext uri="{FF2B5EF4-FFF2-40B4-BE49-F238E27FC236}">
                <a16:creationId xmlns:a16="http://schemas.microsoft.com/office/drawing/2014/main" id="{2988ED9B-67A3-2BC6-9302-155D59133AD1}"/>
              </a:ext>
            </a:extLst>
          </p:cNvPr>
          <p:cNvSpPr/>
          <p:nvPr/>
        </p:nvSpPr>
        <p:spPr>
          <a:xfrm>
            <a:off x="2457450" y="3076575"/>
            <a:ext cx="2724150" cy="10477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9" name="CuadroTexto 28">
            <a:extLst>
              <a:ext uri="{FF2B5EF4-FFF2-40B4-BE49-F238E27FC236}">
                <a16:creationId xmlns:a16="http://schemas.microsoft.com/office/drawing/2014/main" id="{FE2C18B7-7B29-6CCF-15F0-6A76A3B39A46}"/>
              </a:ext>
            </a:extLst>
          </p:cNvPr>
          <p:cNvSpPr txBox="1"/>
          <p:nvPr/>
        </p:nvSpPr>
        <p:spPr>
          <a:xfrm>
            <a:off x="10782300" y="2914650"/>
            <a:ext cx="800100" cy="276999"/>
          </a:xfrm>
          <a:prstGeom prst="rect">
            <a:avLst/>
          </a:prstGeom>
          <a:noFill/>
        </p:spPr>
        <p:txBody>
          <a:bodyPr vert="horz" wrap="square" lIns="0" tIns="0" rIns="0" bIns="0" rtlCol="0" anchor="t">
            <a:noAutofit/>
          </a:bodyPr>
          <a:lstStyle/>
          <a:p>
            <a:pPr algn="r">
              <a:lnSpc>
                <a:spcPct val="125000"/>
              </a:lnSpc>
            </a:pPr>
            <a:r>
              <a:rPr lang="es-HN" sz="1125" b="1">
                <a:solidFill>
                  <a:srgbClr val="B8791A"/>
                </a:solidFill>
                <a:latin typeface="Calibri" panose="020F0502020204030204" pitchFamily="34" charset="0"/>
              </a:rPr>
              <a:t>18 %</a:t>
            </a:r>
          </a:p>
        </p:txBody>
      </p:sp>
      <p:sp>
        <p:nvSpPr>
          <p:cNvPr id="30" name="CuadroTexto 29">
            <a:extLst>
              <a:ext uri="{FF2B5EF4-FFF2-40B4-BE49-F238E27FC236}">
                <a16:creationId xmlns:a16="http://schemas.microsoft.com/office/drawing/2014/main" id="{DF8AC96E-F36D-261F-DDD0-B1BFE2461D42}"/>
              </a:ext>
            </a:extLst>
          </p:cNvPr>
          <p:cNvSpPr txBox="1"/>
          <p:nvPr/>
        </p:nvSpPr>
        <p:spPr>
          <a:xfrm>
            <a:off x="10782300" y="3095625"/>
            <a:ext cx="800100" cy="276999"/>
          </a:xfrm>
          <a:prstGeom prst="rect">
            <a:avLst/>
          </a:prstGeom>
          <a:noFill/>
        </p:spPr>
        <p:txBody>
          <a:bodyPr vert="horz" wrap="square" lIns="0" tIns="0" rIns="0" bIns="0" rtlCol="0" anchor="t">
            <a:noAutofit/>
          </a:bodyPr>
          <a:lstStyle/>
          <a:p>
            <a:pPr algn="r">
              <a:lnSpc>
                <a:spcPct val="125000"/>
              </a:lnSpc>
            </a:pPr>
            <a:r>
              <a:rPr lang="es-HN" sz="938">
                <a:solidFill>
                  <a:srgbClr val="17708A"/>
                </a:solidFill>
                <a:latin typeface="Calibri" panose="020F0502020204030204" pitchFamily="34" charset="0"/>
              </a:rPr>
              <a:t>9.1 %</a:t>
            </a:r>
          </a:p>
        </p:txBody>
      </p:sp>
      <p:sp>
        <p:nvSpPr>
          <p:cNvPr id="31" name="CuadroTexto 30">
            <a:extLst>
              <a:ext uri="{FF2B5EF4-FFF2-40B4-BE49-F238E27FC236}">
                <a16:creationId xmlns:a16="http://schemas.microsoft.com/office/drawing/2014/main" id="{A57296F5-BE65-2342-CE4E-8F65EE09CB50}"/>
              </a:ext>
            </a:extLst>
          </p:cNvPr>
          <p:cNvSpPr txBox="1"/>
          <p:nvPr/>
        </p:nvSpPr>
        <p:spPr>
          <a:xfrm>
            <a:off x="609600" y="3352800"/>
            <a:ext cx="1695450" cy="276999"/>
          </a:xfrm>
          <a:prstGeom prst="rect">
            <a:avLst/>
          </a:prstGeom>
          <a:noFill/>
        </p:spPr>
        <p:txBody>
          <a:bodyPr vert="horz" wrap="square" lIns="0" tIns="0" rIns="0" bIns="0" rtlCol="0" anchor="t">
            <a:noAutofit/>
          </a:bodyPr>
          <a:lstStyle/>
          <a:p>
            <a:pPr>
              <a:lnSpc>
                <a:spcPct val="125000"/>
              </a:lnSpc>
            </a:pPr>
            <a:r>
              <a:rPr lang="es-HN" sz="1088">
                <a:solidFill>
                  <a:srgbClr val="14171C"/>
                </a:solidFill>
                <a:latin typeface="Calibri" panose="020F0502020204030204" pitchFamily="34" charset="0"/>
              </a:rPr>
              <a:t>Economía y empleo</a:t>
            </a:r>
          </a:p>
        </p:txBody>
      </p:sp>
      <p:sp>
        <p:nvSpPr>
          <p:cNvPr id="32" name="CuadroTexto 31">
            <a:extLst>
              <a:ext uri="{FF2B5EF4-FFF2-40B4-BE49-F238E27FC236}">
                <a16:creationId xmlns:a16="http://schemas.microsoft.com/office/drawing/2014/main" id="{FD3289CE-EA2D-1A0E-C4F1-9B323B950C6B}"/>
              </a:ext>
            </a:extLst>
          </p:cNvPr>
          <p:cNvSpPr txBox="1"/>
          <p:nvPr/>
        </p:nvSpPr>
        <p:spPr>
          <a:xfrm>
            <a:off x="609600" y="3533775"/>
            <a:ext cx="1695450" cy="276999"/>
          </a:xfrm>
          <a:prstGeom prst="rect">
            <a:avLst/>
          </a:prstGeom>
          <a:noFill/>
        </p:spPr>
        <p:txBody>
          <a:bodyPr vert="horz" wrap="square" lIns="0" tIns="0" rIns="0" bIns="0" rtlCol="0" anchor="t">
            <a:noAutofit/>
          </a:bodyPr>
          <a:lstStyle/>
          <a:p>
            <a:pPr>
              <a:lnSpc>
                <a:spcPct val="125000"/>
              </a:lnSpc>
            </a:pPr>
            <a:r>
              <a:rPr lang="es-HN" sz="863">
                <a:solidFill>
                  <a:srgbClr val="6A7078"/>
                </a:solidFill>
                <a:latin typeface="Calibri" panose="020F0502020204030204" pitchFamily="34" charset="0"/>
              </a:rPr>
              <a:t>2 propuestas</a:t>
            </a:r>
          </a:p>
        </p:txBody>
      </p:sp>
      <p:sp>
        <p:nvSpPr>
          <p:cNvPr id="33" name="Rectángulo 32">
            <a:extLst>
              <a:ext uri="{FF2B5EF4-FFF2-40B4-BE49-F238E27FC236}">
                <a16:creationId xmlns:a16="http://schemas.microsoft.com/office/drawing/2014/main" id="{552735B7-75BC-40A0-A42A-7FCBF2C234B7}"/>
              </a:ext>
            </a:extLst>
          </p:cNvPr>
          <p:cNvSpPr/>
          <p:nvPr/>
        </p:nvSpPr>
        <p:spPr>
          <a:xfrm>
            <a:off x="2457450" y="3371850"/>
            <a:ext cx="4400550" cy="10477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4" name="Rectángulo 33">
            <a:extLst>
              <a:ext uri="{FF2B5EF4-FFF2-40B4-BE49-F238E27FC236}">
                <a16:creationId xmlns:a16="http://schemas.microsoft.com/office/drawing/2014/main" id="{7260A9BF-4994-00A9-5EAC-F6F6B3909073}"/>
              </a:ext>
            </a:extLst>
          </p:cNvPr>
          <p:cNvSpPr/>
          <p:nvPr/>
        </p:nvSpPr>
        <p:spPr>
          <a:xfrm>
            <a:off x="2457450" y="3514725"/>
            <a:ext cx="5448300" cy="10477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5" name="CuadroTexto 34">
            <a:extLst>
              <a:ext uri="{FF2B5EF4-FFF2-40B4-BE49-F238E27FC236}">
                <a16:creationId xmlns:a16="http://schemas.microsoft.com/office/drawing/2014/main" id="{7DA8962B-475D-26E9-C93D-D7B5468BD9D6}"/>
              </a:ext>
            </a:extLst>
          </p:cNvPr>
          <p:cNvSpPr txBox="1"/>
          <p:nvPr/>
        </p:nvSpPr>
        <p:spPr>
          <a:xfrm>
            <a:off x="10782300" y="3352800"/>
            <a:ext cx="800100" cy="276999"/>
          </a:xfrm>
          <a:prstGeom prst="rect">
            <a:avLst/>
          </a:prstGeom>
          <a:noFill/>
        </p:spPr>
        <p:txBody>
          <a:bodyPr vert="horz" wrap="square" lIns="0" tIns="0" rIns="0" bIns="0" rtlCol="0" anchor="t">
            <a:noAutofit/>
          </a:bodyPr>
          <a:lstStyle/>
          <a:p>
            <a:pPr algn="r">
              <a:lnSpc>
                <a:spcPct val="125000"/>
              </a:lnSpc>
            </a:pPr>
            <a:r>
              <a:rPr lang="es-HN" sz="1125" b="1">
                <a:solidFill>
                  <a:srgbClr val="B8791A"/>
                </a:solidFill>
                <a:latin typeface="Calibri" panose="020F0502020204030204" pitchFamily="34" charset="0"/>
              </a:rPr>
              <a:t>14.7 %</a:t>
            </a:r>
          </a:p>
        </p:txBody>
      </p:sp>
      <p:sp>
        <p:nvSpPr>
          <p:cNvPr id="36" name="CuadroTexto 35">
            <a:extLst>
              <a:ext uri="{FF2B5EF4-FFF2-40B4-BE49-F238E27FC236}">
                <a16:creationId xmlns:a16="http://schemas.microsoft.com/office/drawing/2014/main" id="{B1D71EB1-34D0-A3B5-5636-6E62C1339143}"/>
              </a:ext>
            </a:extLst>
          </p:cNvPr>
          <p:cNvSpPr txBox="1"/>
          <p:nvPr/>
        </p:nvSpPr>
        <p:spPr>
          <a:xfrm>
            <a:off x="10782300" y="3533775"/>
            <a:ext cx="800100" cy="276999"/>
          </a:xfrm>
          <a:prstGeom prst="rect">
            <a:avLst/>
          </a:prstGeom>
          <a:noFill/>
        </p:spPr>
        <p:txBody>
          <a:bodyPr vert="horz" wrap="square" lIns="0" tIns="0" rIns="0" bIns="0" rtlCol="0" anchor="t">
            <a:noAutofit/>
          </a:bodyPr>
          <a:lstStyle/>
          <a:p>
            <a:pPr algn="r">
              <a:lnSpc>
                <a:spcPct val="125000"/>
              </a:lnSpc>
            </a:pPr>
            <a:r>
              <a:rPr lang="es-HN" sz="938">
                <a:solidFill>
                  <a:srgbClr val="17708A"/>
                </a:solidFill>
                <a:latin typeface="Calibri" panose="020F0502020204030204" pitchFamily="34" charset="0"/>
              </a:rPr>
              <a:t>18.2 %</a:t>
            </a:r>
          </a:p>
        </p:txBody>
      </p:sp>
      <p:sp>
        <p:nvSpPr>
          <p:cNvPr id="37" name="CuadroTexto 36">
            <a:extLst>
              <a:ext uri="{FF2B5EF4-FFF2-40B4-BE49-F238E27FC236}">
                <a16:creationId xmlns:a16="http://schemas.microsoft.com/office/drawing/2014/main" id="{1249ED07-2B7B-60C0-CC83-E37D49091694}"/>
              </a:ext>
            </a:extLst>
          </p:cNvPr>
          <p:cNvSpPr txBox="1"/>
          <p:nvPr/>
        </p:nvSpPr>
        <p:spPr>
          <a:xfrm>
            <a:off x="609600" y="3790950"/>
            <a:ext cx="1695450" cy="276999"/>
          </a:xfrm>
          <a:prstGeom prst="rect">
            <a:avLst/>
          </a:prstGeom>
          <a:noFill/>
        </p:spPr>
        <p:txBody>
          <a:bodyPr vert="horz" wrap="square" lIns="0" tIns="0" rIns="0" bIns="0" rtlCol="0" anchor="t">
            <a:noAutofit/>
          </a:bodyPr>
          <a:lstStyle/>
          <a:p>
            <a:pPr>
              <a:lnSpc>
                <a:spcPct val="125000"/>
              </a:lnSpc>
            </a:pPr>
            <a:r>
              <a:rPr lang="es-HN" sz="1088">
                <a:solidFill>
                  <a:srgbClr val="14171C"/>
                </a:solidFill>
                <a:latin typeface="Calibri" panose="020F0502020204030204" pitchFamily="34" charset="0"/>
              </a:rPr>
              <a:t>Infraestructura</a:t>
            </a:r>
          </a:p>
        </p:txBody>
      </p:sp>
      <p:sp>
        <p:nvSpPr>
          <p:cNvPr id="38" name="CuadroTexto 37">
            <a:extLst>
              <a:ext uri="{FF2B5EF4-FFF2-40B4-BE49-F238E27FC236}">
                <a16:creationId xmlns:a16="http://schemas.microsoft.com/office/drawing/2014/main" id="{4F7780F0-E939-F355-255D-49EB7EF2D2D2}"/>
              </a:ext>
            </a:extLst>
          </p:cNvPr>
          <p:cNvSpPr txBox="1"/>
          <p:nvPr/>
        </p:nvSpPr>
        <p:spPr>
          <a:xfrm>
            <a:off x="609600" y="3971925"/>
            <a:ext cx="1695450" cy="276999"/>
          </a:xfrm>
          <a:prstGeom prst="rect">
            <a:avLst/>
          </a:prstGeom>
          <a:noFill/>
        </p:spPr>
        <p:txBody>
          <a:bodyPr vert="horz" wrap="square" lIns="0" tIns="0" rIns="0" bIns="0" rtlCol="0" anchor="t">
            <a:noAutofit/>
          </a:bodyPr>
          <a:lstStyle/>
          <a:p>
            <a:pPr>
              <a:lnSpc>
                <a:spcPct val="125000"/>
              </a:lnSpc>
            </a:pPr>
            <a:r>
              <a:rPr lang="es-HN" sz="863">
                <a:solidFill>
                  <a:srgbClr val="6A7078"/>
                </a:solidFill>
                <a:latin typeface="Calibri" panose="020F0502020204030204" pitchFamily="34" charset="0"/>
              </a:rPr>
              <a:t>2 propuestas</a:t>
            </a:r>
          </a:p>
        </p:txBody>
      </p:sp>
      <p:sp>
        <p:nvSpPr>
          <p:cNvPr id="39" name="Rectángulo 38">
            <a:extLst>
              <a:ext uri="{FF2B5EF4-FFF2-40B4-BE49-F238E27FC236}">
                <a16:creationId xmlns:a16="http://schemas.microsoft.com/office/drawing/2014/main" id="{1A56673B-DFB5-F260-435A-3FE28518E03A}"/>
              </a:ext>
            </a:extLst>
          </p:cNvPr>
          <p:cNvSpPr/>
          <p:nvPr/>
        </p:nvSpPr>
        <p:spPr>
          <a:xfrm>
            <a:off x="2457450" y="3810000"/>
            <a:ext cx="4191000" cy="10477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0" name="Rectángulo 39">
            <a:extLst>
              <a:ext uri="{FF2B5EF4-FFF2-40B4-BE49-F238E27FC236}">
                <a16:creationId xmlns:a16="http://schemas.microsoft.com/office/drawing/2014/main" id="{3F8C9374-3224-43BF-362A-EE2A58B60C1C}"/>
              </a:ext>
            </a:extLst>
          </p:cNvPr>
          <p:cNvSpPr/>
          <p:nvPr/>
        </p:nvSpPr>
        <p:spPr>
          <a:xfrm>
            <a:off x="2457450" y="3952875"/>
            <a:ext cx="5448300" cy="10477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1" name="CuadroTexto 40">
            <a:extLst>
              <a:ext uri="{FF2B5EF4-FFF2-40B4-BE49-F238E27FC236}">
                <a16:creationId xmlns:a16="http://schemas.microsoft.com/office/drawing/2014/main" id="{2A987AA9-1744-F1DE-BB0F-8407F7BACE6D}"/>
              </a:ext>
            </a:extLst>
          </p:cNvPr>
          <p:cNvSpPr txBox="1"/>
          <p:nvPr/>
        </p:nvSpPr>
        <p:spPr>
          <a:xfrm>
            <a:off x="10782300" y="3790950"/>
            <a:ext cx="800100" cy="276999"/>
          </a:xfrm>
          <a:prstGeom prst="rect">
            <a:avLst/>
          </a:prstGeom>
          <a:noFill/>
        </p:spPr>
        <p:txBody>
          <a:bodyPr vert="horz" wrap="square" lIns="0" tIns="0" rIns="0" bIns="0" rtlCol="0" anchor="t">
            <a:noAutofit/>
          </a:bodyPr>
          <a:lstStyle/>
          <a:p>
            <a:pPr algn="r">
              <a:lnSpc>
                <a:spcPct val="125000"/>
              </a:lnSpc>
            </a:pPr>
            <a:r>
              <a:rPr lang="es-HN" sz="1125" b="1">
                <a:solidFill>
                  <a:srgbClr val="B8791A"/>
                </a:solidFill>
                <a:latin typeface="Calibri" panose="020F0502020204030204" pitchFamily="34" charset="0"/>
              </a:rPr>
              <a:t>14 %</a:t>
            </a:r>
          </a:p>
        </p:txBody>
      </p:sp>
      <p:sp>
        <p:nvSpPr>
          <p:cNvPr id="42" name="CuadroTexto 41">
            <a:extLst>
              <a:ext uri="{FF2B5EF4-FFF2-40B4-BE49-F238E27FC236}">
                <a16:creationId xmlns:a16="http://schemas.microsoft.com/office/drawing/2014/main" id="{79B71216-088F-279D-A47B-D8C8A8E1E5C6}"/>
              </a:ext>
            </a:extLst>
          </p:cNvPr>
          <p:cNvSpPr txBox="1"/>
          <p:nvPr/>
        </p:nvSpPr>
        <p:spPr>
          <a:xfrm>
            <a:off x="10782300" y="3971925"/>
            <a:ext cx="800100" cy="276999"/>
          </a:xfrm>
          <a:prstGeom prst="rect">
            <a:avLst/>
          </a:prstGeom>
          <a:noFill/>
        </p:spPr>
        <p:txBody>
          <a:bodyPr vert="horz" wrap="square" lIns="0" tIns="0" rIns="0" bIns="0" rtlCol="0" anchor="t">
            <a:noAutofit/>
          </a:bodyPr>
          <a:lstStyle/>
          <a:p>
            <a:pPr algn="r">
              <a:lnSpc>
                <a:spcPct val="125000"/>
              </a:lnSpc>
            </a:pPr>
            <a:r>
              <a:rPr lang="es-HN" sz="938">
                <a:solidFill>
                  <a:srgbClr val="17708A"/>
                </a:solidFill>
                <a:latin typeface="Calibri" panose="020F0502020204030204" pitchFamily="34" charset="0"/>
              </a:rPr>
              <a:t>18.2 %</a:t>
            </a:r>
          </a:p>
        </p:txBody>
      </p:sp>
      <p:sp>
        <p:nvSpPr>
          <p:cNvPr id="43" name="CuadroTexto 42">
            <a:extLst>
              <a:ext uri="{FF2B5EF4-FFF2-40B4-BE49-F238E27FC236}">
                <a16:creationId xmlns:a16="http://schemas.microsoft.com/office/drawing/2014/main" id="{DC65E7D4-C1FE-52D8-6C62-5060DA62B604}"/>
              </a:ext>
            </a:extLst>
          </p:cNvPr>
          <p:cNvSpPr txBox="1"/>
          <p:nvPr/>
        </p:nvSpPr>
        <p:spPr>
          <a:xfrm>
            <a:off x="609600" y="4229100"/>
            <a:ext cx="1695450" cy="276999"/>
          </a:xfrm>
          <a:prstGeom prst="rect">
            <a:avLst/>
          </a:prstGeom>
          <a:noFill/>
        </p:spPr>
        <p:txBody>
          <a:bodyPr vert="horz" wrap="square" lIns="0" tIns="0" rIns="0" bIns="0" rtlCol="0" anchor="t">
            <a:noAutofit/>
          </a:bodyPr>
          <a:lstStyle/>
          <a:p>
            <a:pPr>
              <a:lnSpc>
                <a:spcPct val="125000"/>
              </a:lnSpc>
            </a:pPr>
            <a:r>
              <a:rPr lang="es-HN" sz="1088">
                <a:solidFill>
                  <a:srgbClr val="14171C"/>
                </a:solidFill>
                <a:latin typeface="Calibri" panose="020F0502020204030204" pitchFamily="34" charset="0"/>
              </a:rPr>
              <a:t>Transparencia y gobernanza</a:t>
            </a:r>
          </a:p>
        </p:txBody>
      </p:sp>
      <p:sp>
        <p:nvSpPr>
          <p:cNvPr id="44" name="CuadroTexto 43">
            <a:extLst>
              <a:ext uri="{FF2B5EF4-FFF2-40B4-BE49-F238E27FC236}">
                <a16:creationId xmlns:a16="http://schemas.microsoft.com/office/drawing/2014/main" id="{B51F2D61-ABF5-C87C-E26A-AFF954C31196}"/>
              </a:ext>
            </a:extLst>
          </p:cNvPr>
          <p:cNvSpPr txBox="1"/>
          <p:nvPr/>
        </p:nvSpPr>
        <p:spPr>
          <a:xfrm>
            <a:off x="609600" y="4410075"/>
            <a:ext cx="1695450" cy="276999"/>
          </a:xfrm>
          <a:prstGeom prst="rect">
            <a:avLst/>
          </a:prstGeom>
          <a:noFill/>
        </p:spPr>
        <p:txBody>
          <a:bodyPr vert="horz" wrap="square" lIns="0" tIns="0" rIns="0" bIns="0" rtlCol="0" anchor="t">
            <a:noAutofit/>
          </a:bodyPr>
          <a:lstStyle/>
          <a:p>
            <a:pPr>
              <a:lnSpc>
                <a:spcPct val="125000"/>
              </a:lnSpc>
            </a:pPr>
            <a:r>
              <a:rPr lang="es-HN" sz="863">
                <a:solidFill>
                  <a:srgbClr val="6A7078"/>
                </a:solidFill>
                <a:latin typeface="Calibri" panose="020F0502020204030204" pitchFamily="34" charset="0"/>
              </a:rPr>
              <a:t>3 propuestas</a:t>
            </a:r>
          </a:p>
        </p:txBody>
      </p:sp>
      <p:sp>
        <p:nvSpPr>
          <p:cNvPr id="45" name="Rectángulo 44">
            <a:extLst>
              <a:ext uri="{FF2B5EF4-FFF2-40B4-BE49-F238E27FC236}">
                <a16:creationId xmlns:a16="http://schemas.microsoft.com/office/drawing/2014/main" id="{9C81196D-0725-547D-C437-F8C8D92B8308}"/>
              </a:ext>
            </a:extLst>
          </p:cNvPr>
          <p:cNvSpPr/>
          <p:nvPr/>
        </p:nvSpPr>
        <p:spPr>
          <a:xfrm>
            <a:off x="2457450" y="4248150"/>
            <a:ext cx="1406978" cy="10477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6" name="Rectángulo 45">
            <a:extLst>
              <a:ext uri="{FF2B5EF4-FFF2-40B4-BE49-F238E27FC236}">
                <a16:creationId xmlns:a16="http://schemas.microsoft.com/office/drawing/2014/main" id="{D7423E56-F09E-9656-6B35-E043A9B950C3}"/>
              </a:ext>
            </a:extLst>
          </p:cNvPr>
          <p:cNvSpPr/>
          <p:nvPr/>
        </p:nvSpPr>
        <p:spPr>
          <a:xfrm>
            <a:off x="2457450" y="4391025"/>
            <a:ext cx="8172450" cy="10477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7" name="CuadroTexto 46">
            <a:extLst>
              <a:ext uri="{FF2B5EF4-FFF2-40B4-BE49-F238E27FC236}">
                <a16:creationId xmlns:a16="http://schemas.microsoft.com/office/drawing/2014/main" id="{110B8F96-1C03-618F-574C-3EDA8B2D9742}"/>
              </a:ext>
            </a:extLst>
          </p:cNvPr>
          <p:cNvSpPr txBox="1"/>
          <p:nvPr/>
        </p:nvSpPr>
        <p:spPr>
          <a:xfrm>
            <a:off x="10782300" y="4229100"/>
            <a:ext cx="800100" cy="276999"/>
          </a:xfrm>
          <a:prstGeom prst="rect">
            <a:avLst/>
          </a:prstGeom>
          <a:noFill/>
        </p:spPr>
        <p:txBody>
          <a:bodyPr vert="horz" wrap="square" lIns="0" tIns="0" rIns="0" bIns="0" rtlCol="0" anchor="t">
            <a:noAutofit/>
          </a:bodyPr>
          <a:lstStyle/>
          <a:p>
            <a:pPr algn="r">
              <a:lnSpc>
                <a:spcPct val="125000"/>
              </a:lnSpc>
            </a:pPr>
            <a:r>
              <a:rPr lang="es-HN" sz="1125" b="1">
                <a:solidFill>
                  <a:srgbClr val="B8791A"/>
                </a:solidFill>
                <a:latin typeface="Calibri" panose="020F0502020204030204" pitchFamily="34" charset="0"/>
              </a:rPr>
              <a:t>4.7 %</a:t>
            </a:r>
          </a:p>
        </p:txBody>
      </p:sp>
      <p:sp>
        <p:nvSpPr>
          <p:cNvPr id="48" name="CuadroTexto 47">
            <a:extLst>
              <a:ext uri="{FF2B5EF4-FFF2-40B4-BE49-F238E27FC236}">
                <a16:creationId xmlns:a16="http://schemas.microsoft.com/office/drawing/2014/main" id="{CC226B94-8526-2218-8125-80E1F3CEAE05}"/>
              </a:ext>
            </a:extLst>
          </p:cNvPr>
          <p:cNvSpPr txBox="1"/>
          <p:nvPr/>
        </p:nvSpPr>
        <p:spPr>
          <a:xfrm>
            <a:off x="10782300" y="4410075"/>
            <a:ext cx="800100" cy="276999"/>
          </a:xfrm>
          <a:prstGeom prst="rect">
            <a:avLst/>
          </a:prstGeom>
          <a:noFill/>
        </p:spPr>
        <p:txBody>
          <a:bodyPr vert="horz" wrap="square" lIns="0" tIns="0" rIns="0" bIns="0" rtlCol="0" anchor="t">
            <a:noAutofit/>
          </a:bodyPr>
          <a:lstStyle/>
          <a:p>
            <a:pPr algn="r">
              <a:lnSpc>
                <a:spcPct val="125000"/>
              </a:lnSpc>
            </a:pPr>
            <a:r>
              <a:rPr lang="es-HN" sz="938">
                <a:solidFill>
                  <a:srgbClr val="17708A"/>
                </a:solidFill>
                <a:latin typeface="Calibri" panose="020F0502020204030204" pitchFamily="34" charset="0"/>
              </a:rPr>
              <a:t>27.3 %</a:t>
            </a:r>
          </a:p>
        </p:txBody>
      </p:sp>
      <p:sp>
        <p:nvSpPr>
          <p:cNvPr id="49" name="Rectángulo 48">
            <a:extLst>
              <a:ext uri="{FF2B5EF4-FFF2-40B4-BE49-F238E27FC236}">
                <a16:creationId xmlns:a16="http://schemas.microsoft.com/office/drawing/2014/main" id="{500C6193-9261-E245-024E-A99D173DDC65}"/>
              </a:ext>
            </a:extLst>
          </p:cNvPr>
          <p:cNvSpPr/>
          <p:nvPr/>
        </p:nvSpPr>
        <p:spPr>
          <a:xfrm>
            <a:off x="609600" y="4762500"/>
            <a:ext cx="28575" cy="819150"/>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0" name="CuadroTexto 49">
            <a:extLst>
              <a:ext uri="{FF2B5EF4-FFF2-40B4-BE49-F238E27FC236}">
                <a16:creationId xmlns:a16="http://schemas.microsoft.com/office/drawing/2014/main" id="{40165F67-4B33-2C7A-5423-781881DA387E}"/>
              </a:ext>
            </a:extLst>
          </p:cNvPr>
          <p:cNvSpPr txBox="1"/>
          <p:nvPr/>
        </p:nvSpPr>
        <p:spPr>
          <a:xfrm>
            <a:off x="800100" y="4762500"/>
            <a:ext cx="10096500" cy="276999"/>
          </a:xfrm>
          <a:prstGeom prst="rect">
            <a:avLst/>
          </a:prstGeom>
          <a:noFill/>
        </p:spPr>
        <p:txBody>
          <a:bodyPr vert="horz" wrap="square" lIns="0" tIns="0" rIns="0" bIns="0" rtlCol="0" anchor="t">
            <a:noAutofit/>
          </a:bodyPr>
          <a:lstStyle/>
          <a:p>
            <a:pPr>
              <a:lnSpc>
                <a:spcPct val="130000"/>
              </a:lnSpc>
            </a:pPr>
            <a:r>
              <a:rPr lang="es-ES" sz="1350">
                <a:solidFill>
                  <a:srgbClr val="14171C"/>
                </a:solidFill>
                <a:latin typeface="Georgia" panose="02040502050405020303" pitchFamily="18" charset="0"/>
              </a:rPr>
              <a:t>«La brecha más grande está en seguridad y orden público: concentra 25.3 % del interés ciudadano y solo 9.1 % de las propuestas registradas, 16.2 puntos porcentuales de diferencia.»</a:t>
            </a:r>
            <a:endParaRPr lang="es-HN" sz="1350">
              <a:solidFill>
                <a:srgbClr val="14171C"/>
              </a:solidFill>
              <a:latin typeface="Georgia" panose="02040502050405020303" pitchFamily="18" charset="0"/>
            </a:endParaRPr>
          </a:p>
        </p:txBody>
      </p:sp>
      <p:sp>
        <p:nvSpPr>
          <p:cNvPr id="51" name="CuadroTexto 50">
            <a:extLst>
              <a:ext uri="{FF2B5EF4-FFF2-40B4-BE49-F238E27FC236}">
                <a16:creationId xmlns:a16="http://schemas.microsoft.com/office/drawing/2014/main" id="{EBB10AC9-3533-14AE-6CB9-1DB0A1AD98BF}"/>
              </a:ext>
            </a:extLst>
          </p:cNvPr>
          <p:cNvSpPr txBox="1"/>
          <p:nvPr/>
        </p:nvSpPr>
        <p:spPr>
          <a:xfrm>
            <a:off x="800100" y="5353050"/>
            <a:ext cx="10096500" cy="276999"/>
          </a:xfrm>
          <a:prstGeom prst="rect">
            <a:avLst/>
          </a:prstGeom>
          <a:noFill/>
        </p:spPr>
        <p:txBody>
          <a:bodyPr vert="horz" wrap="square" lIns="0" tIns="0" rIns="0" bIns="0" rtlCol="0" anchor="t">
            <a:noAutofit/>
          </a:bodyPr>
          <a:lstStyle/>
          <a:p>
            <a:pPr>
              <a:lnSpc>
                <a:spcPct val="130000"/>
              </a:lnSpc>
            </a:pPr>
            <a:r>
              <a:rPr lang="es-ES" sz="975">
                <a:solidFill>
                  <a:srgbClr val="6A7078"/>
                </a:solidFill>
                <a:latin typeface="Calibri" panose="020F0502020204030204" pitchFamily="34" charset="0"/>
              </a:rPr>
              <a:t>Hallazgo redactado por la propia plataforma. Se calcula sobre la selección activa y cambia con los filtros.</a:t>
            </a:r>
            <a:endParaRPr lang="es-HN" sz="975">
              <a:solidFill>
                <a:srgbClr val="6A7078"/>
              </a:solidFill>
              <a:latin typeface="Calibri" panose="020F0502020204030204" pitchFamily="34" charset="0"/>
            </a:endParaRPr>
          </a:p>
        </p:txBody>
      </p:sp>
      <p:sp>
        <p:nvSpPr>
          <p:cNvPr id="52" name="CuadroTexto 51">
            <a:extLst>
              <a:ext uri="{FF2B5EF4-FFF2-40B4-BE49-F238E27FC236}">
                <a16:creationId xmlns:a16="http://schemas.microsoft.com/office/drawing/2014/main" id="{94FF4532-1A22-5B98-45AC-B6F3A5E4688C}"/>
              </a:ext>
            </a:extLst>
          </p:cNvPr>
          <p:cNvSpPr txBox="1"/>
          <p:nvPr/>
        </p:nvSpPr>
        <p:spPr>
          <a:xfrm>
            <a:off x="609600" y="6057900"/>
            <a:ext cx="10972800" cy="276999"/>
          </a:xfrm>
          <a:prstGeom prst="rect">
            <a:avLst/>
          </a:prstGeom>
          <a:noFill/>
        </p:spPr>
        <p:txBody>
          <a:bodyPr vert="horz" wrap="square" lIns="0" tIns="0" rIns="0" bIns="0" rtlCol="0" anchor="t">
            <a:noAutofit/>
          </a:bodyPr>
          <a:lstStyle/>
          <a:p>
            <a:pPr>
              <a:lnSpc>
                <a:spcPct val="135000"/>
              </a:lnSpc>
            </a:pPr>
            <a:r>
              <a:rPr lang="es-ES" sz="975">
                <a:solidFill>
                  <a:srgbClr val="6A7078"/>
                </a:solidFill>
                <a:latin typeface="Calibri" panose="020F0502020204030204" pitchFamily="34" charset="0"/>
              </a:rPr>
              <a:t>La columna </a:t>
            </a:r>
            <a:r>
              <a:rPr lang="es-ES" sz="877">
                <a:solidFill>
                  <a:srgbClr val="6A7078"/>
                </a:solidFill>
                <a:latin typeface="Consolas" panose="020B0609020204030204" pitchFamily="49" charset="0"/>
              </a:rPr>
              <a:t>Categorias.interesEncuesta</a:t>
            </a:r>
            <a:r>
              <a:rPr lang="es-ES" sz="975">
                <a:solidFill>
                  <a:srgbClr val="6A7078"/>
                </a:solidFill>
                <a:latin typeface="Calibri" panose="020F0502020204030204" pitchFamily="34" charset="0"/>
              </a:rPr>
              <a:t> guarda el interés medido en la encuesta, de modo que el contraste sea data-driven y no un texto fijo. La oferta corresponde a los datos de demostración.</a:t>
            </a:r>
            <a:endParaRPr lang="es-HN" sz="975">
              <a:solidFill>
                <a:srgbClr val="6A7078"/>
              </a:solidFill>
              <a:latin typeface="Calibri" panose="020F0502020204030204" pitchFamily="34" charset="0"/>
            </a:endParaRPr>
          </a:p>
        </p:txBody>
      </p:sp>
    </p:spTree>
    <p:extLst>
      <p:ext uri="{BB962C8B-B14F-4D97-AF65-F5344CB8AC3E}">
        <p14:creationId xmlns:p14="http://schemas.microsoft.com/office/powerpoint/2010/main" val="3087640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555FDAC4-AC08-3FBF-BF23-B568C29BA6E6}"/>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2BDC5405-0A5B-7A7A-15A0-ECDBE1C0E66F}"/>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AD1AF66E-307D-D467-833B-BC8FDEA0D49C}"/>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DB2F00D2-6A61-F7DE-7F47-4F8B6B911A0A}"/>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BD304657-B3D2-3C92-76EC-7D2143678240}"/>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17708A"/>
                </a:solidFill>
                <a:latin typeface="Calibri" panose="020F0502020204030204" pitchFamily="34" charset="0"/>
              </a:rPr>
              <a:t>MÓDULO DE INTELIGENCIA ARTIFICIAL</a:t>
            </a:r>
          </a:p>
        </p:txBody>
      </p:sp>
      <p:sp>
        <p:nvSpPr>
          <p:cNvPr id="7" name="CuadroTexto 6">
            <a:extLst>
              <a:ext uri="{FF2B5EF4-FFF2-40B4-BE49-F238E27FC236}">
                <a16:creationId xmlns:a16="http://schemas.microsoft.com/office/drawing/2014/main" id="{C962B98B-835A-9A27-6A48-9B8DC77A83CC}"/>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850" b="1">
                <a:solidFill>
                  <a:srgbClr val="14171C"/>
                </a:solidFill>
                <a:latin typeface="Georgia" panose="02040502050405020303" pitchFamily="18" charset="0"/>
              </a:rPr>
              <a:t>Preguntar en español, y recibir la respuesta con sus fuentes</a:t>
            </a:r>
            <a:endParaRPr lang="es-HN" sz="2850" b="1">
              <a:solidFill>
                <a:srgbClr val="14171C"/>
              </a:solidFill>
              <a:latin typeface="Georgia" panose="02040502050405020303" pitchFamily="18" charset="0"/>
            </a:endParaRPr>
          </a:p>
        </p:txBody>
      </p:sp>
      <p:sp>
        <p:nvSpPr>
          <p:cNvPr id="8" name="Rectángulo 7">
            <a:extLst>
              <a:ext uri="{FF2B5EF4-FFF2-40B4-BE49-F238E27FC236}">
                <a16:creationId xmlns:a16="http://schemas.microsoft.com/office/drawing/2014/main" id="{7FD176B2-411D-5CAA-2B56-3EF2EF459D5F}"/>
              </a:ext>
            </a:extLst>
          </p:cNvPr>
          <p:cNvSpPr/>
          <p:nvPr/>
        </p:nvSpPr>
        <p:spPr>
          <a:xfrm>
            <a:off x="609600" y="1428750"/>
            <a:ext cx="6667500" cy="285750"/>
          </a:xfrm>
          <a:prstGeom prst="rect">
            <a:avLst/>
          </a:prstGeom>
          <a:solidFill>
            <a:srgbClr val="EEECE8"/>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9" name="Elipse 8">
            <a:extLst>
              <a:ext uri="{FF2B5EF4-FFF2-40B4-BE49-F238E27FC236}">
                <a16:creationId xmlns:a16="http://schemas.microsoft.com/office/drawing/2014/main" id="{C89AC8AF-BF17-679F-CD0A-CF0C52C6D46D}"/>
              </a:ext>
            </a:extLst>
          </p:cNvPr>
          <p:cNvSpPr/>
          <p:nvPr/>
        </p:nvSpPr>
        <p:spPr>
          <a:xfrm>
            <a:off x="762000" y="1533525"/>
            <a:ext cx="76200" cy="76200"/>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0" name="Elipse 9">
            <a:extLst>
              <a:ext uri="{FF2B5EF4-FFF2-40B4-BE49-F238E27FC236}">
                <a16:creationId xmlns:a16="http://schemas.microsoft.com/office/drawing/2014/main" id="{1405C193-A488-F5DF-B066-63DE566F9E0C}"/>
              </a:ext>
            </a:extLst>
          </p:cNvPr>
          <p:cNvSpPr/>
          <p:nvPr/>
        </p:nvSpPr>
        <p:spPr>
          <a:xfrm>
            <a:off x="895350" y="1533525"/>
            <a:ext cx="76200" cy="76200"/>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1" name="Elipse 10">
            <a:extLst>
              <a:ext uri="{FF2B5EF4-FFF2-40B4-BE49-F238E27FC236}">
                <a16:creationId xmlns:a16="http://schemas.microsoft.com/office/drawing/2014/main" id="{18CEACB1-46D4-492D-D05C-21FC97700D99}"/>
              </a:ext>
            </a:extLst>
          </p:cNvPr>
          <p:cNvSpPr/>
          <p:nvPr/>
        </p:nvSpPr>
        <p:spPr>
          <a:xfrm>
            <a:off x="1028700" y="1533525"/>
            <a:ext cx="76200" cy="76200"/>
          </a:xfrm>
          <a:prstGeom prst="ellipse">
            <a:avLst/>
          </a:prstGeom>
          <a:solidFill>
            <a:srgbClr val="9AA0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2" name="CuadroTexto 11">
            <a:extLst>
              <a:ext uri="{FF2B5EF4-FFF2-40B4-BE49-F238E27FC236}">
                <a16:creationId xmlns:a16="http://schemas.microsoft.com/office/drawing/2014/main" id="{6477F6B9-D59A-2A08-05AC-262A4485D7E4}"/>
              </a:ext>
            </a:extLst>
          </p:cNvPr>
          <p:cNvSpPr txBox="1"/>
          <p:nvPr/>
        </p:nvSpPr>
        <p:spPr>
          <a:xfrm>
            <a:off x="1219200" y="1504950"/>
            <a:ext cx="4381500" cy="276999"/>
          </a:xfrm>
          <a:prstGeom prst="rect">
            <a:avLst/>
          </a:prstGeom>
          <a:noFill/>
        </p:spPr>
        <p:txBody>
          <a:bodyPr vert="horz" wrap="square" lIns="0" tIns="0" rIns="0" bIns="0" rtlCol="0" anchor="t">
            <a:noAutofit/>
          </a:bodyPr>
          <a:lstStyle/>
          <a:p>
            <a:pPr>
              <a:lnSpc>
                <a:spcPct val="125000"/>
              </a:lnSpc>
            </a:pPr>
            <a:r>
              <a:rPr lang="es-HN" sz="825">
                <a:solidFill>
                  <a:srgbClr val="6A7078"/>
                </a:solidFill>
                <a:latin typeface="Consolas" panose="020B0609020204030204" pitchFamily="49" charset="0"/>
              </a:rPr>
              <a:t>cumplehn / Analitica · asistente</a:t>
            </a:r>
          </a:p>
        </p:txBody>
      </p:sp>
      <p:pic>
        <p:nvPicPr>
          <p:cNvPr id="14" name="Imagen 13">
            <a:extLst>
              <a:ext uri="{FF2B5EF4-FFF2-40B4-BE49-F238E27FC236}">
                <a16:creationId xmlns:a16="http://schemas.microsoft.com/office/drawing/2014/main" id="{A230E139-4B53-77DF-08E6-90D2E29B2DF0}"/>
              </a:ext>
            </a:extLst>
          </p:cNvPr>
          <p:cNvPicPr>
            <a:picLocks/>
          </p:cNvPicPr>
          <p:nvPr/>
        </p:nvPicPr>
        <p:blipFill>
          <a:blip r:embed="rId3">
            <a:extLst>
              <a:ext uri="{28A0092B-C50C-407E-A947-70E740481C1C}">
                <a14:useLocalDpi xmlns:a14="http://schemas.microsoft.com/office/drawing/2010/main" val="0"/>
              </a:ext>
            </a:extLst>
          </a:blip>
          <a:srcRect b="6056"/>
          <a:stretch>
            <a:fillRect/>
          </a:stretch>
        </p:blipFill>
        <p:spPr>
          <a:xfrm>
            <a:off x="609600" y="1714500"/>
            <a:ext cx="6667500" cy="4366716"/>
          </a:xfrm>
          <a:prstGeom prst="rect">
            <a:avLst/>
          </a:prstGeom>
          <a:ln w="9525">
            <a:solidFill>
              <a:srgbClr val="E3E1DD"/>
            </a:solidFill>
          </a:ln>
        </p:spPr>
      </p:pic>
      <p:sp>
        <p:nvSpPr>
          <p:cNvPr id="15" name="Rectángulo: esquinas redondeadas 14">
            <a:extLst>
              <a:ext uri="{FF2B5EF4-FFF2-40B4-BE49-F238E27FC236}">
                <a16:creationId xmlns:a16="http://schemas.microsoft.com/office/drawing/2014/main" id="{C44BAFA1-14D5-15EE-941F-F30192A5349C}"/>
              </a:ext>
            </a:extLst>
          </p:cNvPr>
          <p:cNvSpPr/>
          <p:nvPr/>
        </p:nvSpPr>
        <p:spPr>
          <a:xfrm>
            <a:off x="7524750" y="1428750"/>
            <a:ext cx="4057650" cy="12001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6" name="Rectángulo 15">
            <a:extLst>
              <a:ext uri="{FF2B5EF4-FFF2-40B4-BE49-F238E27FC236}">
                <a16:creationId xmlns:a16="http://schemas.microsoft.com/office/drawing/2014/main" id="{62E7A908-3E85-6489-4C38-7B2A9FCFC575}"/>
              </a:ext>
            </a:extLst>
          </p:cNvPr>
          <p:cNvSpPr/>
          <p:nvPr/>
        </p:nvSpPr>
        <p:spPr>
          <a:xfrm>
            <a:off x="7524750" y="1457325"/>
            <a:ext cx="28575" cy="1143000"/>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7" name="CuadroTexto 16">
            <a:extLst>
              <a:ext uri="{FF2B5EF4-FFF2-40B4-BE49-F238E27FC236}">
                <a16:creationId xmlns:a16="http://schemas.microsoft.com/office/drawing/2014/main" id="{4F8B30A4-3712-1ACB-ECD9-10EB5981C0AB}"/>
              </a:ext>
            </a:extLst>
          </p:cNvPr>
          <p:cNvSpPr txBox="1"/>
          <p:nvPr/>
        </p:nvSpPr>
        <p:spPr>
          <a:xfrm>
            <a:off x="7696200" y="1562100"/>
            <a:ext cx="3733800" cy="276999"/>
          </a:xfrm>
          <a:prstGeom prst="rect">
            <a:avLst/>
          </a:prstGeom>
          <a:noFill/>
        </p:spPr>
        <p:txBody>
          <a:bodyPr vert="horz" wrap="square" lIns="0" tIns="0" rIns="0" bIns="0" rtlCol="0" anchor="t">
            <a:noAutofit/>
          </a:bodyPr>
          <a:lstStyle/>
          <a:p>
            <a:pPr>
              <a:lnSpc>
                <a:spcPct val="112000"/>
              </a:lnSpc>
            </a:pPr>
            <a:r>
              <a:rPr lang="es-ES" sz="1200" b="1">
                <a:solidFill>
                  <a:srgbClr val="14171C"/>
                </a:solidFill>
                <a:latin typeface="Georgia" panose="02040502050405020303" pitchFamily="18" charset="0"/>
              </a:rPr>
              <a:t>Dijo el nivel de verificación sin que se lo pidieran</a:t>
            </a:r>
            <a:endParaRPr lang="es-HN" sz="1200" b="1">
              <a:solidFill>
                <a:srgbClr val="14171C"/>
              </a:solidFill>
              <a:latin typeface="Georgia" panose="02040502050405020303" pitchFamily="18" charset="0"/>
            </a:endParaRPr>
          </a:p>
        </p:txBody>
      </p:sp>
      <p:sp>
        <p:nvSpPr>
          <p:cNvPr id="18" name="CuadroTexto 17">
            <a:extLst>
              <a:ext uri="{FF2B5EF4-FFF2-40B4-BE49-F238E27FC236}">
                <a16:creationId xmlns:a16="http://schemas.microsoft.com/office/drawing/2014/main" id="{BE797F96-FBF3-84C2-2761-D29FB7E554AB}"/>
              </a:ext>
            </a:extLst>
          </p:cNvPr>
          <p:cNvSpPr txBox="1"/>
          <p:nvPr/>
        </p:nvSpPr>
        <p:spPr>
          <a:xfrm>
            <a:off x="7696200" y="2038350"/>
            <a:ext cx="3733800"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La pregunta era cuáles propuestas de salud hay. Distinguir Verificado de Declarada es una regla del prompt, no del usuario.</a:t>
            </a:r>
            <a:endParaRPr lang="es-HN" sz="1013">
              <a:solidFill>
                <a:srgbClr val="39404A"/>
              </a:solidFill>
              <a:latin typeface="Calibri" panose="020F0502020204030204" pitchFamily="34" charset="0"/>
            </a:endParaRPr>
          </a:p>
        </p:txBody>
      </p:sp>
      <p:sp>
        <p:nvSpPr>
          <p:cNvPr id="19" name="Rectángulo: esquinas redondeadas 18">
            <a:extLst>
              <a:ext uri="{FF2B5EF4-FFF2-40B4-BE49-F238E27FC236}">
                <a16:creationId xmlns:a16="http://schemas.microsoft.com/office/drawing/2014/main" id="{80C9AEF1-1A40-E2FC-E4AD-E05B74B8CB65}"/>
              </a:ext>
            </a:extLst>
          </p:cNvPr>
          <p:cNvSpPr/>
          <p:nvPr/>
        </p:nvSpPr>
        <p:spPr>
          <a:xfrm>
            <a:off x="7524750" y="2743200"/>
            <a:ext cx="4057650" cy="12954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0" name="Rectángulo 19">
            <a:extLst>
              <a:ext uri="{FF2B5EF4-FFF2-40B4-BE49-F238E27FC236}">
                <a16:creationId xmlns:a16="http://schemas.microsoft.com/office/drawing/2014/main" id="{43F44158-99FC-61C4-8FA4-B4E47DFB49AA}"/>
              </a:ext>
            </a:extLst>
          </p:cNvPr>
          <p:cNvSpPr/>
          <p:nvPr/>
        </p:nvSpPr>
        <p:spPr>
          <a:xfrm>
            <a:off x="7524750" y="2771775"/>
            <a:ext cx="28575" cy="1238250"/>
          </a:xfrm>
          <a:prstGeom prst="rect">
            <a:avLst/>
          </a:prstGeom>
          <a:solidFill>
            <a:srgbClr val="1B4F9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1" name="CuadroTexto 20">
            <a:extLst>
              <a:ext uri="{FF2B5EF4-FFF2-40B4-BE49-F238E27FC236}">
                <a16:creationId xmlns:a16="http://schemas.microsoft.com/office/drawing/2014/main" id="{FBD61005-7BB3-FBDD-1AC0-AAFC0A255E45}"/>
              </a:ext>
            </a:extLst>
          </p:cNvPr>
          <p:cNvSpPr txBox="1"/>
          <p:nvPr/>
        </p:nvSpPr>
        <p:spPr>
          <a:xfrm>
            <a:off x="7696200" y="2876550"/>
            <a:ext cx="3733800" cy="276999"/>
          </a:xfrm>
          <a:prstGeom prst="rect">
            <a:avLst/>
          </a:prstGeom>
          <a:noFill/>
        </p:spPr>
        <p:txBody>
          <a:bodyPr vert="horz" wrap="square" lIns="0" tIns="0" rIns="0" bIns="0" rtlCol="0" anchor="t">
            <a:noAutofit/>
          </a:bodyPr>
          <a:lstStyle/>
          <a:p>
            <a:pPr>
              <a:lnSpc>
                <a:spcPct val="112000"/>
              </a:lnSpc>
            </a:pPr>
            <a:r>
              <a:rPr lang="es-HN" sz="1200" b="1">
                <a:solidFill>
                  <a:srgbClr val="14171C"/>
                </a:solidFill>
                <a:latin typeface="Georgia" panose="02040502050405020303" pitchFamily="18" charset="0"/>
              </a:rPr>
              <a:t>Cerró con sus fuentes</a:t>
            </a:r>
          </a:p>
        </p:txBody>
      </p:sp>
      <p:sp>
        <p:nvSpPr>
          <p:cNvPr id="22" name="CuadroTexto 21">
            <a:extLst>
              <a:ext uri="{FF2B5EF4-FFF2-40B4-BE49-F238E27FC236}">
                <a16:creationId xmlns:a16="http://schemas.microsoft.com/office/drawing/2014/main" id="{C16D2206-4DA0-BF05-B969-87BFAC7C19A6}"/>
              </a:ext>
            </a:extLst>
          </p:cNvPr>
          <p:cNvSpPr txBox="1"/>
          <p:nvPr/>
        </p:nvSpPr>
        <p:spPr>
          <a:xfrm>
            <a:off x="7696200" y="3162300"/>
            <a:ext cx="3733800"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Y las describe por lo que devolvieron —«búsqueda entre las propuestas registradas, 2 resultados»— no por el nombre del procedimiento, que no le sirve a nadie para verificar nada.</a:t>
            </a:r>
            <a:endParaRPr lang="es-HN" sz="1013">
              <a:solidFill>
                <a:srgbClr val="39404A"/>
              </a:solidFill>
              <a:latin typeface="Calibri" panose="020F0502020204030204" pitchFamily="34" charset="0"/>
            </a:endParaRPr>
          </a:p>
        </p:txBody>
      </p:sp>
      <p:sp>
        <p:nvSpPr>
          <p:cNvPr id="23" name="Rectángulo: esquinas redondeadas 22">
            <a:extLst>
              <a:ext uri="{FF2B5EF4-FFF2-40B4-BE49-F238E27FC236}">
                <a16:creationId xmlns:a16="http://schemas.microsoft.com/office/drawing/2014/main" id="{6820C204-B024-D176-BBAB-A655FD1829FE}"/>
              </a:ext>
            </a:extLst>
          </p:cNvPr>
          <p:cNvSpPr/>
          <p:nvPr/>
        </p:nvSpPr>
        <p:spPr>
          <a:xfrm>
            <a:off x="7524750" y="4152900"/>
            <a:ext cx="4057650" cy="12192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4" name="Rectángulo 23">
            <a:extLst>
              <a:ext uri="{FF2B5EF4-FFF2-40B4-BE49-F238E27FC236}">
                <a16:creationId xmlns:a16="http://schemas.microsoft.com/office/drawing/2014/main" id="{EBE04293-1BFE-752E-57CD-60712C613444}"/>
              </a:ext>
            </a:extLst>
          </p:cNvPr>
          <p:cNvSpPr/>
          <p:nvPr/>
        </p:nvSpPr>
        <p:spPr>
          <a:xfrm>
            <a:off x="7524750" y="4181475"/>
            <a:ext cx="28575" cy="1162050"/>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5" name="CuadroTexto 24">
            <a:extLst>
              <a:ext uri="{FF2B5EF4-FFF2-40B4-BE49-F238E27FC236}">
                <a16:creationId xmlns:a16="http://schemas.microsoft.com/office/drawing/2014/main" id="{FDB4D367-761D-4986-BAEF-D1C093138F2D}"/>
              </a:ext>
            </a:extLst>
          </p:cNvPr>
          <p:cNvSpPr txBox="1"/>
          <p:nvPr/>
        </p:nvSpPr>
        <p:spPr>
          <a:xfrm>
            <a:off x="7696200" y="4286250"/>
            <a:ext cx="3733800" cy="276999"/>
          </a:xfrm>
          <a:prstGeom prst="rect">
            <a:avLst/>
          </a:prstGeom>
          <a:noFill/>
        </p:spPr>
        <p:txBody>
          <a:bodyPr vert="horz" wrap="square" lIns="0" tIns="0" rIns="0" bIns="0" rtlCol="0" anchor="t">
            <a:noAutofit/>
          </a:bodyPr>
          <a:lstStyle/>
          <a:p>
            <a:pPr>
              <a:lnSpc>
                <a:spcPct val="112000"/>
              </a:lnSpc>
            </a:pPr>
            <a:r>
              <a:rPr lang="es-HN" sz="1200" b="1">
                <a:solidFill>
                  <a:srgbClr val="14171C"/>
                </a:solidFill>
                <a:latin typeface="Georgia" panose="02040502050405020303" pitchFamily="18" charset="0"/>
              </a:rPr>
              <a:t>Se identifica como prototipo</a:t>
            </a:r>
          </a:p>
        </p:txBody>
      </p:sp>
      <p:sp>
        <p:nvSpPr>
          <p:cNvPr id="26" name="CuadroTexto 25">
            <a:extLst>
              <a:ext uri="{FF2B5EF4-FFF2-40B4-BE49-F238E27FC236}">
                <a16:creationId xmlns:a16="http://schemas.microsoft.com/office/drawing/2014/main" id="{38F79AA7-E760-A785-C5C4-779574F94CF7}"/>
              </a:ext>
            </a:extLst>
          </p:cNvPr>
          <p:cNvSpPr txBox="1"/>
          <p:nvPr/>
        </p:nvSpPr>
        <p:spPr>
          <a:xfrm>
            <a:off x="7696200" y="4572000"/>
            <a:ext cx="3733800"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Y el aviso de arriba advierte, antes de la primera pregunta, que puede equivocarse al redactar y que las cifras se contrastan con los gráficos de esa misma página.</a:t>
            </a:r>
            <a:endParaRPr lang="es-HN" sz="1013">
              <a:solidFill>
                <a:srgbClr val="39404A"/>
              </a:solidFill>
              <a:latin typeface="Calibri" panose="020F0502020204030204" pitchFamily="34" charset="0"/>
            </a:endParaRPr>
          </a:p>
        </p:txBody>
      </p:sp>
      <p:sp>
        <p:nvSpPr>
          <p:cNvPr id="27" name="CuadroTexto 26">
            <a:extLst>
              <a:ext uri="{FF2B5EF4-FFF2-40B4-BE49-F238E27FC236}">
                <a16:creationId xmlns:a16="http://schemas.microsoft.com/office/drawing/2014/main" id="{F427A231-EBE6-6092-1797-18C0DE272CBF}"/>
              </a:ext>
            </a:extLst>
          </p:cNvPr>
          <p:cNvSpPr txBox="1"/>
          <p:nvPr/>
        </p:nvSpPr>
        <p:spPr>
          <a:xfrm>
            <a:off x="609600" y="6057900"/>
            <a:ext cx="10972800" cy="276999"/>
          </a:xfrm>
          <a:prstGeom prst="rect">
            <a:avLst/>
          </a:prstGeom>
          <a:noFill/>
        </p:spPr>
        <p:txBody>
          <a:bodyPr vert="horz" wrap="square" lIns="0" tIns="0" rIns="0" bIns="0" rtlCol="0" anchor="t">
            <a:noAutofit/>
          </a:bodyPr>
          <a:lstStyle/>
          <a:p>
            <a:pPr>
              <a:lnSpc>
                <a:spcPct val="135000"/>
              </a:lnSpc>
            </a:pPr>
            <a:r>
              <a:rPr lang="es-ES" sz="975">
                <a:solidFill>
                  <a:srgbClr val="6A7078"/>
                </a:solidFill>
                <a:latin typeface="Calibri" panose="020F0502020204030204" pitchFamily="34" charset="0"/>
              </a:rPr>
              <a:t>Respuesta real, capturada de la plataforma corriendo contra la base. Tardó 12 segundos.</a:t>
            </a:r>
            <a:endParaRPr lang="es-HN" sz="975">
              <a:solidFill>
                <a:srgbClr val="6A7078"/>
              </a:solidFill>
              <a:latin typeface="Calibri" panose="020F0502020204030204" pitchFamily="34" charset="0"/>
            </a:endParaRPr>
          </a:p>
        </p:txBody>
      </p:sp>
    </p:spTree>
    <p:extLst>
      <p:ext uri="{BB962C8B-B14F-4D97-AF65-F5344CB8AC3E}">
        <p14:creationId xmlns:p14="http://schemas.microsoft.com/office/powerpoint/2010/main" val="3974134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23054"/>
            </a:gs>
            <a:gs pos="100000">
              <a:srgbClr val="0A1728"/>
            </a:gs>
          </a:gsLst>
          <a:lin ang="18900000" scaled="1"/>
          <a:tileRect/>
        </a:gra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0247B2DB-7278-64A4-05D5-2FCDB5BD943F}"/>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A616EBDC-9C13-627E-BEDF-EC445A260F0E}"/>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2DFDA29C-FB6F-84E3-B42C-F2EBCEF7FDE8}"/>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1568D7BF-96AD-4209-CDAA-AB515033F0CF}"/>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291DB6B7-BC8F-F84B-2836-5BF1A2BC3558}"/>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7FC4D8"/>
                </a:solidFill>
                <a:latin typeface="Calibri" panose="020F0502020204030204" pitchFamily="34" charset="0"/>
              </a:rPr>
              <a:t>ASISTENTE · TOPOLOGÍA</a:t>
            </a:r>
          </a:p>
        </p:txBody>
      </p:sp>
      <p:sp>
        <p:nvSpPr>
          <p:cNvPr id="7" name="CuadroTexto 6">
            <a:extLst>
              <a:ext uri="{FF2B5EF4-FFF2-40B4-BE49-F238E27FC236}">
                <a16:creationId xmlns:a16="http://schemas.microsoft.com/office/drawing/2014/main" id="{F1B89FFB-60FF-3DAC-AC7D-67BA5C7BC986}"/>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850" b="1">
                <a:solidFill>
                  <a:srgbClr val="FFFFFF"/>
                </a:solidFill>
                <a:latin typeface="Georgia" panose="02040502050405020303" pitchFamily="18" charset="0"/>
              </a:rPr>
              <a:t>El modelo nunca ve la base. Ve la fila que un procedimiento le devuelve.</a:t>
            </a:r>
            <a:endParaRPr lang="es-HN" sz="2850" b="1">
              <a:solidFill>
                <a:srgbClr val="FFFFFF"/>
              </a:solidFill>
              <a:latin typeface="Georgia" panose="02040502050405020303" pitchFamily="18" charset="0"/>
            </a:endParaRPr>
          </a:p>
        </p:txBody>
      </p:sp>
      <p:sp>
        <p:nvSpPr>
          <p:cNvPr id="8" name="CuadroTexto 7">
            <a:extLst>
              <a:ext uri="{FF2B5EF4-FFF2-40B4-BE49-F238E27FC236}">
                <a16:creationId xmlns:a16="http://schemas.microsoft.com/office/drawing/2014/main" id="{5DD4BDFD-7CF5-D132-4AC1-87A8A6B73C69}"/>
              </a:ext>
            </a:extLst>
          </p:cNvPr>
          <p:cNvSpPr txBox="1"/>
          <p:nvPr/>
        </p:nvSpPr>
        <p:spPr>
          <a:xfrm>
            <a:off x="704850" y="1819275"/>
            <a:ext cx="3810000" cy="276999"/>
          </a:xfrm>
          <a:prstGeom prst="rect">
            <a:avLst/>
          </a:prstGeom>
          <a:noFill/>
        </p:spPr>
        <p:txBody>
          <a:bodyPr vert="horz" wrap="square" lIns="0" tIns="0" rIns="0" bIns="0" rtlCol="0" anchor="t">
            <a:noAutofit/>
          </a:bodyPr>
          <a:lstStyle/>
          <a:p>
            <a:pPr>
              <a:lnSpc>
                <a:spcPct val="125000"/>
              </a:lnSpc>
            </a:pPr>
            <a:r>
              <a:rPr lang="es-HN" sz="788" b="1" spc="80">
                <a:solidFill>
                  <a:srgbClr val="7FC4D8"/>
                </a:solidFill>
                <a:latin typeface="Calibri" panose="020F0502020204030204" pitchFamily="34" charset="0"/>
              </a:rPr>
              <a:t>CAMINO DE LA PREGUNTA</a:t>
            </a:r>
          </a:p>
        </p:txBody>
      </p:sp>
      <p:sp>
        <p:nvSpPr>
          <p:cNvPr id="9" name="Rectángulo: esquinas redondeadas 8">
            <a:extLst>
              <a:ext uri="{FF2B5EF4-FFF2-40B4-BE49-F238E27FC236}">
                <a16:creationId xmlns:a16="http://schemas.microsoft.com/office/drawing/2014/main" id="{90EBBA53-D8CD-285F-83A8-6E0C841ED532}"/>
              </a:ext>
            </a:extLst>
          </p:cNvPr>
          <p:cNvSpPr/>
          <p:nvPr/>
        </p:nvSpPr>
        <p:spPr>
          <a:xfrm>
            <a:off x="704850" y="2057400"/>
            <a:ext cx="1905000" cy="628650"/>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0" name="CuadroTexto 9">
            <a:extLst>
              <a:ext uri="{FF2B5EF4-FFF2-40B4-BE49-F238E27FC236}">
                <a16:creationId xmlns:a16="http://schemas.microsoft.com/office/drawing/2014/main" id="{0A1428E1-8F50-152C-4675-C47614A76AF1}"/>
              </a:ext>
            </a:extLst>
          </p:cNvPr>
          <p:cNvSpPr txBox="1"/>
          <p:nvPr/>
        </p:nvSpPr>
        <p:spPr>
          <a:xfrm>
            <a:off x="857250" y="2190750"/>
            <a:ext cx="1619250" cy="276999"/>
          </a:xfrm>
          <a:prstGeom prst="rect">
            <a:avLst/>
          </a:prstGeom>
          <a:noFill/>
        </p:spPr>
        <p:txBody>
          <a:bodyPr vert="horz" wrap="square" lIns="0" tIns="0" rIns="0" bIns="0" rtlCol="0" anchor="t">
            <a:noAutofit/>
          </a:bodyPr>
          <a:lstStyle/>
          <a:p>
            <a:pPr>
              <a:lnSpc>
                <a:spcPct val="125000"/>
              </a:lnSpc>
            </a:pPr>
            <a:r>
              <a:rPr lang="es-HN" sz="1013" b="1">
                <a:solidFill>
                  <a:srgbClr val="FFFFFF"/>
                </a:solidFill>
                <a:latin typeface="Calibri" panose="020F0502020204030204" pitchFamily="34" charset="0"/>
              </a:rPr>
              <a:t>Navegador</a:t>
            </a:r>
          </a:p>
        </p:txBody>
      </p:sp>
      <p:sp>
        <p:nvSpPr>
          <p:cNvPr id="11" name="CuadroTexto 10">
            <a:extLst>
              <a:ext uri="{FF2B5EF4-FFF2-40B4-BE49-F238E27FC236}">
                <a16:creationId xmlns:a16="http://schemas.microsoft.com/office/drawing/2014/main" id="{BB3C0745-C680-9BBC-92DD-B6DDA9783208}"/>
              </a:ext>
            </a:extLst>
          </p:cNvPr>
          <p:cNvSpPr txBox="1"/>
          <p:nvPr/>
        </p:nvSpPr>
        <p:spPr>
          <a:xfrm>
            <a:off x="857250" y="2419350"/>
            <a:ext cx="16192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alibri" panose="020F0502020204030204" pitchFamily="34" charset="0"/>
              </a:rPr>
              <a:t>POST JSON, sin postback</a:t>
            </a:r>
          </a:p>
        </p:txBody>
      </p:sp>
      <p:sp>
        <p:nvSpPr>
          <p:cNvPr id="12" name="Rectángulo: esquinas redondeadas 11">
            <a:extLst>
              <a:ext uri="{FF2B5EF4-FFF2-40B4-BE49-F238E27FC236}">
                <a16:creationId xmlns:a16="http://schemas.microsoft.com/office/drawing/2014/main" id="{9F67BD09-334B-3618-805A-9C867698AF0A}"/>
              </a:ext>
            </a:extLst>
          </p:cNvPr>
          <p:cNvSpPr/>
          <p:nvPr/>
        </p:nvSpPr>
        <p:spPr>
          <a:xfrm>
            <a:off x="2895600" y="2057400"/>
            <a:ext cx="1905000" cy="628650"/>
          </a:xfrm>
          <a:prstGeom prst="roundRect">
            <a:avLst>
              <a:gd name="adj" fmla="val 6000"/>
            </a:avLst>
          </a:prstGeom>
          <a:solidFill>
            <a:srgbClr val="17475F"/>
          </a:solidFill>
          <a:ln w="12700">
            <a:solidFill>
              <a:srgbClr val="4FA8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3" name="CuadroTexto 12">
            <a:extLst>
              <a:ext uri="{FF2B5EF4-FFF2-40B4-BE49-F238E27FC236}">
                <a16:creationId xmlns:a16="http://schemas.microsoft.com/office/drawing/2014/main" id="{15CADD96-2CF8-D469-951B-5AA661CF4564}"/>
              </a:ext>
            </a:extLst>
          </p:cNvPr>
          <p:cNvSpPr txBox="1"/>
          <p:nvPr/>
        </p:nvSpPr>
        <p:spPr>
          <a:xfrm>
            <a:off x="3048000" y="2190750"/>
            <a:ext cx="1619250" cy="276999"/>
          </a:xfrm>
          <a:prstGeom prst="rect">
            <a:avLst/>
          </a:prstGeom>
          <a:noFill/>
        </p:spPr>
        <p:txBody>
          <a:bodyPr vert="horz" wrap="square" lIns="0" tIns="0" rIns="0" bIns="0" rtlCol="0" anchor="t">
            <a:noAutofit/>
          </a:bodyPr>
          <a:lstStyle/>
          <a:p>
            <a:pPr>
              <a:lnSpc>
                <a:spcPct val="125000"/>
              </a:lnSpc>
            </a:pPr>
            <a:r>
              <a:rPr lang="es-HN" sz="938" b="1">
                <a:solidFill>
                  <a:srgbClr val="FFFFFF"/>
                </a:solidFill>
                <a:latin typeface="Consolas" panose="020B0609020204030204" pitchFamily="49" charset="0"/>
              </a:rPr>
              <a:t>Asistente.ashx</a:t>
            </a:r>
          </a:p>
        </p:txBody>
      </p:sp>
      <p:sp>
        <p:nvSpPr>
          <p:cNvPr id="14" name="CuadroTexto 13">
            <a:extLst>
              <a:ext uri="{FF2B5EF4-FFF2-40B4-BE49-F238E27FC236}">
                <a16:creationId xmlns:a16="http://schemas.microsoft.com/office/drawing/2014/main" id="{73157284-F186-71E0-61C3-FAC9990AF905}"/>
              </a:ext>
            </a:extLst>
          </p:cNvPr>
          <p:cNvSpPr txBox="1"/>
          <p:nvPr/>
        </p:nvSpPr>
        <p:spPr>
          <a:xfrm>
            <a:off x="3048000" y="2419350"/>
            <a:ext cx="16192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alibri" panose="020F0502020204030204" pitchFamily="34" charset="0"/>
              </a:rPr>
              <a:t>vive en el frontend</a:t>
            </a:r>
          </a:p>
        </p:txBody>
      </p:sp>
      <p:sp>
        <p:nvSpPr>
          <p:cNvPr id="15" name="Rectángulo: esquinas redondeadas 14">
            <a:extLst>
              <a:ext uri="{FF2B5EF4-FFF2-40B4-BE49-F238E27FC236}">
                <a16:creationId xmlns:a16="http://schemas.microsoft.com/office/drawing/2014/main" id="{9770DBEE-54E7-5924-723B-F50B0DBF4FC9}"/>
              </a:ext>
            </a:extLst>
          </p:cNvPr>
          <p:cNvSpPr/>
          <p:nvPr/>
        </p:nvSpPr>
        <p:spPr>
          <a:xfrm>
            <a:off x="5086350" y="2057400"/>
            <a:ext cx="1905000" cy="628650"/>
          </a:xfrm>
          <a:prstGeom prst="roundRect">
            <a:avLst>
              <a:gd name="adj" fmla="val 6000"/>
            </a:avLst>
          </a:prstGeom>
          <a:solidFill>
            <a:srgbClr val="17475F"/>
          </a:solidFill>
          <a:ln w="12700">
            <a:solidFill>
              <a:srgbClr val="4FA8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6" name="CuadroTexto 15">
            <a:extLst>
              <a:ext uri="{FF2B5EF4-FFF2-40B4-BE49-F238E27FC236}">
                <a16:creationId xmlns:a16="http://schemas.microsoft.com/office/drawing/2014/main" id="{F92F2656-FAFF-1588-C20D-7CB00AAC78FE}"/>
              </a:ext>
            </a:extLst>
          </p:cNvPr>
          <p:cNvSpPr txBox="1"/>
          <p:nvPr/>
        </p:nvSpPr>
        <p:spPr>
          <a:xfrm>
            <a:off x="5238750" y="2190750"/>
            <a:ext cx="1619250" cy="276999"/>
          </a:xfrm>
          <a:prstGeom prst="rect">
            <a:avLst/>
          </a:prstGeom>
          <a:noFill/>
        </p:spPr>
        <p:txBody>
          <a:bodyPr vert="horz" wrap="square" lIns="0" tIns="0" rIns="0" bIns="0" rtlCol="0" anchor="t">
            <a:noAutofit/>
          </a:bodyPr>
          <a:lstStyle/>
          <a:p>
            <a:pPr>
              <a:lnSpc>
                <a:spcPct val="125000"/>
              </a:lnSpc>
            </a:pPr>
            <a:r>
              <a:rPr lang="es-HN" sz="1013" b="1">
                <a:solidFill>
                  <a:srgbClr val="FFFFFF"/>
                </a:solidFill>
                <a:latin typeface="Calibri" panose="020F0502020204030204" pitchFamily="34" charset="0"/>
              </a:rPr>
              <a:t>Web Service</a:t>
            </a:r>
          </a:p>
        </p:txBody>
      </p:sp>
      <p:sp>
        <p:nvSpPr>
          <p:cNvPr id="17" name="CuadroTexto 16">
            <a:extLst>
              <a:ext uri="{FF2B5EF4-FFF2-40B4-BE49-F238E27FC236}">
                <a16:creationId xmlns:a16="http://schemas.microsoft.com/office/drawing/2014/main" id="{939EA4B2-04FA-87D0-D061-597EFE59D676}"/>
              </a:ext>
            </a:extLst>
          </p:cNvPr>
          <p:cNvSpPr txBox="1"/>
          <p:nvPr/>
        </p:nvSpPr>
        <p:spPr>
          <a:xfrm>
            <a:off x="5238750" y="2419350"/>
            <a:ext cx="16192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alibri" panose="020F0502020204030204" pitchFamily="34" charset="0"/>
              </a:rPr>
              <a:t>3 comprobaciones previas</a:t>
            </a:r>
          </a:p>
        </p:txBody>
      </p:sp>
      <p:sp>
        <p:nvSpPr>
          <p:cNvPr id="18" name="Rectángulo: esquinas redondeadas 17">
            <a:extLst>
              <a:ext uri="{FF2B5EF4-FFF2-40B4-BE49-F238E27FC236}">
                <a16:creationId xmlns:a16="http://schemas.microsoft.com/office/drawing/2014/main" id="{8AA8A120-F584-9D05-6DC7-3F8E16E24CD0}"/>
              </a:ext>
            </a:extLst>
          </p:cNvPr>
          <p:cNvSpPr/>
          <p:nvPr/>
        </p:nvSpPr>
        <p:spPr>
          <a:xfrm>
            <a:off x="7277100" y="2057400"/>
            <a:ext cx="1905000" cy="628650"/>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9" name="CuadroTexto 18">
            <a:extLst>
              <a:ext uri="{FF2B5EF4-FFF2-40B4-BE49-F238E27FC236}">
                <a16:creationId xmlns:a16="http://schemas.microsoft.com/office/drawing/2014/main" id="{B5DFBE61-3BCD-3912-2455-0FBD0175BA65}"/>
              </a:ext>
            </a:extLst>
          </p:cNvPr>
          <p:cNvSpPr txBox="1"/>
          <p:nvPr/>
        </p:nvSpPr>
        <p:spPr>
          <a:xfrm>
            <a:off x="7429500" y="2190750"/>
            <a:ext cx="1619250" cy="276999"/>
          </a:xfrm>
          <a:prstGeom prst="rect">
            <a:avLst/>
          </a:prstGeom>
          <a:noFill/>
        </p:spPr>
        <p:txBody>
          <a:bodyPr vert="horz" wrap="square" lIns="0" tIns="0" rIns="0" bIns="0" rtlCol="0" anchor="t">
            <a:noAutofit/>
          </a:bodyPr>
          <a:lstStyle/>
          <a:p>
            <a:pPr>
              <a:lnSpc>
                <a:spcPct val="125000"/>
              </a:lnSpc>
            </a:pPr>
            <a:r>
              <a:rPr lang="es-HN" sz="938" b="1">
                <a:solidFill>
                  <a:srgbClr val="FFFFFF"/>
                </a:solidFill>
                <a:latin typeface="Consolas" panose="020B0609020204030204" pitchFamily="49" charset="0"/>
              </a:rPr>
              <a:t>AsistenteIA.cs</a:t>
            </a:r>
          </a:p>
        </p:txBody>
      </p:sp>
      <p:sp>
        <p:nvSpPr>
          <p:cNvPr id="20" name="CuadroTexto 19">
            <a:extLst>
              <a:ext uri="{FF2B5EF4-FFF2-40B4-BE49-F238E27FC236}">
                <a16:creationId xmlns:a16="http://schemas.microsoft.com/office/drawing/2014/main" id="{56AD2038-68B9-7006-D2D0-EF90F910A475}"/>
              </a:ext>
            </a:extLst>
          </p:cNvPr>
          <p:cNvSpPr txBox="1"/>
          <p:nvPr/>
        </p:nvSpPr>
        <p:spPr>
          <a:xfrm>
            <a:off x="7429500" y="2419350"/>
            <a:ext cx="1619250" cy="276999"/>
          </a:xfrm>
          <a:prstGeom prst="rect">
            <a:avLst/>
          </a:prstGeom>
          <a:noFill/>
        </p:spPr>
        <p:txBody>
          <a:bodyPr vert="horz" wrap="square" lIns="0" tIns="0" rIns="0" bIns="0" rtlCol="0" anchor="t">
            <a:noAutofit/>
          </a:bodyPr>
          <a:lstStyle/>
          <a:p>
            <a:pPr>
              <a:lnSpc>
                <a:spcPct val="125000"/>
              </a:lnSpc>
            </a:pPr>
            <a:r>
              <a:rPr lang="es-ES" sz="863">
                <a:solidFill>
                  <a:srgbClr val="BACADD"/>
                </a:solidFill>
                <a:latin typeface="Calibri" panose="020F0502020204030204" pitchFamily="34" charset="0"/>
              </a:rPr>
              <a:t>bucle de hasta 6 vueltas</a:t>
            </a:r>
            <a:endParaRPr lang="es-HN" sz="863">
              <a:solidFill>
                <a:srgbClr val="BACADD"/>
              </a:solidFill>
              <a:latin typeface="Calibri" panose="020F0502020204030204" pitchFamily="34" charset="0"/>
            </a:endParaRPr>
          </a:p>
        </p:txBody>
      </p:sp>
      <p:sp>
        <p:nvSpPr>
          <p:cNvPr id="21" name="Rectángulo: esquinas redondeadas 20">
            <a:extLst>
              <a:ext uri="{FF2B5EF4-FFF2-40B4-BE49-F238E27FC236}">
                <a16:creationId xmlns:a16="http://schemas.microsoft.com/office/drawing/2014/main" id="{9CB730B7-C3A1-7953-0F83-AAB97D697D0C}"/>
              </a:ext>
            </a:extLst>
          </p:cNvPr>
          <p:cNvSpPr/>
          <p:nvPr/>
        </p:nvSpPr>
        <p:spPr>
          <a:xfrm>
            <a:off x="9467850" y="2057400"/>
            <a:ext cx="2000250" cy="628650"/>
          </a:xfrm>
          <a:prstGeom prst="roundRect">
            <a:avLst>
              <a:gd name="adj" fmla="val 6000"/>
            </a:avLst>
          </a:prstGeom>
          <a:solidFill>
            <a:srgbClr val="5A2420"/>
          </a:solidFill>
          <a:ln w="12700">
            <a:solidFill>
              <a:srgbClr val="E068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2" name="CuadroTexto 21">
            <a:extLst>
              <a:ext uri="{FF2B5EF4-FFF2-40B4-BE49-F238E27FC236}">
                <a16:creationId xmlns:a16="http://schemas.microsoft.com/office/drawing/2014/main" id="{CD4A43F6-AA38-3A92-6662-2BF9CA21595E}"/>
              </a:ext>
            </a:extLst>
          </p:cNvPr>
          <p:cNvSpPr txBox="1"/>
          <p:nvPr/>
        </p:nvSpPr>
        <p:spPr>
          <a:xfrm>
            <a:off x="9620250" y="2190750"/>
            <a:ext cx="1714500" cy="276999"/>
          </a:xfrm>
          <a:prstGeom prst="rect">
            <a:avLst/>
          </a:prstGeom>
          <a:noFill/>
        </p:spPr>
        <p:txBody>
          <a:bodyPr vert="horz" wrap="square" lIns="0" tIns="0" rIns="0" bIns="0" rtlCol="0" anchor="t">
            <a:noAutofit/>
          </a:bodyPr>
          <a:lstStyle/>
          <a:p>
            <a:pPr>
              <a:lnSpc>
                <a:spcPct val="125000"/>
              </a:lnSpc>
            </a:pPr>
            <a:r>
              <a:rPr lang="es-HN" sz="1013" b="1">
                <a:solidFill>
                  <a:srgbClr val="F2B3AC"/>
                </a:solidFill>
                <a:latin typeface="Calibri" panose="020F0502020204030204" pitchFamily="34" charset="0"/>
              </a:rPr>
              <a:t>Modelo de lenguaje</a:t>
            </a:r>
          </a:p>
        </p:txBody>
      </p:sp>
      <p:sp>
        <p:nvSpPr>
          <p:cNvPr id="23" name="CuadroTexto 22">
            <a:extLst>
              <a:ext uri="{FF2B5EF4-FFF2-40B4-BE49-F238E27FC236}">
                <a16:creationId xmlns:a16="http://schemas.microsoft.com/office/drawing/2014/main" id="{4B13D00E-F995-0555-29A9-52DC28968A59}"/>
              </a:ext>
            </a:extLst>
          </p:cNvPr>
          <p:cNvSpPr txBox="1"/>
          <p:nvPr/>
        </p:nvSpPr>
        <p:spPr>
          <a:xfrm>
            <a:off x="9620250" y="2419350"/>
            <a:ext cx="1714500" cy="276999"/>
          </a:xfrm>
          <a:prstGeom prst="rect">
            <a:avLst/>
          </a:prstGeom>
          <a:noFill/>
        </p:spPr>
        <p:txBody>
          <a:bodyPr vert="horz" wrap="square" lIns="0" tIns="0" rIns="0" bIns="0" rtlCol="0" anchor="t">
            <a:noAutofit/>
          </a:bodyPr>
          <a:lstStyle/>
          <a:p>
            <a:pPr>
              <a:lnSpc>
                <a:spcPct val="125000"/>
              </a:lnSpc>
            </a:pPr>
            <a:r>
              <a:rPr lang="es-HN" sz="863">
                <a:solidFill>
                  <a:srgbClr val="F2B3AC"/>
                </a:solidFill>
                <a:latin typeface="Calibri" panose="020F0502020204030204" pitchFamily="34" charset="0"/>
              </a:rPr>
              <a:t>claude-sonnet-5</a:t>
            </a:r>
          </a:p>
        </p:txBody>
      </p:sp>
      <p:cxnSp>
        <p:nvCxnSpPr>
          <p:cNvPr id="24" name="Conector recto 23">
            <a:extLst>
              <a:ext uri="{FF2B5EF4-FFF2-40B4-BE49-F238E27FC236}">
                <a16:creationId xmlns:a16="http://schemas.microsoft.com/office/drawing/2014/main" id="{A39AC831-0162-B9C3-3742-AF88D4C502CE}"/>
              </a:ext>
            </a:extLst>
          </p:cNvPr>
          <p:cNvCxnSpPr/>
          <p:nvPr/>
        </p:nvCxnSpPr>
        <p:spPr>
          <a:xfrm>
            <a:off x="2609850" y="2371725"/>
            <a:ext cx="247650" cy="0"/>
          </a:xfrm>
          <a:prstGeom prst="line">
            <a:avLst/>
          </a:prstGeom>
          <a:ln w="25400">
            <a:solidFill>
              <a:srgbClr val="4FA8C4"/>
            </a:solidFill>
            <a:tailEnd type="arrow" w="sm" len="sm"/>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a16="http://schemas.microsoft.com/office/drawing/2014/main" id="{A85BC471-DE5A-8E57-5577-C0FAEE6F7A48}"/>
              </a:ext>
            </a:extLst>
          </p:cNvPr>
          <p:cNvCxnSpPr/>
          <p:nvPr/>
        </p:nvCxnSpPr>
        <p:spPr>
          <a:xfrm>
            <a:off x="4800600" y="2371725"/>
            <a:ext cx="247650" cy="0"/>
          </a:xfrm>
          <a:prstGeom prst="line">
            <a:avLst/>
          </a:prstGeom>
          <a:ln w="25400">
            <a:solidFill>
              <a:srgbClr val="4FA8C4"/>
            </a:solidFill>
            <a:tailEnd type="arrow" w="sm" len="sm"/>
          </a:ln>
        </p:spPr>
        <p:style>
          <a:lnRef idx="2">
            <a:schemeClr val="accent1"/>
          </a:lnRef>
          <a:fillRef idx="0">
            <a:schemeClr val="accent1"/>
          </a:fillRef>
          <a:effectRef idx="1">
            <a:schemeClr val="accent1"/>
          </a:effectRef>
          <a:fontRef idx="minor">
            <a:schemeClr val="tx1"/>
          </a:fontRef>
        </p:style>
      </p:cxnSp>
      <p:cxnSp>
        <p:nvCxnSpPr>
          <p:cNvPr id="26" name="Conector recto 25">
            <a:extLst>
              <a:ext uri="{FF2B5EF4-FFF2-40B4-BE49-F238E27FC236}">
                <a16:creationId xmlns:a16="http://schemas.microsoft.com/office/drawing/2014/main" id="{939EB4DB-F1B0-DF7B-B381-7AAC2008A150}"/>
              </a:ext>
            </a:extLst>
          </p:cNvPr>
          <p:cNvCxnSpPr/>
          <p:nvPr/>
        </p:nvCxnSpPr>
        <p:spPr>
          <a:xfrm>
            <a:off x="6991350" y="2371725"/>
            <a:ext cx="247650" cy="0"/>
          </a:xfrm>
          <a:prstGeom prst="line">
            <a:avLst/>
          </a:prstGeom>
          <a:ln w="25400">
            <a:solidFill>
              <a:srgbClr val="4FA8C4"/>
            </a:solidFill>
            <a:tailEnd type="arrow" w="sm" len="sm"/>
          </a:ln>
        </p:spPr>
        <p:style>
          <a:lnRef idx="2">
            <a:schemeClr val="accent1"/>
          </a:lnRef>
          <a:fillRef idx="0">
            <a:schemeClr val="accent1"/>
          </a:fillRef>
          <a:effectRef idx="1">
            <a:schemeClr val="accent1"/>
          </a:effectRef>
          <a:fontRef idx="minor">
            <a:schemeClr val="tx1"/>
          </a:fontRef>
        </p:style>
      </p:cxnSp>
      <p:cxnSp>
        <p:nvCxnSpPr>
          <p:cNvPr id="27" name="Conector recto 26">
            <a:extLst>
              <a:ext uri="{FF2B5EF4-FFF2-40B4-BE49-F238E27FC236}">
                <a16:creationId xmlns:a16="http://schemas.microsoft.com/office/drawing/2014/main" id="{CD96843D-BB36-D116-EC3B-653FAFE438DC}"/>
              </a:ext>
            </a:extLst>
          </p:cNvPr>
          <p:cNvCxnSpPr/>
          <p:nvPr/>
        </p:nvCxnSpPr>
        <p:spPr>
          <a:xfrm>
            <a:off x="9182100" y="2371725"/>
            <a:ext cx="247650" cy="0"/>
          </a:xfrm>
          <a:prstGeom prst="line">
            <a:avLst/>
          </a:prstGeom>
          <a:ln w="25400">
            <a:solidFill>
              <a:srgbClr val="4FA8C4"/>
            </a:solidFill>
            <a:tailEnd type="arrow" w="sm" len="sm"/>
          </a:ln>
        </p:spPr>
        <p:style>
          <a:lnRef idx="2">
            <a:schemeClr val="accent1"/>
          </a:lnRef>
          <a:fillRef idx="0">
            <a:schemeClr val="accent1"/>
          </a:fillRef>
          <a:effectRef idx="1">
            <a:schemeClr val="accent1"/>
          </a:effectRef>
          <a:fontRef idx="minor">
            <a:schemeClr val="tx1"/>
          </a:fontRef>
        </p:style>
      </p:cxnSp>
      <p:cxnSp>
        <p:nvCxnSpPr>
          <p:cNvPr id="28" name="Conector recto 27">
            <a:extLst>
              <a:ext uri="{FF2B5EF4-FFF2-40B4-BE49-F238E27FC236}">
                <a16:creationId xmlns:a16="http://schemas.microsoft.com/office/drawing/2014/main" id="{6AB17306-3EBF-2140-E755-5E781E318524}"/>
              </a:ext>
            </a:extLst>
          </p:cNvPr>
          <p:cNvCxnSpPr/>
          <p:nvPr/>
        </p:nvCxnSpPr>
        <p:spPr>
          <a:xfrm>
            <a:off x="10467975" y="2686050"/>
            <a:ext cx="0" cy="457200"/>
          </a:xfrm>
          <a:prstGeom prst="line">
            <a:avLst/>
          </a:prstGeom>
          <a:ln w="25400">
            <a:solidFill>
              <a:srgbClr val="4FA8C4"/>
            </a:solidFill>
          </a:ln>
        </p:spPr>
        <p:style>
          <a:lnRef idx="2">
            <a:schemeClr val="accent1"/>
          </a:lnRef>
          <a:fillRef idx="0">
            <a:schemeClr val="accent1"/>
          </a:fillRef>
          <a:effectRef idx="1">
            <a:schemeClr val="accent1"/>
          </a:effectRef>
          <a:fontRef idx="minor">
            <a:schemeClr val="tx1"/>
          </a:fontRef>
        </p:style>
      </p:cxnSp>
      <p:cxnSp>
        <p:nvCxnSpPr>
          <p:cNvPr id="29" name="Conector recto 28">
            <a:extLst>
              <a:ext uri="{FF2B5EF4-FFF2-40B4-BE49-F238E27FC236}">
                <a16:creationId xmlns:a16="http://schemas.microsoft.com/office/drawing/2014/main" id="{84D4D81B-85F1-1A3D-2044-457AAA98F596}"/>
              </a:ext>
            </a:extLst>
          </p:cNvPr>
          <p:cNvCxnSpPr/>
          <p:nvPr/>
        </p:nvCxnSpPr>
        <p:spPr>
          <a:xfrm flipH="1">
            <a:off x="8324850" y="3143250"/>
            <a:ext cx="2143125" cy="0"/>
          </a:xfrm>
          <a:prstGeom prst="line">
            <a:avLst/>
          </a:prstGeom>
          <a:ln w="25400">
            <a:solidFill>
              <a:srgbClr val="4FA8C4"/>
            </a:solidFill>
          </a:ln>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40344297-F4F6-8D36-7600-3EF37D84E777}"/>
              </a:ext>
            </a:extLst>
          </p:cNvPr>
          <p:cNvCxnSpPr/>
          <p:nvPr/>
        </p:nvCxnSpPr>
        <p:spPr>
          <a:xfrm>
            <a:off x="8324850" y="3143250"/>
            <a:ext cx="0" cy="323850"/>
          </a:xfrm>
          <a:prstGeom prst="line">
            <a:avLst/>
          </a:prstGeom>
          <a:ln w="25400">
            <a:solidFill>
              <a:srgbClr val="4FA8C4"/>
            </a:solidFill>
            <a:tailEnd type="arrow" w="sm" len="sm"/>
          </a:ln>
        </p:spPr>
        <p:style>
          <a:lnRef idx="2">
            <a:schemeClr val="accent1"/>
          </a:lnRef>
          <a:fillRef idx="0">
            <a:schemeClr val="accent1"/>
          </a:fillRef>
          <a:effectRef idx="1">
            <a:schemeClr val="accent1"/>
          </a:effectRef>
          <a:fontRef idx="minor">
            <a:schemeClr val="tx1"/>
          </a:fontRef>
        </p:style>
      </p:cxnSp>
      <p:sp>
        <p:nvSpPr>
          <p:cNvPr id="31" name="CuadroTexto 30">
            <a:extLst>
              <a:ext uri="{FF2B5EF4-FFF2-40B4-BE49-F238E27FC236}">
                <a16:creationId xmlns:a16="http://schemas.microsoft.com/office/drawing/2014/main" id="{F83FFC81-3AA8-2571-1105-529372CB14BC}"/>
              </a:ext>
            </a:extLst>
          </p:cNvPr>
          <p:cNvSpPr txBox="1"/>
          <p:nvPr/>
        </p:nvSpPr>
        <p:spPr>
          <a:xfrm>
            <a:off x="8477250" y="2819400"/>
            <a:ext cx="2857500" cy="276999"/>
          </a:xfrm>
          <a:prstGeom prst="rect">
            <a:avLst/>
          </a:prstGeom>
          <a:noFill/>
        </p:spPr>
        <p:txBody>
          <a:bodyPr vert="horz" wrap="square" lIns="0" tIns="0" rIns="0" bIns="0" rtlCol="0" anchor="t">
            <a:noAutofit/>
          </a:bodyPr>
          <a:lstStyle/>
          <a:p>
            <a:pPr>
              <a:lnSpc>
                <a:spcPct val="125000"/>
              </a:lnSpc>
            </a:pPr>
            <a:r>
              <a:rPr lang="es-HN" sz="788" b="1" spc="80">
                <a:solidFill>
                  <a:srgbClr val="7FC4D8"/>
                </a:solidFill>
                <a:latin typeface="Calibri" panose="020F0502020204030204" pitchFamily="34" charset="0"/>
              </a:rPr>
              <a:t>PIDE UNA HERRAMIENTA</a:t>
            </a:r>
          </a:p>
        </p:txBody>
      </p:sp>
      <p:sp>
        <p:nvSpPr>
          <p:cNvPr id="32" name="CuadroTexto 31">
            <a:extLst>
              <a:ext uri="{FF2B5EF4-FFF2-40B4-BE49-F238E27FC236}">
                <a16:creationId xmlns:a16="http://schemas.microsoft.com/office/drawing/2014/main" id="{0CBDDF02-C2AC-E00E-CDF4-FAA0E266EF3F}"/>
              </a:ext>
            </a:extLst>
          </p:cNvPr>
          <p:cNvSpPr txBox="1"/>
          <p:nvPr/>
        </p:nvSpPr>
        <p:spPr>
          <a:xfrm>
            <a:off x="704850" y="3267075"/>
            <a:ext cx="6667500" cy="276999"/>
          </a:xfrm>
          <a:prstGeom prst="rect">
            <a:avLst/>
          </a:prstGeom>
          <a:noFill/>
        </p:spPr>
        <p:txBody>
          <a:bodyPr vert="horz" wrap="square" lIns="0" tIns="0" rIns="0" bIns="0" rtlCol="0" anchor="t">
            <a:noAutofit/>
          </a:bodyPr>
          <a:lstStyle/>
          <a:p>
            <a:pPr>
              <a:lnSpc>
                <a:spcPct val="125000"/>
              </a:lnSpc>
            </a:pPr>
            <a:r>
              <a:rPr lang="es-ES" sz="788" b="1" spc="80">
                <a:solidFill>
                  <a:srgbClr val="7FC4D8"/>
                </a:solidFill>
                <a:latin typeface="Calibri" panose="020F0502020204030204" pitchFamily="34" charset="0"/>
              </a:rPr>
              <a:t>CAMINO DE LOS DATOS · SIEMPRE DE DERECHA A IZQUIERDA</a:t>
            </a:r>
            <a:endParaRPr lang="es-HN" sz="788" b="1" spc="80">
              <a:solidFill>
                <a:srgbClr val="7FC4D8"/>
              </a:solidFill>
              <a:latin typeface="Calibri" panose="020F0502020204030204" pitchFamily="34" charset="0"/>
            </a:endParaRPr>
          </a:p>
        </p:txBody>
      </p:sp>
      <p:sp>
        <p:nvSpPr>
          <p:cNvPr id="33" name="Rectángulo: esquinas redondeadas 32">
            <a:extLst>
              <a:ext uri="{FF2B5EF4-FFF2-40B4-BE49-F238E27FC236}">
                <a16:creationId xmlns:a16="http://schemas.microsoft.com/office/drawing/2014/main" id="{0880ED5D-6203-227E-02DC-3B0D0BC8CF8F}"/>
              </a:ext>
            </a:extLst>
          </p:cNvPr>
          <p:cNvSpPr/>
          <p:nvPr/>
        </p:nvSpPr>
        <p:spPr>
          <a:xfrm>
            <a:off x="7372350" y="3505200"/>
            <a:ext cx="1905000" cy="628650"/>
          </a:xfrm>
          <a:prstGeom prst="roundRect">
            <a:avLst>
              <a:gd name="adj" fmla="val 6000"/>
            </a:avLst>
          </a:prstGeom>
          <a:solidFill>
            <a:srgbClr val="17475F"/>
          </a:solidFill>
          <a:ln w="12700">
            <a:solidFill>
              <a:srgbClr val="4FA8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4" name="CuadroTexto 33">
            <a:extLst>
              <a:ext uri="{FF2B5EF4-FFF2-40B4-BE49-F238E27FC236}">
                <a16:creationId xmlns:a16="http://schemas.microsoft.com/office/drawing/2014/main" id="{03C642E6-E28D-F9F7-18A2-5DCD3FE92C9C}"/>
              </a:ext>
            </a:extLst>
          </p:cNvPr>
          <p:cNvSpPr txBox="1"/>
          <p:nvPr/>
        </p:nvSpPr>
        <p:spPr>
          <a:xfrm>
            <a:off x="7524750" y="3638550"/>
            <a:ext cx="1619250" cy="276999"/>
          </a:xfrm>
          <a:prstGeom prst="rect">
            <a:avLst/>
          </a:prstGeom>
          <a:noFill/>
        </p:spPr>
        <p:txBody>
          <a:bodyPr vert="horz" wrap="square" lIns="0" tIns="0" rIns="0" bIns="0" rtlCol="0" anchor="t">
            <a:noAutofit/>
          </a:bodyPr>
          <a:lstStyle/>
          <a:p>
            <a:pPr>
              <a:lnSpc>
                <a:spcPct val="125000"/>
              </a:lnSpc>
            </a:pPr>
            <a:r>
              <a:rPr lang="es-HN" sz="1013" b="1">
                <a:solidFill>
                  <a:srgbClr val="FFFFFF"/>
                </a:solidFill>
                <a:latin typeface="Calibri" panose="020F0502020204030204" pitchFamily="34" charset="0"/>
              </a:rPr>
              <a:t>4 herramientas</a:t>
            </a:r>
          </a:p>
        </p:txBody>
      </p:sp>
      <p:sp>
        <p:nvSpPr>
          <p:cNvPr id="35" name="CuadroTexto 34">
            <a:extLst>
              <a:ext uri="{FF2B5EF4-FFF2-40B4-BE49-F238E27FC236}">
                <a16:creationId xmlns:a16="http://schemas.microsoft.com/office/drawing/2014/main" id="{F346FB7E-50D9-AD8D-3CF5-3E5F288E162D}"/>
              </a:ext>
            </a:extLst>
          </p:cNvPr>
          <p:cNvSpPr txBox="1"/>
          <p:nvPr/>
        </p:nvSpPr>
        <p:spPr>
          <a:xfrm>
            <a:off x="7524750" y="3867150"/>
            <a:ext cx="16192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alibri" panose="020F0502020204030204" pitchFamily="34" charset="0"/>
              </a:rPr>
              <a:t>parámetros tipados, sin SQL</a:t>
            </a:r>
          </a:p>
        </p:txBody>
      </p:sp>
      <p:sp>
        <p:nvSpPr>
          <p:cNvPr id="36" name="Rectángulo: esquinas redondeadas 35">
            <a:extLst>
              <a:ext uri="{FF2B5EF4-FFF2-40B4-BE49-F238E27FC236}">
                <a16:creationId xmlns:a16="http://schemas.microsoft.com/office/drawing/2014/main" id="{8FD9B14B-AA09-ECF2-CCC8-E04B6B96F91E}"/>
              </a:ext>
            </a:extLst>
          </p:cNvPr>
          <p:cNvSpPr/>
          <p:nvPr/>
        </p:nvSpPr>
        <p:spPr>
          <a:xfrm>
            <a:off x="4876800" y="3505200"/>
            <a:ext cx="2190750" cy="628650"/>
          </a:xfrm>
          <a:prstGeom prst="roundRect">
            <a:avLst>
              <a:gd name="adj" fmla="val 6000"/>
            </a:avLst>
          </a:prstGeom>
          <a:solidFill>
            <a:srgbClr val="4A3A18"/>
          </a:solidFill>
          <a:ln w="12700">
            <a:solidFill>
              <a:srgbClr val="A07A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7" name="CuadroTexto 36">
            <a:extLst>
              <a:ext uri="{FF2B5EF4-FFF2-40B4-BE49-F238E27FC236}">
                <a16:creationId xmlns:a16="http://schemas.microsoft.com/office/drawing/2014/main" id="{5550F8D0-88AE-3243-A997-EE29110F1AEC}"/>
              </a:ext>
            </a:extLst>
          </p:cNvPr>
          <p:cNvSpPr txBox="1"/>
          <p:nvPr/>
        </p:nvSpPr>
        <p:spPr>
          <a:xfrm>
            <a:off x="5029200" y="3638550"/>
            <a:ext cx="1905000" cy="276999"/>
          </a:xfrm>
          <a:prstGeom prst="rect">
            <a:avLst/>
          </a:prstGeom>
          <a:noFill/>
        </p:spPr>
        <p:txBody>
          <a:bodyPr vert="horz" wrap="square" lIns="0" tIns="0" rIns="0" bIns="0" rtlCol="0" anchor="t">
            <a:noAutofit/>
          </a:bodyPr>
          <a:lstStyle/>
          <a:p>
            <a:pPr>
              <a:lnSpc>
                <a:spcPct val="125000"/>
              </a:lnSpc>
            </a:pPr>
            <a:r>
              <a:rPr lang="es-HN" sz="938" b="1">
                <a:solidFill>
                  <a:srgbClr val="F0CF90"/>
                </a:solidFill>
                <a:latin typeface="Consolas" panose="020B0609020204030204" pitchFamily="49" charset="0"/>
              </a:rPr>
              <a:t>AsistenteDatos.cs</a:t>
            </a:r>
          </a:p>
        </p:txBody>
      </p:sp>
      <p:sp>
        <p:nvSpPr>
          <p:cNvPr id="38" name="CuadroTexto 37">
            <a:extLst>
              <a:ext uri="{FF2B5EF4-FFF2-40B4-BE49-F238E27FC236}">
                <a16:creationId xmlns:a16="http://schemas.microsoft.com/office/drawing/2014/main" id="{41456BF2-B3DD-43F6-FDE7-2AF326B9D828}"/>
              </a:ext>
            </a:extLst>
          </p:cNvPr>
          <p:cNvSpPr txBox="1"/>
          <p:nvPr/>
        </p:nvSpPr>
        <p:spPr>
          <a:xfrm>
            <a:off x="5029200" y="3867150"/>
            <a:ext cx="1905000" cy="276999"/>
          </a:xfrm>
          <a:prstGeom prst="rect">
            <a:avLst/>
          </a:prstGeom>
          <a:noFill/>
        </p:spPr>
        <p:txBody>
          <a:bodyPr vert="horz" wrap="square" lIns="0" tIns="0" rIns="0" bIns="0" rtlCol="0" anchor="t">
            <a:noAutofit/>
          </a:bodyPr>
          <a:lstStyle/>
          <a:p>
            <a:pPr>
              <a:lnSpc>
                <a:spcPct val="125000"/>
              </a:lnSpc>
            </a:pPr>
            <a:r>
              <a:rPr lang="es-ES" sz="863">
                <a:solidFill>
                  <a:srgbClr val="F0CF90"/>
                </a:solidFill>
                <a:latin typeface="Calibri" panose="020F0502020204030204" pitchFamily="34" charset="0"/>
              </a:rPr>
              <a:t>el único punto que abre esa conexión</a:t>
            </a:r>
            <a:endParaRPr lang="es-HN" sz="863">
              <a:solidFill>
                <a:srgbClr val="F0CF90"/>
              </a:solidFill>
              <a:latin typeface="Calibri" panose="020F0502020204030204" pitchFamily="34" charset="0"/>
            </a:endParaRPr>
          </a:p>
        </p:txBody>
      </p:sp>
      <p:sp>
        <p:nvSpPr>
          <p:cNvPr id="39" name="Rectángulo: esquinas redondeadas 38">
            <a:extLst>
              <a:ext uri="{FF2B5EF4-FFF2-40B4-BE49-F238E27FC236}">
                <a16:creationId xmlns:a16="http://schemas.microsoft.com/office/drawing/2014/main" id="{918765B9-B8F7-16F7-C6FA-E229C01741F7}"/>
              </a:ext>
            </a:extLst>
          </p:cNvPr>
          <p:cNvSpPr/>
          <p:nvPr/>
        </p:nvSpPr>
        <p:spPr>
          <a:xfrm>
            <a:off x="2705100" y="3505200"/>
            <a:ext cx="1866900" cy="628650"/>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0" name="CuadroTexto 39">
            <a:extLst>
              <a:ext uri="{FF2B5EF4-FFF2-40B4-BE49-F238E27FC236}">
                <a16:creationId xmlns:a16="http://schemas.microsoft.com/office/drawing/2014/main" id="{330144CB-9350-8632-7FD8-D06181D06D74}"/>
              </a:ext>
            </a:extLst>
          </p:cNvPr>
          <p:cNvSpPr txBox="1"/>
          <p:nvPr/>
        </p:nvSpPr>
        <p:spPr>
          <a:xfrm>
            <a:off x="2857500" y="3638550"/>
            <a:ext cx="1581150" cy="276999"/>
          </a:xfrm>
          <a:prstGeom prst="rect">
            <a:avLst/>
          </a:prstGeom>
          <a:noFill/>
        </p:spPr>
        <p:txBody>
          <a:bodyPr vert="horz" wrap="square" lIns="0" tIns="0" rIns="0" bIns="0" rtlCol="0" anchor="t">
            <a:noAutofit/>
          </a:bodyPr>
          <a:lstStyle/>
          <a:p>
            <a:pPr>
              <a:lnSpc>
                <a:spcPct val="125000"/>
              </a:lnSpc>
            </a:pPr>
            <a:r>
              <a:rPr lang="es-HN" sz="1013" b="1">
                <a:solidFill>
                  <a:srgbClr val="FFFFFF"/>
                </a:solidFill>
                <a:latin typeface="Calibri" panose="020F0502020204030204" pitchFamily="34" charset="0"/>
              </a:rPr>
              <a:t>13 procedimientos</a:t>
            </a:r>
          </a:p>
        </p:txBody>
      </p:sp>
      <p:sp>
        <p:nvSpPr>
          <p:cNvPr id="41" name="CuadroTexto 40">
            <a:extLst>
              <a:ext uri="{FF2B5EF4-FFF2-40B4-BE49-F238E27FC236}">
                <a16:creationId xmlns:a16="http://schemas.microsoft.com/office/drawing/2014/main" id="{BD04A8FC-B373-870D-1D7D-1FF86C0E8D30}"/>
              </a:ext>
            </a:extLst>
          </p:cNvPr>
          <p:cNvSpPr txBox="1"/>
          <p:nvPr/>
        </p:nvSpPr>
        <p:spPr>
          <a:xfrm>
            <a:off x="2857500" y="3867150"/>
            <a:ext cx="1581150" cy="276999"/>
          </a:xfrm>
          <a:prstGeom prst="rect">
            <a:avLst/>
          </a:prstGeom>
          <a:noFill/>
        </p:spPr>
        <p:txBody>
          <a:bodyPr vert="horz" wrap="square" lIns="0" tIns="0" rIns="0" bIns="0" rtlCol="0" anchor="t">
            <a:noAutofit/>
          </a:bodyPr>
          <a:lstStyle/>
          <a:p>
            <a:pPr>
              <a:lnSpc>
                <a:spcPct val="125000"/>
              </a:lnSpc>
            </a:pPr>
            <a:r>
              <a:rPr lang="es-ES" sz="863">
                <a:solidFill>
                  <a:srgbClr val="BACADD"/>
                </a:solidFill>
                <a:latin typeface="Calibri" panose="020F0502020204030204" pitchFamily="34" charset="0"/>
              </a:rPr>
              <a:t>los únicos con GRANT EXECUTE</a:t>
            </a:r>
            <a:endParaRPr lang="es-HN" sz="863">
              <a:solidFill>
                <a:srgbClr val="BACADD"/>
              </a:solidFill>
              <a:latin typeface="Calibri" panose="020F0502020204030204" pitchFamily="34" charset="0"/>
            </a:endParaRPr>
          </a:p>
        </p:txBody>
      </p:sp>
      <p:sp>
        <p:nvSpPr>
          <p:cNvPr id="42" name="Rectángulo: esquinas redondeadas 41">
            <a:extLst>
              <a:ext uri="{FF2B5EF4-FFF2-40B4-BE49-F238E27FC236}">
                <a16:creationId xmlns:a16="http://schemas.microsoft.com/office/drawing/2014/main" id="{54815F18-F77F-FB87-2D0C-19A3783E2194}"/>
              </a:ext>
            </a:extLst>
          </p:cNvPr>
          <p:cNvSpPr/>
          <p:nvPr/>
        </p:nvSpPr>
        <p:spPr>
          <a:xfrm>
            <a:off x="704850" y="3505200"/>
            <a:ext cx="1714500" cy="628650"/>
          </a:xfrm>
          <a:prstGeom prst="roundRect">
            <a:avLst>
              <a:gd name="adj" fmla="val 6000"/>
            </a:avLst>
          </a:prstGeom>
          <a:solidFill>
            <a:srgbClr val="1B4838"/>
          </a:solidFill>
          <a:ln w="12700">
            <a:solidFill>
              <a:srgbClr val="5AAB8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3" name="CuadroTexto 42">
            <a:extLst>
              <a:ext uri="{FF2B5EF4-FFF2-40B4-BE49-F238E27FC236}">
                <a16:creationId xmlns:a16="http://schemas.microsoft.com/office/drawing/2014/main" id="{498D02F4-FD0F-4E51-632E-887D362FE571}"/>
              </a:ext>
            </a:extLst>
          </p:cNvPr>
          <p:cNvSpPr txBox="1"/>
          <p:nvPr/>
        </p:nvSpPr>
        <p:spPr>
          <a:xfrm>
            <a:off x="857250" y="3638550"/>
            <a:ext cx="1428750" cy="276999"/>
          </a:xfrm>
          <a:prstGeom prst="rect">
            <a:avLst/>
          </a:prstGeom>
          <a:noFill/>
        </p:spPr>
        <p:txBody>
          <a:bodyPr vert="horz" wrap="square" lIns="0" tIns="0" rIns="0" bIns="0" rtlCol="0" anchor="t">
            <a:noAutofit/>
          </a:bodyPr>
          <a:lstStyle/>
          <a:p>
            <a:pPr>
              <a:lnSpc>
                <a:spcPct val="125000"/>
              </a:lnSpc>
            </a:pPr>
            <a:r>
              <a:rPr lang="es-HN" sz="938" b="1">
                <a:solidFill>
                  <a:srgbClr val="FFFFFF"/>
                </a:solidFill>
                <a:latin typeface="Consolas" panose="020B0609020204030204" pitchFamily="49" charset="0"/>
              </a:rPr>
              <a:t>BDCUMPLEHN</a:t>
            </a:r>
          </a:p>
        </p:txBody>
      </p:sp>
      <p:sp>
        <p:nvSpPr>
          <p:cNvPr id="44" name="CuadroTexto 43">
            <a:extLst>
              <a:ext uri="{FF2B5EF4-FFF2-40B4-BE49-F238E27FC236}">
                <a16:creationId xmlns:a16="http://schemas.microsoft.com/office/drawing/2014/main" id="{B20956D2-38B2-910D-8253-709CCAB31DE8}"/>
              </a:ext>
            </a:extLst>
          </p:cNvPr>
          <p:cNvSpPr txBox="1"/>
          <p:nvPr/>
        </p:nvSpPr>
        <p:spPr>
          <a:xfrm>
            <a:off x="857250" y="3867150"/>
            <a:ext cx="1428750" cy="276999"/>
          </a:xfrm>
          <a:prstGeom prst="rect">
            <a:avLst/>
          </a:prstGeom>
          <a:noFill/>
        </p:spPr>
        <p:txBody>
          <a:bodyPr vert="horz" wrap="square" lIns="0" tIns="0" rIns="0" bIns="0" rtlCol="0" anchor="t">
            <a:noAutofit/>
          </a:bodyPr>
          <a:lstStyle/>
          <a:p>
            <a:pPr>
              <a:lnSpc>
                <a:spcPct val="125000"/>
              </a:lnSpc>
            </a:pPr>
            <a:r>
              <a:rPr lang="es-HN" sz="863">
                <a:solidFill>
                  <a:srgbClr val="BACADD"/>
                </a:solidFill>
                <a:latin typeface="Calibri" panose="020F0502020204030204" pitchFamily="34" charset="0"/>
              </a:rPr>
              <a:t>encadenamiento de propiedad</a:t>
            </a:r>
          </a:p>
        </p:txBody>
      </p:sp>
      <p:cxnSp>
        <p:nvCxnSpPr>
          <p:cNvPr id="45" name="Conector recto 44">
            <a:extLst>
              <a:ext uri="{FF2B5EF4-FFF2-40B4-BE49-F238E27FC236}">
                <a16:creationId xmlns:a16="http://schemas.microsoft.com/office/drawing/2014/main" id="{F64B556C-6F2E-E25B-5AE6-672E1D21EC06}"/>
              </a:ext>
            </a:extLst>
          </p:cNvPr>
          <p:cNvCxnSpPr/>
          <p:nvPr/>
        </p:nvCxnSpPr>
        <p:spPr>
          <a:xfrm flipH="1">
            <a:off x="7124700" y="3819525"/>
            <a:ext cx="247650" cy="0"/>
          </a:xfrm>
          <a:prstGeom prst="line">
            <a:avLst/>
          </a:prstGeom>
          <a:ln w="20320">
            <a:solidFill>
              <a:srgbClr val="3E5F86"/>
            </a:solidFill>
            <a:tailEnd type="arrow" w="sm" len="sm"/>
          </a:ln>
        </p:spPr>
        <p:style>
          <a:lnRef idx="2">
            <a:schemeClr val="accent1"/>
          </a:lnRef>
          <a:fillRef idx="0">
            <a:schemeClr val="accent1"/>
          </a:fillRef>
          <a:effectRef idx="1">
            <a:schemeClr val="accent1"/>
          </a:effectRef>
          <a:fontRef idx="minor">
            <a:schemeClr val="tx1"/>
          </a:fontRef>
        </p:style>
      </p:cxnSp>
      <p:cxnSp>
        <p:nvCxnSpPr>
          <p:cNvPr id="46" name="Conector recto 45">
            <a:extLst>
              <a:ext uri="{FF2B5EF4-FFF2-40B4-BE49-F238E27FC236}">
                <a16:creationId xmlns:a16="http://schemas.microsoft.com/office/drawing/2014/main" id="{B853D09F-4BC3-1C93-2A00-511B0C84DFC5}"/>
              </a:ext>
            </a:extLst>
          </p:cNvPr>
          <p:cNvCxnSpPr/>
          <p:nvPr/>
        </p:nvCxnSpPr>
        <p:spPr>
          <a:xfrm flipH="1">
            <a:off x="4629150" y="3819525"/>
            <a:ext cx="247650" cy="0"/>
          </a:xfrm>
          <a:prstGeom prst="line">
            <a:avLst/>
          </a:prstGeom>
          <a:ln w="20320">
            <a:solidFill>
              <a:srgbClr val="3E5F86"/>
            </a:solidFill>
            <a:tailEnd type="arrow" w="sm" len="sm"/>
          </a:ln>
        </p:spPr>
        <p:style>
          <a:lnRef idx="2">
            <a:schemeClr val="accent1"/>
          </a:lnRef>
          <a:fillRef idx="0">
            <a:schemeClr val="accent1"/>
          </a:fillRef>
          <a:effectRef idx="1">
            <a:schemeClr val="accent1"/>
          </a:effectRef>
          <a:fontRef idx="minor">
            <a:schemeClr val="tx1"/>
          </a:fontRef>
        </p:style>
      </p:cxnSp>
      <p:cxnSp>
        <p:nvCxnSpPr>
          <p:cNvPr id="47" name="Conector recto 46">
            <a:extLst>
              <a:ext uri="{FF2B5EF4-FFF2-40B4-BE49-F238E27FC236}">
                <a16:creationId xmlns:a16="http://schemas.microsoft.com/office/drawing/2014/main" id="{DE1392D0-91E8-1D9F-8168-6A496233B2A1}"/>
              </a:ext>
            </a:extLst>
          </p:cNvPr>
          <p:cNvCxnSpPr/>
          <p:nvPr/>
        </p:nvCxnSpPr>
        <p:spPr>
          <a:xfrm flipH="1">
            <a:off x="2457450" y="3819525"/>
            <a:ext cx="247650" cy="0"/>
          </a:xfrm>
          <a:prstGeom prst="line">
            <a:avLst/>
          </a:prstGeom>
          <a:ln w="20320">
            <a:solidFill>
              <a:srgbClr val="3E5F86"/>
            </a:solidFill>
            <a:tailEnd type="arrow" w="sm" len="sm"/>
          </a:ln>
        </p:spPr>
        <p:style>
          <a:lnRef idx="2">
            <a:schemeClr val="accent1"/>
          </a:lnRef>
          <a:fillRef idx="0">
            <a:schemeClr val="accent1"/>
          </a:fillRef>
          <a:effectRef idx="1">
            <a:schemeClr val="accent1"/>
          </a:effectRef>
          <a:fontRef idx="minor">
            <a:schemeClr val="tx1"/>
          </a:fontRef>
        </p:style>
      </p:cxnSp>
      <p:cxnSp>
        <p:nvCxnSpPr>
          <p:cNvPr id="48" name="Conector recto 47">
            <a:extLst>
              <a:ext uri="{FF2B5EF4-FFF2-40B4-BE49-F238E27FC236}">
                <a16:creationId xmlns:a16="http://schemas.microsoft.com/office/drawing/2014/main" id="{17B2B56C-230D-A6B9-4022-EA9157F21BAA}"/>
              </a:ext>
            </a:extLst>
          </p:cNvPr>
          <p:cNvCxnSpPr/>
          <p:nvPr/>
        </p:nvCxnSpPr>
        <p:spPr>
          <a:xfrm>
            <a:off x="5972175" y="4133850"/>
            <a:ext cx="0" cy="171450"/>
          </a:xfrm>
          <a:prstGeom prst="line">
            <a:avLst/>
          </a:prstGeom>
          <a:ln w="15240">
            <a:solidFill>
              <a:srgbClr val="A07A3C"/>
            </a:solidFill>
            <a:prstDash val="dash"/>
          </a:ln>
        </p:spPr>
        <p:style>
          <a:lnRef idx="2">
            <a:schemeClr val="accent1"/>
          </a:lnRef>
          <a:fillRef idx="0">
            <a:schemeClr val="accent1"/>
          </a:fillRef>
          <a:effectRef idx="1">
            <a:schemeClr val="accent1"/>
          </a:effectRef>
          <a:fontRef idx="minor">
            <a:schemeClr val="tx1"/>
          </a:fontRef>
        </p:style>
      </p:cxnSp>
      <p:cxnSp>
        <p:nvCxnSpPr>
          <p:cNvPr id="49" name="Conector recto 48">
            <a:extLst>
              <a:ext uri="{FF2B5EF4-FFF2-40B4-BE49-F238E27FC236}">
                <a16:creationId xmlns:a16="http://schemas.microsoft.com/office/drawing/2014/main" id="{7E75BB4E-9974-254B-93D2-D4346A1A5FCA}"/>
              </a:ext>
            </a:extLst>
          </p:cNvPr>
          <p:cNvCxnSpPr/>
          <p:nvPr/>
        </p:nvCxnSpPr>
        <p:spPr>
          <a:xfrm flipH="1">
            <a:off x="4038600" y="4305300"/>
            <a:ext cx="1933575" cy="0"/>
          </a:xfrm>
          <a:prstGeom prst="line">
            <a:avLst/>
          </a:prstGeom>
          <a:ln w="15240">
            <a:solidFill>
              <a:srgbClr val="A07A3C"/>
            </a:solidFill>
            <a:prstDash val="dash"/>
          </a:ln>
        </p:spPr>
        <p:style>
          <a:lnRef idx="2">
            <a:schemeClr val="accent1"/>
          </a:lnRef>
          <a:fillRef idx="0">
            <a:schemeClr val="accent1"/>
          </a:fillRef>
          <a:effectRef idx="1">
            <a:schemeClr val="accent1"/>
          </a:effectRef>
          <a:fontRef idx="minor">
            <a:schemeClr val="tx1"/>
          </a:fontRef>
        </p:style>
      </p:cxnSp>
      <p:cxnSp>
        <p:nvCxnSpPr>
          <p:cNvPr id="50" name="Conector recto 49">
            <a:extLst>
              <a:ext uri="{FF2B5EF4-FFF2-40B4-BE49-F238E27FC236}">
                <a16:creationId xmlns:a16="http://schemas.microsoft.com/office/drawing/2014/main" id="{9EBAB117-490A-431C-4673-3074360436C8}"/>
              </a:ext>
            </a:extLst>
          </p:cNvPr>
          <p:cNvCxnSpPr/>
          <p:nvPr/>
        </p:nvCxnSpPr>
        <p:spPr>
          <a:xfrm>
            <a:off x="4038600" y="4305300"/>
            <a:ext cx="0" cy="133350"/>
          </a:xfrm>
          <a:prstGeom prst="line">
            <a:avLst/>
          </a:prstGeom>
          <a:ln w="15240">
            <a:solidFill>
              <a:srgbClr val="A07A3C"/>
            </a:solidFill>
            <a:prstDash val="dash"/>
          </a:ln>
        </p:spPr>
        <p:style>
          <a:lnRef idx="2">
            <a:schemeClr val="accent1"/>
          </a:lnRef>
          <a:fillRef idx="0">
            <a:schemeClr val="accent1"/>
          </a:fillRef>
          <a:effectRef idx="1">
            <a:schemeClr val="accent1"/>
          </a:effectRef>
          <a:fontRef idx="minor">
            <a:schemeClr val="tx1"/>
          </a:fontRef>
        </p:style>
      </p:cxnSp>
      <p:sp>
        <p:nvSpPr>
          <p:cNvPr id="51" name="Rectángulo: esquinas redondeadas 50">
            <a:extLst>
              <a:ext uri="{FF2B5EF4-FFF2-40B4-BE49-F238E27FC236}">
                <a16:creationId xmlns:a16="http://schemas.microsoft.com/office/drawing/2014/main" id="{D48BB515-1FC5-6ECA-59B1-657529BD01F0}"/>
              </a:ext>
            </a:extLst>
          </p:cNvPr>
          <p:cNvSpPr/>
          <p:nvPr/>
        </p:nvSpPr>
        <p:spPr>
          <a:xfrm>
            <a:off x="609600" y="4457700"/>
            <a:ext cx="6667500" cy="571500"/>
          </a:xfrm>
          <a:prstGeom prst="roundRect">
            <a:avLst>
              <a:gd name="adj" fmla="val 6000"/>
            </a:avLst>
          </a:prstGeom>
          <a:solidFill>
            <a:srgbClr val="4A3A18"/>
          </a:solidFill>
          <a:ln w="12700">
            <a:solidFill>
              <a:srgbClr val="A07A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2" name="CuadroTexto 51">
            <a:extLst>
              <a:ext uri="{FF2B5EF4-FFF2-40B4-BE49-F238E27FC236}">
                <a16:creationId xmlns:a16="http://schemas.microsoft.com/office/drawing/2014/main" id="{AD030B2D-08BD-17B7-89C2-698381C98C9B}"/>
              </a:ext>
            </a:extLst>
          </p:cNvPr>
          <p:cNvSpPr txBox="1"/>
          <p:nvPr/>
        </p:nvSpPr>
        <p:spPr>
          <a:xfrm>
            <a:off x="800100" y="4572000"/>
            <a:ext cx="6286500" cy="276999"/>
          </a:xfrm>
          <a:prstGeom prst="rect">
            <a:avLst/>
          </a:prstGeom>
          <a:noFill/>
        </p:spPr>
        <p:txBody>
          <a:bodyPr vert="horz" wrap="square" lIns="0" tIns="0" rIns="0" bIns="0" rtlCol="0" anchor="t">
            <a:noAutofit/>
          </a:bodyPr>
          <a:lstStyle/>
          <a:p>
            <a:pPr>
              <a:lnSpc>
                <a:spcPct val="125000"/>
              </a:lnSpc>
            </a:pPr>
            <a:r>
              <a:rPr lang="es-HN" sz="900">
                <a:solidFill>
                  <a:srgbClr val="F0CF90"/>
                </a:solidFill>
                <a:latin typeface="Consolas" panose="020B0609020204030204" pitchFamily="49" charset="0"/>
              </a:rPr>
              <a:t>login cumplehn_ia</a:t>
            </a:r>
          </a:p>
        </p:txBody>
      </p:sp>
      <p:sp>
        <p:nvSpPr>
          <p:cNvPr id="53" name="CuadroTexto 52">
            <a:extLst>
              <a:ext uri="{FF2B5EF4-FFF2-40B4-BE49-F238E27FC236}">
                <a16:creationId xmlns:a16="http://schemas.microsoft.com/office/drawing/2014/main" id="{4A1E01A0-E0BC-5F11-0F8A-E01F13A36B16}"/>
              </a:ext>
            </a:extLst>
          </p:cNvPr>
          <p:cNvSpPr txBox="1"/>
          <p:nvPr/>
        </p:nvSpPr>
        <p:spPr>
          <a:xfrm>
            <a:off x="800100" y="4762500"/>
            <a:ext cx="6286500" cy="276999"/>
          </a:xfrm>
          <a:prstGeom prst="rect">
            <a:avLst/>
          </a:prstGeom>
          <a:noFill/>
        </p:spPr>
        <p:txBody>
          <a:bodyPr vert="horz" wrap="square" lIns="0" tIns="0" rIns="0" bIns="0" rtlCol="0" anchor="t">
            <a:noAutofit/>
          </a:bodyPr>
          <a:lstStyle/>
          <a:p>
            <a:pPr>
              <a:lnSpc>
                <a:spcPct val="125000"/>
              </a:lnSpc>
            </a:pPr>
            <a:r>
              <a:rPr lang="es-ES" sz="863">
                <a:solidFill>
                  <a:srgbClr val="F0CF90"/>
                </a:solidFill>
                <a:latin typeface="Calibri" panose="020F0502020204030204" pitchFamily="34" charset="0"/>
              </a:rPr>
              <a:t>sin db_datareader · cero permisos sobre tablas · DENY sobre las que identifican personas</a:t>
            </a:r>
            <a:endParaRPr lang="es-HN" sz="863">
              <a:solidFill>
                <a:srgbClr val="F0CF90"/>
              </a:solidFill>
              <a:latin typeface="Calibri" panose="020F0502020204030204" pitchFamily="34" charset="0"/>
            </a:endParaRPr>
          </a:p>
        </p:txBody>
      </p:sp>
      <p:sp>
        <p:nvSpPr>
          <p:cNvPr id="54" name="Rectángulo: esquinas redondeadas 53">
            <a:extLst>
              <a:ext uri="{FF2B5EF4-FFF2-40B4-BE49-F238E27FC236}">
                <a16:creationId xmlns:a16="http://schemas.microsoft.com/office/drawing/2014/main" id="{0E2675EC-3CC3-A71D-ED5C-FB5A167E3B0E}"/>
              </a:ext>
            </a:extLst>
          </p:cNvPr>
          <p:cNvSpPr/>
          <p:nvPr/>
        </p:nvSpPr>
        <p:spPr>
          <a:xfrm>
            <a:off x="7562850" y="4457700"/>
            <a:ext cx="4019550" cy="571500"/>
          </a:xfrm>
          <a:prstGeom prst="roundRect">
            <a:avLst>
              <a:gd name="adj" fmla="val 6000"/>
            </a:avLst>
          </a:prstGeom>
          <a:solidFill>
            <a:srgbClr val="1B3A5E"/>
          </a:solidFill>
          <a:ln w="12700">
            <a:solidFill>
              <a:srgbClr val="3E5F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5" name="CuadroTexto 54">
            <a:extLst>
              <a:ext uri="{FF2B5EF4-FFF2-40B4-BE49-F238E27FC236}">
                <a16:creationId xmlns:a16="http://schemas.microsoft.com/office/drawing/2014/main" id="{15DA354E-3787-8579-C327-2216C65F1E3E}"/>
              </a:ext>
            </a:extLst>
          </p:cNvPr>
          <p:cNvSpPr txBox="1"/>
          <p:nvPr/>
        </p:nvSpPr>
        <p:spPr>
          <a:xfrm>
            <a:off x="7753350" y="4572000"/>
            <a:ext cx="3638550" cy="276999"/>
          </a:xfrm>
          <a:prstGeom prst="rect">
            <a:avLst/>
          </a:prstGeom>
          <a:noFill/>
        </p:spPr>
        <p:txBody>
          <a:bodyPr vert="horz" wrap="square" lIns="0" tIns="0" rIns="0" bIns="0" rtlCol="0" anchor="t">
            <a:noAutofit/>
          </a:bodyPr>
          <a:lstStyle/>
          <a:p>
            <a:pPr>
              <a:lnSpc>
                <a:spcPct val="125000"/>
              </a:lnSpc>
            </a:pPr>
            <a:r>
              <a:rPr lang="es-HN" sz="900">
                <a:solidFill>
                  <a:srgbClr val="9ED4E6"/>
                </a:solidFill>
                <a:latin typeface="Consolas" panose="020B0609020204030204" pitchFamily="49" charset="0"/>
              </a:rPr>
              <a:t>ConsultasIA</a:t>
            </a:r>
          </a:p>
        </p:txBody>
      </p:sp>
      <p:sp>
        <p:nvSpPr>
          <p:cNvPr id="56" name="CuadroTexto 55">
            <a:extLst>
              <a:ext uri="{FF2B5EF4-FFF2-40B4-BE49-F238E27FC236}">
                <a16:creationId xmlns:a16="http://schemas.microsoft.com/office/drawing/2014/main" id="{95B497B1-71D4-359D-2E6D-61900D68DDEC}"/>
              </a:ext>
            </a:extLst>
          </p:cNvPr>
          <p:cNvSpPr txBox="1"/>
          <p:nvPr/>
        </p:nvSpPr>
        <p:spPr>
          <a:xfrm>
            <a:off x="7753350" y="4762500"/>
            <a:ext cx="3638550" cy="276999"/>
          </a:xfrm>
          <a:prstGeom prst="rect">
            <a:avLst/>
          </a:prstGeom>
          <a:noFill/>
        </p:spPr>
        <p:txBody>
          <a:bodyPr vert="horz" wrap="square" lIns="0" tIns="0" rIns="0" bIns="0" rtlCol="0" anchor="t">
            <a:noAutofit/>
          </a:bodyPr>
          <a:lstStyle/>
          <a:p>
            <a:pPr>
              <a:lnSpc>
                <a:spcPct val="125000"/>
              </a:lnSpc>
            </a:pPr>
            <a:r>
              <a:rPr lang="es-ES" sz="863">
                <a:solidFill>
                  <a:srgbClr val="BACADD"/>
                </a:solidFill>
                <a:latin typeface="Calibri" panose="020F0502020204030204" pitchFamily="34" charset="0"/>
              </a:rPr>
              <a:t>la escribe el Web Service, con su conexión normal</a:t>
            </a:r>
            <a:endParaRPr lang="es-HN" sz="863">
              <a:solidFill>
                <a:srgbClr val="BACADD"/>
              </a:solidFill>
              <a:latin typeface="Calibri" panose="020F0502020204030204" pitchFamily="34" charset="0"/>
            </a:endParaRPr>
          </a:p>
        </p:txBody>
      </p:sp>
      <p:sp>
        <p:nvSpPr>
          <p:cNvPr id="57" name="CuadroTexto 56">
            <a:extLst>
              <a:ext uri="{FF2B5EF4-FFF2-40B4-BE49-F238E27FC236}">
                <a16:creationId xmlns:a16="http://schemas.microsoft.com/office/drawing/2014/main" id="{DC310818-218D-863B-CAF7-1109776567A2}"/>
              </a:ext>
            </a:extLst>
          </p:cNvPr>
          <p:cNvSpPr txBox="1"/>
          <p:nvPr/>
        </p:nvSpPr>
        <p:spPr>
          <a:xfrm>
            <a:off x="609600" y="6057900"/>
            <a:ext cx="10972800" cy="276999"/>
          </a:xfrm>
          <a:prstGeom prst="rect">
            <a:avLst/>
          </a:prstGeom>
          <a:noFill/>
        </p:spPr>
        <p:txBody>
          <a:bodyPr vert="horz" wrap="square" lIns="0" tIns="0" rIns="0" bIns="0" rtlCol="0" anchor="t">
            <a:noAutofit/>
          </a:bodyPr>
          <a:lstStyle/>
          <a:p>
            <a:pPr>
              <a:lnSpc>
                <a:spcPct val="135000"/>
              </a:lnSpc>
            </a:pPr>
            <a:r>
              <a:rPr lang="es-ES" sz="975">
                <a:solidFill>
                  <a:srgbClr val="8BA3BF"/>
                </a:solidFill>
                <a:latin typeface="Calibri" panose="020F0502020204030204" pitchFamily="34" charset="0"/>
              </a:rPr>
              <a:t>El handler vive en el frontend a propósito: abrir CORS sobre el método que gasta dinero sería dejarlo al alcance de cualquier sitio. La conexión SQL se cierra </a:t>
            </a:r>
            <a:r>
              <a:rPr lang="es-ES" sz="975" b="1">
                <a:solidFill>
                  <a:srgbClr val="8BA3BF"/>
                </a:solidFill>
                <a:latin typeface="Calibri" panose="020F0502020204030204" pitchFamily="34" charset="0"/>
              </a:rPr>
              <a:t>antes</a:t>
            </a:r>
            <a:r>
              <a:rPr lang="es-ES" sz="975">
                <a:solidFill>
                  <a:srgbClr val="8BA3BF"/>
                </a:solidFill>
                <a:latin typeface="Calibri" panose="020F0502020204030204" pitchFamily="34" charset="0"/>
              </a:rPr>
              <a:t> de llamar al modelo.</a:t>
            </a:r>
            <a:endParaRPr lang="es-HN" sz="975">
              <a:solidFill>
                <a:srgbClr val="8BA3BF"/>
              </a:solidFill>
              <a:latin typeface="Calibri" panose="020F0502020204030204" pitchFamily="34" charset="0"/>
            </a:endParaRPr>
          </a:p>
        </p:txBody>
      </p:sp>
    </p:spTree>
    <p:extLst>
      <p:ext uri="{BB962C8B-B14F-4D97-AF65-F5344CB8AC3E}">
        <p14:creationId xmlns:p14="http://schemas.microsoft.com/office/powerpoint/2010/main" val="1796590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C8C82FF7-2355-EBB4-03AB-AF5428A02694}"/>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0735CC1C-A7D4-402F-7E4E-69CA14F22654}"/>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D4B9F1D2-6A06-8525-A80D-AC6D5E16DD24}"/>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88E9E8C7-07B1-F322-D819-E98F01ECAB97}"/>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5EAB9100-DA98-098F-2933-B494A2FEDBE2}"/>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17708A"/>
                </a:solidFill>
                <a:latin typeface="Calibri" panose="020F0502020204030204" pitchFamily="34" charset="0"/>
              </a:rPr>
              <a:t>ASISTENTE · SUPERFICIE DE DATOS</a:t>
            </a:r>
          </a:p>
        </p:txBody>
      </p:sp>
      <p:sp>
        <p:nvSpPr>
          <p:cNvPr id="7" name="CuadroTexto 6">
            <a:extLst>
              <a:ext uri="{FF2B5EF4-FFF2-40B4-BE49-F238E27FC236}">
                <a16:creationId xmlns:a16="http://schemas.microsoft.com/office/drawing/2014/main" id="{D78AB9D1-B4A8-A925-3289-2699388A16C6}"/>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850" b="1">
                <a:solidFill>
                  <a:srgbClr val="14171C"/>
                </a:solidFill>
                <a:latin typeface="Georgia" panose="02040502050405020303" pitchFamily="18" charset="0"/>
              </a:rPr>
              <a:t>Lo que el asistente puede saber lo deciden las columnas, no los permisos</a:t>
            </a:r>
            <a:endParaRPr lang="es-HN" sz="2850" b="1">
              <a:solidFill>
                <a:srgbClr val="14171C"/>
              </a:solidFill>
              <a:latin typeface="Georgia" panose="02040502050405020303" pitchFamily="18" charset="0"/>
            </a:endParaRPr>
          </a:p>
        </p:txBody>
      </p:sp>
      <p:sp>
        <p:nvSpPr>
          <p:cNvPr id="8" name="CuadroTexto 7">
            <a:extLst>
              <a:ext uri="{FF2B5EF4-FFF2-40B4-BE49-F238E27FC236}">
                <a16:creationId xmlns:a16="http://schemas.microsoft.com/office/drawing/2014/main" id="{1A677711-2A48-14AB-A12D-447459EDC5C0}"/>
              </a:ext>
            </a:extLst>
          </p:cNvPr>
          <p:cNvSpPr txBox="1"/>
          <p:nvPr/>
        </p:nvSpPr>
        <p:spPr>
          <a:xfrm>
            <a:off x="609600" y="1695450"/>
            <a:ext cx="5362575" cy="276999"/>
          </a:xfrm>
          <a:prstGeom prst="rect">
            <a:avLst/>
          </a:prstGeom>
          <a:noFill/>
        </p:spPr>
        <p:txBody>
          <a:bodyPr vert="horz" wrap="square" lIns="0" tIns="0" rIns="0" bIns="0" rtlCol="0" anchor="t">
            <a:noAutofit/>
          </a:bodyPr>
          <a:lstStyle/>
          <a:p>
            <a:pPr>
              <a:lnSpc>
                <a:spcPct val="125000"/>
              </a:lnSpc>
            </a:pPr>
            <a:r>
              <a:rPr lang="es-ES" sz="788" b="1" spc="100">
                <a:solidFill>
                  <a:srgbClr val="6A7078"/>
                </a:solidFill>
                <a:latin typeface="Calibri" panose="020F0502020204030204" pitchFamily="34" charset="0"/>
              </a:rPr>
              <a:t>LAS CUATRO HERRAMIENTAS · CADA UNA ES UN PROCEDIMIENTO ALMACENADO</a:t>
            </a:r>
            <a:endParaRPr lang="es-HN" sz="788" b="1" spc="100">
              <a:solidFill>
                <a:srgbClr val="6A7078"/>
              </a:solidFill>
              <a:latin typeface="Calibri" panose="020F0502020204030204" pitchFamily="34" charset="0"/>
            </a:endParaRPr>
          </a:p>
        </p:txBody>
      </p:sp>
      <p:sp>
        <p:nvSpPr>
          <p:cNvPr id="9" name="Rectángulo: esquinas redondeadas 8">
            <a:extLst>
              <a:ext uri="{FF2B5EF4-FFF2-40B4-BE49-F238E27FC236}">
                <a16:creationId xmlns:a16="http://schemas.microsoft.com/office/drawing/2014/main" id="{0096E12E-8073-6CD2-F211-756A22B07A0E}"/>
              </a:ext>
            </a:extLst>
          </p:cNvPr>
          <p:cNvSpPr/>
          <p:nvPr/>
        </p:nvSpPr>
        <p:spPr>
          <a:xfrm>
            <a:off x="609600" y="1905000"/>
            <a:ext cx="5362575" cy="5905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0" name="Rectángulo 9">
            <a:extLst>
              <a:ext uri="{FF2B5EF4-FFF2-40B4-BE49-F238E27FC236}">
                <a16:creationId xmlns:a16="http://schemas.microsoft.com/office/drawing/2014/main" id="{55ADBAB5-1AAE-00B9-8DD1-F1816C706DA6}"/>
              </a:ext>
            </a:extLst>
          </p:cNvPr>
          <p:cNvSpPr/>
          <p:nvPr/>
        </p:nvSpPr>
        <p:spPr>
          <a:xfrm>
            <a:off x="609600" y="1933575"/>
            <a:ext cx="28575" cy="533400"/>
          </a:xfrm>
          <a:prstGeom prst="rect">
            <a:avLst/>
          </a:prstGeom>
          <a:solidFill>
            <a:srgbClr val="1B4F9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1" name="CuadroTexto 10">
            <a:extLst>
              <a:ext uri="{FF2B5EF4-FFF2-40B4-BE49-F238E27FC236}">
                <a16:creationId xmlns:a16="http://schemas.microsoft.com/office/drawing/2014/main" id="{057BD8A0-11CA-2BAE-126D-32817945B304}"/>
              </a:ext>
            </a:extLst>
          </p:cNvPr>
          <p:cNvSpPr txBox="1"/>
          <p:nvPr/>
        </p:nvSpPr>
        <p:spPr>
          <a:xfrm>
            <a:off x="781050" y="2009775"/>
            <a:ext cx="5038725" cy="276999"/>
          </a:xfrm>
          <a:prstGeom prst="rect">
            <a:avLst/>
          </a:prstGeom>
          <a:noFill/>
        </p:spPr>
        <p:txBody>
          <a:bodyPr vert="horz" wrap="square" lIns="0" tIns="0" rIns="0" bIns="0" rtlCol="0" anchor="t">
            <a:noAutofit/>
          </a:bodyPr>
          <a:lstStyle/>
          <a:p>
            <a:pPr>
              <a:lnSpc>
                <a:spcPct val="125000"/>
              </a:lnSpc>
            </a:pPr>
            <a:r>
              <a:rPr lang="es-HN" sz="975">
                <a:solidFill>
                  <a:srgbClr val="1B4F9C"/>
                </a:solidFill>
                <a:latin typeface="Consolas" panose="020B0609020204030204" pitchFamily="49" charset="0"/>
              </a:rPr>
              <a:t>consultar_tablero</a:t>
            </a:r>
          </a:p>
        </p:txBody>
      </p:sp>
      <p:sp>
        <p:nvSpPr>
          <p:cNvPr id="12" name="CuadroTexto 11">
            <a:extLst>
              <a:ext uri="{FF2B5EF4-FFF2-40B4-BE49-F238E27FC236}">
                <a16:creationId xmlns:a16="http://schemas.microsoft.com/office/drawing/2014/main" id="{F407CBB9-F6BE-FBDD-B6B5-02627FB4BA02}"/>
              </a:ext>
            </a:extLst>
          </p:cNvPr>
          <p:cNvSpPr txBox="1"/>
          <p:nvPr/>
        </p:nvSpPr>
        <p:spPr>
          <a:xfrm>
            <a:off x="781050" y="2200275"/>
            <a:ext cx="5038725" cy="276999"/>
          </a:xfrm>
          <a:prstGeom prst="rect">
            <a:avLst/>
          </a:prstGeom>
          <a:noFill/>
        </p:spPr>
        <p:txBody>
          <a:bodyPr vert="horz" wrap="square" lIns="0" tIns="0" rIns="0" bIns="0" rtlCol="0" anchor="t">
            <a:noAutofit/>
          </a:bodyPr>
          <a:lstStyle/>
          <a:p>
            <a:pPr>
              <a:lnSpc>
                <a:spcPct val="130000"/>
              </a:lnSpc>
            </a:pPr>
            <a:r>
              <a:rPr lang="es-ES" sz="975">
                <a:solidFill>
                  <a:srgbClr val="39404A"/>
                </a:solidFill>
                <a:latin typeface="Calibri" panose="020F0502020204030204" pitchFamily="34" charset="0"/>
              </a:rPr>
              <a:t>Los diez indicadores del tablero, con los mismos filtros de la página.</a:t>
            </a:r>
            <a:endParaRPr lang="es-HN" sz="975">
              <a:solidFill>
                <a:srgbClr val="39404A"/>
              </a:solidFill>
              <a:latin typeface="Calibri" panose="020F0502020204030204" pitchFamily="34" charset="0"/>
            </a:endParaRPr>
          </a:p>
        </p:txBody>
      </p:sp>
      <p:sp>
        <p:nvSpPr>
          <p:cNvPr id="13" name="Rectángulo: esquinas redondeadas 12">
            <a:extLst>
              <a:ext uri="{FF2B5EF4-FFF2-40B4-BE49-F238E27FC236}">
                <a16:creationId xmlns:a16="http://schemas.microsoft.com/office/drawing/2014/main" id="{8053D7FE-EB88-463C-965F-13194C6EE8D7}"/>
              </a:ext>
            </a:extLst>
          </p:cNvPr>
          <p:cNvSpPr/>
          <p:nvPr/>
        </p:nvSpPr>
        <p:spPr>
          <a:xfrm>
            <a:off x="609600" y="2571750"/>
            <a:ext cx="5362575" cy="5905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4" name="Rectángulo 13">
            <a:extLst>
              <a:ext uri="{FF2B5EF4-FFF2-40B4-BE49-F238E27FC236}">
                <a16:creationId xmlns:a16="http://schemas.microsoft.com/office/drawing/2014/main" id="{A76E99EA-A4D0-3BF7-5DCA-8B9A54F8DF77}"/>
              </a:ext>
            </a:extLst>
          </p:cNvPr>
          <p:cNvSpPr/>
          <p:nvPr/>
        </p:nvSpPr>
        <p:spPr>
          <a:xfrm>
            <a:off x="609600" y="2600325"/>
            <a:ext cx="28575" cy="533400"/>
          </a:xfrm>
          <a:prstGeom prst="rect">
            <a:avLst/>
          </a:prstGeom>
          <a:solidFill>
            <a:srgbClr val="1B4F9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5" name="CuadroTexto 14">
            <a:extLst>
              <a:ext uri="{FF2B5EF4-FFF2-40B4-BE49-F238E27FC236}">
                <a16:creationId xmlns:a16="http://schemas.microsoft.com/office/drawing/2014/main" id="{046F615B-F307-7319-3E39-028D08F4FC26}"/>
              </a:ext>
            </a:extLst>
          </p:cNvPr>
          <p:cNvSpPr txBox="1"/>
          <p:nvPr/>
        </p:nvSpPr>
        <p:spPr>
          <a:xfrm>
            <a:off x="781050" y="2676525"/>
            <a:ext cx="5038725" cy="276999"/>
          </a:xfrm>
          <a:prstGeom prst="rect">
            <a:avLst/>
          </a:prstGeom>
          <a:noFill/>
        </p:spPr>
        <p:txBody>
          <a:bodyPr vert="horz" wrap="square" lIns="0" tIns="0" rIns="0" bIns="0" rtlCol="0" anchor="t">
            <a:noAutofit/>
          </a:bodyPr>
          <a:lstStyle/>
          <a:p>
            <a:pPr>
              <a:lnSpc>
                <a:spcPct val="125000"/>
              </a:lnSpc>
            </a:pPr>
            <a:r>
              <a:rPr lang="es-HN" sz="975">
                <a:solidFill>
                  <a:srgbClr val="1B4F9C"/>
                </a:solidFill>
                <a:latin typeface="Consolas" panose="020B0609020204030204" pitchFamily="49" charset="0"/>
              </a:rPr>
              <a:t>buscar_propuestas</a:t>
            </a:r>
          </a:p>
        </p:txBody>
      </p:sp>
      <p:sp>
        <p:nvSpPr>
          <p:cNvPr id="16" name="CuadroTexto 15">
            <a:extLst>
              <a:ext uri="{FF2B5EF4-FFF2-40B4-BE49-F238E27FC236}">
                <a16:creationId xmlns:a16="http://schemas.microsoft.com/office/drawing/2014/main" id="{8041807D-2462-AE5F-9B35-97F9F3F2DC23}"/>
              </a:ext>
            </a:extLst>
          </p:cNvPr>
          <p:cNvSpPr txBox="1"/>
          <p:nvPr/>
        </p:nvSpPr>
        <p:spPr>
          <a:xfrm>
            <a:off x="781050" y="2867025"/>
            <a:ext cx="5038725" cy="276999"/>
          </a:xfrm>
          <a:prstGeom prst="rect">
            <a:avLst/>
          </a:prstGeom>
          <a:noFill/>
        </p:spPr>
        <p:txBody>
          <a:bodyPr vert="horz" wrap="square" lIns="0" tIns="0" rIns="0" bIns="0" rtlCol="0" anchor="t">
            <a:noAutofit/>
          </a:bodyPr>
          <a:lstStyle/>
          <a:p>
            <a:pPr>
              <a:lnSpc>
                <a:spcPct val="130000"/>
              </a:lnSpc>
            </a:pPr>
            <a:r>
              <a:rPr lang="es-HN" sz="975">
                <a:solidFill>
                  <a:srgbClr val="39404A"/>
                </a:solidFill>
                <a:latin typeface="Calibri" panose="020F0502020204030204" pitchFamily="34" charset="0"/>
              </a:rPr>
              <a:t>Búsqueda por texto, categoría, estado, candidatura o partido. Máximo 50 filas.</a:t>
            </a:r>
          </a:p>
        </p:txBody>
      </p:sp>
      <p:sp>
        <p:nvSpPr>
          <p:cNvPr id="17" name="Rectángulo: esquinas redondeadas 16">
            <a:extLst>
              <a:ext uri="{FF2B5EF4-FFF2-40B4-BE49-F238E27FC236}">
                <a16:creationId xmlns:a16="http://schemas.microsoft.com/office/drawing/2014/main" id="{1985C9A1-4AA9-4262-826F-DADF2ECA791A}"/>
              </a:ext>
            </a:extLst>
          </p:cNvPr>
          <p:cNvSpPr/>
          <p:nvPr/>
        </p:nvSpPr>
        <p:spPr>
          <a:xfrm>
            <a:off x="609600" y="3238500"/>
            <a:ext cx="5362575" cy="5905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8" name="Rectángulo 17">
            <a:extLst>
              <a:ext uri="{FF2B5EF4-FFF2-40B4-BE49-F238E27FC236}">
                <a16:creationId xmlns:a16="http://schemas.microsoft.com/office/drawing/2014/main" id="{BC5C9981-58BF-7B7F-AA50-8FA154C610E7}"/>
              </a:ext>
            </a:extLst>
          </p:cNvPr>
          <p:cNvSpPr/>
          <p:nvPr/>
        </p:nvSpPr>
        <p:spPr>
          <a:xfrm>
            <a:off x="609600" y="3267075"/>
            <a:ext cx="28575" cy="533400"/>
          </a:xfrm>
          <a:prstGeom prst="rect">
            <a:avLst/>
          </a:prstGeom>
          <a:solidFill>
            <a:srgbClr val="1B4F9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9" name="CuadroTexto 18">
            <a:extLst>
              <a:ext uri="{FF2B5EF4-FFF2-40B4-BE49-F238E27FC236}">
                <a16:creationId xmlns:a16="http://schemas.microsoft.com/office/drawing/2014/main" id="{07E800CE-38BC-0AC5-E0C0-75F364DED24A}"/>
              </a:ext>
            </a:extLst>
          </p:cNvPr>
          <p:cNvSpPr txBox="1"/>
          <p:nvPr/>
        </p:nvSpPr>
        <p:spPr>
          <a:xfrm>
            <a:off x="781050" y="3343275"/>
            <a:ext cx="5038725" cy="276999"/>
          </a:xfrm>
          <a:prstGeom prst="rect">
            <a:avLst/>
          </a:prstGeom>
          <a:noFill/>
        </p:spPr>
        <p:txBody>
          <a:bodyPr vert="horz" wrap="square" lIns="0" tIns="0" rIns="0" bIns="0" rtlCol="0" anchor="t">
            <a:noAutofit/>
          </a:bodyPr>
          <a:lstStyle/>
          <a:p>
            <a:pPr>
              <a:lnSpc>
                <a:spcPct val="125000"/>
              </a:lnSpc>
            </a:pPr>
            <a:r>
              <a:rPr lang="es-HN" sz="975">
                <a:solidFill>
                  <a:srgbClr val="1B4F9C"/>
                </a:solidFill>
                <a:latin typeface="Consolas" panose="020B0609020204030204" pitchFamily="49" charset="0"/>
              </a:rPr>
              <a:t>ficha_candidato</a:t>
            </a:r>
          </a:p>
        </p:txBody>
      </p:sp>
      <p:sp>
        <p:nvSpPr>
          <p:cNvPr id="20" name="CuadroTexto 19">
            <a:extLst>
              <a:ext uri="{FF2B5EF4-FFF2-40B4-BE49-F238E27FC236}">
                <a16:creationId xmlns:a16="http://schemas.microsoft.com/office/drawing/2014/main" id="{82572A52-19FE-8208-7C06-F860B81C5500}"/>
              </a:ext>
            </a:extLst>
          </p:cNvPr>
          <p:cNvSpPr txBox="1"/>
          <p:nvPr/>
        </p:nvSpPr>
        <p:spPr>
          <a:xfrm>
            <a:off x="781050" y="3533775"/>
            <a:ext cx="5038725" cy="276999"/>
          </a:xfrm>
          <a:prstGeom prst="rect">
            <a:avLst/>
          </a:prstGeom>
          <a:noFill/>
        </p:spPr>
        <p:txBody>
          <a:bodyPr vert="horz" wrap="square" lIns="0" tIns="0" rIns="0" bIns="0" rtlCol="0" anchor="t">
            <a:noAutofit/>
          </a:bodyPr>
          <a:lstStyle/>
          <a:p>
            <a:pPr>
              <a:lnSpc>
                <a:spcPct val="130000"/>
              </a:lnSpc>
            </a:pPr>
            <a:r>
              <a:rPr lang="es-ES" sz="975">
                <a:solidFill>
                  <a:srgbClr val="39404A"/>
                </a:solidFill>
                <a:latin typeface="Calibri" panose="020F0502020204030204" pitchFamily="34" charset="0"/>
              </a:rPr>
              <a:t>La ficha pública de una candidatura — sin correo ni teléfono.</a:t>
            </a:r>
            <a:endParaRPr lang="es-HN" sz="975">
              <a:solidFill>
                <a:srgbClr val="39404A"/>
              </a:solidFill>
              <a:latin typeface="Calibri" panose="020F0502020204030204" pitchFamily="34" charset="0"/>
            </a:endParaRPr>
          </a:p>
        </p:txBody>
      </p:sp>
      <p:sp>
        <p:nvSpPr>
          <p:cNvPr id="21" name="Rectángulo: esquinas redondeadas 20">
            <a:extLst>
              <a:ext uri="{FF2B5EF4-FFF2-40B4-BE49-F238E27FC236}">
                <a16:creationId xmlns:a16="http://schemas.microsoft.com/office/drawing/2014/main" id="{C4E952AB-D9EC-83D9-D618-9238DD4B72AA}"/>
              </a:ext>
            </a:extLst>
          </p:cNvPr>
          <p:cNvSpPr/>
          <p:nvPr/>
        </p:nvSpPr>
        <p:spPr>
          <a:xfrm>
            <a:off x="609600" y="3905250"/>
            <a:ext cx="5362575" cy="5905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2" name="Rectángulo 21">
            <a:extLst>
              <a:ext uri="{FF2B5EF4-FFF2-40B4-BE49-F238E27FC236}">
                <a16:creationId xmlns:a16="http://schemas.microsoft.com/office/drawing/2014/main" id="{4DAA6337-2BB3-B569-058C-4B6F085732C5}"/>
              </a:ext>
            </a:extLst>
          </p:cNvPr>
          <p:cNvSpPr/>
          <p:nvPr/>
        </p:nvSpPr>
        <p:spPr>
          <a:xfrm>
            <a:off x="609600" y="3933825"/>
            <a:ext cx="28575" cy="533400"/>
          </a:xfrm>
          <a:prstGeom prst="rect">
            <a:avLst/>
          </a:prstGeom>
          <a:solidFill>
            <a:srgbClr val="1B4F9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3" name="CuadroTexto 22">
            <a:extLst>
              <a:ext uri="{FF2B5EF4-FFF2-40B4-BE49-F238E27FC236}">
                <a16:creationId xmlns:a16="http://schemas.microsoft.com/office/drawing/2014/main" id="{04CCBDFF-9F5E-931D-3B40-73602988A360}"/>
              </a:ext>
            </a:extLst>
          </p:cNvPr>
          <p:cNvSpPr txBox="1"/>
          <p:nvPr/>
        </p:nvSpPr>
        <p:spPr>
          <a:xfrm>
            <a:off x="781050" y="4010025"/>
            <a:ext cx="5038725" cy="276999"/>
          </a:xfrm>
          <a:prstGeom prst="rect">
            <a:avLst/>
          </a:prstGeom>
          <a:noFill/>
        </p:spPr>
        <p:txBody>
          <a:bodyPr vert="horz" wrap="square" lIns="0" tIns="0" rIns="0" bIns="0" rtlCol="0" anchor="t">
            <a:noAutofit/>
          </a:bodyPr>
          <a:lstStyle/>
          <a:p>
            <a:pPr>
              <a:lnSpc>
                <a:spcPct val="125000"/>
              </a:lnSpc>
            </a:pPr>
            <a:r>
              <a:rPr lang="es-HN" sz="975">
                <a:solidFill>
                  <a:srgbClr val="1B4F9C"/>
                </a:solidFill>
                <a:latin typeface="Consolas" panose="020B0609020204030204" pitchFamily="49" charset="0"/>
              </a:rPr>
              <a:t>catalogos</a:t>
            </a:r>
          </a:p>
        </p:txBody>
      </p:sp>
      <p:sp>
        <p:nvSpPr>
          <p:cNvPr id="24" name="CuadroTexto 23">
            <a:extLst>
              <a:ext uri="{FF2B5EF4-FFF2-40B4-BE49-F238E27FC236}">
                <a16:creationId xmlns:a16="http://schemas.microsoft.com/office/drawing/2014/main" id="{8A2E7169-4139-410B-C292-00F170948AFA}"/>
              </a:ext>
            </a:extLst>
          </p:cNvPr>
          <p:cNvSpPr txBox="1"/>
          <p:nvPr/>
        </p:nvSpPr>
        <p:spPr>
          <a:xfrm>
            <a:off x="781050" y="4200525"/>
            <a:ext cx="5038725" cy="276999"/>
          </a:xfrm>
          <a:prstGeom prst="rect">
            <a:avLst/>
          </a:prstGeom>
          <a:noFill/>
        </p:spPr>
        <p:txBody>
          <a:bodyPr vert="horz" wrap="square" lIns="0" tIns="0" rIns="0" bIns="0" rtlCol="0" anchor="t">
            <a:noAutofit/>
          </a:bodyPr>
          <a:lstStyle/>
          <a:p>
            <a:pPr>
              <a:lnSpc>
                <a:spcPct val="130000"/>
              </a:lnSpc>
            </a:pPr>
            <a:r>
              <a:rPr lang="es-ES" sz="975">
                <a:solidFill>
                  <a:srgbClr val="39404A"/>
                </a:solidFill>
                <a:latin typeface="Calibri" panose="020F0502020204030204" pitchFamily="34" charset="0"/>
              </a:rPr>
              <a:t>Campañas, categorías, partidos y departamentos.</a:t>
            </a:r>
            <a:endParaRPr lang="es-HN" sz="975">
              <a:solidFill>
                <a:srgbClr val="39404A"/>
              </a:solidFill>
              <a:latin typeface="Calibri" panose="020F0502020204030204" pitchFamily="34" charset="0"/>
            </a:endParaRPr>
          </a:p>
        </p:txBody>
      </p:sp>
      <p:sp>
        <p:nvSpPr>
          <p:cNvPr id="25" name="CuadroTexto 24">
            <a:extLst>
              <a:ext uri="{FF2B5EF4-FFF2-40B4-BE49-F238E27FC236}">
                <a16:creationId xmlns:a16="http://schemas.microsoft.com/office/drawing/2014/main" id="{3B0B4711-2353-7025-5B42-23F832CE8600}"/>
              </a:ext>
            </a:extLst>
          </p:cNvPr>
          <p:cNvSpPr txBox="1"/>
          <p:nvPr/>
        </p:nvSpPr>
        <p:spPr>
          <a:xfrm>
            <a:off x="609600" y="4648200"/>
            <a:ext cx="5362575" cy="276999"/>
          </a:xfrm>
          <a:prstGeom prst="rect">
            <a:avLst/>
          </a:prstGeom>
          <a:noFill/>
        </p:spPr>
        <p:txBody>
          <a:bodyPr vert="horz" wrap="square" lIns="0" tIns="0" rIns="0" bIns="0" rtlCol="0" anchor="t">
            <a:noAutofit/>
          </a:bodyPr>
          <a:lstStyle/>
          <a:p>
            <a:pPr>
              <a:lnSpc>
                <a:spcPct val="140000"/>
              </a:lnSpc>
            </a:pPr>
            <a:r>
              <a:rPr lang="es-ES" sz="1050">
                <a:solidFill>
                  <a:srgbClr val="39404A"/>
                </a:solidFill>
                <a:latin typeface="Calibri" panose="020F0502020204030204" pitchFamily="34" charset="0"/>
              </a:rPr>
              <a:t>Agregar una capacidad nueva es agregar un procedimiento con su </a:t>
            </a:r>
            <a:r>
              <a:rPr lang="es-ES" sz="945">
                <a:solidFill>
                  <a:srgbClr val="39404A"/>
                </a:solidFill>
                <a:latin typeface="Consolas" panose="020B0609020204030204" pitchFamily="49" charset="0"/>
              </a:rPr>
              <a:t>GRANT</a:t>
            </a:r>
            <a:r>
              <a:rPr lang="es-ES" sz="1050">
                <a:solidFill>
                  <a:srgbClr val="39404A"/>
                </a:solidFill>
                <a:latin typeface="Calibri" panose="020F0502020204030204" pitchFamily="34" charset="0"/>
              </a:rPr>
              <a:t>, nunca una consulta suelta. </a:t>
            </a:r>
            <a:r>
              <a:rPr lang="es-ES" sz="1050" b="1">
                <a:solidFill>
                  <a:srgbClr val="39404A"/>
                </a:solidFill>
                <a:latin typeface="Calibri" panose="020F0502020204030204" pitchFamily="34" charset="0"/>
              </a:rPr>
              <a:t>Ninguno proyecta con</a:t>
            </a:r>
            <a:r>
              <a:rPr lang="es-ES" sz="1050">
                <a:solidFill>
                  <a:srgbClr val="39404A"/>
                </a:solidFill>
                <a:latin typeface="Calibri" panose="020F0502020204030204" pitchFamily="34" charset="0"/>
              </a:rPr>
              <a:t> </a:t>
            </a:r>
            <a:r>
              <a:rPr lang="es-ES" sz="945">
                <a:solidFill>
                  <a:srgbClr val="39404A"/>
                </a:solidFill>
                <a:latin typeface="Consolas" panose="020B0609020204030204" pitchFamily="49" charset="0"/>
              </a:rPr>
              <a:t>SELECT *</a:t>
            </a:r>
            <a:r>
              <a:rPr lang="es-ES" sz="1050">
                <a:solidFill>
                  <a:srgbClr val="39404A"/>
                </a:solidFill>
                <a:latin typeface="Calibri" panose="020F0502020204030204" pitchFamily="34" charset="0"/>
              </a:rPr>
              <a:t>.</a:t>
            </a:r>
            <a:endParaRPr lang="es-HN" sz="1050">
              <a:solidFill>
                <a:srgbClr val="39404A"/>
              </a:solidFill>
              <a:latin typeface="Calibri" panose="020F0502020204030204" pitchFamily="34" charset="0"/>
            </a:endParaRPr>
          </a:p>
        </p:txBody>
      </p:sp>
      <p:sp>
        <p:nvSpPr>
          <p:cNvPr id="26" name="Rectángulo: esquinas redondeadas 25">
            <a:extLst>
              <a:ext uri="{FF2B5EF4-FFF2-40B4-BE49-F238E27FC236}">
                <a16:creationId xmlns:a16="http://schemas.microsoft.com/office/drawing/2014/main" id="{57E08579-8D0D-2F33-2567-C451F9548246}"/>
              </a:ext>
            </a:extLst>
          </p:cNvPr>
          <p:cNvSpPr/>
          <p:nvPr/>
        </p:nvSpPr>
        <p:spPr>
          <a:xfrm>
            <a:off x="6219825" y="1695450"/>
            <a:ext cx="5362575" cy="36195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7" name="CuadroTexto 26">
            <a:extLst>
              <a:ext uri="{FF2B5EF4-FFF2-40B4-BE49-F238E27FC236}">
                <a16:creationId xmlns:a16="http://schemas.microsoft.com/office/drawing/2014/main" id="{D72BF636-025F-80F4-A184-6766A95EA84D}"/>
              </a:ext>
            </a:extLst>
          </p:cNvPr>
          <p:cNvSpPr txBox="1"/>
          <p:nvPr/>
        </p:nvSpPr>
        <p:spPr>
          <a:xfrm>
            <a:off x="6391275" y="1847850"/>
            <a:ext cx="5019675" cy="276999"/>
          </a:xfrm>
          <a:prstGeom prst="rect">
            <a:avLst/>
          </a:prstGeom>
          <a:noFill/>
        </p:spPr>
        <p:txBody>
          <a:bodyPr vert="horz" wrap="square" lIns="0" tIns="0" rIns="0" bIns="0" rtlCol="0" anchor="t">
            <a:noAutofit/>
          </a:bodyPr>
          <a:lstStyle/>
          <a:p>
            <a:pPr>
              <a:lnSpc>
                <a:spcPct val="125000"/>
              </a:lnSpc>
            </a:pPr>
            <a:r>
              <a:rPr lang="es-ES" sz="788" b="1" spc="100">
                <a:solidFill>
                  <a:srgbClr val="6A7078"/>
                </a:solidFill>
                <a:latin typeface="Calibri" panose="020F0502020204030204" pitchFamily="34" charset="0"/>
              </a:rPr>
              <a:t>SEGUNDA CAPA · EL LOGIN CUMPLEHN_IA</a:t>
            </a:r>
            <a:endParaRPr lang="es-HN" sz="788" b="1" spc="100">
              <a:solidFill>
                <a:srgbClr val="6A7078"/>
              </a:solidFill>
              <a:latin typeface="Calibri" panose="020F0502020204030204" pitchFamily="34" charset="0"/>
            </a:endParaRPr>
          </a:p>
        </p:txBody>
      </p:sp>
      <p:sp>
        <p:nvSpPr>
          <p:cNvPr id="28" name="CuadroTexto 27">
            <a:extLst>
              <a:ext uri="{FF2B5EF4-FFF2-40B4-BE49-F238E27FC236}">
                <a16:creationId xmlns:a16="http://schemas.microsoft.com/office/drawing/2014/main" id="{5BDEA8E5-E803-320C-5836-D3207D69B0EA}"/>
              </a:ext>
            </a:extLst>
          </p:cNvPr>
          <p:cNvSpPr txBox="1"/>
          <p:nvPr/>
        </p:nvSpPr>
        <p:spPr>
          <a:xfrm>
            <a:off x="6391275" y="2076450"/>
            <a:ext cx="190500" cy="276999"/>
          </a:xfrm>
          <a:prstGeom prst="rect">
            <a:avLst/>
          </a:prstGeom>
          <a:noFill/>
        </p:spPr>
        <p:txBody>
          <a:bodyPr vert="horz" wrap="square" lIns="0" tIns="0" rIns="0" bIns="0" rtlCol="0" anchor="t">
            <a:noAutofit/>
          </a:bodyPr>
          <a:lstStyle/>
          <a:p>
            <a:pPr>
              <a:lnSpc>
                <a:spcPct val="125000"/>
              </a:lnSpc>
            </a:pPr>
            <a:r>
              <a:rPr lang="es-HN" sz="975" b="1">
                <a:solidFill>
                  <a:srgbClr val="2C7A58"/>
                </a:solidFill>
                <a:latin typeface="Calibri" panose="020F0502020204030204" pitchFamily="34" charset="0"/>
              </a:rPr>
              <a:t>✓</a:t>
            </a:r>
          </a:p>
        </p:txBody>
      </p:sp>
      <p:sp>
        <p:nvSpPr>
          <p:cNvPr id="29" name="CuadroTexto 28">
            <a:extLst>
              <a:ext uri="{FF2B5EF4-FFF2-40B4-BE49-F238E27FC236}">
                <a16:creationId xmlns:a16="http://schemas.microsoft.com/office/drawing/2014/main" id="{B05A7D85-7823-62D0-D949-21EC114A3F6C}"/>
              </a:ext>
            </a:extLst>
          </p:cNvPr>
          <p:cNvSpPr txBox="1"/>
          <p:nvPr/>
        </p:nvSpPr>
        <p:spPr>
          <a:xfrm>
            <a:off x="6619875" y="2076450"/>
            <a:ext cx="4791075" cy="276999"/>
          </a:xfrm>
          <a:prstGeom prst="rect">
            <a:avLst/>
          </a:prstGeom>
          <a:noFill/>
        </p:spPr>
        <p:txBody>
          <a:bodyPr vert="horz" wrap="square" lIns="0" tIns="0" rIns="0" bIns="0" rtlCol="0" anchor="t">
            <a:noAutofit/>
          </a:bodyPr>
          <a:lstStyle/>
          <a:p>
            <a:pPr>
              <a:lnSpc>
                <a:spcPct val="135000"/>
              </a:lnSpc>
            </a:pPr>
            <a:r>
              <a:rPr lang="es-ES" sz="911">
                <a:solidFill>
                  <a:srgbClr val="39404A"/>
                </a:solidFill>
                <a:latin typeface="Consolas" panose="020B0609020204030204" pitchFamily="49" charset="0"/>
              </a:rPr>
              <a:t>EXECUTE</a:t>
            </a:r>
            <a:r>
              <a:rPr lang="es-ES" sz="1013">
                <a:solidFill>
                  <a:srgbClr val="39404A"/>
                </a:solidFill>
                <a:latin typeface="Calibri" panose="020F0502020204030204" pitchFamily="34" charset="0"/>
              </a:rPr>
              <a:t> sobre 13 procedimientos, y nada más. Llega a las tablas por </a:t>
            </a:r>
            <a:r>
              <a:rPr lang="es-ES" sz="1013" b="1">
                <a:solidFill>
                  <a:srgbClr val="39404A"/>
                </a:solidFill>
                <a:latin typeface="Calibri" panose="020F0502020204030204" pitchFamily="34" charset="0"/>
              </a:rPr>
              <a:t>encadenamiento de propiedad</a:t>
            </a:r>
            <a:r>
              <a:rPr lang="es-ES" sz="1013">
                <a:solidFill>
                  <a:srgbClr val="39404A"/>
                </a:solidFill>
                <a:latin typeface="Calibri" panose="020F0502020204030204" pitchFamily="34" charset="0"/>
              </a:rPr>
              <a:t>.</a:t>
            </a:r>
            <a:endParaRPr lang="es-HN" sz="1013">
              <a:solidFill>
                <a:srgbClr val="39404A"/>
              </a:solidFill>
              <a:latin typeface="Calibri" panose="020F0502020204030204" pitchFamily="34" charset="0"/>
            </a:endParaRPr>
          </a:p>
        </p:txBody>
      </p:sp>
      <p:sp>
        <p:nvSpPr>
          <p:cNvPr id="30" name="CuadroTexto 29">
            <a:extLst>
              <a:ext uri="{FF2B5EF4-FFF2-40B4-BE49-F238E27FC236}">
                <a16:creationId xmlns:a16="http://schemas.microsoft.com/office/drawing/2014/main" id="{DB1D17CC-64CC-6182-69FF-59F10A7928A6}"/>
              </a:ext>
            </a:extLst>
          </p:cNvPr>
          <p:cNvSpPr txBox="1"/>
          <p:nvPr/>
        </p:nvSpPr>
        <p:spPr>
          <a:xfrm>
            <a:off x="6391275" y="2571750"/>
            <a:ext cx="190500" cy="276999"/>
          </a:xfrm>
          <a:prstGeom prst="rect">
            <a:avLst/>
          </a:prstGeom>
          <a:noFill/>
        </p:spPr>
        <p:txBody>
          <a:bodyPr vert="horz" wrap="square" lIns="0" tIns="0" rIns="0" bIns="0" rtlCol="0" anchor="t">
            <a:noAutofit/>
          </a:bodyPr>
          <a:lstStyle/>
          <a:p>
            <a:pPr>
              <a:lnSpc>
                <a:spcPct val="125000"/>
              </a:lnSpc>
            </a:pPr>
            <a:r>
              <a:rPr lang="es-HN" sz="975" b="1">
                <a:solidFill>
                  <a:srgbClr val="C3372C"/>
                </a:solidFill>
                <a:latin typeface="Calibri" panose="020F0502020204030204" pitchFamily="34" charset="0"/>
              </a:rPr>
              <a:t>✗</a:t>
            </a:r>
          </a:p>
        </p:txBody>
      </p:sp>
      <p:sp>
        <p:nvSpPr>
          <p:cNvPr id="31" name="CuadroTexto 30">
            <a:extLst>
              <a:ext uri="{FF2B5EF4-FFF2-40B4-BE49-F238E27FC236}">
                <a16:creationId xmlns:a16="http://schemas.microsoft.com/office/drawing/2014/main" id="{58684BAC-0748-34E9-659D-37D0BD65EE34}"/>
              </a:ext>
            </a:extLst>
          </p:cNvPr>
          <p:cNvSpPr txBox="1"/>
          <p:nvPr/>
        </p:nvSpPr>
        <p:spPr>
          <a:xfrm>
            <a:off x="6619875" y="2571750"/>
            <a:ext cx="4791075" cy="276999"/>
          </a:xfrm>
          <a:prstGeom prst="rect">
            <a:avLst/>
          </a:prstGeom>
          <a:noFill/>
        </p:spPr>
        <p:txBody>
          <a:bodyPr vert="horz" wrap="square" lIns="0" tIns="0" rIns="0" bIns="0" rtlCol="0" anchor="t">
            <a:noAutofit/>
          </a:bodyPr>
          <a:lstStyle/>
          <a:p>
            <a:pPr>
              <a:lnSpc>
                <a:spcPct val="135000"/>
              </a:lnSpc>
            </a:pPr>
            <a:r>
              <a:rPr lang="es-ES" sz="1013">
                <a:solidFill>
                  <a:srgbClr val="39404A"/>
                </a:solidFill>
                <a:latin typeface="Calibri" panose="020F0502020204030204" pitchFamily="34" charset="0"/>
              </a:rPr>
              <a:t>No pertenece a </a:t>
            </a:r>
            <a:r>
              <a:rPr lang="es-ES" sz="911">
                <a:solidFill>
                  <a:srgbClr val="39404A"/>
                </a:solidFill>
                <a:latin typeface="Consolas" panose="020B0609020204030204" pitchFamily="49" charset="0"/>
              </a:rPr>
              <a:t>db_datareader</a:t>
            </a:r>
            <a:r>
              <a:rPr lang="es-ES" sz="1013">
                <a:solidFill>
                  <a:srgbClr val="39404A"/>
                </a:solidFill>
                <a:latin typeface="Calibri" panose="020F0502020204030204" pitchFamily="34" charset="0"/>
              </a:rPr>
              <a:t> ni tiene permiso sobre ninguna tabla.</a:t>
            </a:r>
            <a:endParaRPr lang="es-HN" sz="1013">
              <a:solidFill>
                <a:srgbClr val="39404A"/>
              </a:solidFill>
              <a:latin typeface="Calibri" panose="020F0502020204030204" pitchFamily="34" charset="0"/>
            </a:endParaRPr>
          </a:p>
        </p:txBody>
      </p:sp>
      <p:sp>
        <p:nvSpPr>
          <p:cNvPr id="32" name="CuadroTexto 31">
            <a:extLst>
              <a:ext uri="{FF2B5EF4-FFF2-40B4-BE49-F238E27FC236}">
                <a16:creationId xmlns:a16="http://schemas.microsoft.com/office/drawing/2014/main" id="{804BFEBC-6CF3-0243-ACBB-A48390445DE9}"/>
              </a:ext>
            </a:extLst>
          </p:cNvPr>
          <p:cNvSpPr txBox="1"/>
          <p:nvPr/>
        </p:nvSpPr>
        <p:spPr>
          <a:xfrm>
            <a:off x="6391275" y="2895600"/>
            <a:ext cx="190500" cy="276999"/>
          </a:xfrm>
          <a:prstGeom prst="rect">
            <a:avLst/>
          </a:prstGeom>
          <a:noFill/>
        </p:spPr>
        <p:txBody>
          <a:bodyPr vert="horz" wrap="square" lIns="0" tIns="0" rIns="0" bIns="0" rtlCol="0" anchor="t">
            <a:noAutofit/>
          </a:bodyPr>
          <a:lstStyle/>
          <a:p>
            <a:pPr>
              <a:lnSpc>
                <a:spcPct val="125000"/>
              </a:lnSpc>
            </a:pPr>
            <a:r>
              <a:rPr lang="es-HN" sz="975" b="1">
                <a:solidFill>
                  <a:srgbClr val="C3372C"/>
                </a:solidFill>
                <a:latin typeface="Calibri" panose="020F0502020204030204" pitchFamily="34" charset="0"/>
              </a:rPr>
              <a:t>✗</a:t>
            </a:r>
          </a:p>
        </p:txBody>
      </p:sp>
      <p:sp>
        <p:nvSpPr>
          <p:cNvPr id="33" name="CuadroTexto 32">
            <a:extLst>
              <a:ext uri="{FF2B5EF4-FFF2-40B4-BE49-F238E27FC236}">
                <a16:creationId xmlns:a16="http://schemas.microsoft.com/office/drawing/2014/main" id="{7D08753F-06DB-2A4C-91E6-FAC98EE49B74}"/>
              </a:ext>
            </a:extLst>
          </p:cNvPr>
          <p:cNvSpPr txBox="1"/>
          <p:nvPr/>
        </p:nvSpPr>
        <p:spPr>
          <a:xfrm>
            <a:off x="6619875" y="2895600"/>
            <a:ext cx="4791075" cy="276999"/>
          </a:xfrm>
          <a:prstGeom prst="rect">
            <a:avLst/>
          </a:prstGeom>
          <a:noFill/>
        </p:spPr>
        <p:txBody>
          <a:bodyPr vert="horz" wrap="square" lIns="0" tIns="0" rIns="0" bIns="0" rtlCol="0" anchor="t">
            <a:noAutofit/>
          </a:bodyPr>
          <a:lstStyle/>
          <a:p>
            <a:pPr>
              <a:lnSpc>
                <a:spcPct val="135000"/>
              </a:lnSpc>
            </a:pPr>
            <a:r>
              <a:rPr lang="es-ES" sz="911">
                <a:solidFill>
                  <a:srgbClr val="39404A"/>
                </a:solidFill>
                <a:latin typeface="Consolas" panose="020B0609020204030204" pitchFamily="49" charset="0"/>
              </a:rPr>
              <a:t>DENY</a:t>
            </a:r>
            <a:r>
              <a:rPr lang="es-ES" sz="1013">
                <a:solidFill>
                  <a:srgbClr val="39404A"/>
                </a:solidFill>
                <a:latin typeface="Calibri" panose="020F0502020204030204" pitchFamily="34" charset="0"/>
              </a:rPr>
              <a:t> sobre </a:t>
            </a:r>
            <a:r>
              <a:rPr lang="es-ES" sz="911">
                <a:solidFill>
                  <a:srgbClr val="39404A"/>
                </a:solidFill>
                <a:latin typeface="Consolas" panose="020B0609020204030204" pitchFamily="49" charset="0"/>
              </a:rPr>
              <a:t>Usuarios</a:t>
            </a:r>
            <a:r>
              <a:rPr lang="es-ES" sz="1013">
                <a:solidFill>
                  <a:srgbClr val="39404A"/>
                </a:solidFill>
                <a:latin typeface="Calibri" panose="020F0502020204030204" pitchFamily="34" charset="0"/>
              </a:rPr>
              <a:t>, </a:t>
            </a:r>
            <a:r>
              <a:rPr lang="es-ES" sz="911">
                <a:solidFill>
                  <a:srgbClr val="39404A"/>
                </a:solidFill>
                <a:latin typeface="Consolas" panose="020B0609020204030204" pitchFamily="49" charset="0"/>
              </a:rPr>
              <a:t>Valoraciones</a:t>
            </a:r>
            <a:r>
              <a:rPr lang="es-ES" sz="1013">
                <a:solidFill>
                  <a:srgbClr val="39404A"/>
                </a:solidFill>
                <a:latin typeface="Calibri" panose="020F0502020204030204" pitchFamily="34" charset="0"/>
              </a:rPr>
              <a:t>, </a:t>
            </a:r>
            <a:r>
              <a:rPr lang="es-ES" sz="911">
                <a:solidFill>
                  <a:srgbClr val="39404A"/>
                </a:solidFill>
                <a:latin typeface="Consolas" panose="020B0609020204030204" pitchFamily="49" charset="0"/>
              </a:rPr>
              <a:t>Comentarios</a:t>
            </a:r>
            <a:r>
              <a:rPr lang="es-ES" sz="1013">
                <a:solidFill>
                  <a:srgbClr val="39404A"/>
                </a:solidFill>
                <a:latin typeface="Calibri" panose="020F0502020204030204" pitchFamily="34" charset="0"/>
              </a:rPr>
              <a:t>, </a:t>
            </a:r>
            <a:r>
              <a:rPr lang="es-ES" sz="911">
                <a:solidFill>
                  <a:srgbClr val="39404A"/>
                </a:solidFill>
                <a:latin typeface="Consolas" panose="020B0609020204030204" pitchFamily="49" charset="0"/>
              </a:rPr>
              <a:t>EncuestaVotos</a:t>
            </a:r>
            <a:r>
              <a:rPr lang="es-ES" sz="1013">
                <a:solidFill>
                  <a:srgbClr val="39404A"/>
                </a:solidFill>
                <a:latin typeface="Calibri" panose="020F0502020204030204" pitchFamily="34" charset="0"/>
              </a:rPr>
              <a:t>, </a:t>
            </a:r>
            <a:r>
              <a:rPr lang="es-ES" sz="911">
                <a:solidFill>
                  <a:srgbClr val="39404A"/>
                </a:solidFill>
                <a:latin typeface="Consolas" panose="020B0609020204030204" pitchFamily="49" charset="0"/>
              </a:rPr>
              <a:t>Auditoria</a:t>
            </a:r>
            <a:r>
              <a:rPr lang="es-ES" sz="1013">
                <a:solidFill>
                  <a:srgbClr val="39404A"/>
                </a:solidFill>
                <a:latin typeface="Calibri" panose="020F0502020204030204" pitchFamily="34" charset="0"/>
              </a:rPr>
              <a:t> y </a:t>
            </a:r>
            <a:r>
              <a:rPr lang="es-ES" sz="911">
                <a:solidFill>
                  <a:srgbClr val="39404A"/>
                </a:solidFill>
                <a:latin typeface="Consolas" panose="020B0609020204030204" pitchFamily="49" charset="0"/>
              </a:rPr>
              <a:t>ConsultasIA</a:t>
            </a:r>
            <a:r>
              <a:rPr lang="es-ES" sz="1013">
                <a:solidFill>
                  <a:srgbClr val="39404A"/>
                </a:solidFill>
                <a:latin typeface="Calibri" panose="020F0502020204030204" pitchFamily="34" charset="0"/>
              </a:rPr>
              <a:t>.</a:t>
            </a:r>
            <a:endParaRPr lang="es-HN" sz="1013">
              <a:solidFill>
                <a:srgbClr val="39404A"/>
              </a:solidFill>
              <a:latin typeface="Calibri" panose="020F0502020204030204" pitchFamily="34" charset="0"/>
            </a:endParaRPr>
          </a:p>
        </p:txBody>
      </p:sp>
      <p:sp>
        <p:nvSpPr>
          <p:cNvPr id="34" name="CuadroTexto 33">
            <a:extLst>
              <a:ext uri="{FF2B5EF4-FFF2-40B4-BE49-F238E27FC236}">
                <a16:creationId xmlns:a16="http://schemas.microsoft.com/office/drawing/2014/main" id="{AFA4D893-850E-A82E-975B-50007B367FC5}"/>
              </a:ext>
            </a:extLst>
          </p:cNvPr>
          <p:cNvSpPr txBox="1"/>
          <p:nvPr/>
        </p:nvSpPr>
        <p:spPr>
          <a:xfrm>
            <a:off x="6391275" y="3390900"/>
            <a:ext cx="5019675" cy="276999"/>
          </a:xfrm>
          <a:prstGeom prst="rect">
            <a:avLst/>
          </a:prstGeom>
          <a:noFill/>
        </p:spPr>
        <p:txBody>
          <a:bodyPr vert="horz" wrap="square" lIns="0" tIns="0" rIns="0" bIns="0" rtlCol="0" anchor="t">
            <a:noAutofit/>
          </a:bodyPr>
          <a:lstStyle/>
          <a:p>
            <a:pPr>
              <a:lnSpc>
                <a:spcPct val="140000"/>
              </a:lnSpc>
            </a:pPr>
            <a:r>
              <a:rPr lang="es-ES" sz="1013" b="1">
                <a:solidFill>
                  <a:srgbClr val="39404A"/>
                </a:solidFill>
                <a:latin typeface="Calibri" panose="020F0502020204030204" pitchFamily="34" charset="0"/>
              </a:rPr>
              <a:t>Por qué esas tablas.</a:t>
            </a:r>
            <a:r>
              <a:rPr lang="es-ES" sz="1013">
                <a:solidFill>
                  <a:srgbClr val="39404A"/>
                </a:solidFill>
                <a:latin typeface="Calibri" panose="020F0502020204030204" pitchFamily="34" charset="0"/>
              </a:rPr>
              <a:t> Una valoración o un voto de encuesta vincula a una persona con su preferencia política: es el dato que más daño haría filtrado. Y </a:t>
            </a:r>
            <a:r>
              <a:rPr lang="es-ES" sz="911">
                <a:solidFill>
                  <a:srgbClr val="39404A"/>
                </a:solidFill>
                <a:latin typeface="Consolas" panose="020B0609020204030204" pitchFamily="49" charset="0"/>
              </a:rPr>
              <a:t>Comentarios</a:t>
            </a:r>
            <a:r>
              <a:rPr lang="es-ES" sz="1013">
                <a:solidFill>
                  <a:srgbClr val="39404A"/>
                </a:solidFill>
                <a:latin typeface="Calibri" panose="020F0502020204030204" pitchFamily="34" charset="0"/>
              </a:rPr>
              <a:t> queda fuera además porque su texto lo escribe cualquier ciudadano — leerlo sería dejar que un comentario le dé instrucciones al modelo.</a:t>
            </a:r>
            <a:endParaRPr lang="es-HN" sz="1013">
              <a:solidFill>
                <a:srgbClr val="39404A"/>
              </a:solidFill>
              <a:latin typeface="Calibri" panose="020F0502020204030204" pitchFamily="34" charset="0"/>
            </a:endParaRPr>
          </a:p>
        </p:txBody>
      </p:sp>
      <p:sp>
        <p:nvSpPr>
          <p:cNvPr id="35" name="Rectángulo: esquinas redondeadas 34">
            <a:extLst>
              <a:ext uri="{FF2B5EF4-FFF2-40B4-BE49-F238E27FC236}">
                <a16:creationId xmlns:a16="http://schemas.microsoft.com/office/drawing/2014/main" id="{751A14CB-86F7-7E9F-F03D-3B3CD8142109}"/>
              </a:ext>
            </a:extLst>
          </p:cNvPr>
          <p:cNvSpPr/>
          <p:nvPr/>
        </p:nvSpPr>
        <p:spPr>
          <a:xfrm>
            <a:off x="6391275" y="4305300"/>
            <a:ext cx="5019675" cy="838200"/>
          </a:xfrm>
          <a:prstGeom prst="roundRect">
            <a:avLst>
              <a:gd name="adj" fmla="val 6000"/>
            </a:avLst>
          </a:prstGeom>
          <a:solidFill>
            <a:srgbClr val="EEF7F2"/>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6" name="Rectángulo 35">
            <a:extLst>
              <a:ext uri="{FF2B5EF4-FFF2-40B4-BE49-F238E27FC236}">
                <a16:creationId xmlns:a16="http://schemas.microsoft.com/office/drawing/2014/main" id="{E2159EF6-F4B3-391D-F6D0-D33DF744ED2E}"/>
              </a:ext>
            </a:extLst>
          </p:cNvPr>
          <p:cNvSpPr/>
          <p:nvPr/>
        </p:nvSpPr>
        <p:spPr>
          <a:xfrm>
            <a:off x="6391275" y="4333875"/>
            <a:ext cx="28575" cy="781050"/>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7" name="CuadroTexto 36">
            <a:extLst>
              <a:ext uri="{FF2B5EF4-FFF2-40B4-BE49-F238E27FC236}">
                <a16:creationId xmlns:a16="http://schemas.microsoft.com/office/drawing/2014/main" id="{79D940C5-6C3B-BC9D-F4E3-977788C4F499}"/>
              </a:ext>
            </a:extLst>
          </p:cNvPr>
          <p:cNvSpPr txBox="1"/>
          <p:nvPr/>
        </p:nvSpPr>
        <p:spPr>
          <a:xfrm>
            <a:off x="6581775" y="4457700"/>
            <a:ext cx="4657725"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Está verificado con </a:t>
            </a:r>
            <a:r>
              <a:rPr lang="es-ES" sz="911">
                <a:solidFill>
                  <a:srgbClr val="39404A"/>
                </a:solidFill>
                <a:latin typeface="Consolas" panose="020B0609020204030204" pitchFamily="49" charset="0"/>
              </a:rPr>
              <a:t>EXECUTE AS</a:t>
            </a:r>
            <a:r>
              <a:rPr lang="es-ES" sz="1013">
                <a:solidFill>
                  <a:srgbClr val="39404A"/>
                </a:solidFill>
                <a:latin typeface="Calibri" panose="020F0502020204030204" pitchFamily="34" charset="0"/>
              </a:rPr>
              <a:t>, y ya sirvió: atrapó una versión que resolvía la campaña con dos </a:t>
            </a:r>
            <a:r>
              <a:rPr lang="es-ES" sz="911">
                <a:solidFill>
                  <a:srgbClr val="39404A"/>
                </a:solidFill>
                <a:latin typeface="Consolas" panose="020B0609020204030204" pitchFamily="49" charset="0"/>
              </a:rPr>
              <a:t>SELECT</a:t>
            </a:r>
            <a:r>
              <a:rPr lang="es-ES" sz="1013">
                <a:solidFill>
                  <a:srgbClr val="39404A"/>
                </a:solidFill>
                <a:latin typeface="Calibri" panose="020F0502020204030204" pitchFamily="34" charset="0"/>
              </a:rPr>
              <a:t> sueltos en lugar de un procedimiento.</a:t>
            </a:r>
            <a:endParaRPr lang="es-HN" sz="1013">
              <a:solidFill>
                <a:srgbClr val="39404A"/>
              </a:solidFill>
              <a:latin typeface="Calibri" panose="020F0502020204030204" pitchFamily="34" charset="0"/>
            </a:endParaRPr>
          </a:p>
        </p:txBody>
      </p:sp>
    </p:spTree>
    <p:extLst>
      <p:ext uri="{BB962C8B-B14F-4D97-AF65-F5344CB8AC3E}">
        <p14:creationId xmlns:p14="http://schemas.microsoft.com/office/powerpoint/2010/main" val="1130798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9CE57979-5BFE-5132-35F5-06DE40A61CA2}"/>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10EF259A-F105-CABC-6847-68FC87261EAC}"/>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94E7A624-7740-CC6E-E908-7200F7F0E4E5}"/>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CC9AB6CC-F806-4210-ED21-C60D25BD76F7}"/>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375C3FF8-9009-A7B5-062C-0374368F2639}"/>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ES" sz="900" b="1" spc="140">
                <a:solidFill>
                  <a:srgbClr val="17708A"/>
                </a:solidFill>
                <a:latin typeface="Calibri" panose="020F0502020204030204" pitchFamily="34" charset="0"/>
              </a:rPr>
              <a:t>ASISTENTE · LO QUE LO HACE DEFENDIBLE</a:t>
            </a:r>
            <a:endParaRPr lang="es-HN" sz="900" b="1" spc="140">
              <a:solidFill>
                <a:srgbClr val="17708A"/>
              </a:solidFill>
              <a:latin typeface="Calibri" panose="020F0502020204030204" pitchFamily="34" charset="0"/>
            </a:endParaRPr>
          </a:p>
        </p:txBody>
      </p:sp>
      <p:sp>
        <p:nvSpPr>
          <p:cNvPr id="7" name="CuadroTexto 6">
            <a:extLst>
              <a:ext uri="{FF2B5EF4-FFF2-40B4-BE49-F238E27FC236}">
                <a16:creationId xmlns:a16="http://schemas.microsoft.com/office/drawing/2014/main" id="{49DA4B8A-779F-BB6E-BB2C-09575F1E680B}"/>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850" b="1">
                <a:solidFill>
                  <a:srgbClr val="14171C"/>
                </a:solidFill>
                <a:latin typeface="Georgia" panose="02040502050405020303" pitchFamily="18" charset="0"/>
              </a:rPr>
              <a:t>Cinco garantías que no dependen de que el modelo se porte bien</a:t>
            </a:r>
            <a:endParaRPr lang="es-HN" sz="2850" b="1">
              <a:solidFill>
                <a:srgbClr val="14171C"/>
              </a:solidFill>
              <a:latin typeface="Georgia" panose="02040502050405020303" pitchFamily="18" charset="0"/>
            </a:endParaRPr>
          </a:p>
        </p:txBody>
      </p:sp>
      <p:cxnSp>
        <p:nvCxnSpPr>
          <p:cNvPr id="8" name="Conector recto 7">
            <a:extLst>
              <a:ext uri="{FF2B5EF4-FFF2-40B4-BE49-F238E27FC236}">
                <a16:creationId xmlns:a16="http://schemas.microsoft.com/office/drawing/2014/main" id="{C667098A-DFDC-D2A2-9329-6AD6915F470C}"/>
              </a:ext>
            </a:extLst>
          </p:cNvPr>
          <p:cNvCxnSpPr/>
          <p:nvPr/>
        </p:nvCxnSpPr>
        <p:spPr>
          <a:xfrm>
            <a:off x="609600" y="1428750"/>
            <a:ext cx="323850" cy="0"/>
          </a:xfrm>
          <a:prstGeom prst="line">
            <a:avLst/>
          </a:prstGeom>
          <a:ln w="25400">
            <a:solidFill>
              <a:srgbClr val="C3372C"/>
            </a:solidFill>
          </a:ln>
        </p:spPr>
        <p:style>
          <a:lnRef idx="2">
            <a:schemeClr val="accent1"/>
          </a:lnRef>
          <a:fillRef idx="0">
            <a:schemeClr val="accent1"/>
          </a:fillRef>
          <a:effectRef idx="1">
            <a:schemeClr val="accent1"/>
          </a:effectRef>
          <a:fontRef idx="minor">
            <a:schemeClr val="tx1"/>
          </a:fontRef>
        </p:style>
      </p:cxnSp>
      <p:sp>
        <p:nvSpPr>
          <p:cNvPr id="9" name="CuadroTexto 8">
            <a:extLst>
              <a:ext uri="{FF2B5EF4-FFF2-40B4-BE49-F238E27FC236}">
                <a16:creationId xmlns:a16="http://schemas.microsoft.com/office/drawing/2014/main" id="{3C6FD0E2-FA00-AF79-DD16-44E5C6AFB120}"/>
              </a:ext>
            </a:extLst>
          </p:cNvPr>
          <p:cNvSpPr txBox="1"/>
          <p:nvPr/>
        </p:nvSpPr>
        <p:spPr>
          <a:xfrm>
            <a:off x="609600" y="1495425"/>
            <a:ext cx="323850" cy="276999"/>
          </a:xfrm>
          <a:prstGeom prst="rect">
            <a:avLst/>
          </a:prstGeom>
          <a:noFill/>
        </p:spPr>
        <p:txBody>
          <a:bodyPr vert="horz" wrap="square" lIns="0" tIns="0" rIns="0" bIns="0" rtlCol="0" anchor="t">
            <a:noAutofit/>
          </a:bodyPr>
          <a:lstStyle/>
          <a:p>
            <a:pPr>
              <a:lnSpc>
                <a:spcPct val="125000"/>
              </a:lnSpc>
            </a:pPr>
            <a:r>
              <a:rPr lang="es-HN" sz="1575" b="1">
                <a:solidFill>
                  <a:srgbClr val="C3372C"/>
                </a:solidFill>
                <a:latin typeface="Georgia" panose="02040502050405020303" pitchFamily="18" charset="0"/>
              </a:rPr>
              <a:t>1</a:t>
            </a:r>
          </a:p>
        </p:txBody>
      </p:sp>
      <p:sp>
        <p:nvSpPr>
          <p:cNvPr id="10" name="CuadroTexto 9">
            <a:extLst>
              <a:ext uri="{FF2B5EF4-FFF2-40B4-BE49-F238E27FC236}">
                <a16:creationId xmlns:a16="http://schemas.microsoft.com/office/drawing/2014/main" id="{D89A906C-3E50-ECE8-27AC-593F2D5346D3}"/>
              </a:ext>
            </a:extLst>
          </p:cNvPr>
          <p:cNvSpPr txBox="1"/>
          <p:nvPr/>
        </p:nvSpPr>
        <p:spPr>
          <a:xfrm>
            <a:off x="1057275" y="1466850"/>
            <a:ext cx="4895850" cy="276999"/>
          </a:xfrm>
          <a:prstGeom prst="rect">
            <a:avLst/>
          </a:prstGeom>
          <a:noFill/>
        </p:spPr>
        <p:txBody>
          <a:bodyPr vert="horz" wrap="square" lIns="0" tIns="0" rIns="0" bIns="0" rtlCol="0" anchor="t">
            <a:noAutofit/>
          </a:bodyPr>
          <a:lstStyle/>
          <a:p>
            <a:pPr>
              <a:lnSpc>
                <a:spcPct val="115000"/>
              </a:lnSpc>
            </a:pPr>
            <a:r>
              <a:rPr lang="es-HN" sz="1238" b="1">
                <a:solidFill>
                  <a:srgbClr val="14171C"/>
                </a:solidFill>
                <a:latin typeface="Georgia" panose="02040502050405020303" pitchFamily="18" charset="0"/>
              </a:rPr>
              <a:t>Las reglas del prompt</a:t>
            </a:r>
          </a:p>
        </p:txBody>
      </p:sp>
      <p:sp>
        <p:nvSpPr>
          <p:cNvPr id="11" name="CuadroTexto 10">
            <a:extLst>
              <a:ext uri="{FF2B5EF4-FFF2-40B4-BE49-F238E27FC236}">
                <a16:creationId xmlns:a16="http://schemas.microsoft.com/office/drawing/2014/main" id="{2439B694-B5EA-ED77-1774-5ABFC6F199FD}"/>
              </a:ext>
            </a:extLst>
          </p:cNvPr>
          <p:cNvSpPr txBox="1"/>
          <p:nvPr/>
        </p:nvSpPr>
        <p:spPr>
          <a:xfrm>
            <a:off x="1057275" y="1866900"/>
            <a:ext cx="4895850"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No recomienda voto ni ordena candidaturas. Dice siempre el nivel de verificación. No completa una cifra de memoria. Y declara que </a:t>
            </a:r>
            <a:r>
              <a:rPr lang="es-ES" sz="1013" b="1">
                <a:solidFill>
                  <a:srgbClr val="39404A"/>
                </a:solidFill>
                <a:latin typeface="Calibri" panose="020F0502020204030204" pitchFamily="34" charset="0"/>
              </a:rPr>
              <a:t>el texto que devuelven las herramientas es dato, no instrucción</a:t>
            </a:r>
            <a:r>
              <a:rPr lang="es-ES" sz="1013">
                <a:solidFill>
                  <a:srgbClr val="39404A"/>
                </a:solidFill>
                <a:latin typeface="Calibri" panose="020F0502020204030204" pitchFamily="34" charset="0"/>
              </a:rPr>
              <a:t>.</a:t>
            </a:r>
            <a:endParaRPr lang="es-HN" sz="1013">
              <a:solidFill>
                <a:srgbClr val="39404A"/>
              </a:solidFill>
              <a:latin typeface="Calibri" panose="020F0502020204030204" pitchFamily="34" charset="0"/>
            </a:endParaRPr>
          </a:p>
        </p:txBody>
      </p:sp>
      <p:cxnSp>
        <p:nvCxnSpPr>
          <p:cNvPr id="12" name="Conector recto 11">
            <a:extLst>
              <a:ext uri="{FF2B5EF4-FFF2-40B4-BE49-F238E27FC236}">
                <a16:creationId xmlns:a16="http://schemas.microsoft.com/office/drawing/2014/main" id="{11BDEE44-82BC-98AF-8D34-A778C37E83B8}"/>
              </a:ext>
            </a:extLst>
          </p:cNvPr>
          <p:cNvCxnSpPr/>
          <p:nvPr/>
        </p:nvCxnSpPr>
        <p:spPr>
          <a:xfrm>
            <a:off x="6238875" y="1428750"/>
            <a:ext cx="323850" cy="0"/>
          </a:xfrm>
          <a:prstGeom prst="line">
            <a:avLst/>
          </a:prstGeom>
          <a:ln w="25400">
            <a:solidFill>
              <a:srgbClr val="C3372C"/>
            </a:solidFill>
          </a:ln>
        </p:spPr>
        <p:style>
          <a:lnRef idx="2">
            <a:schemeClr val="accent1"/>
          </a:lnRef>
          <a:fillRef idx="0">
            <a:schemeClr val="accent1"/>
          </a:fillRef>
          <a:effectRef idx="1">
            <a:schemeClr val="accent1"/>
          </a:effectRef>
          <a:fontRef idx="minor">
            <a:schemeClr val="tx1"/>
          </a:fontRef>
        </p:style>
      </p:cxnSp>
      <p:sp>
        <p:nvSpPr>
          <p:cNvPr id="13" name="CuadroTexto 12">
            <a:extLst>
              <a:ext uri="{FF2B5EF4-FFF2-40B4-BE49-F238E27FC236}">
                <a16:creationId xmlns:a16="http://schemas.microsoft.com/office/drawing/2014/main" id="{24F1A6D1-6584-1A6C-9A30-ABCFEAF44F01}"/>
              </a:ext>
            </a:extLst>
          </p:cNvPr>
          <p:cNvSpPr txBox="1"/>
          <p:nvPr/>
        </p:nvSpPr>
        <p:spPr>
          <a:xfrm>
            <a:off x="6238875" y="1495425"/>
            <a:ext cx="323850" cy="276999"/>
          </a:xfrm>
          <a:prstGeom prst="rect">
            <a:avLst/>
          </a:prstGeom>
          <a:noFill/>
        </p:spPr>
        <p:txBody>
          <a:bodyPr vert="horz" wrap="square" lIns="0" tIns="0" rIns="0" bIns="0" rtlCol="0" anchor="t">
            <a:noAutofit/>
          </a:bodyPr>
          <a:lstStyle/>
          <a:p>
            <a:pPr>
              <a:lnSpc>
                <a:spcPct val="125000"/>
              </a:lnSpc>
            </a:pPr>
            <a:r>
              <a:rPr lang="es-HN" sz="1575" b="1">
                <a:solidFill>
                  <a:srgbClr val="C3372C"/>
                </a:solidFill>
                <a:latin typeface="Georgia" panose="02040502050405020303" pitchFamily="18" charset="0"/>
              </a:rPr>
              <a:t>2</a:t>
            </a:r>
          </a:p>
        </p:txBody>
      </p:sp>
      <p:sp>
        <p:nvSpPr>
          <p:cNvPr id="14" name="CuadroTexto 13">
            <a:extLst>
              <a:ext uri="{FF2B5EF4-FFF2-40B4-BE49-F238E27FC236}">
                <a16:creationId xmlns:a16="http://schemas.microsoft.com/office/drawing/2014/main" id="{229DF381-BD75-390A-D7CD-3368F7060176}"/>
              </a:ext>
            </a:extLst>
          </p:cNvPr>
          <p:cNvSpPr txBox="1"/>
          <p:nvPr/>
        </p:nvSpPr>
        <p:spPr>
          <a:xfrm>
            <a:off x="6686550" y="1466850"/>
            <a:ext cx="4895850" cy="276999"/>
          </a:xfrm>
          <a:prstGeom prst="rect">
            <a:avLst/>
          </a:prstGeom>
          <a:noFill/>
        </p:spPr>
        <p:txBody>
          <a:bodyPr vert="horz" wrap="square" lIns="0" tIns="0" rIns="0" bIns="0" rtlCol="0" anchor="t">
            <a:noAutofit/>
          </a:bodyPr>
          <a:lstStyle/>
          <a:p>
            <a:pPr>
              <a:lnSpc>
                <a:spcPct val="115000"/>
              </a:lnSpc>
            </a:pPr>
            <a:r>
              <a:rPr lang="es-ES" sz="1238" b="1">
                <a:solidFill>
                  <a:srgbClr val="14171C"/>
                </a:solidFill>
                <a:latin typeface="Georgia" panose="02040502050405020303" pitchFamily="18" charset="0"/>
              </a:rPr>
              <a:t>Las fuentes salen del registro de llamadas</a:t>
            </a:r>
            <a:endParaRPr lang="es-HN" sz="1238" b="1">
              <a:solidFill>
                <a:srgbClr val="14171C"/>
              </a:solidFill>
              <a:latin typeface="Georgia" panose="02040502050405020303" pitchFamily="18" charset="0"/>
            </a:endParaRPr>
          </a:p>
        </p:txBody>
      </p:sp>
      <p:sp>
        <p:nvSpPr>
          <p:cNvPr id="15" name="CuadroTexto 14">
            <a:extLst>
              <a:ext uri="{FF2B5EF4-FFF2-40B4-BE49-F238E27FC236}">
                <a16:creationId xmlns:a16="http://schemas.microsoft.com/office/drawing/2014/main" id="{468C9183-4B5D-882C-AB9D-D9ED0A0C1897}"/>
              </a:ext>
            </a:extLst>
          </p:cNvPr>
          <p:cNvSpPr txBox="1"/>
          <p:nvPr/>
        </p:nvSpPr>
        <p:spPr>
          <a:xfrm>
            <a:off x="6686550" y="1866900"/>
            <a:ext cx="4895850"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No de lo que el modelo diga haber usado. Un modelo puede describir mal su propio trabajo, el registro de llamadas no. Cuando responde sin consultar la base, la fuente lo dice.</a:t>
            </a:r>
            <a:endParaRPr lang="es-HN" sz="1013">
              <a:solidFill>
                <a:srgbClr val="39404A"/>
              </a:solidFill>
              <a:latin typeface="Calibri" panose="020F0502020204030204" pitchFamily="34" charset="0"/>
            </a:endParaRPr>
          </a:p>
        </p:txBody>
      </p:sp>
      <p:cxnSp>
        <p:nvCxnSpPr>
          <p:cNvPr id="16" name="Conector recto 15">
            <a:extLst>
              <a:ext uri="{FF2B5EF4-FFF2-40B4-BE49-F238E27FC236}">
                <a16:creationId xmlns:a16="http://schemas.microsoft.com/office/drawing/2014/main" id="{7381899C-137D-BF2C-8E74-8C8899213817}"/>
              </a:ext>
            </a:extLst>
          </p:cNvPr>
          <p:cNvCxnSpPr/>
          <p:nvPr/>
        </p:nvCxnSpPr>
        <p:spPr>
          <a:xfrm>
            <a:off x="609600" y="2838450"/>
            <a:ext cx="323850" cy="0"/>
          </a:xfrm>
          <a:prstGeom prst="line">
            <a:avLst/>
          </a:prstGeom>
          <a:ln w="25400">
            <a:solidFill>
              <a:srgbClr val="C3372C"/>
            </a:solidFill>
          </a:ln>
        </p:spPr>
        <p:style>
          <a:lnRef idx="2">
            <a:schemeClr val="accent1"/>
          </a:lnRef>
          <a:fillRef idx="0">
            <a:schemeClr val="accent1"/>
          </a:fillRef>
          <a:effectRef idx="1">
            <a:schemeClr val="accent1"/>
          </a:effectRef>
          <a:fontRef idx="minor">
            <a:schemeClr val="tx1"/>
          </a:fontRef>
        </p:style>
      </p:cxnSp>
      <p:sp>
        <p:nvSpPr>
          <p:cNvPr id="17" name="CuadroTexto 16">
            <a:extLst>
              <a:ext uri="{FF2B5EF4-FFF2-40B4-BE49-F238E27FC236}">
                <a16:creationId xmlns:a16="http://schemas.microsoft.com/office/drawing/2014/main" id="{A69D23DA-7029-7DD4-3DD4-8308D2FA8C44}"/>
              </a:ext>
            </a:extLst>
          </p:cNvPr>
          <p:cNvSpPr txBox="1"/>
          <p:nvPr/>
        </p:nvSpPr>
        <p:spPr>
          <a:xfrm>
            <a:off x="609600" y="2905125"/>
            <a:ext cx="323850" cy="276999"/>
          </a:xfrm>
          <a:prstGeom prst="rect">
            <a:avLst/>
          </a:prstGeom>
          <a:noFill/>
        </p:spPr>
        <p:txBody>
          <a:bodyPr vert="horz" wrap="square" lIns="0" tIns="0" rIns="0" bIns="0" rtlCol="0" anchor="t">
            <a:noAutofit/>
          </a:bodyPr>
          <a:lstStyle/>
          <a:p>
            <a:pPr>
              <a:lnSpc>
                <a:spcPct val="125000"/>
              </a:lnSpc>
            </a:pPr>
            <a:r>
              <a:rPr lang="es-HN" sz="1575" b="1">
                <a:solidFill>
                  <a:srgbClr val="C3372C"/>
                </a:solidFill>
                <a:latin typeface="Georgia" panose="02040502050405020303" pitchFamily="18" charset="0"/>
              </a:rPr>
              <a:t>3</a:t>
            </a:r>
          </a:p>
        </p:txBody>
      </p:sp>
      <p:sp>
        <p:nvSpPr>
          <p:cNvPr id="18" name="CuadroTexto 17">
            <a:extLst>
              <a:ext uri="{FF2B5EF4-FFF2-40B4-BE49-F238E27FC236}">
                <a16:creationId xmlns:a16="http://schemas.microsoft.com/office/drawing/2014/main" id="{96AB2943-9D73-31DF-709C-D622BAECDE8F}"/>
              </a:ext>
            </a:extLst>
          </p:cNvPr>
          <p:cNvSpPr txBox="1"/>
          <p:nvPr/>
        </p:nvSpPr>
        <p:spPr>
          <a:xfrm>
            <a:off x="1057275" y="2876550"/>
            <a:ext cx="4895850" cy="276999"/>
          </a:xfrm>
          <a:prstGeom prst="rect">
            <a:avLst/>
          </a:prstGeom>
          <a:noFill/>
        </p:spPr>
        <p:txBody>
          <a:bodyPr vert="horz" wrap="square" lIns="0" tIns="0" rIns="0" bIns="0" rtlCol="0" anchor="t">
            <a:noAutofit/>
          </a:bodyPr>
          <a:lstStyle/>
          <a:p>
            <a:pPr>
              <a:lnSpc>
                <a:spcPct val="115000"/>
              </a:lnSpc>
            </a:pPr>
            <a:r>
              <a:rPr lang="es-HN" sz="1238" b="1">
                <a:solidFill>
                  <a:srgbClr val="14171C"/>
                </a:solidFill>
                <a:latin typeface="Georgia" panose="02040502050405020303" pitchFamily="18" charset="0"/>
              </a:rPr>
              <a:t>La respuesta no se inserta con innerHTML</a:t>
            </a:r>
          </a:p>
        </p:txBody>
      </p:sp>
      <p:sp>
        <p:nvSpPr>
          <p:cNvPr id="19" name="CuadroTexto 18">
            <a:extLst>
              <a:ext uri="{FF2B5EF4-FFF2-40B4-BE49-F238E27FC236}">
                <a16:creationId xmlns:a16="http://schemas.microsoft.com/office/drawing/2014/main" id="{C277249F-89FB-91E4-4FED-9AE4FEFCC774}"/>
              </a:ext>
            </a:extLst>
          </p:cNvPr>
          <p:cNvSpPr txBox="1"/>
          <p:nvPr/>
        </p:nvSpPr>
        <p:spPr>
          <a:xfrm>
            <a:off x="1057275" y="3276600"/>
            <a:ext cx="4895850"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Se analiza con </a:t>
            </a:r>
            <a:r>
              <a:rPr lang="es-ES" sz="911">
                <a:solidFill>
                  <a:srgbClr val="39404A"/>
                </a:solidFill>
                <a:latin typeface="Consolas" panose="020B0609020204030204" pitchFamily="49" charset="0"/>
              </a:rPr>
              <a:t>DOMParser</a:t>
            </a:r>
            <a:r>
              <a:rPr lang="es-ES" sz="1013">
                <a:solidFill>
                  <a:srgbClr val="39404A"/>
                </a:solidFill>
                <a:latin typeface="Calibri" panose="020F0502020204030204" pitchFamily="34" charset="0"/>
              </a:rPr>
              <a:t>, que no ejecuta nada, y el árbol se reconstruye nodo por nodo con una lista blanca </a:t>
            </a:r>
            <a:r>
              <a:rPr lang="es-ES" sz="1013" b="1">
                <a:solidFill>
                  <a:srgbClr val="39404A"/>
                </a:solidFill>
                <a:latin typeface="Calibri" panose="020F0502020204030204" pitchFamily="34" charset="0"/>
              </a:rPr>
              <a:t>sin copiar un solo atributo</a:t>
            </a:r>
            <a:r>
              <a:rPr lang="es-ES" sz="1013">
                <a:solidFill>
                  <a:srgbClr val="39404A"/>
                </a:solidFill>
                <a:latin typeface="Calibri" panose="020F0502020204030204" pitchFamily="34" charset="0"/>
              </a:rPr>
              <a:t>. Sin </a:t>
            </a:r>
            <a:r>
              <a:rPr lang="es-ES" sz="911">
                <a:solidFill>
                  <a:srgbClr val="39404A"/>
                </a:solidFill>
                <a:latin typeface="Consolas" panose="020B0609020204030204" pitchFamily="49" charset="0"/>
              </a:rPr>
              <a:t>onerror</a:t>
            </a:r>
            <a:r>
              <a:rPr lang="es-ES" sz="1013">
                <a:solidFill>
                  <a:srgbClr val="39404A"/>
                </a:solidFill>
                <a:latin typeface="Calibri" panose="020F0502020204030204" pitchFamily="34" charset="0"/>
              </a:rPr>
              <a:t>, </a:t>
            </a:r>
            <a:r>
              <a:rPr lang="es-ES" sz="911">
                <a:solidFill>
                  <a:srgbClr val="39404A"/>
                </a:solidFill>
                <a:latin typeface="Consolas" panose="020B0609020204030204" pitchFamily="49" charset="0"/>
              </a:rPr>
              <a:t>href</a:t>
            </a:r>
            <a:r>
              <a:rPr lang="es-ES" sz="1013">
                <a:solidFill>
                  <a:srgbClr val="39404A"/>
                </a:solidFill>
                <a:latin typeface="Calibri" panose="020F0502020204030204" pitchFamily="34" charset="0"/>
              </a:rPr>
              <a:t> ni </a:t>
            </a:r>
            <a:r>
              <a:rPr lang="es-ES" sz="911">
                <a:solidFill>
                  <a:srgbClr val="39404A"/>
                </a:solidFill>
                <a:latin typeface="Consolas" panose="020B0609020204030204" pitchFamily="49" charset="0"/>
              </a:rPr>
              <a:t>src</a:t>
            </a:r>
            <a:r>
              <a:rPr lang="es-ES" sz="1013">
                <a:solidFill>
                  <a:srgbClr val="39404A"/>
                </a:solidFill>
                <a:latin typeface="Calibri" panose="020F0502020204030204" pitchFamily="34" charset="0"/>
              </a:rPr>
              <a:t>, ninguna etiqueta puede ejecutar nada.</a:t>
            </a:r>
            <a:endParaRPr lang="es-HN" sz="1013">
              <a:solidFill>
                <a:srgbClr val="39404A"/>
              </a:solidFill>
              <a:latin typeface="Calibri" panose="020F0502020204030204" pitchFamily="34" charset="0"/>
            </a:endParaRPr>
          </a:p>
        </p:txBody>
      </p:sp>
      <p:cxnSp>
        <p:nvCxnSpPr>
          <p:cNvPr id="20" name="Conector recto 19">
            <a:extLst>
              <a:ext uri="{FF2B5EF4-FFF2-40B4-BE49-F238E27FC236}">
                <a16:creationId xmlns:a16="http://schemas.microsoft.com/office/drawing/2014/main" id="{C59FD587-CF18-4174-976F-045C5A56D7C9}"/>
              </a:ext>
            </a:extLst>
          </p:cNvPr>
          <p:cNvCxnSpPr/>
          <p:nvPr/>
        </p:nvCxnSpPr>
        <p:spPr>
          <a:xfrm>
            <a:off x="6238875" y="2838450"/>
            <a:ext cx="323850" cy="0"/>
          </a:xfrm>
          <a:prstGeom prst="line">
            <a:avLst/>
          </a:prstGeom>
          <a:ln w="25400">
            <a:solidFill>
              <a:srgbClr val="C3372C"/>
            </a:solidFill>
          </a:ln>
        </p:spPr>
        <p:style>
          <a:lnRef idx="2">
            <a:schemeClr val="accent1"/>
          </a:lnRef>
          <a:fillRef idx="0">
            <a:schemeClr val="accent1"/>
          </a:fillRef>
          <a:effectRef idx="1">
            <a:schemeClr val="accent1"/>
          </a:effectRef>
          <a:fontRef idx="minor">
            <a:schemeClr val="tx1"/>
          </a:fontRef>
        </p:style>
      </p:cxnSp>
      <p:sp>
        <p:nvSpPr>
          <p:cNvPr id="21" name="CuadroTexto 20">
            <a:extLst>
              <a:ext uri="{FF2B5EF4-FFF2-40B4-BE49-F238E27FC236}">
                <a16:creationId xmlns:a16="http://schemas.microsoft.com/office/drawing/2014/main" id="{1169A3AF-8F17-5BFA-9994-D4898037455D}"/>
              </a:ext>
            </a:extLst>
          </p:cNvPr>
          <p:cNvSpPr txBox="1"/>
          <p:nvPr/>
        </p:nvSpPr>
        <p:spPr>
          <a:xfrm>
            <a:off x="6238875" y="2905125"/>
            <a:ext cx="323850" cy="276999"/>
          </a:xfrm>
          <a:prstGeom prst="rect">
            <a:avLst/>
          </a:prstGeom>
          <a:noFill/>
        </p:spPr>
        <p:txBody>
          <a:bodyPr vert="horz" wrap="square" lIns="0" tIns="0" rIns="0" bIns="0" rtlCol="0" anchor="t">
            <a:noAutofit/>
          </a:bodyPr>
          <a:lstStyle/>
          <a:p>
            <a:pPr>
              <a:lnSpc>
                <a:spcPct val="125000"/>
              </a:lnSpc>
            </a:pPr>
            <a:r>
              <a:rPr lang="es-HN" sz="1575" b="1">
                <a:solidFill>
                  <a:srgbClr val="C3372C"/>
                </a:solidFill>
                <a:latin typeface="Georgia" panose="02040502050405020303" pitchFamily="18" charset="0"/>
              </a:rPr>
              <a:t>4</a:t>
            </a:r>
          </a:p>
        </p:txBody>
      </p:sp>
      <p:sp>
        <p:nvSpPr>
          <p:cNvPr id="22" name="CuadroTexto 21">
            <a:extLst>
              <a:ext uri="{FF2B5EF4-FFF2-40B4-BE49-F238E27FC236}">
                <a16:creationId xmlns:a16="http://schemas.microsoft.com/office/drawing/2014/main" id="{741F937C-638D-D4F8-4736-07FF2A1D2FDD}"/>
              </a:ext>
            </a:extLst>
          </p:cNvPr>
          <p:cNvSpPr txBox="1"/>
          <p:nvPr/>
        </p:nvSpPr>
        <p:spPr>
          <a:xfrm>
            <a:off x="6686550" y="2876550"/>
            <a:ext cx="4895850" cy="276999"/>
          </a:xfrm>
          <a:prstGeom prst="rect">
            <a:avLst/>
          </a:prstGeom>
          <a:noFill/>
        </p:spPr>
        <p:txBody>
          <a:bodyPr vert="horz" wrap="square" lIns="0" tIns="0" rIns="0" bIns="0" rtlCol="0" anchor="t">
            <a:noAutofit/>
          </a:bodyPr>
          <a:lstStyle/>
          <a:p>
            <a:pPr>
              <a:lnSpc>
                <a:spcPct val="115000"/>
              </a:lnSpc>
            </a:pPr>
            <a:r>
              <a:rPr lang="es-ES" sz="1238" b="1">
                <a:solidFill>
                  <a:srgbClr val="14171C"/>
                </a:solidFill>
                <a:latin typeface="Georgia" panose="02040502050405020303" pitchFamily="18" charset="0"/>
              </a:rPr>
              <a:t>Tres comprobaciones antes de gastar un token</a:t>
            </a:r>
            <a:endParaRPr lang="es-HN" sz="1238" b="1">
              <a:solidFill>
                <a:srgbClr val="14171C"/>
              </a:solidFill>
              <a:latin typeface="Georgia" panose="02040502050405020303" pitchFamily="18" charset="0"/>
            </a:endParaRPr>
          </a:p>
        </p:txBody>
      </p:sp>
      <p:sp>
        <p:nvSpPr>
          <p:cNvPr id="23" name="CuadroTexto 22">
            <a:extLst>
              <a:ext uri="{FF2B5EF4-FFF2-40B4-BE49-F238E27FC236}">
                <a16:creationId xmlns:a16="http://schemas.microsoft.com/office/drawing/2014/main" id="{8182BCD8-7FD4-0B2D-CF10-F9B0982243F0}"/>
              </a:ext>
            </a:extLst>
          </p:cNvPr>
          <p:cNvSpPr txBox="1"/>
          <p:nvPr/>
        </p:nvSpPr>
        <p:spPr>
          <a:xfrm>
            <a:off x="6686550" y="3276600"/>
            <a:ext cx="4895850"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Módulo visible, cuenta activa y con correo confirmado, y cuota diaria disponible. Las tres en el Web Service, no en la página.</a:t>
            </a:r>
            <a:endParaRPr lang="es-HN" sz="1013">
              <a:solidFill>
                <a:srgbClr val="39404A"/>
              </a:solidFill>
              <a:latin typeface="Calibri" panose="020F0502020204030204" pitchFamily="34" charset="0"/>
            </a:endParaRPr>
          </a:p>
        </p:txBody>
      </p:sp>
      <p:cxnSp>
        <p:nvCxnSpPr>
          <p:cNvPr id="24" name="Conector recto 23">
            <a:extLst>
              <a:ext uri="{FF2B5EF4-FFF2-40B4-BE49-F238E27FC236}">
                <a16:creationId xmlns:a16="http://schemas.microsoft.com/office/drawing/2014/main" id="{62C132E3-C863-9C86-1FC0-D1E5FDEF2482}"/>
              </a:ext>
            </a:extLst>
          </p:cNvPr>
          <p:cNvCxnSpPr/>
          <p:nvPr/>
        </p:nvCxnSpPr>
        <p:spPr>
          <a:xfrm>
            <a:off x="609600" y="4248150"/>
            <a:ext cx="323850" cy="0"/>
          </a:xfrm>
          <a:prstGeom prst="line">
            <a:avLst/>
          </a:prstGeom>
          <a:ln w="25400">
            <a:solidFill>
              <a:srgbClr val="C3372C"/>
            </a:solidFill>
          </a:ln>
        </p:spPr>
        <p:style>
          <a:lnRef idx="2">
            <a:schemeClr val="accent1"/>
          </a:lnRef>
          <a:fillRef idx="0">
            <a:schemeClr val="accent1"/>
          </a:fillRef>
          <a:effectRef idx="1">
            <a:schemeClr val="accent1"/>
          </a:effectRef>
          <a:fontRef idx="minor">
            <a:schemeClr val="tx1"/>
          </a:fontRef>
        </p:style>
      </p:cxnSp>
      <p:sp>
        <p:nvSpPr>
          <p:cNvPr id="25" name="CuadroTexto 24">
            <a:extLst>
              <a:ext uri="{FF2B5EF4-FFF2-40B4-BE49-F238E27FC236}">
                <a16:creationId xmlns:a16="http://schemas.microsoft.com/office/drawing/2014/main" id="{16EF4B55-CAE9-CC58-C643-14FE25C383DD}"/>
              </a:ext>
            </a:extLst>
          </p:cNvPr>
          <p:cNvSpPr txBox="1"/>
          <p:nvPr/>
        </p:nvSpPr>
        <p:spPr>
          <a:xfrm>
            <a:off x="609600" y="4314825"/>
            <a:ext cx="323850" cy="276999"/>
          </a:xfrm>
          <a:prstGeom prst="rect">
            <a:avLst/>
          </a:prstGeom>
          <a:noFill/>
        </p:spPr>
        <p:txBody>
          <a:bodyPr vert="horz" wrap="square" lIns="0" tIns="0" rIns="0" bIns="0" rtlCol="0" anchor="t">
            <a:noAutofit/>
          </a:bodyPr>
          <a:lstStyle/>
          <a:p>
            <a:pPr>
              <a:lnSpc>
                <a:spcPct val="125000"/>
              </a:lnSpc>
            </a:pPr>
            <a:r>
              <a:rPr lang="es-HN" sz="1575" b="1">
                <a:solidFill>
                  <a:srgbClr val="C3372C"/>
                </a:solidFill>
                <a:latin typeface="Georgia" panose="02040502050405020303" pitchFamily="18" charset="0"/>
              </a:rPr>
              <a:t>5</a:t>
            </a:r>
          </a:p>
        </p:txBody>
      </p:sp>
      <p:sp>
        <p:nvSpPr>
          <p:cNvPr id="26" name="CuadroTexto 25">
            <a:extLst>
              <a:ext uri="{FF2B5EF4-FFF2-40B4-BE49-F238E27FC236}">
                <a16:creationId xmlns:a16="http://schemas.microsoft.com/office/drawing/2014/main" id="{552B27CD-6514-D433-3BC2-20D8DA062529}"/>
              </a:ext>
            </a:extLst>
          </p:cNvPr>
          <p:cNvSpPr txBox="1"/>
          <p:nvPr/>
        </p:nvSpPr>
        <p:spPr>
          <a:xfrm>
            <a:off x="1057275" y="4286250"/>
            <a:ext cx="4895850" cy="276999"/>
          </a:xfrm>
          <a:prstGeom prst="rect">
            <a:avLst/>
          </a:prstGeom>
          <a:noFill/>
        </p:spPr>
        <p:txBody>
          <a:bodyPr vert="horz" wrap="square" lIns="0" tIns="0" rIns="0" bIns="0" rtlCol="0" anchor="t">
            <a:noAutofit/>
          </a:bodyPr>
          <a:lstStyle/>
          <a:p>
            <a:pPr>
              <a:lnSpc>
                <a:spcPct val="115000"/>
              </a:lnSpc>
            </a:pPr>
            <a:r>
              <a:rPr lang="es-ES" sz="1238" b="1">
                <a:solidFill>
                  <a:srgbClr val="14171C"/>
                </a:solidFill>
                <a:latin typeface="Georgia" panose="02040502050405020303" pitchFamily="18" charset="0"/>
              </a:rPr>
              <a:t>El costo está medido, no estimado</a:t>
            </a:r>
            <a:endParaRPr lang="es-HN" sz="1238" b="1">
              <a:solidFill>
                <a:srgbClr val="14171C"/>
              </a:solidFill>
              <a:latin typeface="Georgia" panose="02040502050405020303" pitchFamily="18" charset="0"/>
            </a:endParaRPr>
          </a:p>
        </p:txBody>
      </p:sp>
      <p:sp>
        <p:nvSpPr>
          <p:cNvPr id="27" name="CuadroTexto 26">
            <a:extLst>
              <a:ext uri="{FF2B5EF4-FFF2-40B4-BE49-F238E27FC236}">
                <a16:creationId xmlns:a16="http://schemas.microsoft.com/office/drawing/2014/main" id="{987C853B-4118-B350-8CCB-3DD5E17E83F5}"/>
              </a:ext>
            </a:extLst>
          </p:cNvPr>
          <p:cNvSpPr txBox="1"/>
          <p:nvPr/>
        </p:nvSpPr>
        <p:spPr>
          <a:xfrm>
            <a:off x="1057275" y="4686300"/>
            <a:ext cx="4895850"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Unos 11 000 tokens de entrada y 470 de salida por consulta: </a:t>
            </a:r>
            <a:r>
              <a:rPr lang="es-ES" sz="1013" b="1">
                <a:solidFill>
                  <a:srgbClr val="39404A"/>
                </a:solidFill>
                <a:latin typeface="Calibri" panose="020F0502020204030204" pitchFamily="34" charset="0"/>
              </a:rPr>
              <a:t>0.027 dólares</a:t>
            </a:r>
            <a:r>
              <a:rPr lang="es-ES" sz="1013">
                <a:solidFill>
                  <a:srgbClr val="39404A"/>
                </a:solidFill>
                <a:latin typeface="Calibri" panose="020F0502020204030204" pitchFamily="34" charset="0"/>
              </a:rPr>
              <a:t> con Sonnet 5, frente a 0.077 con Opus 5. Con la cuota de 20 por persona y día, el techo es conocido.</a:t>
            </a:r>
            <a:endParaRPr lang="es-HN" sz="1013">
              <a:solidFill>
                <a:srgbClr val="39404A"/>
              </a:solidFill>
              <a:latin typeface="Calibri" panose="020F0502020204030204" pitchFamily="34" charset="0"/>
            </a:endParaRPr>
          </a:p>
        </p:txBody>
      </p:sp>
      <p:cxnSp>
        <p:nvCxnSpPr>
          <p:cNvPr id="28" name="Conector recto 27">
            <a:extLst>
              <a:ext uri="{FF2B5EF4-FFF2-40B4-BE49-F238E27FC236}">
                <a16:creationId xmlns:a16="http://schemas.microsoft.com/office/drawing/2014/main" id="{E0654924-6808-D6D0-F732-D30B6B98E692}"/>
              </a:ext>
            </a:extLst>
          </p:cNvPr>
          <p:cNvCxnSpPr/>
          <p:nvPr/>
        </p:nvCxnSpPr>
        <p:spPr>
          <a:xfrm>
            <a:off x="6238875" y="4248150"/>
            <a:ext cx="323850" cy="0"/>
          </a:xfrm>
          <a:prstGeom prst="line">
            <a:avLst/>
          </a:prstGeom>
          <a:ln w="25400">
            <a:solidFill>
              <a:srgbClr val="17708A"/>
            </a:solidFill>
          </a:ln>
        </p:spPr>
        <p:style>
          <a:lnRef idx="2">
            <a:schemeClr val="accent1"/>
          </a:lnRef>
          <a:fillRef idx="0">
            <a:schemeClr val="accent1"/>
          </a:fillRef>
          <a:effectRef idx="1">
            <a:schemeClr val="accent1"/>
          </a:effectRef>
          <a:fontRef idx="minor">
            <a:schemeClr val="tx1"/>
          </a:fontRef>
        </p:style>
      </p:cxnSp>
      <p:sp>
        <p:nvSpPr>
          <p:cNvPr id="29" name="CuadroTexto 28">
            <a:extLst>
              <a:ext uri="{FF2B5EF4-FFF2-40B4-BE49-F238E27FC236}">
                <a16:creationId xmlns:a16="http://schemas.microsoft.com/office/drawing/2014/main" id="{B71D909E-A2DD-F7C6-47B3-5381A91505AC}"/>
              </a:ext>
            </a:extLst>
          </p:cNvPr>
          <p:cNvSpPr txBox="1"/>
          <p:nvPr/>
        </p:nvSpPr>
        <p:spPr>
          <a:xfrm>
            <a:off x="6238875" y="4314825"/>
            <a:ext cx="323850" cy="276999"/>
          </a:xfrm>
          <a:prstGeom prst="rect">
            <a:avLst/>
          </a:prstGeom>
          <a:noFill/>
        </p:spPr>
        <p:txBody>
          <a:bodyPr vert="horz" wrap="square" lIns="0" tIns="0" rIns="0" bIns="0" rtlCol="0" anchor="t">
            <a:noAutofit/>
          </a:bodyPr>
          <a:lstStyle/>
          <a:p>
            <a:pPr>
              <a:lnSpc>
                <a:spcPct val="125000"/>
              </a:lnSpc>
            </a:pPr>
            <a:r>
              <a:rPr lang="es-HN" sz="1575" b="1">
                <a:solidFill>
                  <a:srgbClr val="17708A"/>
                </a:solidFill>
                <a:latin typeface="Georgia" panose="02040502050405020303" pitchFamily="18" charset="0"/>
              </a:rPr>
              <a:t>+</a:t>
            </a:r>
          </a:p>
        </p:txBody>
      </p:sp>
      <p:sp>
        <p:nvSpPr>
          <p:cNvPr id="30" name="CuadroTexto 29">
            <a:extLst>
              <a:ext uri="{FF2B5EF4-FFF2-40B4-BE49-F238E27FC236}">
                <a16:creationId xmlns:a16="http://schemas.microsoft.com/office/drawing/2014/main" id="{5D62B307-B0B0-9766-7FE0-E78BFD9CA580}"/>
              </a:ext>
            </a:extLst>
          </p:cNvPr>
          <p:cNvSpPr txBox="1"/>
          <p:nvPr/>
        </p:nvSpPr>
        <p:spPr>
          <a:xfrm>
            <a:off x="6686550" y="4286250"/>
            <a:ext cx="4895850" cy="276999"/>
          </a:xfrm>
          <a:prstGeom prst="rect">
            <a:avLst/>
          </a:prstGeom>
          <a:noFill/>
        </p:spPr>
        <p:txBody>
          <a:bodyPr vert="horz" wrap="square" lIns="0" tIns="0" rIns="0" bIns="0" rtlCol="0" anchor="t">
            <a:noAutofit/>
          </a:bodyPr>
          <a:lstStyle/>
          <a:p>
            <a:pPr>
              <a:lnSpc>
                <a:spcPct val="115000"/>
              </a:lnSpc>
            </a:pPr>
            <a:r>
              <a:rPr lang="es-ES" sz="1238" b="1">
                <a:solidFill>
                  <a:srgbClr val="14171C"/>
                </a:solidFill>
                <a:latin typeface="Georgia" panose="02040502050405020303" pitchFamily="18" charset="0"/>
              </a:rPr>
              <a:t>Y una bitácora que también guarda los fracasos</a:t>
            </a:r>
            <a:endParaRPr lang="es-HN" sz="1238" b="1">
              <a:solidFill>
                <a:srgbClr val="14171C"/>
              </a:solidFill>
              <a:latin typeface="Georgia" panose="02040502050405020303" pitchFamily="18" charset="0"/>
            </a:endParaRPr>
          </a:p>
        </p:txBody>
      </p:sp>
      <p:sp>
        <p:nvSpPr>
          <p:cNvPr id="31" name="CuadroTexto 30">
            <a:extLst>
              <a:ext uri="{FF2B5EF4-FFF2-40B4-BE49-F238E27FC236}">
                <a16:creationId xmlns:a16="http://schemas.microsoft.com/office/drawing/2014/main" id="{3B5BAA62-040F-6C22-045A-3836130CAC6D}"/>
              </a:ext>
            </a:extLst>
          </p:cNvPr>
          <p:cNvSpPr txBox="1"/>
          <p:nvPr/>
        </p:nvSpPr>
        <p:spPr>
          <a:xfrm>
            <a:off x="6686550" y="4686300"/>
            <a:ext cx="4895850" cy="276999"/>
          </a:xfrm>
          <a:prstGeom prst="rect">
            <a:avLst/>
          </a:prstGeom>
          <a:noFill/>
        </p:spPr>
        <p:txBody>
          <a:bodyPr vert="horz" wrap="square" lIns="0" tIns="0" rIns="0" bIns="0" rtlCol="0" anchor="t">
            <a:noAutofit/>
          </a:bodyPr>
          <a:lstStyle/>
          <a:p>
            <a:pPr>
              <a:lnSpc>
                <a:spcPct val="140000"/>
              </a:lnSpc>
            </a:pPr>
            <a:r>
              <a:rPr lang="es-ES" sz="911">
                <a:solidFill>
                  <a:srgbClr val="39404A"/>
                </a:solidFill>
                <a:latin typeface="Consolas" panose="020B0609020204030204" pitchFamily="49" charset="0"/>
              </a:rPr>
              <a:t>ConsultasIA</a:t>
            </a:r>
            <a:r>
              <a:rPr lang="es-ES" sz="1013">
                <a:solidFill>
                  <a:srgbClr val="39404A"/>
                </a:solidFill>
                <a:latin typeface="Calibri" panose="020F0502020204030204" pitchFamily="34" charset="0"/>
              </a:rPr>
              <a:t> registra cada pregunta con su respuesta, herramientas, tokens, tiempo y error. Una bitácora que solo guarda los casos buenos no sirve para revisar los malos.</a:t>
            </a:r>
            <a:endParaRPr lang="es-HN" sz="1013">
              <a:solidFill>
                <a:srgbClr val="39404A"/>
              </a:solidFill>
              <a:latin typeface="Calibri" panose="020F0502020204030204" pitchFamily="34" charset="0"/>
            </a:endParaRPr>
          </a:p>
        </p:txBody>
      </p:sp>
    </p:spTree>
    <p:extLst>
      <p:ext uri="{BB962C8B-B14F-4D97-AF65-F5344CB8AC3E}">
        <p14:creationId xmlns:p14="http://schemas.microsoft.com/office/powerpoint/2010/main" val="1463656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2BE67DFA-2E63-278D-14B6-5676864FD88A}"/>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178394BA-1AFA-9F21-225A-48138DF23C54}"/>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42571571-BE43-A21F-7F25-DF6A22871D0C}"/>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8C7D4444-E64F-F7EB-478F-38453265F777}"/>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42D55773-38A2-AC7C-20E5-3847688E9972}"/>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ES" sz="900" b="1" spc="140">
                <a:solidFill>
                  <a:srgbClr val="17708A"/>
                </a:solidFill>
                <a:latin typeface="Calibri" panose="020F0502020204030204" pitchFamily="34" charset="0"/>
              </a:rPr>
              <a:t>PARTICIPACIÓN CIUDADANA · ENCUESTAS DE PERCEPCIÓN</a:t>
            </a:r>
            <a:endParaRPr lang="es-HN" sz="900" b="1" spc="140">
              <a:solidFill>
                <a:srgbClr val="17708A"/>
              </a:solidFill>
              <a:latin typeface="Calibri" panose="020F0502020204030204" pitchFamily="34" charset="0"/>
            </a:endParaRPr>
          </a:p>
        </p:txBody>
      </p:sp>
      <p:sp>
        <p:nvSpPr>
          <p:cNvPr id="7" name="CuadroTexto 6">
            <a:extLst>
              <a:ext uri="{FF2B5EF4-FFF2-40B4-BE49-F238E27FC236}">
                <a16:creationId xmlns:a16="http://schemas.microsoft.com/office/drawing/2014/main" id="{D11BCB65-7281-3E48-6B34-3570EB399800}"/>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850" b="1">
                <a:solidFill>
                  <a:srgbClr val="14171C"/>
                </a:solidFill>
                <a:latin typeface="Georgia" panose="02040502050405020303" pitchFamily="18" charset="0"/>
              </a:rPr>
              <a:t>Una encuesta que dice de qué no es evidencia</a:t>
            </a:r>
            <a:endParaRPr lang="es-HN" sz="2850" b="1">
              <a:solidFill>
                <a:srgbClr val="14171C"/>
              </a:solidFill>
              <a:latin typeface="Georgia" panose="02040502050405020303" pitchFamily="18" charset="0"/>
            </a:endParaRPr>
          </a:p>
        </p:txBody>
      </p:sp>
      <p:pic>
        <p:nvPicPr>
          <p:cNvPr id="9" name="Imagen 8">
            <a:extLst>
              <a:ext uri="{FF2B5EF4-FFF2-40B4-BE49-F238E27FC236}">
                <a16:creationId xmlns:a16="http://schemas.microsoft.com/office/drawing/2014/main" id="{21A352FF-BC7E-3B8F-4702-2A38EEE6F1F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371600"/>
            <a:ext cx="10972800" cy="2409825"/>
          </a:xfrm>
          <a:prstGeom prst="rect">
            <a:avLst/>
          </a:prstGeom>
          <a:ln w="9525">
            <a:solidFill>
              <a:srgbClr val="E3E1DD"/>
            </a:solidFill>
          </a:ln>
        </p:spPr>
      </p:pic>
      <p:sp>
        <p:nvSpPr>
          <p:cNvPr id="10" name="Rectángulo: esquinas redondeadas 9">
            <a:extLst>
              <a:ext uri="{FF2B5EF4-FFF2-40B4-BE49-F238E27FC236}">
                <a16:creationId xmlns:a16="http://schemas.microsoft.com/office/drawing/2014/main" id="{52DCFACC-6DE2-77A7-E33D-1BD1DA4AF7CE}"/>
              </a:ext>
            </a:extLst>
          </p:cNvPr>
          <p:cNvSpPr/>
          <p:nvPr/>
        </p:nvSpPr>
        <p:spPr>
          <a:xfrm>
            <a:off x="609600" y="3924300"/>
            <a:ext cx="3562350" cy="14478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1" name="Rectángulo 10">
            <a:extLst>
              <a:ext uri="{FF2B5EF4-FFF2-40B4-BE49-F238E27FC236}">
                <a16:creationId xmlns:a16="http://schemas.microsoft.com/office/drawing/2014/main" id="{5687CDE8-7B50-0B9C-99FC-7C97BB76CF34}"/>
              </a:ext>
            </a:extLst>
          </p:cNvPr>
          <p:cNvSpPr/>
          <p:nvPr/>
        </p:nvSpPr>
        <p:spPr>
          <a:xfrm>
            <a:off x="609600" y="3952875"/>
            <a:ext cx="28575" cy="1390650"/>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2" name="CuadroTexto 11">
            <a:extLst>
              <a:ext uri="{FF2B5EF4-FFF2-40B4-BE49-F238E27FC236}">
                <a16:creationId xmlns:a16="http://schemas.microsoft.com/office/drawing/2014/main" id="{E0EE1B4D-6AC3-CBC0-A99E-B70F936C7877}"/>
              </a:ext>
            </a:extLst>
          </p:cNvPr>
          <p:cNvSpPr txBox="1"/>
          <p:nvPr/>
        </p:nvSpPr>
        <p:spPr>
          <a:xfrm>
            <a:off x="781050" y="4038600"/>
            <a:ext cx="3238500" cy="276999"/>
          </a:xfrm>
          <a:prstGeom prst="rect">
            <a:avLst/>
          </a:prstGeom>
          <a:noFill/>
        </p:spPr>
        <p:txBody>
          <a:bodyPr vert="horz" wrap="square" lIns="0" tIns="0" rIns="0" bIns="0" rtlCol="0" anchor="t">
            <a:noAutofit/>
          </a:bodyPr>
          <a:lstStyle/>
          <a:p>
            <a:pPr>
              <a:lnSpc>
                <a:spcPct val="125000"/>
              </a:lnSpc>
            </a:pPr>
            <a:r>
              <a:rPr lang="es-ES" sz="1200" b="1">
                <a:solidFill>
                  <a:srgbClr val="14171C"/>
                </a:solidFill>
                <a:latin typeface="Georgia" panose="02040502050405020303" pitchFamily="18" charset="0"/>
              </a:rPr>
              <a:t>Las reglas viven en la base</a:t>
            </a:r>
            <a:endParaRPr lang="es-HN" sz="1200" b="1">
              <a:solidFill>
                <a:srgbClr val="14171C"/>
              </a:solidFill>
              <a:latin typeface="Georgia" panose="02040502050405020303" pitchFamily="18" charset="0"/>
            </a:endParaRPr>
          </a:p>
        </p:txBody>
      </p:sp>
      <p:sp>
        <p:nvSpPr>
          <p:cNvPr id="13" name="Elipse 12">
            <a:extLst>
              <a:ext uri="{FF2B5EF4-FFF2-40B4-BE49-F238E27FC236}">
                <a16:creationId xmlns:a16="http://schemas.microsoft.com/office/drawing/2014/main" id="{5D9879DC-BF89-C813-6749-A4DB8EBA64AD}"/>
              </a:ext>
            </a:extLst>
          </p:cNvPr>
          <p:cNvSpPr/>
          <p:nvPr/>
        </p:nvSpPr>
        <p:spPr>
          <a:xfrm>
            <a:off x="800100" y="4333875"/>
            <a:ext cx="66675" cy="66675"/>
          </a:xfrm>
          <a:prstGeom prst="ellipse">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4" name="CuadroTexto 13">
            <a:extLst>
              <a:ext uri="{FF2B5EF4-FFF2-40B4-BE49-F238E27FC236}">
                <a16:creationId xmlns:a16="http://schemas.microsoft.com/office/drawing/2014/main" id="{F70AA12E-8F78-B27A-69CB-B06FF42A0C3F}"/>
              </a:ext>
            </a:extLst>
          </p:cNvPr>
          <p:cNvSpPr txBox="1"/>
          <p:nvPr/>
        </p:nvSpPr>
        <p:spPr>
          <a:xfrm>
            <a:off x="942975" y="4286250"/>
            <a:ext cx="3076575" cy="276999"/>
          </a:xfrm>
          <a:prstGeom prst="rect">
            <a:avLst/>
          </a:prstGeom>
          <a:noFill/>
        </p:spPr>
        <p:txBody>
          <a:bodyPr vert="horz" wrap="square" lIns="0" tIns="0" rIns="0" bIns="0" rtlCol="0" anchor="t">
            <a:noAutofit/>
          </a:bodyPr>
          <a:lstStyle/>
          <a:p>
            <a:pPr>
              <a:lnSpc>
                <a:spcPct val="130000"/>
              </a:lnSpc>
            </a:pPr>
            <a:r>
              <a:rPr lang="es-ES" sz="938">
                <a:solidFill>
                  <a:srgbClr val="39404A"/>
                </a:solidFill>
                <a:latin typeface="Calibri" panose="020F0502020204030204" pitchFamily="34" charset="0"/>
              </a:rPr>
              <a:t>Un voto por persona y encuesta, garantizado por un índice único.</a:t>
            </a:r>
            <a:endParaRPr lang="es-HN" sz="938">
              <a:solidFill>
                <a:srgbClr val="39404A"/>
              </a:solidFill>
              <a:latin typeface="Calibri" panose="020F0502020204030204" pitchFamily="34" charset="0"/>
            </a:endParaRPr>
          </a:p>
        </p:txBody>
      </p:sp>
      <p:sp>
        <p:nvSpPr>
          <p:cNvPr id="15" name="Elipse 14">
            <a:extLst>
              <a:ext uri="{FF2B5EF4-FFF2-40B4-BE49-F238E27FC236}">
                <a16:creationId xmlns:a16="http://schemas.microsoft.com/office/drawing/2014/main" id="{035E5C06-0F00-F65D-276E-D4843E4160A3}"/>
              </a:ext>
            </a:extLst>
          </p:cNvPr>
          <p:cNvSpPr/>
          <p:nvPr/>
        </p:nvSpPr>
        <p:spPr>
          <a:xfrm>
            <a:off x="800100" y="4676775"/>
            <a:ext cx="66675" cy="66675"/>
          </a:xfrm>
          <a:prstGeom prst="ellipse">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6" name="CuadroTexto 15">
            <a:extLst>
              <a:ext uri="{FF2B5EF4-FFF2-40B4-BE49-F238E27FC236}">
                <a16:creationId xmlns:a16="http://schemas.microsoft.com/office/drawing/2014/main" id="{95D44C82-56ED-8065-1F34-F5B1729B516E}"/>
              </a:ext>
            </a:extLst>
          </p:cNvPr>
          <p:cNvSpPr txBox="1"/>
          <p:nvPr/>
        </p:nvSpPr>
        <p:spPr>
          <a:xfrm>
            <a:off x="942975" y="4629150"/>
            <a:ext cx="3076575" cy="276999"/>
          </a:xfrm>
          <a:prstGeom prst="rect">
            <a:avLst/>
          </a:prstGeom>
          <a:noFill/>
        </p:spPr>
        <p:txBody>
          <a:bodyPr vert="horz" wrap="square" lIns="0" tIns="0" rIns="0" bIns="0" rtlCol="0" anchor="t">
            <a:noAutofit/>
          </a:bodyPr>
          <a:lstStyle/>
          <a:p>
            <a:pPr>
              <a:lnSpc>
                <a:spcPct val="130000"/>
              </a:lnSpc>
            </a:pPr>
            <a:r>
              <a:rPr lang="es-ES" sz="938">
                <a:solidFill>
                  <a:srgbClr val="39404A"/>
                </a:solidFill>
                <a:latin typeface="Calibri" panose="020F0502020204030204" pitchFamily="34" charset="0"/>
              </a:rPr>
              <a:t>Los conteos </a:t>
            </a:r>
            <a:r>
              <a:rPr lang="es-ES" sz="938" b="1">
                <a:solidFill>
                  <a:srgbClr val="39404A"/>
                </a:solidFill>
                <a:latin typeface="Calibri" panose="020F0502020204030204" pitchFamily="34" charset="0"/>
              </a:rPr>
              <a:t>no se guardan</a:t>
            </a:r>
            <a:r>
              <a:rPr lang="es-ES" sz="938">
                <a:solidFill>
                  <a:srgbClr val="39404A"/>
                </a:solidFill>
                <a:latin typeface="Calibri" panose="020F0502020204030204" pitchFamily="34" charset="0"/>
              </a:rPr>
              <a:t>: se derivan con </a:t>
            </a:r>
            <a:r>
              <a:rPr lang="es-ES" sz="844">
                <a:solidFill>
                  <a:srgbClr val="39404A"/>
                </a:solidFill>
                <a:latin typeface="Consolas" panose="020B0609020204030204" pitchFamily="49" charset="0"/>
              </a:rPr>
              <a:t>COUNT</a:t>
            </a:r>
            <a:r>
              <a:rPr lang="es-ES" sz="938">
                <a:solidFill>
                  <a:srgbClr val="39404A"/>
                </a:solidFill>
                <a:latin typeface="Calibri" panose="020F0502020204030204" pitchFamily="34" charset="0"/>
              </a:rPr>
              <a:t>.</a:t>
            </a:r>
            <a:endParaRPr lang="es-HN" sz="938">
              <a:solidFill>
                <a:srgbClr val="39404A"/>
              </a:solidFill>
              <a:latin typeface="Calibri" panose="020F0502020204030204" pitchFamily="34" charset="0"/>
            </a:endParaRPr>
          </a:p>
        </p:txBody>
      </p:sp>
      <p:sp>
        <p:nvSpPr>
          <p:cNvPr id="17" name="Elipse 16">
            <a:extLst>
              <a:ext uri="{FF2B5EF4-FFF2-40B4-BE49-F238E27FC236}">
                <a16:creationId xmlns:a16="http://schemas.microsoft.com/office/drawing/2014/main" id="{0C2B582F-3C6D-095A-43B9-2AC8B0A8462B}"/>
              </a:ext>
            </a:extLst>
          </p:cNvPr>
          <p:cNvSpPr/>
          <p:nvPr/>
        </p:nvSpPr>
        <p:spPr>
          <a:xfrm>
            <a:off x="800100" y="5019675"/>
            <a:ext cx="66675" cy="66675"/>
          </a:xfrm>
          <a:prstGeom prst="ellipse">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8" name="CuadroTexto 17">
            <a:extLst>
              <a:ext uri="{FF2B5EF4-FFF2-40B4-BE49-F238E27FC236}">
                <a16:creationId xmlns:a16="http://schemas.microsoft.com/office/drawing/2014/main" id="{F23009FA-028F-A764-BEAC-D6A3C6B754C9}"/>
              </a:ext>
            </a:extLst>
          </p:cNvPr>
          <p:cNvSpPr txBox="1"/>
          <p:nvPr/>
        </p:nvSpPr>
        <p:spPr>
          <a:xfrm>
            <a:off x="942975" y="4972050"/>
            <a:ext cx="3076575" cy="276999"/>
          </a:xfrm>
          <a:prstGeom prst="rect">
            <a:avLst/>
          </a:prstGeom>
          <a:noFill/>
        </p:spPr>
        <p:txBody>
          <a:bodyPr vert="horz" wrap="square" lIns="0" tIns="0" rIns="0" bIns="0" rtlCol="0" anchor="t">
            <a:noAutofit/>
          </a:bodyPr>
          <a:lstStyle/>
          <a:p>
            <a:pPr>
              <a:lnSpc>
                <a:spcPct val="130000"/>
              </a:lnSpc>
            </a:pPr>
            <a:r>
              <a:rPr lang="es-ES" sz="938">
                <a:solidFill>
                  <a:srgbClr val="39404A"/>
                </a:solidFill>
                <a:latin typeface="Calibri" panose="020F0502020204030204" pitchFamily="34" charset="0"/>
              </a:rPr>
              <a:t>El estado se deriva de las fechas, no de una columna que pueda mentir.</a:t>
            </a:r>
            <a:endParaRPr lang="es-HN" sz="938">
              <a:solidFill>
                <a:srgbClr val="39404A"/>
              </a:solidFill>
              <a:latin typeface="Calibri" panose="020F0502020204030204" pitchFamily="34" charset="0"/>
            </a:endParaRPr>
          </a:p>
        </p:txBody>
      </p:sp>
      <p:sp>
        <p:nvSpPr>
          <p:cNvPr id="19" name="Rectángulo: esquinas redondeadas 18">
            <a:extLst>
              <a:ext uri="{FF2B5EF4-FFF2-40B4-BE49-F238E27FC236}">
                <a16:creationId xmlns:a16="http://schemas.microsoft.com/office/drawing/2014/main" id="{5C3FEB89-8CBA-D596-EBEF-B9649A1EB6A0}"/>
              </a:ext>
            </a:extLst>
          </p:cNvPr>
          <p:cNvSpPr/>
          <p:nvPr/>
        </p:nvSpPr>
        <p:spPr>
          <a:xfrm>
            <a:off x="4314825" y="3924300"/>
            <a:ext cx="3562350" cy="14478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0" name="Rectángulo 19">
            <a:extLst>
              <a:ext uri="{FF2B5EF4-FFF2-40B4-BE49-F238E27FC236}">
                <a16:creationId xmlns:a16="http://schemas.microsoft.com/office/drawing/2014/main" id="{2D3EC530-03CA-1CF8-5ABC-14B46874D869}"/>
              </a:ext>
            </a:extLst>
          </p:cNvPr>
          <p:cNvSpPr/>
          <p:nvPr/>
        </p:nvSpPr>
        <p:spPr>
          <a:xfrm>
            <a:off x="4314825" y="3952875"/>
            <a:ext cx="28575" cy="13906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1" name="CuadroTexto 20">
            <a:extLst>
              <a:ext uri="{FF2B5EF4-FFF2-40B4-BE49-F238E27FC236}">
                <a16:creationId xmlns:a16="http://schemas.microsoft.com/office/drawing/2014/main" id="{ADA6713C-4064-8D18-1BB3-623D87C49BF4}"/>
              </a:ext>
            </a:extLst>
          </p:cNvPr>
          <p:cNvSpPr txBox="1"/>
          <p:nvPr/>
        </p:nvSpPr>
        <p:spPr>
          <a:xfrm>
            <a:off x="4486275" y="4057650"/>
            <a:ext cx="3238500" cy="276999"/>
          </a:xfrm>
          <a:prstGeom prst="rect">
            <a:avLst/>
          </a:prstGeom>
          <a:noFill/>
        </p:spPr>
        <p:txBody>
          <a:bodyPr vert="horz" wrap="square" lIns="0" tIns="0" rIns="0" bIns="0" rtlCol="0" anchor="t">
            <a:noAutofit/>
          </a:bodyPr>
          <a:lstStyle/>
          <a:p>
            <a:pPr>
              <a:lnSpc>
                <a:spcPct val="112000"/>
              </a:lnSpc>
            </a:pPr>
            <a:r>
              <a:rPr lang="es-ES" sz="1200" b="1">
                <a:solidFill>
                  <a:srgbClr val="14171C"/>
                </a:solidFill>
                <a:latin typeface="Georgia" panose="02040502050405020303" pitchFamily="18" charset="0"/>
              </a:rPr>
              <a:t>Solo la administración las crea</a:t>
            </a:r>
            <a:endParaRPr lang="es-HN" sz="1200" b="1">
              <a:solidFill>
                <a:srgbClr val="14171C"/>
              </a:solidFill>
              <a:latin typeface="Georgia" panose="02040502050405020303" pitchFamily="18" charset="0"/>
            </a:endParaRPr>
          </a:p>
        </p:txBody>
      </p:sp>
      <p:sp>
        <p:nvSpPr>
          <p:cNvPr id="22" name="CuadroTexto 21">
            <a:extLst>
              <a:ext uri="{FF2B5EF4-FFF2-40B4-BE49-F238E27FC236}">
                <a16:creationId xmlns:a16="http://schemas.microsoft.com/office/drawing/2014/main" id="{D3C79F7E-9FDD-5D04-6507-5FDCEEB3AD9B}"/>
              </a:ext>
            </a:extLst>
          </p:cNvPr>
          <p:cNvSpPr txBox="1"/>
          <p:nvPr/>
        </p:nvSpPr>
        <p:spPr>
          <a:xfrm>
            <a:off x="4486275" y="4343400"/>
            <a:ext cx="3238500" cy="276999"/>
          </a:xfrm>
          <a:prstGeom prst="rect">
            <a:avLst/>
          </a:prstGeom>
          <a:noFill/>
        </p:spPr>
        <p:txBody>
          <a:bodyPr vert="horz" wrap="square" lIns="0" tIns="0" rIns="0" bIns="0" rtlCol="0" anchor="t">
            <a:noAutofit/>
          </a:bodyPr>
          <a:lstStyle/>
          <a:p>
            <a:pPr>
              <a:lnSpc>
                <a:spcPct val="140000"/>
              </a:lnSpc>
            </a:pPr>
            <a:r>
              <a:rPr lang="es-ES" sz="975">
                <a:solidFill>
                  <a:srgbClr val="39404A"/>
                </a:solidFill>
                <a:latin typeface="Calibri" panose="020F0502020204030204" pitchFamily="34" charset="0"/>
              </a:rPr>
              <a:t>El candidato no. Quien redacta las opciones controla el marco, y una encuesta escrita por una parte interesada dentro de una plataforma que se declara neutral sería un instrumento de campaña. El ciudadano tampoco, porque no hay moderación previa.</a:t>
            </a:r>
            <a:endParaRPr lang="es-HN" sz="975">
              <a:solidFill>
                <a:srgbClr val="39404A"/>
              </a:solidFill>
              <a:latin typeface="Calibri" panose="020F0502020204030204" pitchFamily="34" charset="0"/>
            </a:endParaRPr>
          </a:p>
        </p:txBody>
      </p:sp>
      <p:sp>
        <p:nvSpPr>
          <p:cNvPr id="23" name="Rectángulo: esquinas redondeadas 22">
            <a:extLst>
              <a:ext uri="{FF2B5EF4-FFF2-40B4-BE49-F238E27FC236}">
                <a16:creationId xmlns:a16="http://schemas.microsoft.com/office/drawing/2014/main" id="{FA4FC3DB-8C20-8A67-A0D2-410BA87221BA}"/>
              </a:ext>
            </a:extLst>
          </p:cNvPr>
          <p:cNvSpPr/>
          <p:nvPr/>
        </p:nvSpPr>
        <p:spPr>
          <a:xfrm>
            <a:off x="8020050" y="3924300"/>
            <a:ext cx="3562350" cy="14478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4" name="Rectángulo 23">
            <a:extLst>
              <a:ext uri="{FF2B5EF4-FFF2-40B4-BE49-F238E27FC236}">
                <a16:creationId xmlns:a16="http://schemas.microsoft.com/office/drawing/2014/main" id="{CAEE9F54-9EF3-B2C6-CE75-1D2DBD1D63D3}"/>
              </a:ext>
            </a:extLst>
          </p:cNvPr>
          <p:cNvSpPr/>
          <p:nvPr/>
        </p:nvSpPr>
        <p:spPr>
          <a:xfrm>
            <a:off x="8020050" y="3952875"/>
            <a:ext cx="28575" cy="1390650"/>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5" name="CuadroTexto 24">
            <a:extLst>
              <a:ext uri="{FF2B5EF4-FFF2-40B4-BE49-F238E27FC236}">
                <a16:creationId xmlns:a16="http://schemas.microsoft.com/office/drawing/2014/main" id="{EC8882DB-0689-3E58-228E-7A6F3E45D763}"/>
              </a:ext>
            </a:extLst>
          </p:cNvPr>
          <p:cNvSpPr txBox="1"/>
          <p:nvPr/>
        </p:nvSpPr>
        <p:spPr>
          <a:xfrm>
            <a:off x="8191500" y="4057650"/>
            <a:ext cx="3238500" cy="276999"/>
          </a:xfrm>
          <a:prstGeom prst="rect">
            <a:avLst/>
          </a:prstGeom>
          <a:noFill/>
        </p:spPr>
        <p:txBody>
          <a:bodyPr vert="horz" wrap="square" lIns="0" tIns="0" rIns="0" bIns="0" rtlCol="0" anchor="t">
            <a:noAutofit/>
          </a:bodyPr>
          <a:lstStyle/>
          <a:p>
            <a:pPr>
              <a:lnSpc>
                <a:spcPct val="112000"/>
              </a:lnSpc>
            </a:pPr>
            <a:r>
              <a:rPr lang="es-ES" sz="1200" b="1">
                <a:solidFill>
                  <a:srgbClr val="14171C"/>
                </a:solidFill>
                <a:latin typeface="Georgia" panose="02040502050405020303" pitchFamily="18" charset="0"/>
              </a:rPr>
              <a:t>Conteo y porcentaje, los dos</a:t>
            </a:r>
            <a:endParaRPr lang="es-HN" sz="1200" b="1">
              <a:solidFill>
                <a:srgbClr val="14171C"/>
              </a:solidFill>
              <a:latin typeface="Georgia" panose="02040502050405020303" pitchFamily="18" charset="0"/>
            </a:endParaRPr>
          </a:p>
        </p:txBody>
      </p:sp>
      <p:sp>
        <p:nvSpPr>
          <p:cNvPr id="26" name="CuadroTexto 25">
            <a:extLst>
              <a:ext uri="{FF2B5EF4-FFF2-40B4-BE49-F238E27FC236}">
                <a16:creationId xmlns:a16="http://schemas.microsoft.com/office/drawing/2014/main" id="{682D33AB-38DF-0E42-B4A5-F4E8801BDDF1}"/>
              </a:ext>
            </a:extLst>
          </p:cNvPr>
          <p:cNvSpPr txBox="1"/>
          <p:nvPr/>
        </p:nvSpPr>
        <p:spPr>
          <a:xfrm>
            <a:off x="8191500" y="4343400"/>
            <a:ext cx="3238500" cy="276999"/>
          </a:xfrm>
          <a:prstGeom prst="rect">
            <a:avLst/>
          </a:prstGeom>
          <a:noFill/>
        </p:spPr>
        <p:txBody>
          <a:bodyPr vert="horz" wrap="square" lIns="0" tIns="0" rIns="0" bIns="0" rtlCol="0" anchor="t">
            <a:noAutofit/>
          </a:bodyPr>
          <a:lstStyle/>
          <a:p>
            <a:pPr>
              <a:lnSpc>
                <a:spcPct val="140000"/>
              </a:lnSpc>
            </a:pPr>
            <a:r>
              <a:rPr lang="es-ES" sz="975">
                <a:solidFill>
                  <a:srgbClr val="39404A"/>
                </a:solidFill>
                <a:latin typeface="Calibri" panose="020F0502020204030204" pitchFamily="34" charset="0"/>
              </a:rPr>
              <a:t>El porcentaje solo esconde de cuánta gente sale: el sesenta por ciento de cinco respuestas no es el sesenta por ciento de quinientas. El conteo solo obliga a dividir de cabeza para comparar.</a:t>
            </a:r>
            <a:endParaRPr lang="es-HN" sz="975">
              <a:solidFill>
                <a:srgbClr val="39404A"/>
              </a:solidFill>
              <a:latin typeface="Calibri" panose="020F0502020204030204" pitchFamily="34" charset="0"/>
            </a:endParaRPr>
          </a:p>
        </p:txBody>
      </p:sp>
      <p:sp>
        <p:nvSpPr>
          <p:cNvPr id="27" name="CuadroTexto 26">
            <a:extLst>
              <a:ext uri="{FF2B5EF4-FFF2-40B4-BE49-F238E27FC236}">
                <a16:creationId xmlns:a16="http://schemas.microsoft.com/office/drawing/2014/main" id="{376A42B2-E319-4EF8-8676-762250045C27}"/>
              </a:ext>
            </a:extLst>
          </p:cNvPr>
          <p:cNvSpPr txBox="1"/>
          <p:nvPr/>
        </p:nvSpPr>
        <p:spPr>
          <a:xfrm>
            <a:off x="609600" y="5600700"/>
            <a:ext cx="10972800" cy="276999"/>
          </a:xfrm>
          <a:prstGeom prst="rect">
            <a:avLst/>
          </a:prstGeom>
          <a:noFill/>
        </p:spPr>
        <p:txBody>
          <a:bodyPr vert="horz" wrap="square" lIns="0" tIns="0" rIns="0" bIns="0" rtlCol="0" anchor="t">
            <a:noAutofit/>
          </a:bodyPr>
          <a:lstStyle/>
          <a:p>
            <a:pPr>
              <a:lnSpc>
                <a:spcPct val="135000"/>
              </a:lnSpc>
            </a:pPr>
            <a:r>
              <a:rPr lang="es-ES" sz="975">
                <a:solidFill>
                  <a:srgbClr val="6A7078"/>
                </a:solidFill>
                <a:latin typeface="Calibri" panose="020F0502020204030204" pitchFamily="34" charset="0"/>
              </a:rPr>
              <a:t>El resultado de estas encuestas </a:t>
            </a:r>
            <a:r>
              <a:rPr lang="es-ES" sz="975" b="1">
                <a:solidFill>
                  <a:srgbClr val="6A7078"/>
                </a:solidFill>
                <a:latin typeface="Calibri" panose="020F0502020204030204" pitchFamily="34" charset="0"/>
              </a:rPr>
              <a:t>nunca sobrescribe</a:t>
            </a:r>
            <a:r>
              <a:rPr lang="es-ES" sz="975">
                <a:solidFill>
                  <a:srgbClr val="6A7078"/>
                </a:solidFill>
                <a:latin typeface="Calibri" panose="020F0502020204030204" pitchFamily="34" charset="0"/>
              </a:rPr>
              <a:t> el interés medido en la encuesta metodológica del proyecto: aquella tiene n = 150 con muestreo definido, y esta es una muestra autoseleccionada.</a:t>
            </a:r>
            <a:endParaRPr lang="es-HN" sz="975">
              <a:solidFill>
                <a:srgbClr val="6A7078"/>
              </a:solidFill>
              <a:latin typeface="Calibri" panose="020F0502020204030204" pitchFamily="34" charset="0"/>
            </a:endParaRPr>
          </a:p>
        </p:txBody>
      </p:sp>
    </p:spTree>
    <p:extLst>
      <p:ext uri="{BB962C8B-B14F-4D97-AF65-F5344CB8AC3E}">
        <p14:creationId xmlns:p14="http://schemas.microsoft.com/office/powerpoint/2010/main" val="39038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23054"/>
            </a:gs>
            <a:gs pos="100000">
              <a:srgbClr val="0A1728"/>
            </a:gs>
          </a:gsLst>
          <a:lin ang="18900000" scaled="1"/>
          <a:tileRect/>
        </a:gra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C6886586-289D-6988-019D-A48BF22CDF56}"/>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FDDDDEE2-FD0D-47A2-C234-1A6198113267}"/>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64DEA72A-6948-F557-5EEB-43D194D46449}"/>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413B2E2C-284F-564A-7A79-C43F0688DBE8}"/>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CuadroTexto 5">
            <a:extLst>
              <a:ext uri="{FF2B5EF4-FFF2-40B4-BE49-F238E27FC236}">
                <a16:creationId xmlns:a16="http://schemas.microsoft.com/office/drawing/2014/main" id="{159A6DEB-7C35-2E0D-3F92-96FA43C0237E}"/>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7FC4D8"/>
                </a:solidFill>
                <a:latin typeface="Calibri" panose="020F0502020204030204" pitchFamily="34" charset="0"/>
              </a:rPr>
              <a:t>ESTADO DEL PROYECTO</a:t>
            </a:r>
          </a:p>
        </p:txBody>
      </p:sp>
      <p:sp>
        <p:nvSpPr>
          <p:cNvPr id="7" name="CuadroTexto 6">
            <a:extLst>
              <a:ext uri="{FF2B5EF4-FFF2-40B4-BE49-F238E27FC236}">
                <a16:creationId xmlns:a16="http://schemas.microsoft.com/office/drawing/2014/main" id="{CA0B9F13-0ED1-4599-31FD-413AA61F239A}"/>
              </a:ext>
            </a:extLst>
          </p:cNvPr>
          <p:cNvSpPr txBox="1"/>
          <p:nvPr/>
        </p:nvSpPr>
        <p:spPr>
          <a:xfrm>
            <a:off x="609600" y="1028700"/>
            <a:ext cx="2571750" cy="276999"/>
          </a:xfrm>
          <a:prstGeom prst="rect">
            <a:avLst/>
          </a:prstGeom>
          <a:noFill/>
        </p:spPr>
        <p:txBody>
          <a:bodyPr vert="horz" wrap="square" lIns="0" tIns="0" rIns="0" bIns="0" rtlCol="0" anchor="t">
            <a:noAutofit/>
          </a:bodyPr>
          <a:lstStyle/>
          <a:p>
            <a:r>
              <a:rPr lang="es-HN" sz="2850" b="1">
                <a:solidFill>
                  <a:srgbClr val="FFFFFF"/>
                </a:solidFill>
                <a:latin typeface="Calibri" panose="020F0502020204030204" pitchFamily="34" charset="0"/>
              </a:rPr>
              <a:t>34,046</a:t>
            </a:r>
          </a:p>
        </p:txBody>
      </p:sp>
      <p:sp>
        <p:nvSpPr>
          <p:cNvPr id="8" name="CuadroTexto 7">
            <a:extLst>
              <a:ext uri="{FF2B5EF4-FFF2-40B4-BE49-F238E27FC236}">
                <a16:creationId xmlns:a16="http://schemas.microsoft.com/office/drawing/2014/main" id="{28A94DC7-3FD1-E3D7-30DC-A0982DE86F51}"/>
              </a:ext>
            </a:extLst>
          </p:cNvPr>
          <p:cNvSpPr txBox="1"/>
          <p:nvPr/>
        </p:nvSpPr>
        <p:spPr>
          <a:xfrm>
            <a:off x="609600" y="1543050"/>
            <a:ext cx="2571750" cy="276999"/>
          </a:xfrm>
          <a:prstGeom prst="rect">
            <a:avLst/>
          </a:prstGeom>
          <a:noFill/>
        </p:spPr>
        <p:txBody>
          <a:bodyPr vert="horz" wrap="square" lIns="0" tIns="0" rIns="0" bIns="0" rtlCol="0" anchor="t">
            <a:noAutofit/>
          </a:bodyPr>
          <a:lstStyle/>
          <a:p>
            <a:pPr>
              <a:lnSpc>
                <a:spcPct val="135000"/>
              </a:lnSpc>
            </a:pPr>
            <a:r>
              <a:rPr lang="es-ES" sz="938">
                <a:solidFill>
                  <a:srgbClr val="8BA3BF"/>
                </a:solidFill>
                <a:latin typeface="Calibri" panose="020F0502020204030204" pitchFamily="34" charset="0"/>
              </a:rPr>
              <a:t>líneas de código propio</a:t>
            </a:r>
          </a:p>
          <a:p>
            <a:pPr>
              <a:lnSpc>
                <a:spcPct val="135000"/>
              </a:lnSpc>
            </a:pPr>
            <a:r>
              <a:rPr lang="es-ES" sz="938">
                <a:solidFill>
                  <a:srgbClr val="8BA3BF"/>
                </a:solidFill>
                <a:latin typeface="Calibri" panose="020F0502020204030204" pitchFamily="34" charset="0"/>
              </a:rPr>
              <a:t>C#, T-SQL, marcado, CSS y JS</a:t>
            </a:r>
            <a:endParaRPr lang="es-HN" sz="938">
              <a:solidFill>
                <a:srgbClr val="8BA3BF"/>
              </a:solidFill>
              <a:latin typeface="Calibri" panose="020F0502020204030204" pitchFamily="34" charset="0"/>
            </a:endParaRPr>
          </a:p>
        </p:txBody>
      </p:sp>
      <p:sp>
        <p:nvSpPr>
          <p:cNvPr id="9" name="CuadroTexto 8">
            <a:extLst>
              <a:ext uri="{FF2B5EF4-FFF2-40B4-BE49-F238E27FC236}">
                <a16:creationId xmlns:a16="http://schemas.microsoft.com/office/drawing/2014/main" id="{C1C116C7-E84D-EDEF-6BCA-B6898B1FAD08}"/>
              </a:ext>
            </a:extLst>
          </p:cNvPr>
          <p:cNvSpPr txBox="1"/>
          <p:nvPr/>
        </p:nvSpPr>
        <p:spPr>
          <a:xfrm>
            <a:off x="3352800" y="1028700"/>
            <a:ext cx="2571750" cy="276999"/>
          </a:xfrm>
          <a:prstGeom prst="rect">
            <a:avLst/>
          </a:prstGeom>
          <a:noFill/>
        </p:spPr>
        <p:txBody>
          <a:bodyPr vert="horz" wrap="square" lIns="0" tIns="0" rIns="0" bIns="0" rtlCol="0" anchor="t">
            <a:noAutofit/>
          </a:bodyPr>
          <a:lstStyle/>
          <a:p>
            <a:r>
              <a:rPr lang="es-HN" sz="2850" b="1">
                <a:solidFill>
                  <a:srgbClr val="FFFFFF"/>
                </a:solidFill>
                <a:latin typeface="Calibri" panose="020F0502020204030204" pitchFamily="34" charset="0"/>
              </a:rPr>
              <a:t>23</a:t>
            </a:r>
          </a:p>
        </p:txBody>
      </p:sp>
      <p:sp>
        <p:nvSpPr>
          <p:cNvPr id="10" name="CuadroTexto 9">
            <a:extLst>
              <a:ext uri="{FF2B5EF4-FFF2-40B4-BE49-F238E27FC236}">
                <a16:creationId xmlns:a16="http://schemas.microsoft.com/office/drawing/2014/main" id="{4BF5764A-5961-6848-D678-E9A1FB9A5E80}"/>
              </a:ext>
            </a:extLst>
          </p:cNvPr>
          <p:cNvSpPr txBox="1"/>
          <p:nvPr/>
        </p:nvSpPr>
        <p:spPr>
          <a:xfrm>
            <a:off x="3352800" y="1543050"/>
            <a:ext cx="2571750" cy="276999"/>
          </a:xfrm>
          <a:prstGeom prst="rect">
            <a:avLst/>
          </a:prstGeom>
          <a:noFill/>
        </p:spPr>
        <p:txBody>
          <a:bodyPr vert="horz" wrap="square" lIns="0" tIns="0" rIns="0" bIns="0" rtlCol="0" anchor="t">
            <a:noAutofit/>
          </a:bodyPr>
          <a:lstStyle/>
          <a:p>
            <a:pPr>
              <a:lnSpc>
                <a:spcPct val="135000"/>
              </a:lnSpc>
            </a:pPr>
            <a:r>
              <a:rPr lang="es-ES" sz="938">
                <a:solidFill>
                  <a:srgbClr val="8BA3BF"/>
                </a:solidFill>
                <a:latin typeface="Calibri" panose="020F0502020204030204" pitchFamily="34" charset="0"/>
              </a:rPr>
              <a:t>tablas, con 7 vistas, 3 funciones</a:t>
            </a:r>
          </a:p>
          <a:p>
            <a:pPr>
              <a:lnSpc>
                <a:spcPct val="135000"/>
              </a:lnSpc>
            </a:pPr>
            <a:r>
              <a:rPr lang="es-ES" sz="938">
                <a:solidFill>
                  <a:srgbClr val="8BA3BF"/>
                </a:solidFill>
                <a:latin typeface="Calibri" panose="020F0502020204030204" pitchFamily="34" charset="0"/>
              </a:rPr>
              <a:t>y 35 llaves foráneas</a:t>
            </a:r>
            <a:endParaRPr lang="es-HN" sz="938">
              <a:solidFill>
                <a:srgbClr val="8BA3BF"/>
              </a:solidFill>
              <a:latin typeface="Calibri" panose="020F0502020204030204" pitchFamily="34" charset="0"/>
            </a:endParaRPr>
          </a:p>
        </p:txBody>
      </p:sp>
      <p:sp>
        <p:nvSpPr>
          <p:cNvPr id="11" name="CuadroTexto 10">
            <a:extLst>
              <a:ext uri="{FF2B5EF4-FFF2-40B4-BE49-F238E27FC236}">
                <a16:creationId xmlns:a16="http://schemas.microsoft.com/office/drawing/2014/main" id="{2B55416F-25FA-583B-FD19-F4ED64D0C775}"/>
              </a:ext>
            </a:extLst>
          </p:cNvPr>
          <p:cNvSpPr txBox="1"/>
          <p:nvPr/>
        </p:nvSpPr>
        <p:spPr>
          <a:xfrm>
            <a:off x="6096000" y="1028700"/>
            <a:ext cx="2571750" cy="276999"/>
          </a:xfrm>
          <a:prstGeom prst="rect">
            <a:avLst/>
          </a:prstGeom>
          <a:noFill/>
        </p:spPr>
        <p:txBody>
          <a:bodyPr vert="horz" wrap="square" lIns="0" tIns="0" rIns="0" bIns="0" rtlCol="0" anchor="t">
            <a:noAutofit/>
          </a:bodyPr>
          <a:lstStyle/>
          <a:p>
            <a:r>
              <a:rPr lang="es-HN" sz="2850" b="1">
                <a:solidFill>
                  <a:srgbClr val="FFFFFF"/>
                </a:solidFill>
                <a:latin typeface="Calibri" panose="020F0502020204030204" pitchFamily="34" charset="0"/>
              </a:rPr>
              <a:t>44</a:t>
            </a:r>
          </a:p>
        </p:txBody>
      </p:sp>
      <p:sp>
        <p:nvSpPr>
          <p:cNvPr id="12" name="CuadroTexto 11">
            <a:extLst>
              <a:ext uri="{FF2B5EF4-FFF2-40B4-BE49-F238E27FC236}">
                <a16:creationId xmlns:a16="http://schemas.microsoft.com/office/drawing/2014/main" id="{17C333D1-DD51-C198-D243-E6574AB83858}"/>
              </a:ext>
            </a:extLst>
          </p:cNvPr>
          <p:cNvSpPr txBox="1"/>
          <p:nvPr/>
        </p:nvSpPr>
        <p:spPr>
          <a:xfrm>
            <a:off x="6096000" y="1543050"/>
            <a:ext cx="2571750" cy="276999"/>
          </a:xfrm>
          <a:prstGeom prst="rect">
            <a:avLst/>
          </a:prstGeom>
          <a:noFill/>
        </p:spPr>
        <p:txBody>
          <a:bodyPr vert="horz" wrap="square" lIns="0" tIns="0" rIns="0" bIns="0" rtlCol="0" anchor="t">
            <a:noAutofit/>
          </a:bodyPr>
          <a:lstStyle/>
          <a:p>
            <a:pPr>
              <a:lnSpc>
                <a:spcPct val="135000"/>
              </a:lnSpc>
            </a:pPr>
            <a:r>
              <a:rPr lang="es-ES" sz="938">
                <a:solidFill>
                  <a:srgbClr val="8BA3BF"/>
                </a:solidFill>
                <a:latin typeface="Calibri" panose="020F0502020204030204" pitchFamily="34" charset="0"/>
              </a:rPr>
              <a:t>procedimientos almacenados</a:t>
            </a:r>
          </a:p>
          <a:p>
            <a:pPr>
              <a:lnSpc>
                <a:spcPct val="135000"/>
              </a:lnSpc>
            </a:pPr>
            <a:r>
              <a:rPr lang="es-ES" sz="938">
                <a:solidFill>
                  <a:srgbClr val="8BA3BF"/>
                </a:solidFill>
                <a:latin typeface="Calibri" panose="020F0502020204030204" pitchFamily="34" charset="0"/>
              </a:rPr>
              <a:t>y 51 métodos de servicio</a:t>
            </a:r>
            <a:endParaRPr lang="es-HN" sz="938">
              <a:solidFill>
                <a:srgbClr val="8BA3BF"/>
              </a:solidFill>
              <a:latin typeface="Calibri" panose="020F0502020204030204" pitchFamily="34" charset="0"/>
            </a:endParaRPr>
          </a:p>
        </p:txBody>
      </p:sp>
      <p:sp>
        <p:nvSpPr>
          <p:cNvPr id="13" name="CuadroTexto 12">
            <a:extLst>
              <a:ext uri="{FF2B5EF4-FFF2-40B4-BE49-F238E27FC236}">
                <a16:creationId xmlns:a16="http://schemas.microsoft.com/office/drawing/2014/main" id="{525D9270-70A2-579F-1088-660EFEC4C91A}"/>
              </a:ext>
            </a:extLst>
          </p:cNvPr>
          <p:cNvSpPr txBox="1"/>
          <p:nvPr/>
        </p:nvSpPr>
        <p:spPr>
          <a:xfrm>
            <a:off x="8839200" y="1028700"/>
            <a:ext cx="2571750" cy="276999"/>
          </a:xfrm>
          <a:prstGeom prst="rect">
            <a:avLst/>
          </a:prstGeom>
          <a:noFill/>
        </p:spPr>
        <p:txBody>
          <a:bodyPr vert="horz" wrap="square" lIns="0" tIns="0" rIns="0" bIns="0" rtlCol="0" anchor="t">
            <a:noAutofit/>
          </a:bodyPr>
          <a:lstStyle/>
          <a:p>
            <a:r>
              <a:rPr lang="es-HN" sz="2850" b="1">
                <a:solidFill>
                  <a:srgbClr val="FFFFFF"/>
                </a:solidFill>
                <a:latin typeface="Calibri" panose="020F0502020204030204" pitchFamily="34" charset="0"/>
              </a:rPr>
              <a:t>6 / 6</a:t>
            </a:r>
          </a:p>
        </p:txBody>
      </p:sp>
      <p:sp>
        <p:nvSpPr>
          <p:cNvPr id="14" name="CuadroTexto 13">
            <a:extLst>
              <a:ext uri="{FF2B5EF4-FFF2-40B4-BE49-F238E27FC236}">
                <a16:creationId xmlns:a16="http://schemas.microsoft.com/office/drawing/2014/main" id="{C33756F6-8B97-3589-46EF-83B04DCD3BC2}"/>
              </a:ext>
            </a:extLst>
          </p:cNvPr>
          <p:cNvSpPr txBox="1"/>
          <p:nvPr/>
        </p:nvSpPr>
        <p:spPr>
          <a:xfrm>
            <a:off x="8839200" y="1543050"/>
            <a:ext cx="2571750" cy="276999"/>
          </a:xfrm>
          <a:prstGeom prst="rect">
            <a:avLst/>
          </a:prstGeom>
          <a:noFill/>
        </p:spPr>
        <p:txBody>
          <a:bodyPr vert="horz" wrap="square" lIns="0" tIns="0" rIns="0" bIns="0" rtlCol="0" anchor="t">
            <a:noAutofit/>
          </a:bodyPr>
          <a:lstStyle/>
          <a:p>
            <a:pPr>
              <a:lnSpc>
                <a:spcPct val="135000"/>
              </a:lnSpc>
            </a:pPr>
            <a:r>
              <a:rPr lang="es-ES" sz="938">
                <a:solidFill>
                  <a:srgbClr val="8BA3BF"/>
                </a:solidFill>
                <a:latin typeface="Calibri" panose="020F0502020204030204" pitchFamily="34" charset="0"/>
              </a:rPr>
              <a:t>módulos comprometidos</a:t>
            </a:r>
          </a:p>
          <a:p>
            <a:pPr>
              <a:lnSpc>
                <a:spcPct val="135000"/>
              </a:lnSpc>
            </a:pPr>
            <a:r>
              <a:rPr lang="es-ES" sz="938">
                <a:solidFill>
                  <a:srgbClr val="8BA3BF"/>
                </a:solidFill>
                <a:latin typeface="Calibri" panose="020F0502020204030204" pitchFamily="34" charset="0"/>
              </a:rPr>
              <a:t>en el FO-GR-013, entregados</a:t>
            </a:r>
            <a:endParaRPr lang="es-HN" sz="938">
              <a:solidFill>
                <a:srgbClr val="8BA3BF"/>
              </a:solidFill>
              <a:latin typeface="Calibri" panose="020F0502020204030204" pitchFamily="34" charset="0"/>
            </a:endParaRPr>
          </a:p>
        </p:txBody>
      </p:sp>
      <p:sp>
        <p:nvSpPr>
          <p:cNvPr id="15" name="CuadroTexto 14">
            <a:extLst>
              <a:ext uri="{FF2B5EF4-FFF2-40B4-BE49-F238E27FC236}">
                <a16:creationId xmlns:a16="http://schemas.microsoft.com/office/drawing/2014/main" id="{F37F7492-D571-BF46-C101-C8E24F9A2176}"/>
              </a:ext>
            </a:extLst>
          </p:cNvPr>
          <p:cNvSpPr txBox="1"/>
          <p:nvPr/>
        </p:nvSpPr>
        <p:spPr>
          <a:xfrm>
            <a:off x="609600" y="2209800"/>
            <a:ext cx="5334000" cy="276999"/>
          </a:xfrm>
          <a:prstGeom prst="rect">
            <a:avLst/>
          </a:prstGeom>
          <a:noFill/>
        </p:spPr>
        <p:txBody>
          <a:bodyPr vert="horz" wrap="square" lIns="0" tIns="0" rIns="0" bIns="0" rtlCol="0" anchor="t">
            <a:noAutofit/>
          </a:bodyPr>
          <a:lstStyle/>
          <a:p>
            <a:pPr>
              <a:lnSpc>
                <a:spcPct val="125000"/>
              </a:lnSpc>
            </a:pPr>
            <a:r>
              <a:rPr lang="es-ES" sz="788" b="1" spc="100">
                <a:solidFill>
                  <a:srgbClr val="D3901F"/>
                </a:solidFill>
                <a:latin typeface="Calibri" panose="020F0502020204030204" pitchFamily="34" charset="0"/>
              </a:rPr>
              <a:t>LO QUE QUEDA PENDIENTE, DICHO ANTES DE QUE LO PREGUNTEN</a:t>
            </a:r>
            <a:endParaRPr lang="es-HN" sz="788" b="1" spc="100">
              <a:solidFill>
                <a:srgbClr val="D3901F"/>
              </a:solidFill>
              <a:latin typeface="Calibri" panose="020F0502020204030204" pitchFamily="34" charset="0"/>
            </a:endParaRPr>
          </a:p>
        </p:txBody>
      </p:sp>
      <p:sp>
        <p:nvSpPr>
          <p:cNvPr id="16" name="CuadroTexto 15">
            <a:extLst>
              <a:ext uri="{FF2B5EF4-FFF2-40B4-BE49-F238E27FC236}">
                <a16:creationId xmlns:a16="http://schemas.microsoft.com/office/drawing/2014/main" id="{9E7BDC7B-6859-9ADC-990D-115B8EC4B7D0}"/>
              </a:ext>
            </a:extLst>
          </p:cNvPr>
          <p:cNvSpPr txBox="1"/>
          <p:nvPr/>
        </p:nvSpPr>
        <p:spPr>
          <a:xfrm>
            <a:off x="609600" y="2438400"/>
            <a:ext cx="5334000" cy="276999"/>
          </a:xfrm>
          <a:prstGeom prst="rect">
            <a:avLst/>
          </a:prstGeom>
          <a:noFill/>
        </p:spPr>
        <p:txBody>
          <a:bodyPr vert="horz" wrap="square" lIns="0" tIns="0" rIns="0" bIns="0" rtlCol="0" anchor="t">
            <a:noAutofit/>
          </a:bodyPr>
          <a:lstStyle/>
          <a:p>
            <a:pPr>
              <a:lnSpc>
                <a:spcPct val="145000"/>
              </a:lnSpc>
            </a:pPr>
            <a:r>
              <a:rPr lang="es-ES" sz="1125">
                <a:solidFill>
                  <a:srgbClr val="BACADD"/>
                </a:solidFill>
                <a:latin typeface="Calibri" panose="020F0502020204030204" pitchFamily="34" charset="0"/>
              </a:rPr>
              <a:t>El guardado del perfil y de los proyectos desde el panel del candidato valida del lado del servidor pero todavía no persiste. El código de usuario de valoraciones y comentarios lo envía el frontend, así que el servicio confía en él: se resuelve validando un token de sesión. Las contraseñas siguen sin salt.</a:t>
            </a:r>
            <a:endParaRPr lang="es-HN" sz="1125">
              <a:solidFill>
                <a:srgbClr val="BACADD"/>
              </a:solidFill>
              <a:latin typeface="Calibri" panose="020F0502020204030204" pitchFamily="34" charset="0"/>
            </a:endParaRPr>
          </a:p>
        </p:txBody>
      </p:sp>
      <p:sp>
        <p:nvSpPr>
          <p:cNvPr id="17" name="CuadroTexto 16">
            <a:extLst>
              <a:ext uri="{FF2B5EF4-FFF2-40B4-BE49-F238E27FC236}">
                <a16:creationId xmlns:a16="http://schemas.microsoft.com/office/drawing/2014/main" id="{A17FA910-8D7E-9F27-5864-9327FE384052}"/>
              </a:ext>
            </a:extLst>
          </p:cNvPr>
          <p:cNvSpPr txBox="1"/>
          <p:nvPr/>
        </p:nvSpPr>
        <p:spPr>
          <a:xfrm>
            <a:off x="6248400" y="2209800"/>
            <a:ext cx="5334000" cy="276999"/>
          </a:xfrm>
          <a:prstGeom prst="rect">
            <a:avLst/>
          </a:prstGeom>
          <a:noFill/>
        </p:spPr>
        <p:txBody>
          <a:bodyPr vert="horz" wrap="square" lIns="0" tIns="0" rIns="0" bIns="0" rtlCol="0" anchor="t">
            <a:noAutofit/>
          </a:bodyPr>
          <a:lstStyle/>
          <a:p>
            <a:pPr>
              <a:lnSpc>
                <a:spcPct val="125000"/>
              </a:lnSpc>
            </a:pPr>
            <a:r>
              <a:rPr lang="es-ES" sz="788" b="1" spc="100">
                <a:solidFill>
                  <a:srgbClr val="7FC4D8"/>
                </a:solidFill>
                <a:latin typeface="Calibri" panose="020F0502020204030204" pitchFamily="34" charset="0"/>
              </a:rPr>
              <a:t>TRABAJO FUTURO CON ARGUMENTO, NO CON LISTA DE DESEOS</a:t>
            </a:r>
            <a:endParaRPr lang="es-HN" sz="788" b="1" spc="100">
              <a:solidFill>
                <a:srgbClr val="7FC4D8"/>
              </a:solidFill>
              <a:latin typeface="Calibri" panose="020F0502020204030204" pitchFamily="34" charset="0"/>
            </a:endParaRPr>
          </a:p>
        </p:txBody>
      </p:sp>
      <p:sp>
        <p:nvSpPr>
          <p:cNvPr id="18" name="CuadroTexto 17">
            <a:extLst>
              <a:ext uri="{FF2B5EF4-FFF2-40B4-BE49-F238E27FC236}">
                <a16:creationId xmlns:a16="http://schemas.microsoft.com/office/drawing/2014/main" id="{C0B74B77-E996-58E2-555A-825FD1EF456A}"/>
              </a:ext>
            </a:extLst>
          </p:cNvPr>
          <p:cNvSpPr txBox="1"/>
          <p:nvPr/>
        </p:nvSpPr>
        <p:spPr>
          <a:xfrm>
            <a:off x="6248400" y="2438400"/>
            <a:ext cx="5334000" cy="276999"/>
          </a:xfrm>
          <a:prstGeom prst="rect">
            <a:avLst/>
          </a:prstGeom>
          <a:noFill/>
        </p:spPr>
        <p:txBody>
          <a:bodyPr vert="horz" wrap="square" lIns="0" tIns="0" rIns="0" bIns="0" rtlCol="0" anchor="t">
            <a:noAutofit/>
          </a:bodyPr>
          <a:lstStyle/>
          <a:p>
            <a:pPr>
              <a:lnSpc>
                <a:spcPct val="145000"/>
              </a:lnSpc>
            </a:pPr>
            <a:r>
              <a:rPr lang="es-ES" sz="1125">
                <a:solidFill>
                  <a:srgbClr val="BACADD"/>
                </a:solidFill>
                <a:latin typeface="Calibri" panose="020F0502020204030204" pitchFamily="34" charset="0"/>
              </a:rPr>
              <a:t>Verificación por SMS: evaluada y descartada por costo, no por debilidad — 0.33 dólares por mensaje, unos 50 para la muestra de 150. Desde marzo de 2025 CONATEL exige registro biométrico para una línea, así que controlar un número se acerca mucho más a la identidad que controlar un correo.</a:t>
            </a:r>
            <a:endParaRPr lang="es-HN" sz="1125">
              <a:solidFill>
                <a:srgbClr val="BACADD"/>
              </a:solidFill>
              <a:latin typeface="Calibri" panose="020F0502020204030204" pitchFamily="34" charset="0"/>
            </a:endParaRPr>
          </a:p>
        </p:txBody>
      </p:sp>
      <p:cxnSp>
        <p:nvCxnSpPr>
          <p:cNvPr id="19" name="Conector recto 18">
            <a:extLst>
              <a:ext uri="{FF2B5EF4-FFF2-40B4-BE49-F238E27FC236}">
                <a16:creationId xmlns:a16="http://schemas.microsoft.com/office/drawing/2014/main" id="{707A6270-A9CE-89F1-5863-6330B07EAE3A}"/>
              </a:ext>
            </a:extLst>
          </p:cNvPr>
          <p:cNvCxnSpPr/>
          <p:nvPr/>
        </p:nvCxnSpPr>
        <p:spPr>
          <a:xfrm>
            <a:off x="609600" y="3810000"/>
            <a:ext cx="10972800" cy="0"/>
          </a:xfrm>
          <a:prstGeom prst="line">
            <a:avLst/>
          </a:prstGeom>
          <a:ln w="9525">
            <a:solidFill>
              <a:srgbClr val="3E5F86"/>
            </a:solidFill>
          </a:ln>
        </p:spPr>
        <p:style>
          <a:lnRef idx="2">
            <a:schemeClr val="accent1"/>
          </a:lnRef>
          <a:fillRef idx="0">
            <a:schemeClr val="accent1"/>
          </a:fillRef>
          <a:effectRef idx="1">
            <a:schemeClr val="accent1"/>
          </a:effectRef>
          <a:fontRef idx="minor">
            <a:schemeClr val="tx1"/>
          </a:fontRef>
        </p:style>
      </p:cxnSp>
      <p:sp>
        <p:nvSpPr>
          <p:cNvPr id="20" name="CuadroTexto 19">
            <a:extLst>
              <a:ext uri="{FF2B5EF4-FFF2-40B4-BE49-F238E27FC236}">
                <a16:creationId xmlns:a16="http://schemas.microsoft.com/office/drawing/2014/main" id="{4E99008B-309E-EC85-1A9B-FDA60D734516}"/>
              </a:ext>
            </a:extLst>
          </p:cNvPr>
          <p:cNvSpPr txBox="1"/>
          <p:nvPr/>
        </p:nvSpPr>
        <p:spPr>
          <a:xfrm>
            <a:off x="609600" y="4076700"/>
            <a:ext cx="7239000" cy="276999"/>
          </a:xfrm>
          <a:prstGeom prst="rect">
            <a:avLst/>
          </a:prstGeom>
          <a:noFill/>
        </p:spPr>
        <p:txBody>
          <a:bodyPr vert="horz" wrap="square" lIns="0" tIns="0" rIns="0" bIns="0" rtlCol="0" anchor="t">
            <a:noAutofit/>
          </a:bodyPr>
          <a:lstStyle/>
          <a:p>
            <a:pPr>
              <a:lnSpc>
                <a:spcPct val="125000"/>
              </a:lnSpc>
            </a:pPr>
            <a:r>
              <a:rPr lang="es-ES" sz="2550" b="1">
                <a:solidFill>
                  <a:srgbClr val="FFFFFF"/>
                </a:solidFill>
                <a:latin typeface="Georgia" panose="02040502050405020303" pitchFamily="18" charset="0"/>
              </a:rPr>
              <a:t>CumpleHN no dice quién cumple mejor.</a:t>
            </a:r>
          </a:p>
          <a:p>
            <a:pPr>
              <a:lnSpc>
                <a:spcPct val="125000"/>
              </a:lnSpc>
            </a:pPr>
            <a:r>
              <a:rPr lang="es-ES" sz="2550" b="1">
                <a:solidFill>
                  <a:srgbClr val="FFFFFF"/>
                </a:solidFill>
                <a:latin typeface="Georgia" panose="02040502050405020303" pitchFamily="18" charset="0"/>
              </a:rPr>
              <a:t>Ordena la evidencia para que </a:t>
            </a:r>
            <a:r>
              <a:rPr lang="es-ES" sz="2550" b="1">
                <a:solidFill>
                  <a:srgbClr val="F0B552"/>
                </a:solidFill>
                <a:latin typeface="Georgia" panose="02040502050405020303" pitchFamily="18" charset="0"/>
              </a:rPr>
              <a:t>cada quien lo juzgue</a:t>
            </a:r>
            <a:r>
              <a:rPr lang="es-ES" sz="2550" b="1">
                <a:solidFill>
                  <a:srgbClr val="FFFFFF"/>
                </a:solidFill>
                <a:latin typeface="Georgia" panose="02040502050405020303" pitchFamily="18" charset="0"/>
              </a:rPr>
              <a:t>.</a:t>
            </a:r>
            <a:endParaRPr lang="es-HN" sz="2550" b="1">
              <a:solidFill>
                <a:srgbClr val="FFFFFF"/>
              </a:solidFill>
              <a:latin typeface="Georgia" panose="02040502050405020303" pitchFamily="18" charset="0"/>
            </a:endParaRPr>
          </a:p>
        </p:txBody>
      </p:sp>
    </p:spTree>
    <p:extLst>
      <p:ext uri="{BB962C8B-B14F-4D97-AF65-F5344CB8AC3E}">
        <p14:creationId xmlns:p14="http://schemas.microsoft.com/office/powerpoint/2010/main" val="1684414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BF50AC13-CE75-C1C7-43AB-3FDB6EDDC403}"/>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6A1B5699-C438-6293-D5A4-49721046C15A}"/>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487702F3-88E9-38C7-6C8D-DDA0DF3C059D}"/>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AF794EF2-4284-3B54-98CF-021F32247356}"/>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Rectángulo: esquinas redondeadas 5">
            <a:extLst>
              <a:ext uri="{FF2B5EF4-FFF2-40B4-BE49-F238E27FC236}">
                <a16:creationId xmlns:a16="http://schemas.microsoft.com/office/drawing/2014/main" id="{B1289681-64E4-07B5-24AB-D56AA15109F5}"/>
              </a:ext>
            </a:extLst>
          </p:cNvPr>
          <p:cNvSpPr/>
          <p:nvPr/>
        </p:nvSpPr>
        <p:spPr>
          <a:xfrm>
            <a:off x="9715500" y="266700"/>
            <a:ext cx="1866900" cy="209550"/>
          </a:xfrm>
          <a:prstGeom prst="roundRect">
            <a:avLst>
              <a:gd name="adj" fmla="val 6000"/>
            </a:avLst>
          </a:prstGeom>
          <a:solidFill>
            <a:srgbClr val="FDF6E9"/>
          </a:solidFill>
          <a:ln w="12700">
            <a:solidFill>
              <a:srgbClr val="D390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7" name="CuadroTexto 6">
            <a:extLst>
              <a:ext uri="{FF2B5EF4-FFF2-40B4-BE49-F238E27FC236}">
                <a16:creationId xmlns:a16="http://schemas.microsoft.com/office/drawing/2014/main" id="{24C5A46C-406E-6901-A5EF-283D412D9CF3}"/>
              </a:ext>
            </a:extLst>
          </p:cNvPr>
          <p:cNvSpPr txBox="1"/>
          <p:nvPr/>
        </p:nvSpPr>
        <p:spPr>
          <a:xfrm>
            <a:off x="9715500" y="323850"/>
            <a:ext cx="1866900" cy="276999"/>
          </a:xfrm>
          <a:prstGeom prst="rect">
            <a:avLst/>
          </a:prstGeom>
          <a:noFill/>
        </p:spPr>
        <p:txBody>
          <a:bodyPr vert="horz" wrap="square" lIns="0" tIns="0" rIns="0" bIns="0" rtlCol="0" anchor="t">
            <a:noAutofit/>
          </a:bodyPr>
          <a:lstStyle/>
          <a:p>
            <a:pPr algn="ctr">
              <a:lnSpc>
                <a:spcPct val="125000"/>
              </a:lnSpc>
            </a:pPr>
            <a:r>
              <a:rPr lang="es-HN" sz="750" b="1" spc="120">
                <a:solidFill>
                  <a:srgbClr val="B8791A"/>
                </a:solidFill>
                <a:latin typeface="Calibri" panose="020F0502020204030204" pitchFamily="34" charset="0"/>
              </a:rPr>
              <a:t>LÁMINA DE RESPALDO</a:t>
            </a:r>
          </a:p>
        </p:txBody>
      </p:sp>
      <p:sp>
        <p:nvSpPr>
          <p:cNvPr id="8" name="CuadroTexto 7">
            <a:extLst>
              <a:ext uri="{FF2B5EF4-FFF2-40B4-BE49-F238E27FC236}">
                <a16:creationId xmlns:a16="http://schemas.microsoft.com/office/drawing/2014/main" id="{CD414BAE-C6CE-C18A-6EBA-41E6929D7041}"/>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17708A"/>
                </a:solidFill>
                <a:latin typeface="Calibri" panose="020F0502020204030204" pitchFamily="34" charset="0"/>
              </a:rPr>
              <a:t>RESPALDO · ANTECEDENTES</a:t>
            </a:r>
          </a:p>
        </p:txBody>
      </p:sp>
      <p:sp>
        <p:nvSpPr>
          <p:cNvPr id="9" name="CuadroTexto 8">
            <a:extLst>
              <a:ext uri="{FF2B5EF4-FFF2-40B4-BE49-F238E27FC236}">
                <a16:creationId xmlns:a16="http://schemas.microsoft.com/office/drawing/2014/main" id="{7E5D0EA3-6189-AD27-74D1-99F5E15E32E9}"/>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400" b="1">
                <a:solidFill>
                  <a:srgbClr val="14171C"/>
                </a:solidFill>
                <a:latin typeface="Georgia" panose="02040502050405020303" pitchFamily="18" charset="0"/>
              </a:rPr>
              <a:t>Rastreadores de promesas en el mundo</a:t>
            </a:r>
            <a:endParaRPr lang="es-HN" sz="2400" b="1">
              <a:solidFill>
                <a:srgbClr val="14171C"/>
              </a:solidFill>
              <a:latin typeface="Georgia" panose="02040502050405020303" pitchFamily="18" charset="0"/>
            </a:endParaRPr>
          </a:p>
        </p:txBody>
      </p:sp>
      <p:sp>
        <p:nvSpPr>
          <p:cNvPr id="10" name="CuadroTexto 9">
            <a:extLst>
              <a:ext uri="{FF2B5EF4-FFF2-40B4-BE49-F238E27FC236}">
                <a16:creationId xmlns:a16="http://schemas.microsoft.com/office/drawing/2014/main" id="{CAD04559-4FBE-B5A6-38C1-33282C72B9FF}"/>
              </a:ext>
            </a:extLst>
          </p:cNvPr>
          <p:cNvSpPr txBox="1"/>
          <p:nvPr/>
        </p:nvSpPr>
        <p:spPr>
          <a:xfrm>
            <a:off x="609600" y="1333500"/>
            <a:ext cx="1885950" cy="276999"/>
          </a:xfrm>
          <a:prstGeom prst="rect">
            <a:avLst/>
          </a:prstGeom>
          <a:noFill/>
        </p:spPr>
        <p:txBody>
          <a:bodyPr vert="horz" wrap="square" lIns="0" tIns="0" rIns="0" bIns="0" rtlCol="0" anchor="t">
            <a:noAutofit/>
          </a:bodyPr>
          <a:lstStyle/>
          <a:p>
            <a:pPr>
              <a:lnSpc>
                <a:spcPct val="125000"/>
              </a:lnSpc>
            </a:pPr>
            <a:r>
              <a:rPr lang="es-HN" sz="788" b="1" spc="90">
                <a:solidFill>
                  <a:srgbClr val="6A7078"/>
                </a:solidFill>
                <a:latin typeface="Calibri" panose="020F0502020204030204" pitchFamily="34" charset="0"/>
              </a:rPr>
              <a:t>INICIATIVA</a:t>
            </a:r>
          </a:p>
        </p:txBody>
      </p:sp>
      <p:sp>
        <p:nvSpPr>
          <p:cNvPr id="11" name="CuadroTexto 10">
            <a:extLst>
              <a:ext uri="{FF2B5EF4-FFF2-40B4-BE49-F238E27FC236}">
                <a16:creationId xmlns:a16="http://schemas.microsoft.com/office/drawing/2014/main" id="{8BEEC271-4A7F-8EC7-AA33-6F537D2D1896}"/>
              </a:ext>
            </a:extLst>
          </p:cNvPr>
          <p:cNvSpPr txBox="1"/>
          <p:nvPr/>
        </p:nvSpPr>
        <p:spPr>
          <a:xfrm>
            <a:off x="2609850" y="1333500"/>
            <a:ext cx="1695450" cy="276999"/>
          </a:xfrm>
          <a:prstGeom prst="rect">
            <a:avLst/>
          </a:prstGeom>
          <a:noFill/>
        </p:spPr>
        <p:txBody>
          <a:bodyPr vert="horz" wrap="square" lIns="0" tIns="0" rIns="0" bIns="0" rtlCol="0" anchor="t">
            <a:noAutofit/>
          </a:bodyPr>
          <a:lstStyle/>
          <a:p>
            <a:pPr>
              <a:lnSpc>
                <a:spcPct val="125000"/>
              </a:lnSpc>
            </a:pPr>
            <a:r>
              <a:rPr lang="es-HN" sz="788" b="1" spc="90">
                <a:solidFill>
                  <a:srgbClr val="6A7078"/>
                </a:solidFill>
                <a:latin typeface="Calibri" panose="020F0502020204030204" pitchFamily="34" charset="0"/>
              </a:rPr>
              <a:t>PAÍS Y AÑO</a:t>
            </a:r>
          </a:p>
        </p:txBody>
      </p:sp>
      <p:sp>
        <p:nvSpPr>
          <p:cNvPr id="12" name="CuadroTexto 11">
            <a:extLst>
              <a:ext uri="{FF2B5EF4-FFF2-40B4-BE49-F238E27FC236}">
                <a16:creationId xmlns:a16="http://schemas.microsoft.com/office/drawing/2014/main" id="{E43C5ACF-7842-C98B-1A05-7A6C703016DE}"/>
              </a:ext>
            </a:extLst>
          </p:cNvPr>
          <p:cNvSpPr txBox="1"/>
          <p:nvPr/>
        </p:nvSpPr>
        <p:spPr>
          <a:xfrm>
            <a:off x="4419600" y="1333500"/>
            <a:ext cx="3695700" cy="276999"/>
          </a:xfrm>
          <a:prstGeom prst="rect">
            <a:avLst/>
          </a:prstGeom>
          <a:noFill/>
        </p:spPr>
        <p:txBody>
          <a:bodyPr vert="horz" wrap="square" lIns="0" tIns="0" rIns="0" bIns="0" rtlCol="0" anchor="t">
            <a:noAutofit/>
          </a:bodyPr>
          <a:lstStyle/>
          <a:p>
            <a:pPr>
              <a:lnSpc>
                <a:spcPct val="125000"/>
              </a:lnSpc>
            </a:pPr>
            <a:r>
              <a:rPr lang="es-HN" sz="788" b="1" spc="90">
                <a:solidFill>
                  <a:srgbClr val="6A7078"/>
                </a:solidFill>
                <a:latin typeface="Calibri" panose="020F0502020204030204" pitchFamily="34" charset="0"/>
              </a:rPr>
              <a:t>QUÉ HACE</a:t>
            </a:r>
          </a:p>
        </p:txBody>
      </p:sp>
      <p:sp>
        <p:nvSpPr>
          <p:cNvPr id="13" name="CuadroTexto 12">
            <a:extLst>
              <a:ext uri="{FF2B5EF4-FFF2-40B4-BE49-F238E27FC236}">
                <a16:creationId xmlns:a16="http://schemas.microsoft.com/office/drawing/2014/main" id="{B306A8A1-9FAC-6100-5053-55078E20EB1C}"/>
              </a:ext>
            </a:extLst>
          </p:cNvPr>
          <p:cNvSpPr txBox="1"/>
          <p:nvPr/>
        </p:nvSpPr>
        <p:spPr>
          <a:xfrm>
            <a:off x="8229600" y="1333500"/>
            <a:ext cx="3238500" cy="276999"/>
          </a:xfrm>
          <a:prstGeom prst="rect">
            <a:avLst/>
          </a:prstGeom>
          <a:noFill/>
        </p:spPr>
        <p:txBody>
          <a:bodyPr vert="horz" wrap="square" lIns="0" tIns="0" rIns="0" bIns="0" rtlCol="0" anchor="t">
            <a:noAutofit/>
          </a:bodyPr>
          <a:lstStyle/>
          <a:p>
            <a:pPr>
              <a:lnSpc>
                <a:spcPct val="125000"/>
              </a:lnSpc>
            </a:pPr>
            <a:r>
              <a:rPr lang="es-HN" sz="788" b="1" spc="90">
                <a:solidFill>
                  <a:srgbClr val="6A7078"/>
                </a:solidFill>
                <a:latin typeface="Calibri" panose="020F0502020204030204" pitchFamily="34" charset="0"/>
              </a:rPr>
              <a:t>QUÉ NO CUBRE</a:t>
            </a:r>
          </a:p>
        </p:txBody>
      </p:sp>
      <p:cxnSp>
        <p:nvCxnSpPr>
          <p:cNvPr id="14" name="Conector recto 13">
            <a:extLst>
              <a:ext uri="{FF2B5EF4-FFF2-40B4-BE49-F238E27FC236}">
                <a16:creationId xmlns:a16="http://schemas.microsoft.com/office/drawing/2014/main" id="{EE6BEACB-BAEF-D5D1-4D20-6DA4C134471B}"/>
              </a:ext>
            </a:extLst>
          </p:cNvPr>
          <p:cNvCxnSpPr/>
          <p:nvPr/>
        </p:nvCxnSpPr>
        <p:spPr>
          <a:xfrm>
            <a:off x="609600" y="1581150"/>
            <a:ext cx="10858500" cy="0"/>
          </a:xfrm>
          <a:prstGeom prst="line">
            <a:avLst/>
          </a:prstGeom>
          <a:ln w="9525">
            <a:solidFill>
              <a:srgbClr val="E3E1DD"/>
            </a:solidFill>
          </a:ln>
        </p:spPr>
        <p:style>
          <a:lnRef idx="2">
            <a:schemeClr val="accent1"/>
          </a:lnRef>
          <a:fillRef idx="0">
            <a:schemeClr val="accent1"/>
          </a:fillRef>
          <a:effectRef idx="1">
            <a:schemeClr val="accent1"/>
          </a:effectRef>
          <a:fontRef idx="minor">
            <a:schemeClr val="tx1"/>
          </a:fontRef>
        </p:style>
      </p:cxnSp>
      <p:sp>
        <p:nvSpPr>
          <p:cNvPr id="15" name="CuadroTexto 14">
            <a:extLst>
              <a:ext uri="{FF2B5EF4-FFF2-40B4-BE49-F238E27FC236}">
                <a16:creationId xmlns:a16="http://schemas.microsoft.com/office/drawing/2014/main" id="{537EFFB9-9BD1-27F9-59E9-B313D1D8D514}"/>
              </a:ext>
            </a:extLst>
          </p:cNvPr>
          <p:cNvSpPr txBox="1"/>
          <p:nvPr/>
        </p:nvSpPr>
        <p:spPr>
          <a:xfrm>
            <a:off x="609600" y="1638300"/>
            <a:ext cx="1885950" cy="276999"/>
          </a:xfrm>
          <a:prstGeom prst="rect">
            <a:avLst/>
          </a:prstGeom>
          <a:noFill/>
        </p:spPr>
        <p:txBody>
          <a:bodyPr vert="horz" wrap="square" lIns="0" tIns="0" rIns="0" bIns="0" rtlCol="0" anchor="t">
            <a:noAutofit/>
          </a:bodyPr>
          <a:lstStyle/>
          <a:p>
            <a:pPr>
              <a:lnSpc>
                <a:spcPct val="130000"/>
              </a:lnSpc>
            </a:pPr>
            <a:r>
              <a:rPr lang="es-HN" sz="975" b="1">
                <a:solidFill>
                  <a:srgbClr val="39404A"/>
                </a:solidFill>
                <a:latin typeface="Calibri" panose="020F0502020204030204" pitchFamily="34" charset="0"/>
              </a:rPr>
              <a:t>PolitiFact</a:t>
            </a:r>
          </a:p>
        </p:txBody>
      </p:sp>
      <p:sp>
        <p:nvSpPr>
          <p:cNvPr id="16" name="CuadroTexto 15">
            <a:extLst>
              <a:ext uri="{FF2B5EF4-FFF2-40B4-BE49-F238E27FC236}">
                <a16:creationId xmlns:a16="http://schemas.microsoft.com/office/drawing/2014/main" id="{50948866-EDD5-CA76-BF96-FC252A5FFC32}"/>
              </a:ext>
            </a:extLst>
          </p:cNvPr>
          <p:cNvSpPr txBox="1"/>
          <p:nvPr/>
        </p:nvSpPr>
        <p:spPr>
          <a:xfrm>
            <a:off x="2609850" y="1638300"/>
            <a:ext cx="1695450" cy="276999"/>
          </a:xfrm>
          <a:prstGeom prst="rect">
            <a:avLst/>
          </a:prstGeom>
          <a:noFill/>
        </p:spPr>
        <p:txBody>
          <a:bodyPr vert="horz" wrap="square" lIns="0" tIns="0" rIns="0" bIns="0" rtlCol="0" anchor="t">
            <a:noAutofit/>
          </a:bodyPr>
          <a:lstStyle/>
          <a:p>
            <a:pPr>
              <a:lnSpc>
                <a:spcPct val="130000"/>
              </a:lnSpc>
            </a:pPr>
            <a:r>
              <a:rPr lang="es-HN" sz="975">
                <a:solidFill>
                  <a:srgbClr val="39404A"/>
                </a:solidFill>
                <a:latin typeface="Calibri" panose="020F0502020204030204" pitchFamily="34" charset="0"/>
              </a:rPr>
              <a:t>Estados Unidos, desde 2007 · Poynter Institute</a:t>
            </a:r>
          </a:p>
        </p:txBody>
      </p:sp>
      <p:sp>
        <p:nvSpPr>
          <p:cNvPr id="17" name="CuadroTexto 16">
            <a:extLst>
              <a:ext uri="{FF2B5EF4-FFF2-40B4-BE49-F238E27FC236}">
                <a16:creationId xmlns:a16="http://schemas.microsoft.com/office/drawing/2014/main" id="{E60E3FFC-A5D6-55B4-55EB-383972A0B1A5}"/>
              </a:ext>
            </a:extLst>
          </p:cNvPr>
          <p:cNvSpPr txBox="1"/>
          <p:nvPr/>
        </p:nvSpPr>
        <p:spPr>
          <a:xfrm>
            <a:off x="4419600" y="1638300"/>
            <a:ext cx="3695700" cy="276999"/>
          </a:xfrm>
          <a:prstGeom prst="rect">
            <a:avLst/>
          </a:prstGeom>
          <a:noFill/>
        </p:spPr>
        <p:txBody>
          <a:bodyPr vert="horz" wrap="square" lIns="0" tIns="0" rIns="0" bIns="0" rtlCol="0" anchor="t">
            <a:noAutofit/>
          </a:bodyPr>
          <a:lstStyle/>
          <a:p>
            <a:pPr>
              <a:lnSpc>
                <a:spcPct val="130000"/>
              </a:lnSpc>
            </a:pPr>
            <a:r>
              <a:rPr lang="es-ES" sz="975">
                <a:solidFill>
                  <a:srgbClr val="39404A"/>
                </a:solidFill>
                <a:latin typeface="Calibri" panose="020F0502020204030204" pitchFamily="34" charset="0"/>
              </a:rPr>
              <a:t>Verificación de declaraciones públicas y rastreador de promesas con seis categorías ordenadas, incluidos estados intermedios.</a:t>
            </a:r>
            <a:endParaRPr lang="es-HN" sz="975">
              <a:solidFill>
                <a:srgbClr val="39404A"/>
              </a:solidFill>
              <a:latin typeface="Calibri" panose="020F0502020204030204" pitchFamily="34" charset="0"/>
            </a:endParaRPr>
          </a:p>
        </p:txBody>
      </p:sp>
      <p:sp>
        <p:nvSpPr>
          <p:cNvPr id="18" name="CuadroTexto 17">
            <a:extLst>
              <a:ext uri="{FF2B5EF4-FFF2-40B4-BE49-F238E27FC236}">
                <a16:creationId xmlns:a16="http://schemas.microsoft.com/office/drawing/2014/main" id="{B66B60C2-D5F1-5FEF-80A2-0F0F44A924CB}"/>
              </a:ext>
            </a:extLst>
          </p:cNvPr>
          <p:cNvSpPr txBox="1"/>
          <p:nvPr/>
        </p:nvSpPr>
        <p:spPr>
          <a:xfrm>
            <a:off x="8229600" y="1638300"/>
            <a:ext cx="3238500" cy="276999"/>
          </a:xfrm>
          <a:prstGeom prst="rect">
            <a:avLst/>
          </a:prstGeom>
          <a:noFill/>
        </p:spPr>
        <p:txBody>
          <a:bodyPr vert="horz" wrap="square" lIns="0" tIns="0" rIns="0" bIns="0" rtlCol="0" anchor="t">
            <a:noAutofit/>
          </a:bodyPr>
          <a:lstStyle/>
          <a:p>
            <a:pPr>
              <a:lnSpc>
                <a:spcPct val="130000"/>
              </a:lnSpc>
            </a:pPr>
            <a:r>
              <a:rPr lang="es-ES" sz="975">
                <a:solidFill>
                  <a:srgbClr val="39404A"/>
                </a:solidFill>
                <a:latin typeface="Calibri" panose="020F0502020204030204" pitchFamily="34" charset="0"/>
              </a:rPr>
              <a:t>De ahí se toma el esquema de estados de cumplimiento de CumpleHN.</a:t>
            </a:r>
            <a:endParaRPr lang="es-HN" sz="975">
              <a:solidFill>
                <a:srgbClr val="39404A"/>
              </a:solidFill>
              <a:latin typeface="Calibri" panose="020F0502020204030204" pitchFamily="34" charset="0"/>
            </a:endParaRPr>
          </a:p>
        </p:txBody>
      </p:sp>
      <p:cxnSp>
        <p:nvCxnSpPr>
          <p:cNvPr id="19" name="Conector recto 18">
            <a:extLst>
              <a:ext uri="{FF2B5EF4-FFF2-40B4-BE49-F238E27FC236}">
                <a16:creationId xmlns:a16="http://schemas.microsoft.com/office/drawing/2014/main" id="{AE0296E9-AE2B-9801-5225-9B654717EDB6}"/>
              </a:ext>
            </a:extLst>
          </p:cNvPr>
          <p:cNvCxnSpPr/>
          <p:nvPr/>
        </p:nvCxnSpPr>
        <p:spPr>
          <a:xfrm>
            <a:off x="609600" y="2305050"/>
            <a:ext cx="10858500"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20" name="CuadroTexto 19">
            <a:extLst>
              <a:ext uri="{FF2B5EF4-FFF2-40B4-BE49-F238E27FC236}">
                <a16:creationId xmlns:a16="http://schemas.microsoft.com/office/drawing/2014/main" id="{F0D2DB2C-B8DF-CA18-BCAA-9826D873D380}"/>
              </a:ext>
            </a:extLst>
          </p:cNvPr>
          <p:cNvSpPr txBox="1"/>
          <p:nvPr/>
        </p:nvSpPr>
        <p:spPr>
          <a:xfrm>
            <a:off x="609600" y="2343150"/>
            <a:ext cx="1885950" cy="276999"/>
          </a:xfrm>
          <a:prstGeom prst="rect">
            <a:avLst/>
          </a:prstGeom>
          <a:noFill/>
        </p:spPr>
        <p:txBody>
          <a:bodyPr vert="horz" wrap="square" lIns="0" tIns="0" rIns="0" bIns="0" rtlCol="0" anchor="t">
            <a:noAutofit/>
          </a:bodyPr>
          <a:lstStyle/>
          <a:p>
            <a:pPr>
              <a:lnSpc>
                <a:spcPct val="130000"/>
              </a:lnSpc>
            </a:pPr>
            <a:r>
              <a:rPr lang="es-HN" sz="975" b="1">
                <a:solidFill>
                  <a:srgbClr val="39404A"/>
                </a:solidFill>
                <a:latin typeface="Calibri" panose="020F0502020204030204" pitchFamily="34" charset="0"/>
              </a:rPr>
              <a:t>Chequeado</a:t>
            </a:r>
          </a:p>
        </p:txBody>
      </p:sp>
      <p:sp>
        <p:nvSpPr>
          <p:cNvPr id="21" name="CuadroTexto 20">
            <a:extLst>
              <a:ext uri="{FF2B5EF4-FFF2-40B4-BE49-F238E27FC236}">
                <a16:creationId xmlns:a16="http://schemas.microsoft.com/office/drawing/2014/main" id="{7D2D94B0-BE64-F1A9-C6E1-463756E2DC34}"/>
              </a:ext>
            </a:extLst>
          </p:cNvPr>
          <p:cNvSpPr txBox="1"/>
          <p:nvPr/>
        </p:nvSpPr>
        <p:spPr>
          <a:xfrm>
            <a:off x="2609850" y="2343150"/>
            <a:ext cx="1695450" cy="276999"/>
          </a:xfrm>
          <a:prstGeom prst="rect">
            <a:avLst/>
          </a:prstGeom>
          <a:noFill/>
        </p:spPr>
        <p:txBody>
          <a:bodyPr vert="horz" wrap="square" lIns="0" tIns="0" rIns="0" bIns="0" rtlCol="0" anchor="t">
            <a:noAutofit/>
          </a:bodyPr>
          <a:lstStyle/>
          <a:p>
            <a:pPr>
              <a:lnSpc>
                <a:spcPct val="130000"/>
              </a:lnSpc>
            </a:pPr>
            <a:r>
              <a:rPr lang="es-HN" sz="975">
                <a:solidFill>
                  <a:srgbClr val="39404A"/>
                </a:solidFill>
                <a:latin typeface="Calibri" panose="020F0502020204030204" pitchFamily="34" charset="0"/>
              </a:rPr>
              <a:t>Argentina, desde 2010</a:t>
            </a:r>
          </a:p>
        </p:txBody>
      </p:sp>
      <p:sp>
        <p:nvSpPr>
          <p:cNvPr id="22" name="CuadroTexto 21">
            <a:extLst>
              <a:ext uri="{FF2B5EF4-FFF2-40B4-BE49-F238E27FC236}">
                <a16:creationId xmlns:a16="http://schemas.microsoft.com/office/drawing/2014/main" id="{0E0F9736-4209-22FA-8164-B91E339EAE45}"/>
              </a:ext>
            </a:extLst>
          </p:cNvPr>
          <p:cNvSpPr txBox="1"/>
          <p:nvPr/>
        </p:nvSpPr>
        <p:spPr>
          <a:xfrm>
            <a:off x="4419600" y="2343150"/>
            <a:ext cx="3695700" cy="276999"/>
          </a:xfrm>
          <a:prstGeom prst="rect">
            <a:avLst/>
          </a:prstGeom>
          <a:noFill/>
        </p:spPr>
        <p:txBody>
          <a:bodyPr vert="horz" wrap="square" lIns="0" tIns="0" rIns="0" bIns="0" rtlCol="0" anchor="t">
            <a:noAutofit/>
          </a:bodyPr>
          <a:lstStyle/>
          <a:p>
            <a:pPr>
              <a:lnSpc>
                <a:spcPct val="130000"/>
              </a:lnSpc>
            </a:pPr>
            <a:r>
              <a:rPr lang="es-ES" sz="975">
                <a:solidFill>
                  <a:srgbClr val="39404A"/>
                </a:solidFill>
                <a:latin typeface="Calibri" panose="020F0502020204030204" pitchFamily="34" charset="0"/>
              </a:rPr>
              <a:t>Verificación del discurso público. Su modelo se replicó por aliados en la región.</a:t>
            </a:r>
            <a:endParaRPr lang="es-HN" sz="975">
              <a:solidFill>
                <a:srgbClr val="39404A"/>
              </a:solidFill>
              <a:latin typeface="Calibri" panose="020F0502020204030204" pitchFamily="34" charset="0"/>
            </a:endParaRPr>
          </a:p>
        </p:txBody>
      </p:sp>
      <p:sp>
        <p:nvSpPr>
          <p:cNvPr id="23" name="CuadroTexto 22">
            <a:extLst>
              <a:ext uri="{FF2B5EF4-FFF2-40B4-BE49-F238E27FC236}">
                <a16:creationId xmlns:a16="http://schemas.microsoft.com/office/drawing/2014/main" id="{4414B14B-A5DC-61DD-CE35-CB996676ECFF}"/>
              </a:ext>
            </a:extLst>
          </p:cNvPr>
          <p:cNvSpPr txBox="1"/>
          <p:nvPr/>
        </p:nvSpPr>
        <p:spPr>
          <a:xfrm>
            <a:off x="8229600" y="2343150"/>
            <a:ext cx="3238500" cy="276999"/>
          </a:xfrm>
          <a:prstGeom prst="rect">
            <a:avLst/>
          </a:prstGeom>
          <a:noFill/>
        </p:spPr>
        <p:txBody>
          <a:bodyPr vert="horz" wrap="square" lIns="0" tIns="0" rIns="0" bIns="0" rtlCol="0" anchor="t">
            <a:noAutofit/>
          </a:bodyPr>
          <a:lstStyle/>
          <a:p>
            <a:pPr>
              <a:lnSpc>
                <a:spcPct val="130000"/>
              </a:lnSpc>
            </a:pPr>
            <a:r>
              <a:rPr lang="es-ES" sz="975">
                <a:solidFill>
                  <a:srgbClr val="39404A"/>
                </a:solidFill>
                <a:latin typeface="Calibri" panose="020F0502020204030204" pitchFamily="34" charset="0"/>
              </a:rPr>
              <a:t>No cubre Honduras ni el seguimiento longitudinal por candidatura.</a:t>
            </a:r>
            <a:endParaRPr lang="es-HN" sz="975">
              <a:solidFill>
                <a:srgbClr val="39404A"/>
              </a:solidFill>
              <a:latin typeface="Calibri" panose="020F0502020204030204" pitchFamily="34" charset="0"/>
            </a:endParaRPr>
          </a:p>
        </p:txBody>
      </p:sp>
      <p:cxnSp>
        <p:nvCxnSpPr>
          <p:cNvPr id="24" name="Conector recto 23">
            <a:extLst>
              <a:ext uri="{FF2B5EF4-FFF2-40B4-BE49-F238E27FC236}">
                <a16:creationId xmlns:a16="http://schemas.microsoft.com/office/drawing/2014/main" id="{36CFC014-1720-D716-DF2B-9BFF3A68D574}"/>
              </a:ext>
            </a:extLst>
          </p:cNvPr>
          <p:cNvCxnSpPr/>
          <p:nvPr/>
        </p:nvCxnSpPr>
        <p:spPr>
          <a:xfrm>
            <a:off x="609600" y="3009900"/>
            <a:ext cx="10858500"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25" name="CuadroTexto 24">
            <a:extLst>
              <a:ext uri="{FF2B5EF4-FFF2-40B4-BE49-F238E27FC236}">
                <a16:creationId xmlns:a16="http://schemas.microsoft.com/office/drawing/2014/main" id="{F4270430-E345-6956-9726-6514EA0308EC}"/>
              </a:ext>
            </a:extLst>
          </p:cNvPr>
          <p:cNvSpPr txBox="1"/>
          <p:nvPr/>
        </p:nvSpPr>
        <p:spPr>
          <a:xfrm>
            <a:off x="609600" y="3048000"/>
            <a:ext cx="1885950" cy="276999"/>
          </a:xfrm>
          <a:prstGeom prst="rect">
            <a:avLst/>
          </a:prstGeom>
          <a:noFill/>
        </p:spPr>
        <p:txBody>
          <a:bodyPr vert="horz" wrap="square" lIns="0" tIns="0" rIns="0" bIns="0" rtlCol="0" anchor="t">
            <a:noAutofit/>
          </a:bodyPr>
          <a:lstStyle/>
          <a:p>
            <a:pPr>
              <a:lnSpc>
                <a:spcPct val="130000"/>
              </a:lnSpc>
            </a:pPr>
            <a:r>
              <a:rPr lang="es-HN" sz="975" b="1">
                <a:solidFill>
                  <a:srgbClr val="39404A"/>
                </a:solidFill>
                <a:latin typeface="Calibri" panose="020F0502020204030204" pitchFamily="34" charset="0"/>
              </a:rPr>
              <a:t>Del Dicho al Hecho</a:t>
            </a:r>
          </a:p>
        </p:txBody>
      </p:sp>
      <p:sp>
        <p:nvSpPr>
          <p:cNvPr id="26" name="CuadroTexto 25">
            <a:extLst>
              <a:ext uri="{FF2B5EF4-FFF2-40B4-BE49-F238E27FC236}">
                <a16:creationId xmlns:a16="http://schemas.microsoft.com/office/drawing/2014/main" id="{4624650B-DA95-CEBE-FA07-E20E5C1A562A}"/>
              </a:ext>
            </a:extLst>
          </p:cNvPr>
          <p:cNvSpPr txBox="1"/>
          <p:nvPr/>
        </p:nvSpPr>
        <p:spPr>
          <a:xfrm>
            <a:off x="2609850" y="3048000"/>
            <a:ext cx="1695450" cy="276999"/>
          </a:xfrm>
          <a:prstGeom prst="rect">
            <a:avLst/>
          </a:prstGeom>
          <a:noFill/>
        </p:spPr>
        <p:txBody>
          <a:bodyPr vert="horz" wrap="square" lIns="0" tIns="0" rIns="0" bIns="0" rtlCol="0" anchor="t">
            <a:noAutofit/>
          </a:bodyPr>
          <a:lstStyle/>
          <a:p>
            <a:pPr>
              <a:lnSpc>
                <a:spcPct val="130000"/>
              </a:lnSpc>
            </a:pPr>
            <a:r>
              <a:rPr lang="es-HN" sz="975">
                <a:solidFill>
                  <a:srgbClr val="39404A"/>
                </a:solidFill>
                <a:latin typeface="Calibri" panose="020F0502020204030204" pitchFamily="34" charset="0"/>
              </a:rPr>
              <a:t>Chile · Fundación Ciudadano Inteligente</a:t>
            </a:r>
          </a:p>
        </p:txBody>
      </p:sp>
      <p:sp>
        <p:nvSpPr>
          <p:cNvPr id="27" name="CuadroTexto 26">
            <a:extLst>
              <a:ext uri="{FF2B5EF4-FFF2-40B4-BE49-F238E27FC236}">
                <a16:creationId xmlns:a16="http://schemas.microsoft.com/office/drawing/2014/main" id="{0AA4DAEE-6D74-8B01-E2F8-3F879995F31F}"/>
              </a:ext>
            </a:extLst>
          </p:cNvPr>
          <p:cNvSpPr txBox="1"/>
          <p:nvPr/>
        </p:nvSpPr>
        <p:spPr>
          <a:xfrm>
            <a:off x="4419600" y="3048000"/>
            <a:ext cx="3695700" cy="276999"/>
          </a:xfrm>
          <a:prstGeom prst="rect">
            <a:avLst/>
          </a:prstGeom>
          <a:noFill/>
        </p:spPr>
        <p:txBody>
          <a:bodyPr vert="horz" wrap="square" lIns="0" tIns="0" rIns="0" bIns="0" rtlCol="0" anchor="t">
            <a:noAutofit/>
          </a:bodyPr>
          <a:lstStyle/>
          <a:p>
            <a:pPr>
              <a:lnSpc>
                <a:spcPct val="130000"/>
              </a:lnSpc>
            </a:pPr>
            <a:r>
              <a:rPr lang="es-ES" sz="975">
                <a:solidFill>
                  <a:srgbClr val="39404A"/>
                </a:solidFill>
                <a:latin typeface="Calibri" panose="020F0502020204030204" pitchFamily="34" charset="0"/>
              </a:rPr>
              <a:t>Monitoreo del cumplimiento de promesas presidenciales y legislativas.</a:t>
            </a:r>
            <a:endParaRPr lang="es-HN" sz="975">
              <a:solidFill>
                <a:srgbClr val="39404A"/>
              </a:solidFill>
              <a:latin typeface="Calibri" panose="020F0502020204030204" pitchFamily="34" charset="0"/>
            </a:endParaRPr>
          </a:p>
        </p:txBody>
      </p:sp>
      <p:sp>
        <p:nvSpPr>
          <p:cNvPr id="28" name="CuadroTexto 27">
            <a:extLst>
              <a:ext uri="{FF2B5EF4-FFF2-40B4-BE49-F238E27FC236}">
                <a16:creationId xmlns:a16="http://schemas.microsoft.com/office/drawing/2014/main" id="{060F3923-5BA9-A101-D4BC-71549C0022BD}"/>
              </a:ext>
            </a:extLst>
          </p:cNvPr>
          <p:cNvSpPr txBox="1"/>
          <p:nvPr/>
        </p:nvSpPr>
        <p:spPr>
          <a:xfrm>
            <a:off x="8229600" y="3048000"/>
            <a:ext cx="3238500" cy="276999"/>
          </a:xfrm>
          <a:prstGeom prst="rect">
            <a:avLst/>
          </a:prstGeom>
          <a:noFill/>
        </p:spPr>
        <p:txBody>
          <a:bodyPr vert="horz" wrap="square" lIns="0" tIns="0" rIns="0" bIns="0" rtlCol="0" anchor="t">
            <a:noAutofit/>
          </a:bodyPr>
          <a:lstStyle/>
          <a:p>
            <a:pPr>
              <a:lnSpc>
                <a:spcPct val="130000"/>
              </a:lnSpc>
            </a:pPr>
            <a:r>
              <a:rPr lang="es-ES" sz="975">
                <a:solidFill>
                  <a:srgbClr val="39404A"/>
                </a:solidFill>
                <a:latin typeface="Calibri" panose="020F0502020204030204" pitchFamily="34" charset="0"/>
              </a:rPr>
              <a:t>Es el antecedente más cercano en propósito. No opera en Honduras.</a:t>
            </a:r>
            <a:endParaRPr lang="es-HN" sz="975">
              <a:solidFill>
                <a:srgbClr val="39404A"/>
              </a:solidFill>
              <a:latin typeface="Calibri" panose="020F0502020204030204" pitchFamily="34" charset="0"/>
            </a:endParaRPr>
          </a:p>
        </p:txBody>
      </p:sp>
      <p:cxnSp>
        <p:nvCxnSpPr>
          <p:cNvPr id="29" name="Conector recto 28">
            <a:extLst>
              <a:ext uri="{FF2B5EF4-FFF2-40B4-BE49-F238E27FC236}">
                <a16:creationId xmlns:a16="http://schemas.microsoft.com/office/drawing/2014/main" id="{BF6CEBE0-A46E-9C23-1D5D-20EC388ACC89}"/>
              </a:ext>
            </a:extLst>
          </p:cNvPr>
          <p:cNvCxnSpPr/>
          <p:nvPr/>
        </p:nvCxnSpPr>
        <p:spPr>
          <a:xfrm>
            <a:off x="609600" y="3714750"/>
            <a:ext cx="10858500"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58366B54-594E-F5D8-DCAA-898A1CF9E668}"/>
              </a:ext>
            </a:extLst>
          </p:cNvPr>
          <p:cNvSpPr txBox="1"/>
          <p:nvPr/>
        </p:nvSpPr>
        <p:spPr>
          <a:xfrm>
            <a:off x="609600" y="3752850"/>
            <a:ext cx="1885950" cy="276999"/>
          </a:xfrm>
          <a:prstGeom prst="rect">
            <a:avLst/>
          </a:prstGeom>
          <a:noFill/>
        </p:spPr>
        <p:txBody>
          <a:bodyPr vert="horz" wrap="square" lIns="0" tIns="0" rIns="0" bIns="0" rtlCol="0" anchor="t">
            <a:noAutofit/>
          </a:bodyPr>
          <a:lstStyle/>
          <a:p>
            <a:pPr>
              <a:lnSpc>
                <a:spcPct val="130000"/>
              </a:lnSpc>
            </a:pPr>
            <a:r>
              <a:rPr lang="es-HN" sz="975" b="1">
                <a:solidFill>
                  <a:srgbClr val="39404A"/>
                </a:solidFill>
                <a:latin typeface="Calibri" panose="020F0502020204030204" pitchFamily="34" charset="0"/>
              </a:rPr>
              <a:t>IAIP · Portal Único de Transparencia</a:t>
            </a:r>
          </a:p>
        </p:txBody>
      </p:sp>
      <p:sp>
        <p:nvSpPr>
          <p:cNvPr id="31" name="CuadroTexto 30">
            <a:extLst>
              <a:ext uri="{FF2B5EF4-FFF2-40B4-BE49-F238E27FC236}">
                <a16:creationId xmlns:a16="http://schemas.microsoft.com/office/drawing/2014/main" id="{F29E9952-73CA-F180-F826-389FFF62E401}"/>
              </a:ext>
            </a:extLst>
          </p:cNvPr>
          <p:cNvSpPr txBox="1"/>
          <p:nvPr/>
        </p:nvSpPr>
        <p:spPr>
          <a:xfrm>
            <a:off x="2609850" y="3752850"/>
            <a:ext cx="1695450" cy="276999"/>
          </a:xfrm>
          <a:prstGeom prst="rect">
            <a:avLst/>
          </a:prstGeom>
          <a:noFill/>
        </p:spPr>
        <p:txBody>
          <a:bodyPr vert="horz" wrap="square" lIns="0" tIns="0" rIns="0" bIns="0" rtlCol="0" anchor="t">
            <a:noAutofit/>
          </a:bodyPr>
          <a:lstStyle/>
          <a:p>
            <a:pPr>
              <a:lnSpc>
                <a:spcPct val="130000"/>
              </a:lnSpc>
            </a:pPr>
            <a:r>
              <a:rPr lang="es-HN" sz="975">
                <a:solidFill>
                  <a:srgbClr val="39404A"/>
                </a:solidFill>
                <a:latin typeface="Calibri" panose="020F0502020204030204" pitchFamily="34" charset="0"/>
              </a:rPr>
              <a:t>Honduras · Decreto 170-2006</a:t>
            </a:r>
          </a:p>
        </p:txBody>
      </p:sp>
      <p:sp>
        <p:nvSpPr>
          <p:cNvPr id="32" name="CuadroTexto 31">
            <a:extLst>
              <a:ext uri="{FF2B5EF4-FFF2-40B4-BE49-F238E27FC236}">
                <a16:creationId xmlns:a16="http://schemas.microsoft.com/office/drawing/2014/main" id="{D5FB7019-3ADB-0D6C-508C-3422AC8A4EBA}"/>
              </a:ext>
            </a:extLst>
          </p:cNvPr>
          <p:cNvSpPr txBox="1"/>
          <p:nvPr/>
        </p:nvSpPr>
        <p:spPr>
          <a:xfrm>
            <a:off x="4419600" y="3752850"/>
            <a:ext cx="3695700" cy="276999"/>
          </a:xfrm>
          <a:prstGeom prst="rect">
            <a:avLst/>
          </a:prstGeom>
          <a:noFill/>
        </p:spPr>
        <p:txBody>
          <a:bodyPr vert="horz" wrap="square" lIns="0" tIns="0" rIns="0" bIns="0" rtlCol="0" anchor="t">
            <a:noAutofit/>
          </a:bodyPr>
          <a:lstStyle/>
          <a:p>
            <a:pPr>
              <a:lnSpc>
                <a:spcPct val="130000"/>
              </a:lnSpc>
            </a:pPr>
            <a:r>
              <a:rPr lang="es-ES" sz="975">
                <a:solidFill>
                  <a:srgbClr val="39404A"/>
                </a:solidFill>
                <a:latin typeface="Calibri" panose="020F0502020204030204" pitchFamily="34" charset="0"/>
              </a:rPr>
              <a:t>Acceso a información pública mediante solicitud, con 10 días hábiles prorrogables y recurso de revisión.</a:t>
            </a:r>
            <a:endParaRPr lang="es-HN" sz="975">
              <a:solidFill>
                <a:srgbClr val="39404A"/>
              </a:solidFill>
              <a:latin typeface="Calibri" panose="020F0502020204030204" pitchFamily="34" charset="0"/>
            </a:endParaRPr>
          </a:p>
        </p:txBody>
      </p:sp>
      <p:sp>
        <p:nvSpPr>
          <p:cNvPr id="33" name="CuadroTexto 32">
            <a:extLst>
              <a:ext uri="{FF2B5EF4-FFF2-40B4-BE49-F238E27FC236}">
                <a16:creationId xmlns:a16="http://schemas.microsoft.com/office/drawing/2014/main" id="{2B4FEC8F-DD98-481D-7206-F62CEBF0CA70}"/>
              </a:ext>
            </a:extLst>
          </p:cNvPr>
          <p:cNvSpPr txBox="1"/>
          <p:nvPr/>
        </p:nvSpPr>
        <p:spPr>
          <a:xfrm>
            <a:off x="8229600" y="3752850"/>
            <a:ext cx="3238500" cy="276999"/>
          </a:xfrm>
          <a:prstGeom prst="rect">
            <a:avLst/>
          </a:prstGeom>
          <a:noFill/>
        </p:spPr>
        <p:txBody>
          <a:bodyPr vert="horz" wrap="square" lIns="0" tIns="0" rIns="0" bIns="0" rtlCol="0" anchor="t">
            <a:noAutofit/>
          </a:bodyPr>
          <a:lstStyle/>
          <a:p>
            <a:pPr>
              <a:lnSpc>
                <a:spcPct val="130000"/>
              </a:lnSpc>
            </a:pPr>
            <a:r>
              <a:rPr lang="es-ES" sz="975">
                <a:solidFill>
                  <a:srgbClr val="39404A"/>
                </a:solidFill>
                <a:latin typeface="Calibri" panose="020F0502020204030204" pitchFamily="34" charset="0"/>
              </a:rPr>
              <a:t>Es acceso a documentos, no un seguimiento comparable de promesas por candidatura.</a:t>
            </a:r>
            <a:endParaRPr lang="es-HN" sz="975">
              <a:solidFill>
                <a:srgbClr val="39404A"/>
              </a:solidFill>
              <a:latin typeface="Calibri" panose="020F0502020204030204" pitchFamily="34" charset="0"/>
            </a:endParaRPr>
          </a:p>
        </p:txBody>
      </p:sp>
      <p:cxnSp>
        <p:nvCxnSpPr>
          <p:cNvPr id="34" name="Conector recto 33">
            <a:extLst>
              <a:ext uri="{FF2B5EF4-FFF2-40B4-BE49-F238E27FC236}">
                <a16:creationId xmlns:a16="http://schemas.microsoft.com/office/drawing/2014/main" id="{D90B4C8B-39FF-0BC0-FC57-B7522EB935AC}"/>
              </a:ext>
            </a:extLst>
          </p:cNvPr>
          <p:cNvCxnSpPr/>
          <p:nvPr/>
        </p:nvCxnSpPr>
        <p:spPr>
          <a:xfrm>
            <a:off x="609600" y="4419600"/>
            <a:ext cx="10858500"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35" name="CuadroTexto 34">
            <a:extLst>
              <a:ext uri="{FF2B5EF4-FFF2-40B4-BE49-F238E27FC236}">
                <a16:creationId xmlns:a16="http://schemas.microsoft.com/office/drawing/2014/main" id="{67901887-9E3A-C8F2-733F-B2C500700C68}"/>
              </a:ext>
            </a:extLst>
          </p:cNvPr>
          <p:cNvSpPr txBox="1"/>
          <p:nvPr/>
        </p:nvSpPr>
        <p:spPr>
          <a:xfrm>
            <a:off x="609600" y="4572000"/>
            <a:ext cx="10972800" cy="276999"/>
          </a:xfrm>
          <a:prstGeom prst="rect">
            <a:avLst/>
          </a:prstGeom>
          <a:noFill/>
        </p:spPr>
        <p:txBody>
          <a:bodyPr vert="horz" wrap="square" lIns="0" tIns="0" rIns="0" bIns="0" rtlCol="0" anchor="t">
            <a:noAutofit/>
          </a:bodyPr>
          <a:lstStyle/>
          <a:p>
            <a:pPr>
              <a:lnSpc>
                <a:spcPct val="145000"/>
              </a:lnSpc>
            </a:pPr>
            <a:r>
              <a:rPr lang="es-ES" sz="1050">
                <a:solidFill>
                  <a:srgbClr val="39404A"/>
                </a:solidFill>
                <a:latin typeface="Calibri" panose="020F0502020204030204" pitchFamily="34" charset="0"/>
              </a:rPr>
              <a:t>Honduras participa en la </a:t>
            </a:r>
            <a:r>
              <a:rPr lang="es-ES" sz="1050" b="1">
                <a:solidFill>
                  <a:srgbClr val="39404A"/>
                </a:solidFill>
                <a:latin typeface="Calibri" panose="020F0502020204030204" pitchFamily="34" charset="0"/>
              </a:rPr>
              <a:t>Open Government Partnership</a:t>
            </a:r>
            <a:r>
              <a:rPr lang="es-ES" sz="1050">
                <a:solidFill>
                  <a:srgbClr val="39404A"/>
                </a:solidFill>
                <a:latin typeface="Calibri" panose="020F0502020204030204" pitchFamily="34" charset="0"/>
              </a:rPr>
              <a:t> desde 2011, con cinco planes de acción, el más reciente 2023-2025. En el Índice de Percepción de la Corrupción 2024 obtuvo 22 puntos sobre 100, en la posición 154 de 180.</a:t>
            </a:r>
            <a:endParaRPr lang="es-HN" sz="1050">
              <a:solidFill>
                <a:srgbClr val="39404A"/>
              </a:solidFill>
              <a:latin typeface="Calibri" panose="020F0502020204030204" pitchFamily="34" charset="0"/>
            </a:endParaRPr>
          </a:p>
        </p:txBody>
      </p:sp>
    </p:spTree>
    <p:extLst>
      <p:ext uri="{BB962C8B-B14F-4D97-AF65-F5344CB8AC3E}">
        <p14:creationId xmlns:p14="http://schemas.microsoft.com/office/powerpoint/2010/main" val="3419710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5E266EEB-8F38-759B-C4BB-7EFC314AC7EB}"/>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73D03B1B-280A-7468-D398-76F8C119166A}"/>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2D85D3F6-0A29-E929-9F85-DA23CB2FB82A}"/>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78CA2F4D-9D39-8FA5-8657-4AD49A5F1E5F}"/>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Rectángulo: esquinas redondeadas 5">
            <a:extLst>
              <a:ext uri="{FF2B5EF4-FFF2-40B4-BE49-F238E27FC236}">
                <a16:creationId xmlns:a16="http://schemas.microsoft.com/office/drawing/2014/main" id="{F17232E1-B176-DB9D-2EAE-1A4E518328BA}"/>
              </a:ext>
            </a:extLst>
          </p:cNvPr>
          <p:cNvSpPr/>
          <p:nvPr/>
        </p:nvSpPr>
        <p:spPr>
          <a:xfrm>
            <a:off x="9715500" y="266700"/>
            <a:ext cx="1866900" cy="209550"/>
          </a:xfrm>
          <a:prstGeom prst="roundRect">
            <a:avLst>
              <a:gd name="adj" fmla="val 6000"/>
            </a:avLst>
          </a:prstGeom>
          <a:solidFill>
            <a:srgbClr val="FDF6E9"/>
          </a:solidFill>
          <a:ln w="12700">
            <a:solidFill>
              <a:srgbClr val="D390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7" name="CuadroTexto 6">
            <a:extLst>
              <a:ext uri="{FF2B5EF4-FFF2-40B4-BE49-F238E27FC236}">
                <a16:creationId xmlns:a16="http://schemas.microsoft.com/office/drawing/2014/main" id="{DC81E9EC-7D48-AC10-4835-B222BEDF4F20}"/>
              </a:ext>
            </a:extLst>
          </p:cNvPr>
          <p:cNvSpPr txBox="1"/>
          <p:nvPr/>
        </p:nvSpPr>
        <p:spPr>
          <a:xfrm>
            <a:off x="9715500" y="323850"/>
            <a:ext cx="1866900" cy="276999"/>
          </a:xfrm>
          <a:prstGeom prst="rect">
            <a:avLst/>
          </a:prstGeom>
          <a:noFill/>
        </p:spPr>
        <p:txBody>
          <a:bodyPr vert="horz" wrap="square" lIns="0" tIns="0" rIns="0" bIns="0" rtlCol="0" anchor="t">
            <a:noAutofit/>
          </a:bodyPr>
          <a:lstStyle/>
          <a:p>
            <a:pPr algn="ctr">
              <a:lnSpc>
                <a:spcPct val="125000"/>
              </a:lnSpc>
            </a:pPr>
            <a:r>
              <a:rPr lang="es-HN" sz="750" b="1" spc="120">
                <a:solidFill>
                  <a:srgbClr val="B8791A"/>
                </a:solidFill>
                <a:latin typeface="Calibri" panose="020F0502020204030204" pitchFamily="34" charset="0"/>
              </a:rPr>
              <a:t>LÁMINA DE RESPALDO</a:t>
            </a:r>
          </a:p>
        </p:txBody>
      </p:sp>
      <p:sp>
        <p:nvSpPr>
          <p:cNvPr id="8" name="CuadroTexto 7">
            <a:extLst>
              <a:ext uri="{FF2B5EF4-FFF2-40B4-BE49-F238E27FC236}">
                <a16:creationId xmlns:a16="http://schemas.microsoft.com/office/drawing/2014/main" id="{09005E89-16E9-BD37-9B0C-353BE8B2E763}"/>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17708A"/>
                </a:solidFill>
                <a:latin typeface="Calibri" panose="020F0502020204030204" pitchFamily="34" charset="0"/>
              </a:rPr>
              <a:t>RESPALDO · METODOLOGÍA</a:t>
            </a:r>
          </a:p>
        </p:txBody>
      </p:sp>
      <p:sp>
        <p:nvSpPr>
          <p:cNvPr id="9" name="CuadroTexto 8">
            <a:extLst>
              <a:ext uri="{FF2B5EF4-FFF2-40B4-BE49-F238E27FC236}">
                <a16:creationId xmlns:a16="http://schemas.microsoft.com/office/drawing/2014/main" id="{78015F1A-8305-CDCB-D878-DE8C272431A8}"/>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HN" sz="2400" b="1">
                <a:solidFill>
                  <a:srgbClr val="14171C"/>
                </a:solidFill>
                <a:latin typeface="Georgia" panose="02040502050405020303" pitchFamily="18" charset="0"/>
              </a:rPr>
              <a:t>Enfoque, muestra e instrumento</a:t>
            </a:r>
          </a:p>
        </p:txBody>
      </p:sp>
      <p:sp>
        <p:nvSpPr>
          <p:cNvPr id="10" name="CuadroTexto 9">
            <a:extLst>
              <a:ext uri="{FF2B5EF4-FFF2-40B4-BE49-F238E27FC236}">
                <a16:creationId xmlns:a16="http://schemas.microsoft.com/office/drawing/2014/main" id="{151CA42A-391C-B1A4-1107-C7117234BBCE}"/>
              </a:ext>
            </a:extLst>
          </p:cNvPr>
          <p:cNvSpPr txBox="1"/>
          <p:nvPr/>
        </p:nvSpPr>
        <p:spPr>
          <a:xfrm>
            <a:off x="609600" y="1428750"/>
            <a:ext cx="6667500" cy="276999"/>
          </a:xfrm>
          <a:prstGeom prst="rect">
            <a:avLst/>
          </a:prstGeom>
          <a:noFill/>
        </p:spPr>
        <p:txBody>
          <a:bodyPr vert="horz" wrap="square" lIns="0" tIns="0" rIns="0" bIns="0" rtlCol="0" anchor="t">
            <a:noAutofit/>
          </a:bodyPr>
          <a:lstStyle/>
          <a:p>
            <a:pPr>
              <a:lnSpc>
                <a:spcPct val="125000"/>
              </a:lnSpc>
            </a:pPr>
            <a:r>
              <a:rPr lang="es-HN" sz="1088" b="1">
                <a:solidFill>
                  <a:srgbClr val="14171C"/>
                </a:solidFill>
                <a:latin typeface="Calibri" panose="020F0502020204030204" pitchFamily="34" charset="0"/>
              </a:rPr>
              <a:t>Enfoque cuantitativo, tipo descriptivo</a:t>
            </a:r>
          </a:p>
        </p:txBody>
      </p:sp>
      <p:sp>
        <p:nvSpPr>
          <p:cNvPr id="11" name="CuadroTexto 10">
            <a:extLst>
              <a:ext uri="{FF2B5EF4-FFF2-40B4-BE49-F238E27FC236}">
                <a16:creationId xmlns:a16="http://schemas.microsoft.com/office/drawing/2014/main" id="{B99D6089-C341-C10E-8228-F35FE5838416}"/>
              </a:ext>
            </a:extLst>
          </p:cNvPr>
          <p:cNvSpPr txBox="1"/>
          <p:nvPr/>
        </p:nvSpPr>
        <p:spPr>
          <a:xfrm>
            <a:off x="609600" y="1638300"/>
            <a:ext cx="6667500"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Hernández-Sampieri, Fernández-Collado y Baptista-Lucio (2014): recolección de datos para probar hipótesis con base en la medición numérica y el análisis estadístico. Secuencial y probatorio.</a:t>
            </a:r>
            <a:endParaRPr lang="es-HN" sz="1013">
              <a:solidFill>
                <a:srgbClr val="39404A"/>
              </a:solidFill>
              <a:latin typeface="Calibri" panose="020F0502020204030204" pitchFamily="34" charset="0"/>
            </a:endParaRPr>
          </a:p>
        </p:txBody>
      </p:sp>
      <p:sp>
        <p:nvSpPr>
          <p:cNvPr id="12" name="CuadroTexto 11">
            <a:extLst>
              <a:ext uri="{FF2B5EF4-FFF2-40B4-BE49-F238E27FC236}">
                <a16:creationId xmlns:a16="http://schemas.microsoft.com/office/drawing/2014/main" id="{093FC2BB-A9AF-FA87-2CCE-A41EB048CCA1}"/>
              </a:ext>
            </a:extLst>
          </p:cNvPr>
          <p:cNvSpPr txBox="1"/>
          <p:nvPr/>
        </p:nvSpPr>
        <p:spPr>
          <a:xfrm>
            <a:off x="609600" y="2457450"/>
            <a:ext cx="6667500" cy="276999"/>
          </a:xfrm>
          <a:prstGeom prst="rect">
            <a:avLst/>
          </a:prstGeom>
          <a:noFill/>
        </p:spPr>
        <p:txBody>
          <a:bodyPr vert="horz" wrap="square" lIns="0" tIns="0" rIns="0" bIns="0" rtlCol="0" anchor="t">
            <a:noAutofit/>
          </a:bodyPr>
          <a:lstStyle/>
          <a:p>
            <a:pPr>
              <a:lnSpc>
                <a:spcPct val="125000"/>
              </a:lnSpc>
            </a:pPr>
            <a:r>
              <a:rPr lang="es-HN" sz="1088" b="1">
                <a:solidFill>
                  <a:srgbClr val="14171C"/>
                </a:solidFill>
                <a:latin typeface="Calibri" panose="020F0502020204030204" pitchFamily="34" charset="0"/>
              </a:rPr>
              <a:t>Población objetivo</a:t>
            </a:r>
          </a:p>
        </p:txBody>
      </p:sp>
      <p:sp>
        <p:nvSpPr>
          <p:cNvPr id="13" name="CuadroTexto 12">
            <a:extLst>
              <a:ext uri="{FF2B5EF4-FFF2-40B4-BE49-F238E27FC236}">
                <a16:creationId xmlns:a16="http://schemas.microsoft.com/office/drawing/2014/main" id="{0F1E60CD-4186-1EE4-7773-9DB4D659F80B}"/>
              </a:ext>
            </a:extLst>
          </p:cNvPr>
          <p:cNvSpPr txBox="1"/>
          <p:nvPr/>
        </p:nvSpPr>
        <p:spPr>
          <a:xfrm>
            <a:off x="609600" y="2667000"/>
            <a:ext cx="6667500"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La ciudadanía hondureña habilitada para votar.</a:t>
            </a:r>
            <a:endParaRPr lang="es-HN" sz="1013">
              <a:solidFill>
                <a:srgbClr val="39404A"/>
              </a:solidFill>
              <a:latin typeface="Calibri" panose="020F0502020204030204" pitchFamily="34" charset="0"/>
            </a:endParaRPr>
          </a:p>
        </p:txBody>
      </p:sp>
      <p:sp>
        <p:nvSpPr>
          <p:cNvPr id="14" name="CuadroTexto 13">
            <a:extLst>
              <a:ext uri="{FF2B5EF4-FFF2-40B4-BE49-F238E27FC236}">
                <a16:creationId xmlns:a16="http://schemas.microsoft.com/office/drawing/2014/main" id="{518ED808-AB17-9236-384D-611C9A92F621}"/>
              </a:ext>
            </a:extLst>
          </p:cNvPr>
          <p:cNvSpPr txBox="1"/>
          <p:nvPr/>
        </p:nvSpPr>
        <p:spPr>
          <a:xfrm>
            <a:off x="609600" y="3028950"/>
            <a:ext cx="6667500" cy="276999"/>
          </a:xfrm>
          <a:prstGeom prst="rect">
            <a:avLst/>
          </a:prstGeom>
          <a:noFill/>
        </p:spPr>
        <p:txBody>
          <a:bodyPr vert="horz" wrap="square" lIns="0" tIns="0" rIns="0" bIns="0" rtlCol="0" anchor="t">
            <a:noAutofit/>
          </a:bodyPr>
          <a:lstStyle/>
          <a:p>
            <a:pPr>
              <a:lnSpc>
                <a:spcPct val="125000"/>
              </a:lnSpc>
            </a:pPr>
            <a:r>
              <a:rPr lang="es-HN" sz="1088" b="1">
                <a:solidFill>
                  <a:srgbClr val="14171C"/>
                </a:solidFill>
                <a:latin typeface="Calibri" panose="020F0502020204030204" pitchFamily="34" charset="0"/>
              </a:rPr>
              <a:t>Población accesible</a:t>
            </a:r>
          </a:p>
        </p:txBody>
      </p:sp>
      <p:sp>
        <p:nvSpPr>
          <p:cNvPr id="15" name="CuadroTexto 14">
            <a:extLst>
              <a:ext uri="{FF2B5EF4-FFF2-40B4-BE49-F238E27FC236}">
                <a16:creationId xmlns:a16="http://schemas.microsoft.com/office/drawing/2014/main" id="{C3B18CAC-59E6-BADE-DCE1-1F088705A4D8}"/>
              </a:ext>
            </a:extLst>
          </p:cNvPr>
          <p:cNvSpPr txBox="1"/>
          <p:nvPr/>
        </p:nvSpPr>
        <p:spPr>
          <a:xfrm>
            <a:off x="609600" y="3238500"/>
            <a:ext cx="6667500"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Estudiantes universitarios hondureños mayores de 18 años: votantes habilitados, accesibles para aplicar el instrumento y alfabetizados digitalmente, que es el perfil del usuario potencial de una solución web.</a:t>
            </a:r>
            <a:endParaRPr lang="es-HN" sz="1013">
              <a:solidFill>
                <a:srgbClr val="39404A"/>
              </a:solidFill>
              <a:latin typeface="Calibri" panose="020F0502020204030204" pitchFamily="34" charset="0"/>
            </a:endParaRPr>
          </a:p>
        </p:txBody>
      </p:sp>
      <p:sp>
        <p:nvSpPr>
          <p:cNvPr id="16" name="CuadroTexto 15">
            <a:extLst>
              <a:ext uri="{FF2B5EF4-FFF2-40B4-BE49-F238E27FC236}">
                <a16:creationId xmlns:a16="http://schemas.microsoft.com/office/drawing/2014/main" id="{0F36DF74-4C8A-73D3-49B2-E4E9A98517B5}"/>
              </a:ext>
            </a:extLst>
          </p:cNvPr>
          <p:cNvSpPr txBox="1"/>
          <p:nvPr/>
        </p:nvSpPr>
        <p:spPr>
          <a:xfrm>
            <a:off x="609600" y="4057650"/>
            <a:ext cx="6667500" cy="276999"/>
          </a:xfrm>
          <a:prstGeom prst="rect">
            <a:avLst/>
          </a:prstGeom>
          <a:noFill/>
        </p:spPr>
        <p:txBody>
          <a:bodyPr vert="horz" wrap="square" lIns="0" tIns="0" rIns="0" bIns="0" rtlCol="0" anchor="t">
            <a:noAutofit/>
          </a:bodyPr>
          <a:lstStyle/>
          <a:p>
            <a:pPr>
              <a:lnSpc>
                <a:spcPct val="125000"/>
              </a:lnSpc>
            </a:pPr>
            <a:r>
              <a:rPr lang="es-HN" sz="1088" b="1">
                <a:solidFill>
                  <a:srgbClr val="14171C"/>
                </a:solidFill>
                <a:latin typeface="Calibri" panose="020F0502020204030204" pitchFamily="34" charset="0"/>
              </a:rPr>
              <a:t>Técnica e instrumento</a:t>
            </a:r>
          </a:p>
        </p:txBody>
      </p:sp>
      <p:sp>
        <p:nvSpPr>
          <p:cNvPr id="17" name="CuadroTexto 16">
            <a:extLst>
              <a:ext uri="{FF2B5EF4-FFF2-40B4-BE49-F238E27FC236}">
                <a16:creationId xmlns:a16="http://schemas.microsoft.com/office/drawing/2014/main" id="{8119A64C-9B58-72C5-A422-1D01E445FE24}"/>
              </a:ext>
            </a:extLst>
          </p:cNvPr>
          <p:cNvSpPr txBox="1"/>
          <p:nvPr/>
        </p:nvSpPr>
        <p:spPr>
          <a:xfrm>
            <a:off x="609600" y="4267200"/>
            <a:ext cx="6667500"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Encuesta única, cuestionario estructurado de 18 ítems cerrados con escalas Likert de 1 a 5, aplicado en línea del 12 al 21 de junio de 2026. Es la única fuente primaria: no se realizaron entrevistas.</a:t>
            </a:r>
            <a:endParaRPr lang="es-HN" sz="1013">
              <a:solidFill>
                <a:srgbClr val="39404A"/>
              </a:solidFill>
              <a:latin typeface="Calibri" panose="020F0502020204030204" pitchFamily="34" charset="0"/>
            </a:endParaRPr>
          </a:p>
        </p:txBody>
      </p:sp>
      <p:sp>
        <p:nvSpPr>
          <p:cNvPr id="18" name="Rectángulo: esquinas redondeadas 17">
            <a:extLst>
              <a:ext uri="{FF2B5EF4-FFF2-40B4-BE49-F238E27FC236}">
                <a16:creationId xmlns:a16="http://schemas.microsoft.com/office/drawing/2014/main" id="{9DFBE720-FB46-8509-B910-D3F92B86457A}"/>
              </a:ext>
            </a:extLst>
          </p:cNvPr>
          <p:cNvSpPr/>
          <p:nvPr/>
        </p:nvSpPr>
        <p:spPr>
          <a:xfrm>
            <a:off x="7772400" y="1428750"/>
            <a:ext cx="3810000" cy="31432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9" name="Rectángulo 18">
            <a:extLst>
              <a:ext uri="{FF2B5EF4-FFF2-40B4-BE49-F238E27FC236}">
                <a16:creationId xmlns:a16="http://schemas.microsoft.com/office/drawing/2014/main" id="{37416628-FEB8-DC54-ECA9-91C74E115DF9}"/>
              </a:ext>
            </a:extLst>
          </p:cNvPr>
          <p:cNvSpPr/>
          <p:nvPr/>
        </p:nvSpPr>
        <p:spPr>
          <a:xfrm>
            <a:off x="7772400" y="1457325"/>
            <a:ext cx="28575" cy="3086100"/>
          </a:xfrm>
          <a:prstGeom prst="rect">
            <a:avLst/>
          </a:prstGeom>
          <a:solidFill>
            <a:srgbClr val="1B4F9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0" name="CuadroTexto 19">
            <a:extLst>
              <a:ext uri="{FF2B5EF4-FFF2-40B4-BE49-F238E27FC236}">
                <a16:creationId xmlns:a16="http://schemas.microsoft.com/office/drawing/2014/main" id="{6740E6D2-3F00-6770-D3DB-4E3211D66357}"/>
              </a:ext>
            </a:extLst>
          </p:cNvPr>
          <p:cNvSpPr txBox="1"/>
          <p:nvPr/>
        </p:nvSpPr>
        <p:spPr>
          <a:xfrm>
            <a:off x="7943850" y="1581150"/>
            <a:ext cx="3467100" cy="276999"/>
          </a:xfrm>
          <a:prstGeom prst="rect">
            <a:avLst/>
          </a:prstGeom>
          <a:noFill/>
        </p:spPr>
        <p:txBody>
          <a:bodyPr vert="horz" wrap="square" lIns="0" tIns="0" rIns="0" bIns="0" rtlCol="0" anchor="t">
            <a:noAutofit/>
          </a:bodyPr>
          <a:lstStyle/>
          <a:p>
            <a:pPr>
              <a:lnSpc>
                <a:spcPct val="125000"/>
              </a:lnSpc>
            </a:pPr>
            <a:r>
              <a:rPr lang="es-HN" sz="788" b="1" spc="100">
                <a:solidFill>
                  <a:srgbClr val="6A7078"/>
                </a:solidFill>
                <a:latin typeface="Calibri" panose="020F0502020204030204" pitchFamily="34" charset="0"/>
              </a:rPr>
              <a:t>TAMAÑO DE MUESTRA</a:t>
            </a:r>
          </a:p>
        </p:txBody>
      </p:sp>
      <p:sp>
        <p:nvSpPr>
          <p:cNvPr id="21" name="CuadroTexto 20">
            <a:extLst>
              <a:ext uri="{FF2B5EF4-FFF2-40B4-BE49-F238E27FC236}">
                <a16:creationId xmlns:a16="http://schemas.microsoft.com/office/drawing/2014/main" id="{5F95FD3C-D553-21A0-A74D-C697D04D252C}"/>
              </a:ext>
            </a:extLst>
          </p:cNvPr>
          <p:cNvSpPr txBox="1"/>
          <p:nvPr/>
        </p:nvSpPr>
        <p:spPr>
          <a:xfrm>
            <a:off x="7943850" y="1790700"/>
            <a:ext cx="3467100" cy="276999"/>
          </a:xfrm>
          <a:prstGeom prst="rect">
            <a:avLst/>
          </a:prstGeom>
          <a:noFill/>
        </p:spPr>
        <p:txBody>
          <a:bodyPr vert="horz" wrap="square" lIns="0" tIns="0" rIns="0" bIns="0" rtlCol="0" anchor="t">
            <a:noAutofit/>
          </a:bodyPr>
          <a:lstStyle/>
          <a:p>
            <a:pPr>
              <a:lnSpc>
                <a:spcPct val="125000"/>
              </a:lnSpc>
            </a:pPr>
            <a:r>
              <a:rPr lang="pt-BR" sz="1650" b="1">
                <a:solidFill>
                  <a:srgbClr val="1B4F9C"/>
                </a:solidFill>
                <a:latin typeface="Consolas" panose="020B0609020204030204" pitchFamily="49" charset="0"/>
              </a:rPr>
              <a:t>n = Z² · p · q / e²</a:t>
            </a:r>
            <a:endParaRPr lang="es-HN" sz="1650" b="1">
              <a:solidFill>
                <a:srgbClr val="1B4F9C"/>
              </a:solidFill>
              <a:latin typeface="Consolas" panose="020B0609020204030204" pitchFamily="49" charset="0"/>
            </a:endParaRPr>
          </a:p>
        </p:txBody>
      </p:sp>
      <p:sp>
        <p:nvSpPr>
          <p:cNvPr id="22" name="CuadroTexto 21">
            <a:extLst>
              <a:ext uri="{FF2B5EF4-FFF2-40B4-BE49-F238E27FC236}">
                <a16:creationId xmlns:a16="http://schemas.microsoft.com/office/drawing/2014/main" id="{A4BBCFC5-4D21-9439-BB45-C78FA9868C68}"/>
              </a:ext>
            </a:extLst>
          </p:cNvPr>
          <p:cNvSpPr txBox="1"/>
          <p:nvPr/>
        </p:nvSpPr>
        <p:spPr>
          <a:xfrm>
            <a:off x="7943850" y="2209800"/>
            <a:ext cx="1333500" cy="276999"/>
          </a:xfrm>
          <a:prstGeom prst="rect">
            <a:avLst/>
          </a:prstGeom>
          <a:noFill/>
        </p:spPr>
        <p:txBody>
          <a:bodyPr vert="horz" wrap="square" lIns="0" tIns="0" rIns="0" bIns="0" rtlCol="0" anchor="t">
            <a:noAutofit/>
          </a:bodyPr>
          <a:lstStyle/>
          <a:p>
            <a:pPr>
              <a:lnSpc>
                <a:spcPct val="130000"/>
              </a:lnSpc>
            </a:pPr>
            <a:r>
              <a:rPr lang="es-HN" sz="975">
                <a:solidFill>
                  <a:srgbClr val="39404A"/>
                </a:solidFill>
                <a:latin typeface="Calibri" panose="020F0502020204030204" pitchFamily="34" charset="0"/>
              </a:rPr>
              <a:t>Nivel de confianza</a:t>
            </a:r>
          </a:p>
        </p:txBody>
      </p:sp>
      <p:sp>
        <p:nvSpPr>
          <p:cNvPr id="23" name="CuadroTexto 22">
            <a:extLst>
              <a:ext uri="{FF2B5EF4-FFF2-40B4-BE49-F238E27FC236}">
                <a16:creationId xmlns:a16="http://schemas.microsoft.com/office/drawing/2014/main" id="{72B30986-E612-E8A7-136B-AE532DD9835D}"/>
              </a:ext>
            </a:extLst>
          </p:cNvPr>
          <p:cNvSpPr txBox="1"/>
          <p:nvPr/>
        </p:nvSpPr>
        <p:spPr>
          <a:xfrm>
            <a:off x="9353550" y="2209800"/>
            <a:ext cx="2057400" cy="276999"/>
          </a:xfrm>
          <a:prstGeom prst="rect">
            <a:avLst/>
          </a:prstGeom>
          <a:noFill/>
        </p:spPr>
        <p:txBody>
          <a:bodyPr vert="horz" wrap="square" lIns="0" tIns="0" rIns="0" bIns="0" rtlCol="0" anchor="t">
            <a:noAutofit/>
          </a:bodyPr>
          <a:lstStyle/>
          <a:p>
            <a:pPr>
              <a:lnSpc>
                <a:spcPct val="130000"/>
              </a:lnSpc>
            </a:pPr>
            <a:r>
              <a:rPr lang="es-HN" sz="975">
                <a:solidFill>
                  <a:srgbClr val="39404A"/>
                </a:solidFill>
                <a:latin typeface="Calibri" panose="020F0502020204030204" pitchFamily="34" charset="0"/>
              </a:rPr>
              <a:t>95 % · Z = 1.96</a:t>
            </a:r>
          </a:p>
        </p:txBody>
      </p:sp>
      <p:cxnSp>
        <p:nvCxnSpPr>
          <p:cNvPr id="24" name="Conector recto 23">
            <a:extLst>
              <a:ext uri="{FF2B5EF4-FFF2-40B4-BE49-F238E27FC236}">
                <a16:creationId xmlns:a16="http://schemas.microsoft.com/office/drawing/2014/main" id="{AD192D60-4240-A6B8-68D1-F4A350220648}"/>
              </a:ext>
            </a:extLst>
          </p:cNvPr>
          <p:cNvCxnSpPr/>
          <p:nvPr/>
        </p:nvCxnSpPr>
        <p:spPr>
          <a:xfrm>
            <a:off x="7943850" y="2514600"/>
            <a:ext cx="3467100"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25" name="CuadroTexto 24">
            <a:extLst>
              <a:ext uri="{FF2B5EF4-FFF2-40B4-BE49-F238E27FC236}">
                <a16:creationId xmlns:a16="http://schemas.microsoft.com/office/drawing/2014/main" id="{73CE97FE-A078-6B48-406A-331E40C3C289}"/>
              </a:ext>
            </a:extLst>
          </p:cNvPr>
          <p:cNvSpPr txBox="1"/>
          <p:nvPr/>
        </p:nvSpPr>
        <p:spPr>
          <a:xfrm>
            <a:off x="7943850" y="2590800"/>
            <a:ext cx="1333500" cy="276999"/>
          </a:xfrm>
          <a:prstGeom prst="rect">
            <a:avLst/>
          </a:prstGeom>
          <a:noFill/>
        </p:spPr>
        <p:txBody>
          <a:bodyPr vert="horz" wrap="square" lIns="0" tIns="0" rIns="0" bIns="0" rtlCol="0" anchor="t">
            <a:noAutofit/>
          </a:bodyPr>
          <a:lstStyle/>
          <a:p>
            <a:pPr>
              <a:lnSpc>
                <a:spcPct val="130000"/>
              </a:lnSpc>
            </a:pPr>
            <a:r>
              <a:rPr lang="es-HN" sz="975">
                <a:solidFill>
                  <a:srgbClr val="39404A"/>
                </a:solidFill>
                <a:latin typeface="Calibri" panose="020F0502020204030204" pitchFamily="34" charset="0"/>
              </a:rPr>
              <a:t>Probabilidades</a:t>
            </a:r>
          </a:p>
        </p:txBody>
      </p:sp>
      <p:sp>
        <p:nvSpPr>
          <p:cNvPr id="26" name="CuadroTexto 25">
            <a:extLst>
              <a:ext uri="{FF2B5EF4-FFF2-40B4-BE49-F238E27FC236}">
                <a16:creationId xmlns:a16="http://schemas.microsoft.com/office/drawing/2014/main" id="{E1F5F315-E9A3-205C-96AC-4149D1575FD0}"/>
              </a:ext>
            </a:extLst>
          </p:cNvPr>
          <p:cNvSpPr txBox="1"/>
          <p:nvPr/>
        </p:nvSpPr>
        <p:spPr>
          <a:xfrm>
            <a:off x="9353550" y="2590800"/>
            <a:ext cx="2057400" cy="276999"/>
          </a:xfrm>
          <a:prstGeom prst="rect">
            <a:avLst/>
          </a:prstGeom>
          <a:noFill/>
        </p:spPr>
        <p:txBody>
          <a:bodyPr vert="horz" wrap="square" lIns="0" tIns="0" rIns="0" bIns="0" rtlCol="0" anchor="t">
            <a:noAutofit/>
          </a:bodyPr>
          <a:lstStyle/>
          <a:p>
            <a:pPr>
              <a:lnSpc>
                <a:spcPct val="130000"/>
              </a:lnSpc>
            </a:pPr>
            <a:r>
              <a:rPr lang="es-ES" sz="975">
                <a:solidFill>
                  <a:srgbClr val="39404A"/>
                </a:solidFill>
                <a:latin typeface="Calibri" panose="020F0502020204030204" pitchFamily="34" charset="0"/>
              </a:rPr>
              <a:t>p = q = 0.5, que maximiza la varianza</a:t>
            </a:r>
            <a:endParaRPr lang="es-HN" sz="975">
              <a:solidFill>
                <a:srgbClr val="39404A"/>
              </a:solidFill>
              <a:latin typeface="Calibri" panose="020F0502020204030204" pitchFamily="34" charset="0"/>
            </a:endParaRPr>
          </a:p>
        </p:txBody>
      </p:sp>
      <p:cxnSp>
        <p:nvCxnSpPr>
          <p:cNvPr id="27" name="Conector recto 26">
            <a:extLst>
              <a:ext uri="{FF2B5EF4-FFF2-40B4-BE49-F238E27FC236}">
                <a16:creationId xmlns:a16="http://schemas.microsoft.com/office/drawing/2014/main" id="{0A4A5765-2668-3342-D9FC-A8A86D5B99A0}"/>
              </a:ext>
            </a:extLst>
          </p:cNvPr>
          <p:cNvCxnSpPr/>
          <p:nvPr/>
        </p:nvCxnSpPr>
        <p:spPr>
          <a:xfrm>
            <a:off x="7943850" y="2895600"/>
            <a:ext cx="3467100"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28" name="CuadroTexto 27">
            <a:extLst>
              <a:ext uri="{FF2B5EF4-FFF2-40B4-BE49-F238E27FC236}">
                <a16:creationId xmlns:a16="http://schemas.microsoft.com/office/drawing/2014/main" id="{148FA177-CCBB-552C-B612-156E0DDF708B}"/>
              </a:ext>
            </a:extLst>
          </p:cNvPr>
          <p:cNvSpPr txBox="1"/>
          <p:nvPr/>
        </p:nvSpPr>
        <p:spPr>
          <a:xfrm>
            <a:off x="7943850" y="2971800"/>
            <a:ext cx="1333500" cy="276999"/>
          </a:xfrm>
          <a:prstGeom prst="rect">
            <a:avLst/>
          </a:prstGeom>
          <a:noFill/>
        </p:spPr>
        <p:txBody>
          <a:bodyPr vert="horz" wrap="square" lIns="0" tIns="0" rIns="0" bIns="0" rtlCol="0" anchor="t">
            <a:noAutofit/>
          </a:bodyPr>
          <a:lstStyle/>
          <a:p>
            <a:pPr>
              <a:lnSpc>
                <a:spcPct val="130000"/>
              </a:lnSpc>
            </a:pPr>
            <a:r>
              <a:rPr lang="es-HN" sz="975">
                <a:solidFill>
                  <a:srgbClr val="39404A"/>
                </a:solidFill>
                <a:latin typeface="Calibri" panose="020F0502020204030204" pitchFamily="34" charset="0"/>
              </a:rPr>
              <a:t>Margen de error</a:t>
            </a:r>
          </a:p>
        </p:txBody>
      </p:sp>
      <p:sp>
        <p:nvSpPr>
          <p:cNvPr id="29" name="CuadroTexto 28">
            <a:extLst>
              <a:ext uri="{FF2B5EF4-FFF2-40B4-BE49-F238E27FC236}">
                <a16:creationId xmlns:a16="http://schemas.microsoft.com/office/drawing/2014/main" id="{81B470FA-3195-0E12-978B-D3BB0141D48D}"/>
              </a:ext>
            </a:extLst>
          </p:cNvPr>
          <p:cNvSpPr txBox="1"/>
          <p:nvPr/>
        </p:nvSpPr>
        <p:spPr>
          <a:xfrm>
            <a:off x="9353550" y="2971800"/>
            <a:ext cx="2057400" cy="276999"/>
          </a:xfrm>
          <a:prstGeom prst="rect">
            <a:avLst/>
          </a:prstGeom>
          <a:noFill/>
        </p:spPr>
        <p:txBody>
          <a:bodyPr vert="horz" wrap="square" lIns="0" tIns="0" rIns="0" bIns="0" rtlCol="0" anchor="t">
            <a:noAutofit/>
          </a:bodyPr>
          <a:lstStyle/>
          <a:p>
            <a:pPr>
              <a:lnSpc>
                <a:spcPct val="130000"/>
              </a:lnSpc>
            </a:pPr>
            <a:r>
              <a:rPr lang="es-HN" sz="975">
                <a:solidFill>
                  <a:srgbClr val="39404A"/>
                </a:solidFill>
                <a:latin typeface="Calibri" panose="020F0502020204030204" pitchFamily="34" charset="0"/>
              </a:rPr>
              <a:t>8 %</a:t>
            </a:r>
          </a:p>
        </p:txBody>
      </p:sp>
      <p:cxnSp>
        <p:nvCxnSpPr>
          <p:cNvPr id="30" name="Conector recto 29">
            <a:extLst>
              <a:ext uri="{FF2B5EF4-FFF2-40B4-BE49-F238E27FC236}">
                <a16:creationId xmlns:a16="http://schemas.microsoft.com/office/drawing/2014/main" id="{06D952F6-9C46-BB72-DE4F-39B624DA42F4}"/>
              </a:ext>
            </a:extLst>
          </p:cNvPr>
          <p:cNvCxnSpPr/>
          <p:nvPr/>
        </p:nvCxnSpPr>
        <p:spPr>
          <a:xfrm>
            <a:off x="7943850" y="3276600"/>
            <a:ext cx="3467100"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31" name="CuadroTexto 30">
            <a:extLst>
              <a:ext uri="{FF2B5EF4-FFF2-40B4-BE49-F238E27FC236}">
                <a16:creationId xmlns:a16="http://schemas.microsoft.com/office/drawing/2014/main" id="{EAB054B7-3EDC-3987-4035-5E5F4D351585}"/>
              </a:ext>
            </a:extLst>
          </p:cNvPr>
          <p:cNvSpPr txBox="1"/>
          <p:nvPr/>
        </p:nvSpPr>
        <p:spPr>
          <a:xfrm>
            <a:off x="7943850" y="3352800"/>
            <a:ext cx="1333500" cy="276999"/>
          </a:xfrm>
          <a:prstGeom prst="rect">
            <a:avLst/>
          </a:prstGeom>
          <a:noFill/>
        </p:spPr>
        <p:txBody>
          <a:bodyPr vert="horz" wrap="square" lIns="0" tIns="0" rIns="0" bIns="0" rtlCol="0" anchor="t">
            <a:noAutofit/>
          </a:bodyPr>
          <a:lstStyle/>
          <a:p>
            <a:pPr>
              <a:lnSpc>
                <a:spcPct val="130000"/>
              </a:lnSpc>
            </a:pPr>
            <a:r>
              <a:rPr lang="es-HN" sz="975" b="1">
                <a:solidFill>
                  <a:srgbClr val="39404A"/>
                </a:solidFill>
                <a:latin typeface="Calibri" panose="020F0502020204030204" pitchFamily="34" charset="0"/>
              </a:rPr>
              <a:t>Resultado</a:t>
            </a:r>
          </a:p>
        </p:txBody>
      </p:sp>
      <p:sp>
        <p:nvSpPr>
          <p:cNvPr id="32" name="CuadroTexto 31">
            <a:extLst>
              <a:ext uri="{FF2B5EF4-FFF2-40B4-BE49-F238E27FC236}">
                <a16:creationId xmlns:a16="http://schemas.microsoft.com/office/drawing/2014/main" id="{2DEDF5DD-8B4F-436D-092B-7BB8A58CCBFF}"/>
              </a:ext>
            </a:extLst>
          </p:cNvPr>
          <p:cNvSpPr txBox="1"/>
          <p:nvPr/>
        </p:nvSpPr>
        <p:spPr>
          <a:xfrm>
            <a:off x="9353550" y="3352800"/>
            <a:ext cx="2057400" cy="276999"/>
          </a:xfrm>
          <a:prstGeom prst="rect">
            <a:avLst/>
          </a:prstGeom>
          <a:noFill/>
        </p:spPr>
        <p:txBody>
          <a:bodyPr vert="horz" wrap="square" lIns="0" tIns="0" rIns="0" bIns="0" rtlCol="0" anchor="t">
            <a:noAutofit/>
          </a:bodyPr>
          <a:lstStyle/>
          <a:p>
            <a:pPr>
              <a:lnSpc>
                <a:spcPct val="130000"/>
              </a:lnSpc>
            </a:pPr>
            <a:r>
              <a:rPr lang="es-HN" sz="975" b="1">
                <a:solidFill>
                  <a:srgbClr val="39404A"/>
                </a:solidFill>
                <a:latin typeface="Calibri" panose="020F0502020204030204" pitchFamily="34" charset="0"/>
              </a:rPr>
              <a:t>150 encuestados</a:t>
            </a:r>
            <a:r>
              <a:rPr lang="es-HN" sz="975">
                <a:solidFill>
                  <a:srgbClr val="39404A"/>
                </a:solidFill>
                <a:latin typeface="Calibri" panose="020F0502020204030204" pitchFamily="34" charset="0"/>
              </a:rPr>
              <a:t>, alcanzados</a:t>
            </a:r>
          </a:p>
        </p:txBody>
      </p:sp>
      <p:cxnSp>
        <p:nvCxnSpPr>
          <p:cNvPr id="33" name="Conector recto 32">
            <a:extLst>
              <a:ext uri="{FF2B5EF4-FFF2-40B4-BE49-F238E27FC236}">
                <a16:creationId xmlns:a16="http://schemas.microsoft.com/office/drawing/2014/main" id="{441DF234-981A-8669-9BDE-5CE5C44758CF}"/>
              </a:ext>
            </a:extLst>
          </p:cNvPr>
          <p:cNvCxnSpPr/>
          <p:nvPr/>
        </p:nvCxnSpPr>
        <p:spPr>
          <a:xfrm>
            <a:off x="7943850" y="3657600"/>
            <a:ext cx="3467100"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0C868A3C-0C76-D460-9382-CE02B1BEEFC1}"/>
              </a:ext>
            </a:extLst>
          </p:cNvPr>
          <p:cNvSpPr txBox="1"/>
          <p:nvPr/>
        </p:nvSpPr>
        <p:spPr>
          <a:xfrm>
            <a:off x="7943850" y="3810000"/>
            <a:ext cx="3467100" cy="276999"/>
          </a:xfrm>
          <a:prstGeom prst="rect">
            <a:avLst/>
          </a:prstGeom>
          <a:noFill/>
        </p:spPr>
        <p:txBody>
          <a:bodyPr vert="horz" wrap="square" lIns="0" tIns="0" rIns="0" bIns="0" rtlCol="0" anchor="t">
            <a:noAutofit/>
          </a:bodyPr>
          <a:lstStyle/>
          <a:p>
            <a:pPr>
              <a:lnSpc>
                <a:spcPct val="140000"/>
              </a:lnSpc>
            </a:pPr>
            <a:r>
              <a:rPr lang="es-ES" sz="975">
                <a:solidFill>
                  <a:srgbClr val="39404A"/>
                </a:solidFill>
                <a:latin typeface="Calibri" panose="020F0502020204030204" pitchFamily="34" charset="0"/>
              </a:rPr>
              <a:t>Muestreo </a:t>
            </a:r>
            <a:r>
              <a:rPr lang="es-ES" sz="975" b="1">
                <a:solidFill>
                  <a:srgbClr val="39404A"/>
                </a:solidFill>
                <a:latin typeface="Calibri" panose="020F0502020204030204" pitchFamily="34" charset="0"/>
              </a:rPr>
              <a:t>no probabilístico por conveniencia</a:t>
            </a:r>
            <a:r>
              <a:rPr lang="es-ES" sz="975">
                <a:solidFill>
                  <a:srgbClr val="39404A"/>
                </a:solidFill>
                <a:latin typeface="Calibri" panose="020F0502020204030204" pitchFamily="34" charset="0"/>
              </a:rPr>
              <a:t>. Los resultados se circunscriben al grupo estudiado y no se generalizan estadísticamente a la población hondureña.</a:t>
            </a:r>
            <a:endParaRPr lang="es-HN" sz="975">
              <a:solidFill>
                <a:srgbClr val="39404A"/>
              </a:solidFill>
              <a:latin typeface="Calibri" panose="020F0502020204030204" pitchFamily="34" charset="0"/>
            </a:endParaRPr>
          </a:p>
        </p:txBody>
      </p:sp>
    </p:spTree>
    <p:extLst>
      <p:ext uri="{BB962C8B-B14F-4D97-AF65-F5344CB8AC3E}">
        <p14:creationId xmlns:p14="http://schemas.microsoft.com/office/powerpoint/2010/main" val="2524536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6FCDD533-560B-CC0E-33D5-0B0F0E834A9D}"/>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8A53AFA0-7319-0924-5EC5-90BCD472D31D}"/>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481B97B9-6B96-AD57-7CE8-F6A6018D0531}"/>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80383218-EE49-B565-B0D6-A96BEE4E8F60}"/>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Rectángulo: esquinas redondeadas 5">
            <a:extLst>
              <a:ext uri="{FF2B5EF4-FFF2-40B4-BE49-F238E27FC236}">
                <a16:creationId xmlns:a16="http://schemas.microsoft.com/office/drawing/2014/main" id="{408EC012-5103-536C-1330-A90C149AA72B}"/>
              </a:ext>
            </a:extLst>
          </p:cNvPr>
          <p:cNvSpPr/>
          <p:nvPr/>
        </p:nvSpPr>
        <p:spPr>
          <a:xfrm>
            <a:off x="9715500" y="266700"/>
            <a:ext cx="1866900" cy="209550"/>
          </a:xfrm>
          <a:prstGeom prst="roundRect">
            <a:avLst>
              <a:gd name="adj" fmla="val 6000"/>
            </a:avLst>
          </a:prstGeom>
          <a:solidFill>
            <a:srgbClr val="FDF6E9"/>
          </a:solidFill>
          <a:ln w="12700">
            <a:solidFill>
              <a:srgbClr val="D390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7" name="CuadroTexto 6">
            <a:extLst>
              <a:ext uri="{FF2B5EF4-FFF2-40B4-BE49-F238E27FC236}">
                <a16:creationId xmlns:a16="http://schemas.microsoft.com/office/drawing/2014/main" id="{D353176A-A55E-68F8-44A8-B9B3D1F864C6}"/>
              </a:ext>
            </a:extLst>
          </p:cNvPr>
          <p:cNvSpPr txBox="1"/>
          <p:nvPr/>
        </p:nvSpPr>
        <p:spPr>
          <a:xfrm>
            <a:off x="9715500" y="323850"/>
            <a:ext cx="1866900" cy="276999"/>
          </a:xfrm>
          <a:prstGeom prst="rect">
            <a:avLst/>
          </a:prstGeom>
          <a:noFill/>
        </p:spPr>
        <p:txBody>
          <a:bodyPr vert="horz" wrap="square" lIns="0" tIns="0" rIns="0" bIns="0" rtlCol="0" anchor="t">
            <a:noAutofit/>
          </a:bodyPr>
          <a:lstStyle/>
          <a:p>
            <a:pPr algn="ctr">
              <a:lnSpc>
                <a:spcPct val="125000"/>
              </a:lnSpc>
            </a:pPr>
            <a:r>
              <a:rPr lang="es-HN" sz="750" b="1" spc="120">
                <a:solidFill>
                  <a:srgbClr val="B8791A"/>
                </a:solidFill>
                <a:latin typeface="Calibri" panose="020F0502020204030204" pitchFamily="34" charset="0"/>
              </a:rPr>
              <a:t>LÁMINA DE RESPALDO</a:t>
            </a:r>
          </a:p>
        </p:txBody>
      </p:sp>
      <p:sp>
        <p:nvSpPr>
          <p:cNvPr id="8" name="CuadroTexto 7">
            <a:extLst>
              <a:ext uri="{FF2B5EF4-FFF2-40B4-BE49-F238E27FC236}">
                <a16:creationId xmlns:a16="http://schemas.microsoft.com/office/drawing/2014/main" id="{7694C2E6-E802-DEFC-093D-10B6CEB4A165}"/>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C3372C"/>
                </a:solidFill>
                <a:latin typeface="Calibri" panose="020F0502020204030204" pitchFamily="34" charset="0"/>
              </a:rPr>
              <a:t>RESPALDO · LIMITACIONES DECLARADAS</a:t>
            </a:r>
          </a:p>
        </p:txBody>
      </p:sp>
      <p:sp>
        <p:nvSpPr>
          <p:cNvPr id="9" name="CuadroTexto 8">
            <a:extLst>
              <a:ext uri="{FF2B5EF4-FFF2-40B4-BE49-F238E27FC236}">
                <a16:creationId xmlns:a16="http://schemas.microsoft.com/office/drawing/2014/main" id="{027C2158-CBA5-A0C7-3B07-7A295007292E}"/>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400" b="1">
                <a:solidFill>
                  <a:srgbClr val="14171C"/>
                </a:solidFill>
                <a:latin typeface="Georgia" panose="02040502050405020303" pitchFamily="18" charset="0"/>
              </a:rPr>
              <a:t>Lo que este trabajo no logra demostrar</a:t>
            </a:r>
            <a:endParaRPr lang="es-HN" sz="2400" b="1">
              <a:solidFill>
                <a:srgbClr val="14171C"/>
              </a:solidFill>
              <a:latin typeface="Georgia" panose="02040502050405020303" pitchFamily="18" charset="0"/>
            </a:endParaRPr>
          </a:p>
        </p:txBody>
      </p:sp>
      <p:sp>
        <p:nvSpPr>
          <p:cNvPr id="10" name="Rectángulo: esquinas redondeadas 9">
            <a:extLst>
              <a:ext uri="{FF2B5EF4-FFF2-40B4-BE49-F238E27FC236}">
                <a16:creationId xmlns:a16="http://schemas.microsoft.com/office/drawing/2014/main" id="{5D340FF8-B4C6-895D-2F4F-ECE0FF71A41B}"/>
              </a:ext>
            </a:extLst>
          </p:cNvPr>
          <p:cNvSpPr/>
          <p:nvPr/>
        </p:nvSpPr>
        <p:spPr>
          <a:xfrm>
            <a:off x="609600" y="1428750"/>
            <a:ext cx="5419725" cy="16383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1" name="Rectángulo 10">
            <a:extLst>
              <a:ext uri="{FF2B5EF4-FFF2-40B4-BE49-F238E27FC236}">
                <a16:creationId xmlns:a16="http://schemas.microsoft.com/office/drawing/2014/main" id="{937A04D1-49B8-F4C2-8863-15156CAC8CD8}"/>
              </a:ext>
            </a:extLst>
          </p:cNvPr>
          <p:cNvSpPr/>
          <p:nvPr/>
        </p:nvSpPr>
        <p:spPr>
          <a:xfrm>
            <a:off x="609600" y="1457325"/>
            <a:ext cx="28575" cy="15811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2" name="CuadroTexto 11">
            <a:extLst>
              <a:ext uri="{FF2B5EF4-FFF2-40B4-BE49-F238E27FC236}">
                <a16:creationId xmlns:a16="http://schemas.microsoft.com/office/drawing/2014/main" id="{6057999C-0A20-1FF7-8A60-C3D662527605}"/>
              </a:ext>
            </a:extLst>
          </p:cNvPr>
          <p:cNvSpPr txBox="1"/>
          <p:nvPr/>
        </p:nvSpPr>
        <p:spPr>
          <a:xfrm>
            <a:off x="781050" y="1562100"/>
            <a:ext cx="5095875" cy="276999"/>
          </a:xfrm>
          <a:prstGeom prst="rect">
            <a:avLst/>
          </a:prstGeom>
          <a:noFill/>
        </p:spPr>
        <p:txBody>
          <a:bodyPr vert="horz" wrap="square" lIns="0" tIns="0" rIns="0" bIns="0" rtlCol="0" anchor="t">
            <a:noAutofit/>
          </a:bodyPr>
          <a:lstStyle/>
          <a:p>
            <a:pPr>
              <a:lnSpc>
                <a:spcPct val="112000"/>
              </a:lnSpc>
            </a:pPr>
            <a:r>
              <a:rPr lang="es-ES" sz="1200" b="1">
                <a:solidFill>
                  <a:srgbClr val="14171C"/>
                </a:solidFill>
                <a:latin typeface="Georgia" panose="02040502050405020303" pitchFamily="18" charset="0"/>
              </a:rPr>
              <a:t>La hipótesis no se validó empíricamente</a:t>
            </a:r>
            <a:endParaRPr lang="es-HN" sz="1200" b="1">
              <a:solidFill>
                <a:srgbClr val="14171C"/>
              </a:solidFill>
              <a:latin typeface="Georgia" panose="02040502050405020303" pitchFamily="18" charset="0"/>
            </a:endParaRPr>
          </a:p>
        </p:txBody>
      </p:sp>
      <p:sp>
        <p:nvSpPr>
          <p:cNvPr id="13" name="CuadroTexto 12">
            <a:extLst>
              <a:ext uri="{FF2B5EF4-FFF2-40B4-BE49-F238E27FC236}">
                <a16:creationId xmlns:a16="http://schemas.microsoft.com/office/drawing/2014/main" id="{7BE5DE54-F9A9-CCE3-62B5-56B148AA0CDC}"/>
              </a:ext>
            </a:extLst>
          </p:cNvPr>
          <p:cNvSpPr txBox="1"/>
          <p:nvPr/>
        </p:nvSpPr>
        <p:spPr>
          <a:xfrm>
            <a:off x="781050" y="2038350"/>
            <a:ext cx="5095875"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H1 afirma que la plataforma permitirá decidir el voto con fundamentos cuantitativos. Confirmarlo requeriría medir el uso de la herramienta una vez implementada, y esta fase midió la necesidad, no el efecto.</a:t>
            </a:r>
            <a:endParaRPr lang="es-HN" sz="1013">
              <a:solidFill>
                <a:srgbClr val="39404A"/>
              </a:solidFill>
              <a:latin typeface="Calibri" panose="020F0502020204030204" pitchFamily="34" charset="0"/>
            </a:endParaRPr>
          </a:p>
        </p:txBody>
      </p:sp>
      <p:sp>
        <p:nvSpPr>
          <p:cNvPr id="14" name="Rectángulo: esquinas redondeadas 13">
            <a:extLst>
              <a:ext uri="{FF2B5EF4-FFF2-40B4-BE49-F238E27FC236}">
                <a16:creationId xmlns:a16="http://schemas.microsoft.com/office/drawing/2014/main" id="{7B9EDD85-78E0-AA7E-0B76-31436D1B6C4E}"/>
              </a:ext>
            </a:extLst>
          </p:cNvPr>
          <p:cNvSpPr/>
          <p:nvPr/>
        </p:nvSpPr>
        <p:spPr>
          <a:xfrm>
            <a:off x="6162675" y="1428750"/>
            <a:ext cx="5419725" cy="16383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5" name="Rectángulo 14">
            <a:extLst>
              <a:ext uri="{FF2B5EF4-FFF2-40B4-BE49-F238E27FC236}">
                <a16:creationId xmlns:a16="http://schemas.microsoft.com/office/drawing/2014/main" id="{4F7A8BF0-901C-6C23-7CA9-982050D4AB79}"/>
              </a:ext>
            </a:extLst>
          </p:cNvPr>
          <p:cNvSpPr/>
          <p:nvPr/>
        </p:nvSpPr>
        <p:spPr>
          <a:xfrm>
            <a:off x="6162675" y="1457325"/>
            <a:ext cx="28575" cy="15811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6" name="CuadroTexto 15">
            <a:extLst>
              <a:ext uri="{FF2B5EF4-FFF2-40B4-BE49-F238E27FC236}">
                <a16:creationId xmlns:a16="http://schemas.microsoft.com/office/drawing/2014/main" id="{6D037276-920C-83F1-0BE0-DF49378E51B0}"/>
              </a:ext>
            </a:extLst>
          </p:cNvPr>
          <p:cNvSpPr txBox="1"/>
          <p:nvPr/>
        </p:nvSpPr>
        <p:spPr>
          <a:xfrm>
            <a:off x="6334125" y="1562100"/>
            <a:ext cx="5095875" cy="276999"/>
          </a:xfrm>
          <a:prstGeom prst="rect">
            <a:avLst/>
          </a:prstGeom>
          <a:noFill/>
        </p:spPr>
        <p:txBody>
          <a:bodyPr vert="horz" wrap="square" lIns="0" tIns="0" rIns="0" bIns="0" rtlCol="0" anchor="t">
            <a:noAutofit/>
          </a:bodyPr>
          <a:lstStyle/>
          <a:p>
            <a:pPr>
              <a:lnSpc>
                <a:spcPct val="112000"/>
              </a:lnSpc>
            </a:pPr>
            <a:r>
              <a:rPr lang="es-ES" sz="1200" b="1">
                <a:solidFill>
                  <a:srgbClr val="14171C"/>
                </a:solidFill>
                <a:latin typeface="Georgia" panose="02040502050405020303" pitchFamily="18" charset="0"/>
              </a:rPr>
              <a:t>La precisión del componente de IA no se midió</a:t>
            </a:r>
            <a:endParaRPr lang="es-HN" sz="1200" b="1">
              <a:solidFill>
                <a:srgbClr val="14171C"/>
              </a:solidFill>
              <a:latin typeface="Georgia" panose="02040502050405020303" pitchFamily="18" charset="0"/>
            </a:endParaRPr>
          </a:p>
        </p:txBody>
      </p:sp>
      <p:sp>
        <p:nvSpPr>
          <p:cNvPr id="17" name="CuadroTexto 16">
            <a:extLst>
              <a:ext uri="{FF2B5EF4-FFF2-40B4-BE49-F238E27FC236}">
                <a16:creationId xmlns:a16="http://schemas.microsoft.com/office/drawing/2014/main" id="{B264D2D1-A4A2-4D1F-4875-1BE9FC77D116}"/>
              </a:ext>
            </a:extLst>
          </p:cNvPr>
          <p:cNvSpPr txBox="1"/>
          <p:nvPr/>
        </p:nvSpPr>
        <p:spPr>
          <a:xfrm>
            <a:off x="6334125" y="2038350"/>
            <a:ext cx="5095875"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La pregunta específica 5 pide evaluar efectividad y precisión. El instrumento midió </a:t>
            </a:r>
            <a:r>
              <a:rPr lang="es-ES" sz="1013" b="1">
                <a:solidFill>
                  <a:srgbClr val="39404A"/>
                </a:solidFill>
                <a:latin typeface="Calibri" panose="020F0502020204030204" pitchFamily="34" charset="0"/>
              </a:rPr>
              <a:t>interés y confianza declarada</a:t>
            </a:r>
            <a:r>
              <a:rPr lang="es-ES" sz="1013">
                <a:solidFill>
                  <a:srgbClr val="39404A"/>
                </a:solidFill>
                <a:latin typeface="Calibri" panose="020F0502020204030204" pitchFamily="34" charset="0"/>
              </a:rPr>
              <a:t>, que es otra cosa. Medirla exige un conjunto de preguntas con respuesta conocida — y los registros de </a:t>
            </a:r>
            <a:r>
              <a:rPr lang="es-ES" sz="911">
                <a:solidFill>
                  <a:srgbClr val="39404A"/>
                </a:solidFill>
                <a:latin typeface="Consolas" panose="020B0609020204030204" pitchFamily="49" charset="0"/>
              </a:rPr>
              <a:t>ConsultasIA</a:t>
            </a:r>
            <a:r>
              <a:rPr lang="es-ES" sz="1013">
                <a:solidFill>
                  <a:srgbClr val="39404A"/>
                </a:solidFill>
                <a:latin typeface="Calibri" panose="020F0502020204030204" pitchFamily="34" charset="0"/>
              </a:rPr>
              <a:t> ya guardan el material.</a:t>
            </a:r>
            <a:endParaRPr lang="es-HN" sz="1013">
              <a:solidFill>
                <a:srgbClr val="39404A"/>
              </a:solidFill>
              <a:latin typeface="Calibri" panose="020F0502020204030204" pitchFamily="34" charset="0"/>
            </a:endParaRPr>
          </a:p>
        </p:txBody>
      </p:sp>
      <p:sp>
        <p:nvSpPr>
          <p:cNvPr id="18" name="Rectángulo: esquinas redondeadas 17">
            <a:extLst>
              <a:ext uri="{FF2B5EF4-FFF2-40B4-BE49-F238E27FC236}">
                <a16:creationId xmlns:a16="http://schemas.microsoft.com/office/drawing/2014/main" id="{0890B93E-7ED1-09EA-B50D-9C7AFEB6A5A2}"/>
              </a:ext>
            </a:extLst>
          </p:cNvPr>
          <p:cNvSpPr/>
          <p:nvPr/>
        </p:nvSpPr>
        <p:spPr>
          <a:xfrm>
            <a:off x="609600" y="3200400"/>
            <a:ext cx="5419725" cy="16383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9" name="Rectángulo 18">
            <a:extLst>
              <a:ext uri="{FF2B5EF4-FFF2-40B4-BE49-F238E27FC236}">
                <a16:creationId xmlns:a16="http://schemas.microsoft.com/office/drawing/2014/main" id="{B5A2FDD9-0436-E2FC-B676-049D66FA4A71}"/>
              </a:ext>
            </a:extLst>
          </p:cNvPr>
          <p:cNvSpPr/>
          <p:nvPr/>
        </p:nvSpPr>
        <p:spPr>
          <a:xfrm>
            <a:off x="609600" y="3228975"/>
            <a:ext cx="28575" cy="15811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0" name="CuadroTexto 19">
            <a:extLst>
              <a:ext uri="{FF2B5EF4-FFF2-40B4-BE49-F238E27FC236}">
                <a16:creationId xmlns:a16="http://schemas.microsoft.com/office/drawing/2014/main" id="{1C0F8A1E-7C08-037A-1142-94B9C6E46875}"/>
              </a:ext>
            </a:extLst>
          </p:cNvPr>
          <p:cNvSpPr txBox="1"/>
          <p:nvPr/>
        </p:nvSpPr>
        <p:spPr>
          <a:xfrm>
            <a:off x="781050" y="3333750"/>
            <a:ext cx="5095875" cy="276999"/>
          </a:xfrm>
          <a:prstGeom prst="rect">
            <a:avLst/>
          </a:prstGeom>
          <a:noFill/>
        </p:spPr>
        <p:txBody>
          <a:bodyPr vert="horz" wrap="square" lIns="0" tIns="0" rIns="0" bIns="0" rtlCol="0" anchor="t">
            <a:noAutofit/>
          </a:bodyPr>
          <a:lstStyle/>
          <a:p>
            <a:pPr>
              <a:lnSpc>
                <a:spcPct val="112000"/>
              </a:lnSpc>
            </a:pPr>
            <a:r>
              <a:rPr lang="es-ES" sz="1200" b="1">
                <a:solidFill>
                  <a:srgbClr val="14171C"/>
                </a:solidFill>
                <a:latin typeface="Georgia" panose="02040502050405020303" pitchFamily="18" charset="0"/>
              </a:rPr>
              <a:t>Las promesas recurrentes no se analizaron en el discurso</a:t>
            </a:r>
            <a:endParaRPr lang="es-HN" sz="1200" b="1">
              <a:solidFill>
                <a:srgbClr val="14171C"/>
              </a:solidFill>
              <a:latin typeface="Georgia" panose="02040502050405020303" pitchFamily="18" charset="0"/>
            </a:endParaRPr>
          </a:p>
        </p:txBody>
      </p:sp>
      <p:sp>
        <p:nvSpPr>
          <p:cNvPr id="21" name="CuadroTexto 20">
            <a:extLst>
              <a:ext uri="{FF2B5EF4-FFF2-40B4-BE49-F238E27FC236}">
                <a16:creationId xmlns:a16="http://schemas.microsoft.com/office/drawing/2014/main" id="{5BAE79FF-9305-9AA8-6033-F378C8D1AD0E}"/>
              </a:ext>
            </a:extLst>
          </p:cNvPr>
          <p:cNvSpPr txBox="1"/>
          <p:nvPr/>
        </p:nvSpPr>
        <p:spPr>
          <a:xfrm>
            <a:off x="781050" y="3810000"/>
            <a:ext cx="5095875"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La pregunta específica 3 se responde con el </a:t>
            </a:r>
            <a:r>
              <a:rPr lang="es-ES" sz="1013" b="1">
                <a:solidFill>
                  <a:srgbClr val="39404A"/>
                </a:solidFill>
                <a:latin typeface="Calibri" panose="020F0502020204030204" pitchFamily="34" charset="0"/>
              </a:rPr>
              <a:t>interés declarado</a:t>
            </a:r>
            <a:r>
              <a:rPr lang="es-ES" sz="1013">
                <a:solidFill>
                  <a:srgbClr val="39404A"/>
                </a:solidFill>
                <a:latin typeface="Calibri" panose="020F0502020204030204" pitchFamily="34" charset="0"/>
              </a:rPr>
              <a:t> de los encuestados, no con un análisis de contenido de discursos y planes de gobierno.</a:t>
            </a:r>
            <a:endParaRPr lang="es-HN" sz="1013">
              <a:solidFill>
                <a:srgbClr val="39404A"/>
              </a:solidFill>
              <a:latin typeface="Calibri" panose="020F0502020204030204" pitchFamily="34" charset="0"/>
            </a:endParaRPr>
          </a:p>
        </p:txBody>
      </p:sp>
      <p:sp>
        <p:nvSpPr>
          <p:cNvPr id="22" name="Rectángulo: esquinas redondeadas 21">
            <a:extLst>
              <a:ext uri="{FF2B5EF4-FFF2-40B4-BE49-F238E27FC236}">
                <a16:creationId xmlns:a16="http://schemas.microsoft.com/office/drawing/2014/main" id="{510553AF-D6A5-C8C5-5F16-8193253BC46B}"/>
              </a:ext>
            </a:extLst>
          </p:cNvPr>
          <p:cNvSpPr/>
          <p:nvPr/>
        </p:nvSpPr>
        <p:spPr>
          <a:xfrm>
            <a:off x="6162675" y="3200400"/>
            <a:ext cx="5419725" cy="16383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3" name="Rectángulo 22">
            <a:extLst>
              <a:ext uri="{FF2B5EF4-FFF2-40B4-BE49-F238E27FC236}">
                <a16:creationId xmlns:a16="http://schemas.microsoft.com/office/drawing/2014/main" id="{63880A53-5566-5791-CBA3-950CF8888A7B}"/>
              </a:ext>
            </a:extLst>
          </p:cNvPr>
          <p:cNvSpPr/>
          <p:nvPr/>
        </p:nvSpPr>
        <p:spPr>
          <a:xfrm>
            <a:off x="6162675" y="3228975"/>
            <a:ext cx="28575" cy="15811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4" name="CuadroTexto 23">
            <a:extLst>
              <a:ext uri="{FF2B5EF4-FFF2-40B4-BE49-F238E27FC236}">
                <a16:creationId xmlns:a16="http://schemas.microsoft.com/office/drawing/2014/main" id="{AA963117-6081-01A8-0C06-31486A290D10}"/>
              </a:ext>
            </a:extLst>
          </p:cNvPr>
          <p:cNvSpPr txBox="1"/>
          <p:nvPr/>
        </p:nvSpPr>
        <p:spPr>
          <a:xfrm>
            <a:off x="6334125" y="3333750"/>
            <a:ext cx="5095875" cy="276999"/>
          </a:xfrm>
          <a:prstGeom prst="rect">
            <a:avLst/>
          </a:prstGeom>
          <a:noFill/>
        </p:spPr>
        <p:txBody>
          <a:bodyPr vert="horz" wrap="square" lIns="0" tIns="0" rIns="0" bIns="0" rtlCol="0" anchor="t">
            <a:noAutofit/>
          </a:bodyPr>
          <a:lstStyle/>
          <a:p>
            <a:pPr>
              <a:lnSpc>
                <a:spcPct val="112000"/>
              </a:lnSpc>
            </a:pPr>
            <a:r>
              <a:rPr lang="es-ES" sz="1200" b="1">
                <a:solidFill>
                  <a:srgbClr val="14171C"/>
                </a:solidFill>
                <a:latin typeface="Georgia" panose="02040502050405020303" pitchFamily="18" charset="0"/>
              </a:rPr>
              <a:t>Los datos de la plataforma son de demostración</a:t>
            </a:r>
            <a:endParaRPr lang="es-HN" sz="1200" b="1">
              <a:solidFill>
                <a:srgbClr val="14171C"/>
              </a:solidFill>
              <a:latin typeface="Georgia" panose="02040502050405020303" pitchFamily="18" charset="0"/>
            </a:endParaRPr>
          </a:p>
        </p:txBody>
      </p:sp>
      <p:sp>
        <p:nvSpPr>
          <p:cNvPr id="25" name="CuadroTexto 24">
            <a:extLst>
              <a:ext uri="{FF2B5EF4-FFF2-40B4-BE49-F238E27FC236}">
                <a16:creationId xmlns:a16="http://schemas.microsoft.com/office/drawing/2014/main" id="{A2F32C2A-E2AA-AA77-E773-CB95AC11F121}"/>
              </a:ext>
            </a:extLst>
          </p:cNvPr>
          <p:cNvSpPr txBox="1"/>
          <p:nvPr/>
        </p:nvSpPr>
        <p:spPr>
          <a:xfrm>
            <a:off x="6334125" y="3810000"/>
            <a:ext cx="5095875" cy="276999"/>
          </a:xfrm>
          <a:prstGeom prst="rect">
            <a:avLst/>
          </a:prstGeom>
          <a:noFill/>
        </p:spPr>
        <p:txBody>
          <a:bodyPr vert="horz" wrap="square" lIns="0" tIns="0" rIns="0" bIns="0" rtlCol="0" anchor="t">
            <a:noAutofit/>
          </a:bodyPr>
          <a:lstStyle/>
          <a:p>
            <a:pPr>
              <a:lnSpc>
                <a:spcPct val="140000"/>
              </a:lnSpc>
            </a:pPr>
            <a:r>
              <a:rPr lang="es-ES" sz="1013">
                <a:solidFill>
                  <a:srgbClr val="39404A"/>
                </a:solidFill>
                <a:latin typeface="Calibri" panose="020F0502020204030204" pitchFamily="34" charset="0"/>
              </a:rPr>
              <a:t>Las candidaturas y propuestas cargadas son ficticias a propósito: usar partidos reales con candidatos inventados insinuaría afiliaciones que nadie declaró. Las cifras del tablero ilustran los indicadores, no diagnostican a la política hondureña.</a:t>
            </a:r>
            <a:endParaRPr lang="es-HN" sz="1013">
              <a:solidFill>
                <a:srgbClr val="39404A"/>
              </a:solidFill>
              <a:latin typeface="Calibri" panose="020F0502020204030204" pitchFamily="34" charset="0"/>
            </a:endParaRPr>
          </a:p>
        </p:txBody>
      </p:sp>
      <p:sp>
        <p:nvSpPr>
          <p:cNvPr id="26" name="CuadroTexto 25">
            <a:extLst>
              <a:ext uri="{FF2B5EF4-FFF2-40B4-BE49-F238E27FC236}">
                <a16:creationId xmlns:a16="http://schemas.microsoft.com/office/drawing/2014/main" id="{F27C22C1-C044-D7A5-07F8-4A76551383BB}"/>
              </a:ext>
            </a:extLst>
          </p:cNvPr>
          <p:cNvSpPr txBox="1"/>
          <p:nvPr/>
        </p:nvSpPr>
        <p:spPr>
          <a:xfrm>
            <a:off x="609600" y="5048250"/>
            <a:ext cx="10972800" cy="276999"/>
          </a:xfrm>
          <a:prstGeom prst="rect">
            <a:avLst/>
          </a:prstGeom>
          <a:noFill/>
        </p:spPr>
        <p:txBody>
          <a:bodyPr vert="horz" wrap="square" lIns="0" tIns="0" rIns="0" bIns="0" rtlCol="0" anchor="t">
            <a:noAutofit/>
          </a:bodyPr>
          <a:lstStyle/>
          <a:p>
            <a:pPr>
              <a:lnSpc>
                <a:spcPct val="125000"/>
              </a:lnSpc>
            </a:pPr>
            <a:r>
              <a:rPr lang="es-ES" sz="1050">
                <a:solidFill>
                  <a:srgbClr val="39404A"/>
                </a:solidFill>
                <a:latin typeface="Calibri" panose="020F0502020204030204" pitchFamily="34" charset="0"/>
              </a:rPr>
              <a:t>Declarar estas limitaciones es la misma política que sostiene la plataforma: cada cifra dice de qué no es evidencia.</a:t>
            </a:r>
            <a:endParaRPr lang="es-HN" sz="1050">
              <a:solidFill>
                <a:srgbClr val="39404A"/>
              </a:solidFill>
              <a:latin typeface="Calibri" panose="020F0502020204030204" pitchFamily="34" charset="0"/>
            </a:endParaRPr>
          </a:p>
        </p:txBody>
      </p:sp>
    </p:spTree>
    <p:extLst>
      <p:ext uri="{BB962C8B-B14F-4D97-AF65-F5344CB8AC3E}">
        <p14:creationId xmlns:p14="http://schemas.microsoft.com/office/powerpoint/2010/main" val="2538583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746C3D27-5F04-9D43-09FF-D0FCDFC55619}"/>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A0C3E6CD-3BC2-8F41-D5B5-90A620B6A082}"/>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607286A1-389E-8BFD-C7CD-A24F0127367C}"/>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61B1C2E0-882C-CA94-C590-4603C9C09CAA}"/>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Rectángulo: esquinas redondeadas 5">
            <a:extLst>
              <a:ext uri="{FF2B5EF4-FFF2-40B4-BE49-F238E27FC236}">
                <a16:creationId xmlns:a16="http://schemas.microsoft.com/office/drawing/2014/main" id="{1DA0EF43-DBE4-E960-8647-AD24499A8ED0}"/>
              </a:ext>
            </a:extLst>
          </p:cNvPr>
          <p:cNvSpPr/>
          <p:nvPr/>
        </p:nvSpPr>
        <p:spPr>
          <a:xfrm>
            <a:off x="9715500" y="266700"/>
            <a:ext cx="1866900" cy="209550"/>
          </a:xfrm>
          <a:prstGeom prst="roundRect">
            <a:avLst>
              <a:gd name="adj" fmla="val 6000"/>
            </a:avLst>
          </a:prstGeom>
          <a:solidFill>
            <a:srgbClr val="FDF6E9"/>
          </a:solidFill>
          <a:ln w="12700">
            <a:solidFill>
              <a:srgbClr val="D390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7" name="CuadroTexto 6">
            <a:extLst>
              <a:ext uri="{FF2B5EF4-FFF2-40B4-BE49-F238E27FC236}">
                <a16:creationId xmlns:a16="http://schemas.microsoft.com/office/drawing/2014/main" id="{C716A271-EE4C-AE5D-433F-10B0D48D44C7}"/>
              </a:ext>
            </a:extLst>
          </p:cNvPr>
          <p:cNvSpPr txBox="1"/>
          <p:nvPr/>
        </p:nvSpPr>
        <p:spPr>
          <a:xfrm>
            <a:off x="9715500" y="323850"/>
            <a:ext cx="1866900" cy="276999"/>
          </a:xfrm>
          <a:prstGeom prst="rect">
            <a:avLst/>
          </a:prstGeom>
          <a:noFill/>
        </p:spPr>
        <p:txBody>
          <a:bodyPr vert="horz" wrap="square" lIns="0" tIns="0" rIns="0" bIns="0" rtlCol="0" anchor="t">
            <a:noAutofit/>
          </a:bodyPr>
          <a:lstStyle/>
          <a:p>
            <a:pPr algn="ctr">
              <a:lnSpc>
                <a:spcPct val="125000"/>
              </a:lnSpc>
            </a:pPr>
            <a:r>
              <a:rPr lang="es-HN" sz="750" b="1" spc="120">
                <a:solidFill>
                  <a:srgbClr val="B8791A"/>
                </a:solidFill>
                <a:latin typeface="Calibri" panose="020F0502020204030204" pitchFamily="34" charset="0"/>
              </a:rPr>
              <a:t>LÁMINA DE RESPALDO</a:t>
            </a:r>
          </a:p>
        </p:txBody>
      </p:sp>
      <p:sp>
        <p:nvSpPr>
          <p:cNvPr id="8" name="CuadroTexto 7">
            <a:extLst>
              <a:ext uri="{FF2B5EF4-FFF2-40B4-BE49-F238E27FC236}">
                <a16:creationId xmlns:a16="http://schemas.microsoft.com/office/drawing/2014/main" id="{35981F72-BEC2-C755-6C10-12EF122630DF}"/>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17708A"/>
                </a:solidFill>
                <a:latin typeface="Calibri" panose="020F0502020204030204" pitchFamily="34" charset="0"/>
              </a:rPr>
              <a:t>RESPALDO · SEGURIDAD Y OWASP</a:t>
            </a:r>
          </a:p>
        </p:txBody>
      </p:sp>
      <p:sp>
        <p:nvSpPr>
          <p:cNvPr id="9" name="CuadroTexto 8">
            <a:extLst>
              <a:ext uri="{FF2B5EF4-FFF2-40B4-BE49-F238E27FC236}">
                <a16:creationId xmlns:a16="http://schemas.microsoft.com/office/drawing/2014/main" id="{B0D13581-0711-0836-D97B-E227FC9F35F5}"/>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HN" sz="2400" b="1">
                <a:solidFill>
                  <a:srgbClr val="14171C"/>
                </a:solidFill>
                <a:latin typeface="Georgia" panose="02040502050405020303" pitchFamily="18" charset="0"/>
              </a:rPr>
              <a:t>Resuelto, y deuda conocida</a:t>
            </a:r>
          </a:p>
        </p:txBody>
      </p:sp>
      <p:sp>
        <p:nvSpPr>
          <p:cNvPr id="10" name="CuadroTexto 9">
            <a:extLst>
              <a:ext uri="{FF2B5EF4-FFF2-40B4-BE49-F238E27FC236}">
                <a16:creationId xmlns:a16="http://schemas.microsoft.com/office/drawing/2014/main" id="{65313D11-AB84-AF76-4350-1EFEC7502407}"/>
              </a:ext>
            </a:extLst>
          </p:cNvPr>
          <p:cNvSpPr txBox="1"/>
          <p:nvPr/>
        </p:nvSpPr>
        <p:spPr>
          <a:xfrm>
            <a:off x="609600" y="1409700"/>
            <a:ext cx="5362575" cy="276999"/>
          </a:xfrm>
          <a:prstGeom prst="rect">
            <a:avLst/>
          </a:prstGeom>
          <a:noFill/>
        </p:spPr>
        <p:txBody>
          <a:bodyPr vert="horz" wrap="square" lIns="0" tIns="0" rIns="0" bIns="0" rtlCol="0" anchor="t">
            <a:noAutofit/>
          </a:bodyPr>
          <a:lstStyle/>
          <a:p>
            <a:pPr>
              <a:lnSpc>
                <a:spcPct val="125000"/>
              </a:lnSpc>
            </a:pPr>
            <a:r>
              <a:rPr lang="es-HN" sz="788" b="1" spc="100">
                <a:solidFill>
                  <a:srgbClr val="2C7A58"/>
                </a:solidFill>
                <a:latin typeface="Calibri" panose="020F0502020204030204" pitchFamily="34" charset="0"/>
              </a:rPr>
              <a:t>RESUELTO</a:t>
            </a:r>
          </a:p>
        </p:txBody>
      </p:sp>
      <p:sp>
        <p:nvSpPr>
          <p:cNvPr id="11" name="Rectángulo: esquinas redondeadas 10">
            <a:extLst>
              <a:ext uri="{FF2B5EF4-FFF2-40B4-BE49-F238E27FC236}">
                <a16:creationId xmlns:a16="http://schemas.microsoft.com/office/drawing/2014/main" id="{CE2A0E29-E599-8857-D979-ED7455525627}"/>
              </a:ext>
            </a:extLst>
          </p:cNvPr>
          <p:cNvSpPr/>
          <p:nvPr/>
        </p:nvSpPr>
        <p:spPr>
          <a:xfrm>
            <a:off x="609600" y="1619250"/>
            <a:ext cx="5362575" cy="8001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2" name="CuadroTexto 11">
            <a:extLst>
              <a:ext uri="{FF2B5EF4-FFF2-40B4-BE49-F238E27FC236}">
                <a16:creationId xmlns:a16="http://schemas.microsoft.com/office/drawing/2014/main" id="{51218E1F-55E1-3A63-09A2-D59045029209}"/>
              </a:ext>
            </a:extLst>
          </p:cNvPr>
          <p:cNvSpPr txBox="1"/>
          <p:nvPr/>
        </p:nvSpPr>
        <p:spPr>
          <a:xfrm>
            <a:off x="781050" y="1743075"/>
            <a:ext cx="5038725" cy="276999"/>
          </a:xfrm>
          <a:prstGeom prst="rect">
            <a:avLst/>
          </a:prstGeom>
          <a:noFill/>
        </p:spPr>
        <p:txBody>
          <a:bodyPr vert="horz" wrap="square" lIns="0" tIns="0" rIns="0" bIns="0" rtlCol="0" anchor="t">
            <a:noAutofit/>
          </a:bodyPr>
          <a:lstStyle/>
          <a:p>
            <a:pPr>
              <a:lnSpc>
                <a:spcPct val="140000"/>
              </a:lnSpc>
            </a:pPr>
            <a:r>
              <a:rPr lang="es-ES" sz="975" b="1">
                <a:solidFill>
                  <a:srgbClr val="39404A"/>
                </a:solidFill>
                <a:latin typeface="Calibri" panose="020F0502020204030204" pitchFamily="34" charset="0"/>
              </a:rPr>
              <a:t>A01 · Control de acceso roto.</a:t>
            </a:r>
            <a:r>
              <a:rPr lang="es-ES" sz="975">
                <a:solidFill>
                  <a:srgbClr val="39404A"/>
                </a:solidFill>
                <a:latin typeface="Calibri" panose="020F0502020204030204" pitchFamily="34" charset="0"/>
              </a:rPr>
              <a:t> La comprobación vive en la clase base </a:t>
            </a:r>
            <a:r>
              <a:rPr lang="es-ES" sz="877">
                <a:solidFill>
                  <a:srgbClr val="39404A"/>
                </a:solidFill>
                <a:latin typeface="Consolas" panose="020B0609020204030204" pitchFamily="49" charset="0"/>
              </a:rPr>
              <a:t>PaginaSegura</a:t>
            </a:r>
            <a:r>
              <a:rPr lang="es-ES" sz="975">
                <a:solidFill>
                  <a:srgbClr val="39404A"/>
                </a:solidFill>
                <a:latin typeface="Calibri" panose="020F0502020204030204" pitchFamily="34" charset="0"/>
              </a:rPr>
              <a:t> y se repite dentro de cada procedimiento de escritura. Verificado llamando al ASMX directamente.</a:t>
            </a:r>
            <a:endParaRPr lang="es-HN" sz="975">
              <a:solidFill>
                <a:srgbClr val="39404A"/>
              </a:solidFill>
              <a:latin typeface="Calibri" panose="020F0502020204030204" pitchFamily="34" charset="0"/>
            </a:endParaRPr>
          </a:p>
        </p:txBody>
      </p:sp>
      <p:sp>
        <p:nvSpPr>
          <p:cNvPr id="13" name="Rectángulo: esquinas redondeadas 12">
            <a:extLst>
              <a:ext uri="{FF2B5EF4-FFF2-40B4-BE49-F238E27FC236}">
                <a16:creationId xmlns:a16="http://schemas.microsoft.com/office/drawing/2014/main" id="{823F3F6A-D7DA-D693-1FA5-A881619D7644}"/>
              </a:ext>
            </a:extLst>
          </p:cNvPr>
          <p:cNvSpPr/>
          <p:nvPr/>
        </p:nvSpPr>
        <p:spPr>
          <a:xfrm>
            <a:off x="609600" y="2495550"/>
            <a:ext cx="5362575" cy="8001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4" name="CuadroTexto 13">
            <a:extLst>
              <a:ext uri="{FF2B5EF4-FFF2-40B4-BE49-F238E27FC236}">
                <a16:creationId xmlns:a16="http://schemas.microsoft.com/office/drawing/2014/main" id="{DAA14DA8-2355-E37D-F5B5-19BC12D90E03}"/>
              </a:ext>
            </a:extLst>
          </p:cNvPr>
          <p:cNvSpPr txBox="1"/>
          <p:nvPr/>
        </p:nvSpPr>
        <p:spPr>
          <a:xfrm>
            <a:off x="781050" y="2619375"/>
            <a:ext cx="5038725" cy="276999"/>
          </a:xfrm>
          <a:prstGeom prst="rect">
            <a:avLst/>
          </a:prstGeom>
          <a:noFill/>
        </p:spPr>
        <p:txBody>
          <a:bodyPr vert="horz" wrap="square" lIns="0" tIns="0" rIns="0" bIns="0" rtlCol="0" anchor="t">
            <a:noAutofit/>
          </a:bodyPr>
          <a:lstStyle/>
          <a:p>
            <a:pPr>
              <a:lnSpc>
                <a:spcPct val="140000"/>
              </a:lnSpc>
            </a:pPr>
            <a:r>
              <a:rPr lang="es-ES" sz="975" b="1">
                <a:solidFill>
                  <a:srgbClr val="39404A"/>
                </a:solidFill>
                <a:latin typeface="Calibri" panose="020F0502020204030204" pitchFamily="34" charset="0"/>
              </a:rPr>
              <a:t>A03 · Inyección.</a:t>
            </a:r>
            <a:r>
              <a:rPr lang="es-ES" sz="975">
                <a:solidFill>
                  <a:srgbClr val="39404A"/>
                </a:solidFill>
                <a:latin typeface="Calibri" panose="020F0502020204030204" pitchFamily="34" charset="0"/>
              </a:rPr>
              <a:t> Todo el acceso a datos usa </a:t>
            </a:r>
            <a:r>
              <a:rPr lang="es-ES" sz="877">
                <a:solidFill>
                  <a:srgbClr val="39404A"/>
                </a:solidFill>
                <a:latin typeface="Consolas" panose="020B0609020204030204" pitchFamily="49" charset="0"/>
              </a:rPr>
              <a:t>SqlCommand</a:t>
            </a:r>
            <a:r>
              <a:rPr lang="es-ES" sz="975">
                <a:solidFill>
                  <a:srgbClr val="39404A"/>
                </a:solidFill>
                <a:latin typeface="Calibri" panose="020F0502020204030204" pitchFamily="34" charset="0"/>
              </a:rPr>
              <a:t> con parámetros. Nunca se concatena entrada del usuario dentro del SQL.</a:t>
            </a:r>
            <a:endParaRPr lang="es-HN" sz="975">
              <a:solidFill>
                <a:srgbClr val="39404A"/>
              </a:solidFill>
              <a:latin typeface="Calibri" panose="020F0502020204030204" pitchFamily="34" charset="0"/>
            </a:endParaRPr>
          </a:p>
        </p:txBody>
      </p:sp>
      <p:sp>
        <p:nvSpPr>
          <p:cNvPr id="15" name="Rectángulo: esquinas redondeadas 14">
            <a:extLst>
              <a:ext uri="{FF2B5EF4-FFF2-40B4-BE49-F238E27FC236}">
                <a16:creationId xmlns:a16="http://schemas.microsoft.com/office/drawing/2014/main" id="{0B611D8E-FCB8-EEBB-F784-A85BB8339467}"/>
              </a:ext>
            </a:extLst>
          </p:cNvPr>
          <p:cNvSpPr/>
          <p:nvPr/>
        </p:nvSpPr>
        <p:spPr>
          <a:xfrm>
            <a:off x="609600" y="3371850"/>
            <a:ext cx="5362575" cy="8001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6" name="CuadroTexto 15">
            <a:extLst>
              <a:ext uri="{FF2B5EF4-FFF2-40B4-BE49-F238E27FC236}">
                <a16:creationId xmlns:a16="http://schemas.microsoft.com/office/drawing/2014/main" id="{61DC9795-6FE0-6CC0-9A3A-B8E2E56D9295}"/>
              </a:ext>
            </a:extLst>
          </p:cNvPr>
          <p:cNvSpPr txBox="1"/>
          <p:nvPr/>
        </p:nvSpPr>
        <p:spPr>
          <a:xfrm>
            <a:off x="781050" y="3495675"/>
            <a:ext cx="5038725" cy="276999"/>
          </a:xfrm>
          <a:prstGeom prst="rect">
            <a:avLst/>
          </a:prstGeom>
          <a:noFill/>
        </p:spPr>
        <p:txBody>
          <a:bodyPr vert="horz" wrap="square" lIns="0" tIns="0" rIns="0" bIns="0" rtlCol="0" anchor="t">
            <a:noAutofit/>
          </a:bodyPr>
          <a:lstStyle/>
          <a:p>
            <a:pPr>
              <a:lnSpc>
                <a:spcPct val="140000"/>
              </a:lnSpc>
            </a:pPr>
            <a:r>
              <a:rPr lang="es-ES" sz="975" b="1">
                <a:solidFill>
                  <a:srgbClr val="39404A"/>
                </a:solidFill>
                <a:latin typeface="Calibri" panose="020F0502020204030204" pitchFamily="34" charset="0"/>
              </a:rPr>
              <a:t>Cross-site scripting.</a:t>
            </a:r>
            <a:r>
              <a:rPr lang="es-ES" sz="975">
                <a:solidFill>
                  <a:srgbClr val="39404A"/>
                </a:solidFill>
                <a:latin typeface="Calibri" panose="020F0502020204030204" pitchFamily="34" charset="0"/>
              </a:rPr>
              <a:t> El texto de usuario se rinde con una sintaxis que escapa. La respuesta del modelo se reconstruye con lista blanca y sin atributos.</a:t>
            </a:r>
            <a:endParaRPr lang="es-HN" sz="975">
              <a:solidFill>
                <a:srgbClr val="39404A"/>
              </a:solidFill>
              <a:latin typeface="Calibri" panose="020F0502020204030204" pitchFamily="34" charset="0"/>
            </a:endParaRPr>
          </a:p>
        </p:txBody>
      </p:sp>
      <p:sp>
        <p:nvSpPr>
          <p:cNvPr id="17" name="Rectángulo: esquinas redondeadas 16">
            <a:extLst>
              <a:ext uri="{FF2B5EF4-FFF2-40B4-BE49-F238E27FC236}">
                <a16:creationId xmlns:a16="http://schemas.microsoft.com/office/drawing/2014/main" id="{6FD853BD-6587-94A6-B8B5-EBB9AF975450}"/>
              </a:ext>
            </a:extLst>
          </p:cNvPr>
          <p:cNvSpPr/>
          <p:nvPr/>
        </p:nvSpPr>
        <p:spPr>
          <a:xfrm>
            <a:off x="609600" y="4248150"/>
            <a:ext cx="5362575" cy="8001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8" name="CuadroTexto 17">
            <a:extLst>
              <a:ext uri="{FF2B5EF4-FFF2-40B4-BE49-F238E27FC236}">
                <a16:creationId xmlns:a16="http://schemas.microsoft.com/office/drawing/2014/main" id="{7C084C93-1FA5-448E-0841-F2ABFFF84E30}"/>
              </a:ext>
            </a:extLst>
          </p:cNvPr>
          <p:cNvSpPr txBox="1"/>
          <p:nvPr/>
        </p:nvSpPr>
        <p:spPr>
          <a:xfrm>
            <a:off x="781050" y="4371975"/>
            <a:ext cx="5038725" cy="276999"/>
          </a:xfrm>
          <a:prstGeom prst="rect">
            <a:avLst/>
          </a:prstGeom>
          <a:noFill/>
        </p:spPr>
        <p:txBody>
          <a:bodyPr vert="horz" wrap="square" lIns="0" tIns="0" rIns="0" bIns="0" rtlCol="0" anchor="t">
            <a:noAutofit/>
          </a:bodyPr>
          <a:lstStyle/>
          <a:p>
            <a:pPr>
              <a:lnSpc>
                <a:spcPct val="140000"/>
              </a:lnSpc>
            </a:pPr>
            <a:r>
              <a:rPr lang="es-ES" sz="975" b="1">
                <a:solidFill>
                  <a:srgbClr val="39404A"/>
                </a:solidFill>
                <a:latin typeface="Calibri" panose="020F0502020204030204" pitchFamily="34" charset="0"/>
              </a:rPr>
              <a:t>Redirección abierta.</a:t>
            </a:r>
            <a:r>
              <a:rPr lang="es-ES" sz="975">
                <a:solidFill>
                  <a:srgbClr val="39404A"/>
                </a:solidFill>
                <a:latin typeface="Calibri" panose="020F0502020204030204" pitchFamily="34" charset="0"/>
              </a:rPr>
              <a:t> </a:t>
            </a:r>
            <a:r>
              <a:rPr lang="es-ES" sz="877">
                <a:solidFill>
                  <a:srgbClr val="39404A"/>
                </a:solidFill>
                <a:latin typeface="Consolas" panose="020B0609020204030204" pitchFamily="49" charset="0"/>
              </a:rPr>
              <a:t>Sesion.EsDestinoSeguro</a:t>
            </a:r>
            <a:r>
              <a:rPr lang="es-ES" sz="975">
                <a:solidFill>
                  <a:srgbClr val="39404A"/>
                </a:solidFill>
                <a:latin typeface="Calibri" panose="020F0502020204030204" pitchFamily="34" charset="0"/>
              </a:rPr>
              <a:t> solo acepta rutas locales en el parámetro de regreso, y vive en un solo lugar.</a:t>
            </a:r>
            <a:endParaRPr lang="es-HN" sz="975">
              <a:solidFill>
                <a:srgbClr val="39404A"/>
              </a:solidFill>
              <a:latin typeface="Calibri" panose="020F0502020204030204" pitchFamily="34" charset="0"/>
            </a:endParaRPr>
          </a:p>
        </p:txBody>
      </p:sp>
      <p:sp>
        <p:nvSpPr>
          <p:cNvPr id="19" name="CuadroTexto 18">
            <a:extLst>
              <a:ext uri="{FF2B5EF4-FFF2-40B4-BE49-F238E27FC236}">
                <a16:creationId xmlns:a16="http://schemas.microsoft.com/office/drawing/2014/main" id="{5B954423-73AE-9C22-2876-49382CEB706E}"/>
              </a:ext>
            </a:extLst>
          </p:cNvPr>
          <p:cNvSpPr txBox="1"/>
          <p:nvPr/>
        </p:nvSpPr>
        <p:spPr>
          <a:xfrm>
            <a:off x="6219825" y="1409700"/>
            <a:ext cx="5362575" cy="276999"/>
          </a:xfrm>
          <a:prstGeom prst="rect">
            <a:avLst/>
          </a:prstGeom>
          <a:noFill/>
        </p:spPr>
        <p:txBody>
          <a:bodyPr vert="horz" wrap="square" lIns="0" tIns="0" rIns="0" bIns="0" rtlCol="0" anchor="t">
            <a:noAutofit/>
          </a:bodyPr>
          <a:lstStyle/>
          <a:p>
            <a:pPr>
              <a:lnSpc>
                <a:spcPct val="125000"/>
              </a:lnSpc>
            </a:pPr>
            <a:r>
              <a:rPr lang="es-ES" sz="788" b="1" spc="100">
                <a:solidFill>
                  <a:srgbClr val="C3372C"/>
                </a:solidFill>
                <a:latin typeface="Calibri" panose="020F0502020204030204" pitchFamily="34" charset="0"/>
              </a:rPr>
              <a:t>DEUDA CONOCIDA, ANOTADA PARA EL ANEXO</a:t>
            </a:r>
            <a:endParaRPr lang="es-HN" sz="788" b="1" spc="100">
              <a:solidFill>
                <a:srgbClr val="C3372C"/>
              </a:solidFill>
              <a:latin typeface="Calibri" panose="020F0502020204030204" pitchFamily="34" charset="0"/>
            </a:endParaRPr>
          </a:p>
        </p:txBody>
      </p:sp>
      <p:sp>
        <p:nvSpPr>
          <p:cNvPr id="20" name="Rectángulo: esquinas redondeadas 19">
            <a:extLst>
              <a:ext uri="{FF2B5EF4-FFF2-40B4-BE49-F238E27FC236}">
                <a16:creationId xmlns:a16="http://schemas.microsoft.com/office/drawing/2014/main" id="{FDCF336C-7C1C-5D15-DFF0-815A6EDEEFC2}"/>
              </a:ext>
            </a:extLst>
          </p:cNvPr>
          <p:cNvSpPr/>
          <p:nvPr/>
        </p:nvSpPr>
        <p:spPr>
          <a:xfrm>
            <a:off x="6219825" y="1619250"/>
            <a:ext cx="5362575" cy="8001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1" name="Rectángulo 20">
            <a:extLst>
              <a:ext uri="{FF2B5EF4-FFF2-40B4-BE49-F238E27FC236}">
                <a16:creationId xmlns:a16="http://schemas.microsoft.com/office/drawing/2014/main" id="{AB63B97B-4AB9-E3E8-E605-A7DA38B9F0EA}"/>
              </a:ext>
            </a:extLst>
          </p:cNvPr>
          <p:cNvSpPr/>
          <p:nvPr/>
        </p:nvSpPr>
        <p:spPr>
          <a:xfrm>
            <a:off x="6219825" y="1647825"/>
            <a:ext cx="28575" cy="7429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2" name="CuadroTexto 21">
            <a:extLst>
              <a:ext uri="{FF2B5EF4-FFF2-40B4-BE49-F238E27FC236}">
                <a16:creationId xmlns:a16="http://schemas.microsoft.com/office/drawing/2014/main" id="{22908C1D-4EBB-226C-F0E3-C19B4EE10070}"/>
              </a:ext>
            </a:extLst>
          </p:cNvPr>
          <p:cNvSpPr txBox="1"/>
          <p:nvPr/>
        </p:nvSpPr>
        <p:spPr>
          <a:xfrm>
            <a:off x="6391275" y="1743075"/>
            <a:ext cx="5038725" cy="276999"/>
          </a:xfrm>
          <a:prstGeom prst="rect">
            <a:avLst/>
          </a:prstGeom>
          <a:noFill/>
        </p:spPr>
        <p:txBody>
          <a:bodyPr vert="horz" wrap="square" lIns="0" tIns="0" rIns="0" bIns="0" rtlCol="0" anchor="t">
            <a:noAutofit/>
          </a:bodyPr>
          <a:lstStyle/>
          <a:p>
            <a:pPr>
              <a:lnSpc>
                <a:spcPct val="140000"/>
              </a:lnSpc>
            </a:pPr>
            <a:r>
              <a:rPr lang="es-ES" sz="975" b="1">
                <a:solidFill>
                  <a:srgbClr val="39404A"/>
                </a:solidFill>
                <a:latin typeface="Calibri" panose="020F0502020204030204" pitchFamily="34" charset="0"/>
              </a:rPr>
              <a:t>El servicio confía en el código de usuario que recibe.</a:t>
            </a:r>
            <a:r>
              <a:rPr lang="es-ES" sz="975">
                <a:solidFill>
                  <a:srgbClr val="39404A"/>
                </a:solidFill>
                <a:latin typeface="Calibri" panose="020F0502020204030204" pitchFamily="34" charset="0"/>
              </a:rPr>
              <a:t> Quien llame al ASMX directamente puede valorar o comentar en nombre de otro. Se resuelve validando un token de sesión.</a:t>
            </a:r>
            <a:endParaRPr lang="es-HN" sz="975">
              <a:solidFill>
                <a:srgbClr val="39404A"/>
              </a:solidFill>
              <a:latin typeface="Calibri" panose="020F0502020204030204" pitchFamily="34" charset="0"/>
            </a:endParaRPr>
          </a:p>
        </p:txBody>
      </p:sp>
      <p:sp>
        <p:nvSpPr>
          <p:cNvPr id="23" name="Rectángulo: esquinas redondeadas 22">
            <a:extLst>
              <a:ext uri="{FF2B5EF4-FFF2-40B4-BE49-F238E27FC236}">
                <a16:creationId xmlns:a16="http://schemas.microsoft.com/office/drawing/2014/main" id="{34A49539-3BD7-86DB-98E4-63E82BDB3721}"/>
              </a:ext>
            </a:extLst>
          </p:cNvPr>
          <p:cNvSpPr/>
          <p:nvPr/>
        </p:nvSpPr>
        <p:spPr>
          <a:xfrm>
            <a:off x="6219825" y="2495550"/>
            <a:ext cx="5362575" cy="8001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4" name="Rectángulo 23">
            <a:extLst>
              <a:ext uri="{FF2B5EF4-FFF2-40B4-BE49-F238E27FC236}">
                <a16:creationId xmlns:a16="http://schemas.microsoft.com/office/drawing/2014/main" id="{2C45D7F1-1DA2-78DC-314D-CEA2B9981A43}"/>
              </a:ext>
            </a:extLst>
          </p:cNvPr>
          <p:cNvSpPr/>
          <p:nvPr/>
        </p:nvSpPr>
        <p:spPr>
          <a:xfrm>
            <a:off x="6219825" y="2524125"/>
            <a:ext cx="28575" cy="7429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5" name="CuadroTexto 24">
            <a:extLst>
              <a:ext uri="{FF2B5EF4-FFF2-40B4-BE49-F238E27FC236}">
                <a16:creationId xmlns:a16="http://schemas.microsoft.com/office/drawing/2014/main" id="{A09C6185-B513-FC9B-673F-41AB4708EB96}"/>
              </a:ext>
            </a:extLst>
          </p:cNvPr>
          <p:cNvSpPr txBox="1"/>
          <p:nvPr/>
        </p:nvSpPr>
        <p:spPr>
          <a:xfrm>
            <a:off x="6391275" y="2619375"/>
            <a:ext cx="5038725" cy="276999"/>
          </a:xfrm>
          <a:prstGeom prst="rect">
            <a:avLst/>
          </a:prstGeom>
          <a:noFill/>
        </p:spPr>
        <p:txBody>
          <a:bodyPr vert="horz" wrap="square" lIns="0" tIns="0" rIns="0" bIns="0" rtlCol="0" anchor="t">
            <a:noAutofit/>
          </a:bodyPr>
          <a:lstStyle/>
          <a:p>
            <a:pPr>
              <a:lnSpc>
                <a:spcPct val="140000"/>
              </a:lnSpc>
            </a:pPr>
            <a:r>
              <a:rPr lang="es-ES" sz="975" b="1">
                <a:solidFill>
                  <a:srgbClr val="39404A"/>
                </a:solidFill>
                <a:latin typeface="Calibri" panose="020F0502020204030204" pitchFamily="34" charset="0"/>
              </a:rPr>
              <a:t>Contraseñas sin salt.</a:t>
            </a:r>
            <a:r>
              <a:rPr lang="es-ES" sz="975">
                <a:solidFill>
                  <a:srgbClr val="39404A"/>
                </a:solidFill>
                <a:latin typeface="Calibri" panose="020F0502020204030204" pitchFamily="34" charset="0"/>
              </a:rPr>
              <a:t> SHA-256 en hexadecimal. Dos personas con la misma contraseña producen el mismo hash.</a:t>
            </a:r>
            <a:endParaRPr lang="es-HN" sz="975">
              <a:solidFill>
                <a:srgbClr val="39404A"/>
              </a:solidFill>
              <a:latin typeface="Calibri" panose="020F0502020204030204" pitchFamily="34" charset="0"/>
            </a:endParaRPr>
          </a:p>
        </p:txBody>
      </p:sp>
      <p:sp>
        <p:nvSpPr>
          <p:cNvPr id="26" name="Rectángulo: esquinas redondeadas 25">
            <a:extLst>
              <a:ext uri="{FF2B5EF4-FFF2-40B4-BE49-F238E27FC236}">
                <a16:creationId xmlns:a16="http://schemas.microsoft.com/office/drawing/2014/main" id="{07B74339-468C-5C7D-8157-1E255539D4B9}"/>
              </a:ext>
            </a:extLst>
          </p:cNvPr>
          <p:cNvSpPr/>
          <p:nvPr/>
        </p:nvSpPr>
        <p:spPr>
          <a:xfrm>
            <a:off x="6219825" y="3371850"/>
            <a:ext cx="5362575" cy="8001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7" name="Rectángulo 26">
            <a:extLst>
              <a:ext uri="{FF2B5EF4-FFF2-40B4-BE49-F238E27FC236}">
                <a16:creationId xmlns:a16="http://schemas.microsoft.com/office/drawing/2014/main" id="{352A5DF8-C033-E515-A8BF-E8D3A2FA3C12}"/>
              </a:ext>
            </a:extLst>
          </p:cNvPr>
          <p:cNvSpPr/>
          <p:nvPr/>
        </p:nvSpPr>
        <p:spPr>
          <a:xfrm>
            <a:off x="6219825" y="3400425"/>
            <a:ext cx="28575" cy="7429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8" name="CuadroTexto 27">
            <a:extLst>
              <a:ext uri="{FF2B5EF4-FFF2-40B4-BE49-F238E27FC236}">
                <a16:creationId xmlns:a16="http://schemas.microsoft.com/office/drawing/2014/main" id="{21A11956-0640-F36E-8136-7C7AFA5EA1A1}"/>
              </a:ext>
            </a:extLst>
          </p:cNvPr>
          <p:cNvSpPr txBox="1"/>
          <p:nvPr/>
        </p:nvSpPr>
        <p:spPr>
          <a:xfrm>
            <a:off x="6391275" y="3495675"/>
            <a:ext cx="5038725" cy="276999"/>
          </a:xfrm>
          <a:prstGeom prst="rect">
            <a:avLst/>
          </a:prstGeom>
          <a:noFill/>
        </p:spPr>
        <p:txBody>
          <a:bodyPr vert="horz" wrap="square" lIns="0" tIns="0" rIns="0" bIns="0" rtlCol="0" anchor="t">
            <a:noAutofit/>
          </a:bodyPr>
          <a:lstStyle/>
          <a:p>
            <a:pPr>
              <a:lnSpc>
                <a:spcPct val="140000"/>
              </a:lnSpc>
            </a:pPr>
            <a:r>
              <a:rPr lang="es-ES" sz="975" b="1">
                <a:solidFill>
                  <a:srgbClr val="39404A"/>
                </a:solidFill>
                <a:latin typeface="Calibri" panose="020F0502020204030204" pitchFamily="34" charset="0"/>
              </a:rPr>
              <a:t>Enumeración de correos en el registro.</a:t>
            </a:r>
            <a:r>
              <a:rPr lang="es-ES" sz="975">
                <a:solidFill>
                  <a:srgbClr val="39404A"/>
                </a:solidFill>
                <a:latin typeface="Calibri" panose="020F0502020204030204" pitchFamily="34" charset="0"/>
              </a:rPr>
              <a:t> Decir «ese correo ya está registrado» revela que la cuenta existe. Callarlo dejaría a quien ya tiene cuenta sin saber por qué falla.</a:t>
            </a:r>
            <a:endParaRPr lang="es-HN" sz="975">
              <a:solidFill>
                <a:srgbClr val="39404A"/>
              </a:solidFill>
              <a:latin typeface="Calibri" panose="020F0502020204030204" pitchFamily="34" charset="0"/>
            </a:endParaRPr>
          </a:p>
        </p:txBody>
      </p:sp>
      <p:sp>
        <p:nvSpPr>
          <p:cNvPr id="29" name="Rectángulo: esquinas redondeadas 28">
            <a:extLst>
              <a:ext uri="{FF2B5EF4-FFF2-40B4-BE49-F238E27FC236}">
                <a16:creationId xmlns:a16="http://schemas.microsoft.com/office/drawing/2014/main" id="{6FB9F7F5-3753-4DB8-159B-90F4D71F7327}"/>
              </a:ext>
            </a:extLst>
          </p:cNvPr>
          <p:cNvSpPr/>
          <p:nvPr/>
        </p:nvSpPr>
        <p:spPr>
          <a:xfrm>
            <a:off x="6219825" y="4248150"/>
            <a:ext cx="5362575" cy="8001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0" name="Rectángulo 29">
            <a:extLst>
              <a:ext uri="{FF2B5EF4-FFF2-40B4-BE49-F238E27FC236}">
                <a16:creationId xmlns:a16="http://schemas.microsoft.com/office/drawing/2014/main" id="{E4C749C8-BDC2-3603-4ACB-BBD1AFB65844}"/>
              </a:ext>
            </a:extLst>
          </p:cNvPr>
          <p:cNvSpPr/>
          <p:nvPr/>
        </p:nvSpPr>
        <p:spPr>
          <a:xfrm>
            <a:off x="6219825" y="4276725"/>
            <a:ext cx="28575" cy="7429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1" name="CuadroTexto 30">
            <a:extLst>
              <a:ext uri="{FF2B5EF4-FFF2-40B4-BE49-F238E27FC236}">
                <a16:creationId xmlns:a16="http://schemas.microsoft.com/office/drawing/2014/main" id="{A43A6B2F-DA6F-6501-9353-894859023C79}"/>
              </a:ext>
            </a:extLst>
          </p:cNvPr>
          <p:cNvSpPr txBox="1"/>
          <p:nvPr/>
        </p:nvSpPr>
        <p:spPr>
          <a:xfrm>
            <a:off x="6391275" y="4371975"/>
            <a:ext cx="5038725" cy="276999"/>
          </a:xfrm>
          <a:prstGeom prst="rect">
            <a:avLst/>
          </a:prstGeom>
          <a:noFill/>
        </p:spPr>
        <p:txBody>
          <a:bodyPr vert="horz" wrap="square" lIns="0" tIns="0" rIns="0" bIns="0" rtlCol="0" anchor="t">
            <a:noAutofit/>
          </a:bodyPr>
          <a:lstStyle/>
          <a:p>
            <a:pPr>
              <a:lnSpc>
                <a:spcPct val="140000"/>
              </a:lnSpc>
            </a:pPr>
            <a:r>
              <a:rPr lang="es-ES" sz="975" b="1">
                <a:solidFill>
                  <a:srgbClr val="39404A"/>
                </a:solidFill>
                <a:latin typeface="Calibri" panose="020F0502020204030204" pitchFamily="34" charset="0"/>
              </a:rPr>
              <a:t>Hash con tildes al crear cuentas de candidatura.</a:t>
            </a:r>
            <a:r>
              <a:rPr lang="es-ES" sz="975">
                <a:solidFill>
                  <a:srgbClr val="39404A"/>
                </a:solidFill>
                <a:latin typeface="Calibri" panose="020F0502020204030204" pitchFamily="34" charset="0"/>
              </a:rPr>
              <a:t> El procedimiento cifra con la página de códigos de la base y el backend con UTF-8: una contraseña con tilde crea la cuenta y el acceso la rechaza siempre.</a:t>
            </a:r>
            <a:endParaRPr lang="es-HN" sz="975">
              <a:solidFill>
                <a:srgbClr val="39404A"/>
              </a:solidFill>
              <a:latin typeface="Calibri" panose="020F0502020204030204" pitchFamily="34" charset="0"/>
            </a:endParaRPr>
          </a:p>
        </p:txBody>
      </p:sp>
    </p:spTree>
    <p:extLst>
      <p:ext uri="{BB962C8B-B14F-4D97-AF65-F5344CB8AC3E}">
        <p14:creationId xmlns:p14="http://schemas.microsoft.com/office/powerpoint/2010/main" val="382061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46CCAAEC-315B-4BFD-93A7-3E90AE7D6923}"/>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4D4C6EE0-E898-3D04-0106-AB3446C90507}"/>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BF8EF088-E69C-F611-E0EF-FBBDA33F282A}"/>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968F9F68-3177-CE5B-2DFB-03EADE094FE8}"/>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Rectángulo: esquinas redondeadas 5">
            <a:extLst>
              <a:ext uri="{FF2B5EF4-FFF2-40B4-BE49-F238E27FC236}">
                <a16:creationId xmlns:a16="http://schemas.microsoft.com/office/drawing/2014/main" id="{1B011427-579B-AF63-B26A-FC1EC65C2D28}"/>
              </a:ext>
            </a:extLst>
          </p:cNvPr>
          <p:cNvSpPr/>
          <p:nvPr/>
        </p:nvSpPr>
        <p:spPr>
          <a:xfrm>
            <a:off x="9715500" y="266700"/>
            <a:ext cx="1866900" cy="209550"/>
          </a:xfrm>
          <a:prstGeom prst="roundRect">
            <a:avLst>
              <a:gd name="adj" fmla="val 6000"/>
            </a:avLst>
          </a:prstGeom>
          <a:solidFill>
            <a:srgbClr val="FDF6E9"/>
          </a:solidFill>
          <a:ln w="12700">
            <a:solidFill>
              <a:srgbClr val="D390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7" name="CuadroTexto 6">
            <a:extLst>
              <a:ext uri="{FF2B5EF4-FFF2-40B4-BE49-F238E27FC236}">
                <a16:creationId xmlns:a16="http://schemas.microsoft.com/office/drawing/2014/main" id="{C84CEC83-A6AA-9A84-1BCA-E746593B3334}"/>
              </a:ext>
            </a:extLst>
          </p:cNvPr>
          <p:cNvSpPr txBox="1"/>
          <p:nvPr/>
        </p:nvSpPr>
        <p:spPr>
          <a:xfrm>
            <a:off x="9715500" y="323850"/>
            <a:ext cx="1866900" cy="276999"/>
          </a:xfrm>
          <a:prstGeom prst="rect">
            <a:avLst/>
          </a:prstGeom>
          <a:noFill/>
        </p:spPr>
        <p:txBody>
          <a:bodyPr vert="horz" wrap="square" lIns="0" tIns="0" rIns="0" bIns="0" rtlCol="0" anchor="t">
            <a:noAutofit/>
          </a:bodyPr>
          <a:lstStyle/>
          <a:p>
            <a:pPr algn="ctr">
              <a:lnSpc>
                <a:spcPct val="125000"/>
              </a:lnSpc>
            </a:pPr>
            <a:r>
              <a:rPr lang="es-HN" sz="750" b="1" spc="120">
                <a:solidFill>
                  <a:srgbClr val="B8791A"/>
                </a:solidFill>
                <a:latin typeface="Calibri" panose="020F0502020204030204" pitchFamily="34" charset="0"/>
              </a:rPr>
              <a:t>LÁMINA DE RESPALDO</a:t>
            </a:r>
          </a:p>
        </p:txBody>
      </p:sp>
      <p:sp>
        <p:nvSpPr>
          <p:cNvPr id="8" name="CuadroTexto 7">
            <a:extLst>
              <a:ext uri="{FF2B5EF4-FFF2-40B4-BE49-F238E27FC236}">
                <a16:creationId xmlns:a16="http://schemas.microsoft.com/office/drawing/2014/main" id="{E87A640C-99EB-FACF-7534-CAA53B19E657}"/>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17708A"/>
                </a:solidFill>
                <a:latin typeface="Calibri" panose="020F0502020204030204" pitchFamily="34" charset="0"/>
              </a:rPr>
              <a:t>RESPALDO · LOS DOCE INDICADORES</a:t>
            </a:r>
          </a:p>
        </p:txBody>
      </p:sp>
      <p:sp>
        <p:nvSpPr>
          <p:cNvPr id="9" name="CuadroTexto 8">
            <a:extLst>
              <a:ext uri="{FF2B5EF4-FFF2-40B4-BE49-F238E27FC236}">
                <a16:creationId xmlns:a16="http://schemas.microsoft.com/office/drawing/2014/main" id="{B8BE82CE-2AA2-5080-5EE5-85E96984EDD3}"/>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400" b="1">
                <a:solidFill>
                  <a:srgbClr val="14171C"/>
                </a:solidFill>
                <a:latin typeface="Georgia" panose="02040502050405020303" pitchFamily="18" charset="0"/>
              </a:rPr>
              <a:t>Qué calcula cada gráfico, y con qué procedimiento</a:t>
            </a:r>
            <a:endParaRPr lang="es-HN" sz="2400" b="1">
              <a:solidFill>
                <a:srgbClr val="14171C"/>
              </a:solidFill>
              <a:latin typeface="Georgia" panose="02040502050405020303" pitchFamily="18" charset="0"/>
            </a:endParaRPr>
          </a:p>
        </p:txBody>
      </p:sp>
      <p:sp>
        <p:nvSpPr>
          <p:cNvPr id="10" name="CuadroTexto 9">
            <a:extLst>
              <a:ext uri="{FF2B5EF4-FFF2-40B4-BE49-F238E27FC236}">
                <a16:creationId xmlns:a16="http://schemas.microsoft.com/office/drawing/2014/main" id="{F51DEE54-B268-9930-18A9-86C362BCAD45}"/>
              </a:ext>
            </a:extLst>
          </p:cNvPr>
          <p:cNvSpPr txBox="1"/>
          <p:nvPr/>
        </p:nvSpPr>
        <p:spPr>
          <a:xfrm>
            <a:off x="609600" y="1409700"/>
            <a:ext cx="2838450" cy="276999"/>
          </a:xfrm>
          <a:prstGeom prst="rect">
            <a:avLst/>
          </a:prstGeom>
          <a:noFill/>
        </p:spPr>
        <p:txBody>
          <a:bodyPr vert="horz" wrap="square" lIns="0" tIns="0" rIns="0" bIns="0" rtlCol="0" anchor="t">
            <a:noAutofit/>
          </a:bodyPr>
          <a:lstStyle/>
          <a:p>
            <a:pPr>
              <a:lnSpc>
                <a:spcPct val="125000"/>
              </a:lnSpc>
            </a:pPr>
            <a:r>
              <a:rPr lang="es-HN" sz="788" b="1" spc="90">
                <a:solidFill>
                  <a:srgbClr val="6A7078"/>
                </a:solidFill>
                <a:latin typeface="Calibri" panose="020F0502020204030204" pitchFamily="34" charset="0"/>
              </a:rPr>
              <a:t>INDICADOR</a:t>
            </a:r>
          </a:p>
        </p:txBody>
      </p:sp>
      <p:sp>
        <p:nvSpPr>
          <p:cNvPr id="11" name="CuadroTexto 10">
            <a:extLst>
              <a:ext uri="{FF2B5EF4-FFF2-40B4-BE49-F238E27FC236}">
                <a16:creationId xmlns:a16="http://schemas.microsoft.com/office/drawing/2014/main" id="{6D26561D-34C2-48A4-4108-BC22BB83C259}"/>
              </a:ext>
            </a:extLst>
          </p:cNvPr>
          <p:cNvSpPr txBox="1"/>
          <p:nvPr/>
        </p:nvSpPr>
        <p:spPr>
          <a:xfrm>
            <a:off x="3562350" y="1409700"/>
            <a:ext cx="2295525" cy="276999"/>
          </a:xfrm>
          <a:prstGeom prst="rect">
            <a:avLst/>
          </a:prstGeom>
          <a:noFill/>
        </p:spPr>
        <p:txBody>
          <a:bodyPr vert="horz" wrap="square" lIns="0" tIns="0" rIns="0" bIns="0" rtlCol="0" anchor="t">
            <a:noAutofit/>
          </a:bodyPr>
          <a:lstStyle/>
          <a:p>
            <a:pPr>
              <a:lnSpc>
                <a:spcPct val="125000"/>
              </a:lnSpc>
            </a:pPr>
            <a:r>
              <a:rPr lang="es-HN" sz="788" b="1" spc="90">
                <a:solidFill>
                  <a:srgbClr val="6A7078"/>
                </a:solidFill>
                <a:latin typeface="Calibri" panose="020F0502020204030204" pitchFamily="34" charset="0"/>
              </a:rPr>
              <a:t>PROCEDIMIENTO</a:t>
            </a:r>
          </a:p>
        </p:txBody>
      </p:sp>
      <p:cxnSp>
        <p:nvCxnSpPr>
          <p:cNvPr id="12" name="Conector recto 11">
            <a:extLst>
              <a:ext uri="{FF2B5EF4-FFF2-40B4-BE49-F238E27FC236}">
                <a16:creationId xmlns:a16="http://schemas.microsoft.com/office/drawing/2014/main" id="{7103CEEE-18CF-84E3-D814-A065C34A7104}"/>
              </a:ext>
            </a:extLst>
          </p:cNvPr>
          <p:cNvCxnSpPr/>
          <p:nvPr/>
        </p:nvCxnSpPr>
        <p:spPr>
          <a:xfrm>
            <a:off x="609600" y="1657350"/>
            <a:ext cx="5248275" cy="0"/>
          </a:xfrm>
          <a:prstGeom prst="line">
            <a:avLst/>
          </a:prstGeom>
          <a:ln w="9525">
            <a:solidFill>
              <a:srgbClr val="E3E1DD"/>
            </a:solidFill>
          </a:ln>
        </p:spPr>
        <p:style>
          <a:lnRef idx="2">
            <a:schemeClr val="accent1"/>
          </a:lnRef>
          <a:fillRef idx="0">
            <a:schemeClr val="accent1"/>
          </a:fillRef>
          <a:effectRef idx="1">
            <a:schemeClr val="accent1"/>
          </a:effectRef>
          <a:fontRef idx="minor">
            <a:schemeClr val="tx1"/>
          </a:fontRef>
        </p:style>
      </p:cxnSp>
      <p:sp>
        <p:nvSpPr>
          <p:cNvPr id="13" name="CuadroTexto 12">
            <a:extLst>
              <a:ext uri="{FF2B5EF4-FFF2-40B4-BE49-F238E27FC236}">
                <a16:creationId xmlns:a16="http://schemas.microsoft.com/office/drawing/2014/main" id="{17C9BBBD-627F-E096-47DC-729F401E3A31}"/>
              </a:ext>
            </a:extLst>
          </p:cNvPr>
          <p:cNvSpPr txBox="1"/>
          <p:nvPr/>
        </p:nvSpPr>
        <p:spPr>
          <a:xfrm>
            <a:off x="609600" y="1676400"/>
            <a:ext cx="2838450" cy="276999"/>
          </a:xfrm>
          <a:prstGeom prst="rect">
            <a:avLst/>
          </a:prstGeom>
          <a:noFill/>
        </p:spPr>
        <p:txBody>
          <a:bodyPr vert="horz" wrap="square" lIns="0" tIns="0" rIns="0" bIns="0" rtlCol="0" anchor="t">
            <a:noAutofit/>
          </a:bodyPr>
          <a:lstStyle/>
          <a:p>
            <a:pPr>
              <a:lnSpc>
                <a:spcPct val="130000"/>
              </a:lnSpc>
            </a:pPr>
            <a:r>
              <a:rPr lang="es-ES" sz="938">
                <a:solidFill>
                  <a:srgbClr val="39404A"/>
                </a:solidFill>
                <a:latin typeface="Calibri" panose="020F0502020204030204" pitchFamily="34" charset="0"/>
              </a:rPr>
              <a:t>Seis tarjetas KPI, cada una con su denominador</a:t>
            </a:r>
            <a:endParaRPr lang="es-HN" sz="938">
              <a:solidFill>
                <a:srgbClr val="39404A"/>
              </a:solidFill>
              <a:latin typeface="Calibri" panose="020F0502020204030204" pitchFamily="34" charset="0"/>
            </a:endParaRPr>
          </a:p>
        </p:txBody>
      </p:sp>
      <p:sp>
        <p:nvSpPr>
          <p:cNvPr id="14" name="CuadroTexto 13">
            <a:extLst>
              <a:ext uri="{FF2B5EF4-FFF2-40B4-BE49-F238E27FC236}">
                <a16:creationId xmlns:a16="http://schemas.microsoft.com/office/drawing/2014/main" id="{A7DA59AE-22AD-A64C-F8EC-98D31862E57B}"/>
              </a:ext>
            </a:extLst>
          </p:cNvPr>
          <p:cNvSpPr txBox="1"/>
          <p:nvPr/>
        </p:nvSpPr>
        <p:spPr>
          <a:xfrm>
            <a:off x="3562350" y="1676400"/>
            <a:ext cx="2333625" cy="276999"/>
          </a:xfrm>
          <a:prstGeom prst="rect">
            <a:avLst/>
          </a:prstGeom>
          <a:noFill/>
        </p:spPr>
        <p:txBody>
          <a:bodyPr vert="horz" wrap="square" lIns="0" tIns="0" rIns="0" bIns="0" rtlCol="0" anchor="t">
            <a:noAutofit/>
          </a:bodyPr>
          <a:lstStyle/>
          <a:p>
            <a:pPr>
              <a:lnSpc>
                <a:spcPct val="125000"/>
              </a:lnSpc>
            </a:pPr>
            <a:r>
              <a:rPr lang="es-HN" sz="863">
                <a:solidFill>
                  <a:srgbClr val="1B4F9C"/>
                </a:solidFill>
                <a:latin typeface="Consolas" panose="020B0609020204030204" pitchFamily="49" charset="0"/>
              </a:rPr>
              <a:t>spAnaliticaResumen</a:t>
            </a:r>
          </a:p>
        </p:txBody>
      </p:sp>
      <p:cxnSp>
        <p:nvCxnSpPr>
          <p:cNvPr id="15" name="Conector recto 14">
            <a:extLst>
              <a:ext uri="{FF2B5EF4-FFF2-40B4-BE49-F238E27FC236}">
                <a16:creationId xmlns:a16="http://schemas.microsoft.com/office/drawing/2014/main" id="{896E356A-49A0-3734-6604-BEEB7C5D76FF}"/>
              </a:ext>
            </a:extLst>
          </p:cNvPr>
          <p:cNvCxnSpPr/>
          <p:nvPr/>
        </p:nvCxnSpPr>
        <p:spPr>
          <a:xfrm>
            <a:off x="609600" y="1981200"/>
            <a:ext cx="5248275"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16" name="CuadroTexto 15">
            <a:extLst>
              <a:ext uri="{FF2B5EF4-FFF2-40B4-BE49-F238E27FC236}">
                <a16:creationId xmlns:a16="http://schemas.microsoft.com/office/drawing/2014/main" id="{0BA8AD73-6AB0-C3CF-6963-FE35394FD2D8}"/>
              </a:ext>
            </a:extLst>
          </p:cNvPr>
          <p:cNvSpPr txBox="1"/>
          <p:nvPr/>
        </p:nvSpPr>
        <p:spPr>
          <a:xfrm>
            <a:off x="609600" y="2057400"/>
            <a:ext cx="2838450" cy="276999"/>
          </a:xfrm>
          <a:prstGeom prst="rect">
            <a:avLst/>
          </a:prstGeom>
          <a:noFill/>
        </p:spPr>
        <p:txBody>
          <a:bodyPr vert="horz" wrap="square" lIns="0" tIns="0" rIns="0" bIns="0" rtlCol="0" anchor="t">
            <a:noAutofit/>
          </a:bodyPr>
          <a:lstStyle/>
          <a:p>
            <a:pPr>
              <a:lnSpc>
                <a:spcPct val="130000"/>
              </a:lnSpc>
            </a:pPr>
            <a:r>
              <a:rPr lang="es-ES" sz="938">
                <a:solidFill>
                  <a:srgbClr val="39404A"/>
                </a:solidFill>
                <a:latin typeface="Calibri" panose="020F0502020204030204" pitchFamily="34" charset="0"/>
              </a:rPr>
              <a:t>Principales hallazgos, calculados sobre la selección</a:t>
            </a:r>
            <a:endParaRPr lang="es-HN" sz="938">
              <a:solidFill>
                <a:srgbClr val="39404A"/>
              </a:solidFill>
              <a:latin typeface="Calibri" panose="020F0502020204030204" pitchFamily="34" charset="0"/>
            </a:endParaRPr>
          </a:p>
        </p:txBody>
      </p:sp>
      <p:sp>
        <p:nvSpPr>
          <p:cNvPr id="17" name="CuadroTexto 16">
            <a:extLst>
              <a:ext uri="{FF2B5EF4-FFF2-40B4-BE49-F238E27FC236}">
                <a16:creationId xmlns:a16="http://schemas.microsoft.com/office/drawing/2014/main" id="{9EE3669A-19DF-A9EF-8428-B9D88108F4BC}"/>
              </a:ext>
            </a:extLst>
          </p:cNvPr>
          <p:cNvSpPr txBox="1"/>
          <p:nvPr/>
        </p:nvSpPr>
        <p:spPr>
          <a:xfrm>
            <a:off x="3562350" y="2057400"/>
            <a:ext cx="2333625" cy="276999"/>
          </a:xfrm>
          <a:prstGeom prst="rect">
            <a:avLst/>
          </a:prstGeom>
          <a:noFill/>
        </p:spPr>
        <p:txBody>
          <a:bodyPr vert="horz" wrap="square" lIns="0" tIns="0" rIns="0" bIns="0" rtlCol="0" anchor="t">
            <a:noAutofit/>
          </a:bodyPr>
          <a:lstStyle/>
          <a:p>
            <a:pPr>
              <a:lnSpc>
                <a:spcPct val="125000"/>
              </a:lnSpc>
            </a:pPr>
            <a:r>
              <a:rPr lang="es-HN" sz="863">
                <a:solidFill>
                  <a:srgbClr val="1B4F9C"/>
                </a:solidFill>
                <a:latin typeface="Consolas" panose="020B0609020204030204" pitchFamily="49" charset="0"/>
              </a:rPr>
              <a:t>Modelos/Analitica.cs</a:t>
            </a:r>
          </a:p>
        </p:txBody>
      </p:sp>
      <p:cxnSp>
        <p:nvCxnSpPr>
          <p:cNvPr id="18" name="Conector recto 17">
            <a:extLst>
              <a:ext uri="{FF2B5EF4-FFF2-40B4-BE49-F238E27FC236}">
                <a16:creationId xmlns:a16="http://schemas.microsoft.com/office/drawing/2014/main" id="{C32DC7E4-9C2D-DAB8-B17B-8F1A847C12D1}"/>
              </a:ext>
            </a:extLst>
          </p:cNvPr>
          <p:cNvCxnSpPr/>
          <p:nvPr/>
        </p:nvCxnSpPr>
        <p:spPr>
          <a:xfrm>
            <a:off x="609600" y="2362200"/>
            <a:ext cx="5248275"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19" name="CuadroTexto 18">
            <a:extLst>
              <a:ext uri="{FF2B5EF4-FFF2-40B4-BE49-F238E27FC236}">
                <a16:creationId xmlns:a16="http://schemas.microsoft.com/office/drawing/2014/main" id="{FAA7A4F7-6A9D-6BC6-41E8-7D4A91AFB385}"/>
              </a:ext>
            </a:extLst>
          </p:cNvPr>
          <p:cNvSpPr txBox="1"/>
          <p:nvPr/>
        </p:nvSpPr>
        <p:spPr>
          <a:xfrm>
            <a:off x="609600" y="2438400"/>
            <a:ext cx="2838450" cy="276999"/>
          </a:xfrm>
          <a:prstGeom prst="rect">
            <a:avLst/>
          </a:prstGeom>
          <a:noFill/>
        </p:spPr>
        <p:txBody>
          <a:bodyPr vert="horz" wrap="square" lIns="0" tIns="0" rIns="0" bIns="0" rtlCol="0" anchor="t">
            <a:noAutofit/>
          </a:bodyPr>
          <a:lstStyle/>
          <a:p>
            <a:pPr>
              <a:lnSpc>
                <a:spcPct val="130000"/>
              </a:lnSpc>
            </a:pPr>
            <a:r>
              <a:rPr lang="es-HN" sz="938">
                <a:solidFill>
                  <a:srgbClr val="39404A"/>
                </a:solidFill>
                <a:latin typeface="Calibri" panose="020F0502020204030204" pitchFamily="34" charset="0"/>
              </a:rPr>
              <a:t>Demanda ciudadana contra oferta programática</a:t>
            </a:r>
          </a:p>
        </p:txBody>
      </p:sp>
      <p:sp>
        <p:nvSpPr>
          <p:cNvPr id="20" name="CuadroTexto 19">
            <a:extLst>
              <a:ext uri="{FF2B5EF4-FFF2-40B4-BE49-F238E27FC236}">
                <a16:creationId xmlns:a16="http://schemas.microsoft.com/office/drawing/2014/main" id="{14B6DC58-E687-7D23-DC4A-85D352F22992}"/>
              </a:ext>
            </a:extLst>
          </p:cNvPr>
          <p:cNvSpPr txBox="1"/>
          <p:nvPr/>
        </p:nvSpPr>
        <p:spPr>
          <a:xfrm>
            <a:off x="3562350" y="2438400"/>
            <a:ext cx="2333625" cy="276999"/>
          </a:xfrm>
          <a:prstGeom prst="rect">
            <a:avLst/>
          </a:prstGeom>
          <a:noFill/>
        </p:spPr>
        <p:txBody>
          <a:bodyPr vert="horz" wrap="square" lIns="0" tIns="0" rIns="0" bIns="0" rtlCol="0" anchor="t">
            <a:noAutofit/>
          </a:bodyPr>
          <a:lstStyle/>
          <a:p>
            <a:pPr>
              <a:lnSpc>
                <a:spcPct val="125000"/>
              </a:lnSpc>
            </a:pPr>
            <a:r>
              <a:rPr lang="es-HN" sz="863">
                <a:solidFill>
                  <a:srgbClr val="1B4F9C"/>
                </a:solidFill>
                <a:latin typeface="Consolas" panose="020B0609020204030204" pitchFamily="49" charset="0"/>
              </a:rPr>
              <a:t>spAnaliticaCategorias</a:t>
            </a:r>
          </a:p>
        </p:txBody>
      </p:sp>
      <p:cxnSp>
        <p:nvCxnSpPr>
          <p:cNvPr id="21" name="Conector recto 20">
            <a:extLst>
              <a:ext uri="{FF2B5EF4-FFF2-40B4-BE49-F238E27FC236}">
                <a16:creationId xmlns:a16="http://schemas.microsoft.com/office/drawing/2014/main" id="{0041F7D5-37BA-95C0-F99F-925445900C02}"/>
              </a:ext>
            </a:extLst>
          </p:cNvPr>
          <p:cNvCxnSpPr/>
          <p:nvPr/>
        </p:nvCxnSpPr>
        <p:spPr>
          <a:xfrm>
            <a:off x="609600" y="2743200"/>
            <a:ext cx="5248275"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22" name="CuadroTexto 21">
            <a:extLst>
              <a:ext uri="{FF2B5EF4-FFF2-40B4-BE49-F238E27FC236}">
                <a16:creationId xmlns:a16="http://schemas.microsoft.com/office/drawing/2014/main" id="{72BC4A74-D7E6-5B7B-326F-2401B992F713}"/>
              </a:ext>
            </a:extLst>
          </p:cNvPr>
          <p:cNvSpPr txBox="1"/>
          <p:nvPr/>
        </p:nvSpPr>
        <p:spPr>
          <a:xfrm>
            <a:off x="609600" y="2819400"/>
            <a:ext cx="2838450" cy="276999"/>
          </a:xfrm>
          <a:prstGeom prst="rect">
            <a:avLst/>
          </a:prstGeom>
          <a:noFill/>
        </p:spPr>
        <p:txBody>
          <a:bodyPr vert="horz" wrap="square" lIns="0" tIns="0" rIns="0" bIns="0" rtlCol="0" anchor="t">
            <a:noAutofit/>
          </a:bodyPr>
          <a:lstStyle/>
          <a:p>
            <a:pPr>
              <a:lnSpc>
                <a:spcPct val="130000"/>
              </a:lnSpc>
            </a:pPr>
            <a:r>
              <a:rPr lang="es-ES" sz="938">
                <a:solidFill>
                  <a:srgbClr val="39404A"/>
                </a:solidFill>
                <a:latin typeface="Calibri" panose="020F0502020204030204" pitchFamily="34" charset="0"/>
              </a:rPr>
              <a:t>Estado de cumplimiento, barra apilada al 100 %</a:t>
            </a:r>
            <a:endParaRPr lang="es-HN" sz="938">
              <a:solidFill>
                <a:srgbClr val="39404A"/>
              </a:solidFill>
              <a:latin typeface="Calibri" panose="020F0502020204030204" pitchFamily="34" charset="0"/>
            </a:endParaRPr>
          </a:p>
        </p:txBody>
      </p:sp>
      <p:sp>
        <p:nvSpPr>
          <p:cNvPr id="23" name="CuadroTexto 22">
            <a:extLst>
              <a:ext uri="{FF2B5EF4-FFF2-40B4-BE49-F238E27FC236}">
                <a16:creationId xmlns:a16="http://schemas.microsoft.com/office/drawing/2014/main" id="{2DB84F9B-3427-56D0-C75E-3DD0598BBEFD}"/>
              </a:ext>
            </a:extLst>
          </p:cNvPr>
          <p:cNvSpPr txBox="1"/>
          <p:nvPr/>
        </p:nvSpPr>
        <p:spPr>
          <a:xfrm>
            <a:off x="3562350" y="2819400"/>
            <a:ext cx="2333625" cy="276999"/>
          </a:xfrm>
          <a:prstGeom prst="rect">
            <a:avLst/>
          </a:prstGeom>
          <a:noFill/>
        </p:spPr>
        <p:txBody>
          <a:bodyPr vert="horz" wrap="square" lIns="0" tIns="0" rIns="0" bIns="0" rtlCol="0" anchor="t">
            <a:noAutofit/>
          </a:bodyPr>
          <a:lstStyle/>
          <a:p>
            <a:pPr>
              <a:lnSpc>
                <a:spcPct val="125000"/>
              </a:lnSpc>
            </a:pPr>
            <a:r>
              <a:rPr lang="es-HN" sz="863">
                <a:solidFill>
                  <a:srgbClr val="1B4F9C"/>
                </a:solidFill>
                <a:latin typeface="Consolas" panose="020B0609020204030204" pitchFamily="49" charset="0"/>
              </a:rPr>
              <a:t>spAnaliticaEstados</a:t>
            </a:r>
          </a:p>
        </p:txBody>
      </p:sp>
      <p:cxnSp>
        <p:nvCxnSpPr>
          <p:cNvPr id="24" name="Conector recto 23">
            <a:extLst>
              <a:ext uri="{FF2B5EF4-FFF2-40B4-BE49-F238E27FC236}">
                <a16:creationId xmlns:a16="http://schemas.microsoft.com/office/drawing/2014/main" id="{DB4937E4-DE28-26C9-61D5-EFCB14C73B88}"/>
              </a:ext>
            </a:extLst>
          </p:cNvPr>
          <p:cNvCxnSpPr/>
          <p:nvPr/>
        </p:nvCxnSpPr>
        <p:spPr>
          <a:xfrm>
            <a:off x="609600" y="3124200"/>
            <a:ext cx="5248275"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25" name="CuadroTexto 24">
            <a:extLst>
              <a:ext uri="{FF2B5EF4-FFF2-40B4-BE49-F238E27FC236}">
                <a16:creationId xmlns:a16="http://schemas.microsoft.com/office/drawing/2014/main" id="{74B63012-349B-9EA5-B1C3-18E3E154F226}"/>
              </a:ext>
            </a:extLst>
          </p:cNvPr>
          <p:cNvSpPr txBox="1"/>
          <p:nvPr/>
        </p:nvSpPr>
        <p:spPr>
          <a:xfrm>
            <a:off x="609600" y="3200400"/>
            <a:ext cx="2838450" cy="276999"/>
          </a:xfrm>
          <a:prstGeom prst="rect">
            <a:avLst/>
          </a:prstGeom>
          <a:noFill/>
        </p:spPr>
        <p:txBody>
          <a:bodyPr vert="horz" wrap="square" lIns="0" tIns="0" rIns="0" bIns="0" rtlCol="0" anchor="t">
            <a:noAutofit/>
          </a:bodyPr>
          <a:lstStyle/>
          <a:p>
            <a:pPr>
              <a:lnSpc>
                <a:spcPct val="130000"/>
              </a:lnSpc>
            </a:pPr>
            <a:r>
              <a:rPr lang="es-HN" sz="938">
                <a:solidFill>
                  <a:srgbClr val="39404A"/>
                </a:solidFill>
                <a:latin typeface="Calibri" panose="020F0502020204030204" pitchFamily="34" charset="0"/>
              </a:rPr>
              <a:t>Propuestas por partido, conteo bruto</a:t>
            </a:r>
          </a:p>
        </p:txBody>
      </p:sp>
      <p:sp>
        <p:nvSpPr>
          <p:cNvPr id="26" name="CuadroTexto 25">
            <a:extLst>
              <a:ext uri="{FF2B5EF4-FFF2-40B4-BE49-F238E27FC236}">
                <a16:creationId xmlns:a16="http://schemas.microsoft.com/office/drawing/2014/main" id="{6041082A-1C3A-1388-5ED8-BAD2046F19BD}"/>
              </a:ext>
            </a:extLst>
          </p:cNvPr>
          <p:cNvSpPr txBox="1"/>
          <p:nvPr/>
        </p:nvSpPr>
        <p:spPr>
          <a:xfrm>
            <a:off x="3562350" y="3200400"/>
            <a:ext cx="2333625" cy="276999"/>
          </a:xfrm>
          <a:prstGeom prst="rect">
            <a:avLst/>
          </a:prstGeom>
          <a:noFill/>
        </p:spPr>
        <p:txBody>
          <a:bodyPr vert="horz" wrap="square" lIns="0" tIns="0" rIns="0" bIns="0" rtlCol="0" anchor="t">
            <a:noAutofit/>
          </a:bodyPr>
          <a:lstStyle/>
          <a:p>
            <a:pPr>
              <a:lnSpc>
                <a:spcPct val="125000"/>
              </a:lnSpc>
            </a:pPr>
            <a:r>
              <a:rPr lang="es-HN" sz="863">
                <a:solidFill>
                  <a:srgbClr val="1B4F9C"/>
                </a:solidFill>
                <a:latin typeface="Consolas" panose="020B0609020204030204" pitchFamily="49" charset="0"/>
              </a:rPr>
              <a:t>spAnaliticaPartidos</a:t>
            </a:r>
          </a:p>
        </p:txBody>
      </p:sp>
      <p:cxnSp>
        <p:nvCxnSpPr>
          <p:cNvPr id="27" name="Conector recto 26">
            <a:extLst>
              <a:ext uri="{FF2B5EF4-FFF2-40B4-BE49-F238E27FC236}">
                <a16:creationId xmlns:a16="http://schemas.microsoft.com/office/drawing/2014/main" id="{A83452AC-D2D7-40A8-D287-154C64AC5AA6}"/>
              </a:ext>
            </a:extLst>
          </p:cNvPr>
          <p:cNvCxnSpPr/>
          <p:nvPr/>
        </p:nvCxnSpPr>
        <p:spPr>
          <a:xfrm>
            <a:off x="609600" y="3505200"/>
            <a:ext cx="5248275"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28" name="CuadroTexto 27">
            <a:extLst>
              <a:ext uri="{FF2B5EF4-FFF2-40B4-BE49-F238E27FC236}">
                <a16:creationId xmlns:a16="http://schemas.microsoft.com/office/drawing/2014/main" id="{9248393E-F189-0607-837C-144EA82C6EA3}"/>
              </a:ext>
            </a:extLst>
          </p:cNvPr>
          <p:cNvSpPr txBox="1"/>
          <p:nvPr/>
        </p:nvSpPr>
        <p:spPr>
          <a:xfrm>
            <a:off x="609600" y="3581400"/>
            <a:ext cx="2838450" cy="276999"/>
          </a:xfrm>
          <a:prstGeom prst="rect">
            <a:avLst/>
          </a:prstGeom>
          <a:noFill/>
        </p:spPr>
        <p:txBody>
          <a:bodyPr vert="horz" wrap="square" lIns="0" tIns="0" rIns="0" bIns="0" rtlCol="0" anchor="t">
            <a:noAutofit/>
          </a:bodyPr>
          <a:lstStyle/>
          <a:p>
            <a:pPr>
              <a:lnSpc>
                <a:spcPct val="130000"/>
              </a:lnSpc>
            </a:pPr>
            <a:r>
              <a:rPr lang="es-ES" sz="938">
                <a:solidFill>
                  <a:srgbClr val="39404A"/>
                </a:solidFill>
                <a:latin typeface="Calibri" panose="020F0502020204030204" pitchFamily="34" charset="0"/>
              </a:rPr>
              <a:t>Densidad programática, propuestas por candidatura</a:t>
            </a:r>
            <a:endParaRPr lang="es-HN" sz="938">
              <a:solidFill>
                <a:srgbClr val="39404A"/>
              </a:solidFill>
              <a:latin typeface="Calibri" panose="020F0502020204030204" pitchFamily="34" charset="0"/>
            </a:endParaRPr>
          </a:p>
        </p:txBody>
      </p:sp>
      <p:sp>
        <p:nvSpPr>
          <p:cNvPr id="29" name="CuadroTexto 28">
            <a:extLst>
              <a:ext uri="{FF2B5EF4-FFF2-40B4-BE49-F238E27FC236}">
                <a16:creationId xmlns:a16="http://schemas.microsoft.com/office/drawing/2014/main" id="{B6D9A908-2141-84C1-CAD7-08FFBE2F4D81}"/>
              </a:ext>
            </a:extLst>
          </p:cNvPr>
          <p:cNvSpPr txBox="1"/>
          <p:nvPr/>
        </p:nvSpPr>
        <p:spPr>
          <a:xfrm>
            <a:off x="3562350" y="3581400"/>
            <a:ext cx="2333625" cy="276999"/>
          </a:xfrm>
          <a:prstGeom prst="rect">
            <a:avLst/>
          </a:prstGeom>
          <a:noFill/>
        </p:spPr>
        <p:txBody>
          <a:bodyPr vert="horz" wrap="square" lIns="0" tIns="0" rIns="0" bIns="0" rtlCol="0" anchor="t">
            <a:noAutofit/>
          </a:bodyPr>
          <a:lstStyle/>
          <a:p>
            <a:pPr>
              <a:lnSpc>
                <a:spcPct val="125000"/>
              </a:lnSpc>
            </a:pPr>
            <a:r>
              <a:rPr lang="es-HN" sz="863">
                <a:solidFill>
                  <a:srgbClr val="1B4F9C"/>
                </a:solidFill>
                <a:latin typeface="Consolas" panose="020B0609020204030204" pitchFamily="49" charset="0"/>
              </a:rPr>
              <a:t>spAnaliticaPartidos</a:t>
            </a:r>
          </a:p>
        </p:txBody>
      </p:sp>
      <p:cxnSp>
        <p:nvCxnSpPr>
          <p:cNvPr id="30" name="Conector recto 29">
            <a:extLst>
              <a:ext uri="{FF2B5EF4-FFF2-40B4-BE49-F238E27FC236}">
                <a16:creationId xmlns:a16="http://schemas.microsoft.com/office/drawing/2014/main" id="{F7F3A538-7438-FB91-19FA-1F1F40D91D91}"/>
              </a:ext>
            </a:extLst>
          </p:cNvPr>
          <p:cNvCxnSpPr/>
          <p:nvPr/>
        </p:nvCxnSpPr>
        <p:spPr>
          <a:xfrm>
            <a:off x="609600" y="3886200"/>
            <a:ext cx="5248275"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31" name="CuadroTexto 30">
            <a:extLst>
              <a:ext uri="{FF2B5EF4-FFF2-40B4-BE49-F238E27FC236}">
                <a16:creationId xmlns:a16="http://schemas.microsoft.com/office/drawing/2014/main" id="{A1634E85-FB0E-9A30-6419-BD409321758A}"/>
              </a:ext>
            </a:extLst>
          </p:cNvPr>
          <p:cNvSpPr txBox="1"/>
          <p:nvPr/>
        </p:nvSpPr>
        <p:spPr>
          <a:xfrm>
            <a:off x="6219825" y="1409700"/>
            <a:ext cx="2838450" cy="276999"/>
          </a:xfrm>
          <a:prstGeom prst="rect">
            <a:avLst/>
          </a:prstGeom>
          <a:noFill/>
        </p:spPr>
        <p:txBody>
          <a:bodyPr vert="horz" wrap="square" lIns="0" tIns="0" rIns="0" bIns="0" rtlCol="0" anchor="t">
            <a:noAutofit/>
          </a:bodyPr>
          <a:lstStyle/>
          <a:p>
            <a:pPr>
              <a:lnSpc>
                <a:spcPct val="125000"/>
              </a:lnSpc>
            </a:pPr>
            <a:r>
              <a:rPr lang="es-HN" sz="788" b="1" spc="90">
                <a:solidFill>
                  <a:srgbClr val="6A7078"/>
                </a:solidFill>
                <a:latin typeface="Calibri" panose="020F0502020204030204" pitchFamily="34" charset="0"/>
              </a:rPr>
              <a:t>INDICADOR</a:t>
            </a:r>
          </a:p>
        </p:txBody>
      </p:sp>
      <p:sp>
        <p:nvSpPr>
          <p:cNvPr id="32" name="CuadroTexto 31">
            <a:extLst>
              <a:ext uri="{FF2B5EF4-FFF2-40B4-BE49-F238E27FC236}">
                <a16:creationId xmlns:a16="http://schemas.microsoft.com/office/drawing/2014/main" id="{7E11E702-397F-9076-3FE0-0C1116019662}"/>
              </a:ext>
            </a:extLst>
          </p:cNvPr>
          <p:cNvSpPr txBox="1"/>
          <p:nvPr/>
        </p:nvSpPr>
        <p:spPr>
          <a:xfrm>
            <a:off x="9172575" y="1409700"/>
            <a:ext cx="2295525" cy="276999"/>
          </a:xfrm>
          <a:prstGeom prst="rect">
            <a:avLst/>
          </a:prstGeom>
          <a:noFill/>
        </p:spPr>
        <p:txBody>
          <a:bodyPr vert="horz" wrap="square" lIns="0" tIns="0" rIns="0" bIns="0" rtlCol="0" anchor="t">
            <a:noAutofit/>
          </a:bodyPr>
          <a:lstStyle/>
          <a:p>
            <a:pPr>
              <a:lnSpc>
                <a:spcPct val="125000"/>
              </a:lnSpc>
            </a:pPr>
            <a:r>
              <a:rPr lang="es-HN" sz="788" b="1" spc="90">
                <a:solidFill>
                  <a:srgbClr val="6A7078"/>
                </a:solidFill>
                <a:latin typeface="Calibri" panose="020F0502020204030204" pitchFamily="34" charset="0"/>
              </a:rPr>
              <a:t>PROCEDIMIENTO</a:t>
            </a:r>
          </a:p>
        </p:txBody>
      </p:sp>
      <p:cxnSp>
        <p:nvCxnSpPr>
          <p:cNvPr id="33" name="Conector recto 32">
            <a:extLst>
              <a:ext uri="{FF2B5EF4-FFF2-40B4-BE49-F238E27FC236}">
                <a16:creationId xmlns:a16="http://schemas.microsoft.com/office/drawing/2014/main" id="{4CC6B3FE-D3A8-CD36-58D9-01331A8745BB}"/>
              </a:ext>
            </a:extLst>
          </p:cNvPr>
          <p:cNvCxnSpPr/>
          <p:nvPr/>
        </p:nvCxnSpPr>
        <p:spPr>
          <a:xfrm>
            <a:off x="6219825" y="1657350"/>
            <a:ext cx="5248275" cy="0"/>
          </a:xfrm>
          <a:prstGeom prst="line">
            <a:avLst/>
          </a:prstGeom>
          <a:ln w="9525">
            <a:solidFill>
              <a:srgbClr val="E3E1DD"/>
            </a:solidFill>
          </a:ln>
        </p:spPr>
        <p:style>
          <a:lnRef idx="2">
            <a:schemeClr val="accent1"/>
          </a:lnRef>
          <a:fillRef idx="0">
            <a:schemeClr val="accent1"/>
          </a:fillRef>
          <a:effectRef idx="1">
            <a:schemeClr val="accent1"/>
          </a:effectRef>
          <a:fontRef idx="minor">
            <a:schemeClr val="tx1"/>
          </a:fontRef>
        </p:style>
      </p:cxnSp>
      <p:sp>
        <p:nvSpPr>
          <p:cNvPr id="34" name="CuadroTexto 33">
            <a:extLst>
              <a:ext uri="{FF2B5EF4-FFF2-40B4-BE49-F238E27FC236}">
                <a16:creationId xmlns:a16="http://schemas.microsoft.com/office/drawing/2014/main" id="{0EA1CA88-45FF-60C4-A886-D6D9E29DD7BA}"/>
              </a:ext>
            </a:extLst>
          </p:cNvPr>
          <p:cNvSpPr txBox="1"/>
          <p:nvPr/>
        </p:nvSpPr>
        <p:spPr>
          <a:xfrm>
            <a:off x="6219825" y="1676400"/>
            <a:ext cx="2838450" cy="276999"/>
          </a:xfrm>
          <a:prstGeom prst="rect">
            <a:avLst/>
          </a:prstGeom>
          <a:noFill/>
        </p:spPr>
        <p:txBody>
          <a:bodyPr vert="horz" wrap="square" lIns="0" tIns="0" rIns="0" bIns="0" rtlCol="0" anchor="t">
            <a:noAutofit/>
          </a:bodyPr>
          <a:lstStyle/>
          <a:p>
            <a:pPr>
              <a:lnSpc>
                <a:spcPct val="130000"/>
              </a:lnSpc>
            </a:pPr>
            <a:r>
              <a:rPr lang="es-ES" sz="938">
                <a:solidFill>
                  <a:srgbClr val="39404A"/>
                </a:solidFill>
                <a:latin typeface="Calibri" panose="020F0502020204030204" pitchFamily="34" charset="0"/>
              </a:rPr>
              <a:t>Signo de la participación, dona SVG</a:t>
            </a:r>
            <a:endParaRPr lang="es-HN" sz="938">
              <a:solidFill>
                <a:srgbClr val="39404A"/>
              </a:solidFill>
              <a:latin typeface="Calibri" panose="020F0502020204030204" pitchFamily="34" charset="0"/>
            </a:endParaRPr>
          </a:p>
        </p:txBody>
      </p:sp>
      <p:sp>
        <p:nvSpPr>
          <p:cNvPr id="35" name="CuadroTexto 34">
            <a:extLst>
              <a:ext uri="{FF2B5EF4-FFF2-40B4-BE49-F238E27FC236}">
                <a16:creationId xmlns:a16="http://schemas.microsoft.com/office/drawing/2014/main" id="{499E8152-0EE7-E80C-5F2A-527261D6766A}"/>
              </a:ext>
            </a:extLst>
          </p:cNvPr>
          <p:cNvSpPr txBox="1"/>
          <p:nvPr/>
        </p:nvSpPr>
        <p:spPr>
          <a:xfrm>
            <a:off x="9172575" y="1676400"/>
            <a:ext cx="2333625" cy="276999"/>
          </a:xfrm>
          <a:prstGeom prst="rect">
            <a:avLst/>
          </a:prstGeom>
          <a:noFill/>
        </p:spPr>
        <p:txBody>
          <a:bodyPr vert="horz" wrap="square" lIns="0" tIns="0" rIns="0" bIns="0" rtlCol="0" anchor="t">
            <a:noAutofit/>
          </a:bodyPr>
          <a:lstStyle/>
          <a:p>
            <a:pPr>
              <a:lnSpc>
                <a:spcPct val="125000"/>
              </a:lnSpc>
            </a:pPr>
            <a:r>
              <a:rPr lang="es-HN" sz="863">
                <a:solidFill>
                  <a:srgbClr val="1B4F9C"/>
                </a:solidFill>
                <a:latin typeface="Consolas" panose="020B0609020204030204" pitchFamily="49" charset="0"/>
              </a:rPr>
              <a:t>spAnaliticaParticipacion</a:t>
            </a:r>
          </a:p>
        </p:txBody>
      </p:sp>
      <p:cxnSp>
        <p:nvCxnSpPr>
          <p:cNvPr id="36" name="Conector recto 35">
            <a:extLst>
              <a:ext uri="{FF2B5EF4-FFF2-40B4-BE49-F238E27FC236}">
                <a16:creationId xmlns:a16="http://schemas.microsoft.com/office/drawing/2014/main" id="{C7361E96-1E4F-F89D-A737-758196A1D1D3}"/>
              </a:ext>
            </a:extLst>
          </p:cNvPr>
          <p:cNvCxnSpPr/>
          <p:nvPr/>
        </p:nvCxnSpPr>
        <p:spPr>
          <a:xfrm>
            <a:off x="6219825" y="1981200"/>
            <a:ext cx="5248275"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37" name="CuadroTexto 36">
            <a:extLst>
              <a:ext uri="{FF2B5EF4-FFF2-40B4-BE49-F238E27FC236}">
                <a16:creationId xmlns:a16="http://schemas.microsoft.com/office/drawing/2014/main" id="{08719884-5C8C-7757-6F1B-3E4C21F57645}"/>
              </a:ext>
            </a:extLst>
          </p:cNvPr>
          <p:cNvSpPr txBox="1"/>
          <p:nvPr/>
        </p:nvSpPr>
        <p:spPr>
          <a:xfrm>
            <a:off x="6219825" y="2057400"/>
            <a:ext cx="2838450" cy="276999"/>
          </a:xfrm>
          <a:prstGeom prst="rect">
            <a:avLst/>
          </a:prstGeom>
          <a:noFill/>
        </p:spPr>
        <p:txBody>
          <a:bodyPr vert="horz" wrap="square" lIns="0" tIns="0" rIns="0" bIns="0" rtlCol="0" anchor="t">
            <a:noAutofit/>
          </a:bodyPr>
          <a:lstStyle/>
          <a:p>
            <a:pPr>
              <a:lnSpc>
                <a:spcPct val="130000"/>
              </a:lnSpc>
            </a:pPr>
            <a:r>
              <a:rPr lang="es-ES" sz="938">
                <a:solidFill>
                  <a:srgbClr val="39404A"/>
                </a:solidFill>
                <a:latin typeface="Calibri" panose="020F0502020204030204" pitchFamily="34" charset="0"/>
              </a:rPr>
              <a:t>Participación por tipo de contenido</a:t>
            </a:r>
            <a:endParaRPr lang="es-HN" sz="938">
              <a:solidFill>
                <a:srgbClr val="39404A"/>
              </a:solidFill>
              <a:latin typeface="Calibri" panose="020F0502020204030204" pitchFamily="34" charset="0"/>
            </a:endParaRPr>
          </a:p>
        </p:txBody>
      </p:sp>
      <p:sp>
        <p:nvSpPr>
          <p:cNvPr id="38" name="CuadroTexto 37">
            <a:extLst>
              <a:ext uri="{FF2B5EF4-FFF2-40B4-BE49-F238E27FC236}">
                <a16:creationId xmlns:a16="http://schemas.microsoft.com/office/drawing/2014/main" id="{B334F18D-1193-3CA5-2DD7-E566F91C6BBF}"/>
              </a:ext>
            </a:extLst>
          </p:cNvPr>
          <p:cNvSpPr txBox="1"/>
          <p:nvPr/>
        </p:nvSpPr>
        <p:spPr>
          <a:xfrm>
            <a:off x="9172575" y="2057400"/>
            <a:ext cx="2333625" cy="276999"/>
          </a:xfrm>
          <a:prstGeom prst="rect">
            <a:avLst/>
          </a:prstGeom>
          <a:noFill/>
        </p:spPr>
        <p:txBody>
          <a:bodyPr vert="horz" wrap="square" lIns="0" tIns="0" rIns="0" bIns="0" rtlCol="0" anchor="t">
            <a:noAutofit/>
          </a:bodyPr>
          <a:lstStyle/>
          <a:p>
            <a:pPr>
              <a:lnSpc>
                <a:spcPct val="125000"/>
              </a:lnSpc>
            </a:pPr>
            <a:r>
              <a:rPr lang="es-HN" sz="863">
                <a:solidFill>
                  <a:srgbClr val="1B4F9C"/>
                </a:solidFill>
                <a:latin typeface="Consolas" panose="020B0609020204030204" pitchFamily="49" charset="0"/>
              </a:rPr>
              <a:t>spAnaliticaParticipacion</a:t>
            </a:r>
          </a:p>
        </p:txBody>
      </p:sp>
      <p:cxnSp>
        <p:nvCxnSpPr>
          <p:cNvPr id="39" name="Conector recto 38">
            <a:extLst>
              <a:ext uri="{FF2B5EF4-FFF2-40B4-BE49-F238E27FC236}">
                <a16:creationId xmlns:a16="http://schemas.microsoft.com/office/drawing/2014/main" id="{38025C89-2338-05AE-FA6B-EB970ACB479E}"/>
              </a:ext>
            </a:extLst>
          </p:cNvPr>
          <p:cNvCxnSpPr/>
          <p:nvPr/>
        </p:nvCxnSpPr>
        <p:spPr>
          <a:xfrm>
            <a:off x="6219825" y="2362200"/>
            <a:ext cx="5248275"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40" name="CuadroTexto 39">
            <a:extLst>
              <a:ext uri="{FF2B5EF4-FFF2-40B4-BE49-F238E27FC236}">
                <a16:creationId xmlns:a16="http://schemas.microsoft.com/office/drawing/2014/main" id="{9BBEFA27-F075-2D33-73A0-11CFBC4F7D04}"/>
              </a:ext>
            </a:extLst>
          </p:cNvPr>
          <p:cNvSpPr txBox="1"/>
          <p:nvPr/>
        </p:nvSpPr>
        <p:spPr>
          <a:xfrm>
            <a:off x="6219825" y="2438400"/>
            <a:ext cx="2838450" cy="276999"/>
          </a:xfrm>
          <a:prstGeom prst="rect">
            <a:avLst/>
          </a:prstGeom>
          <a:noFill/>
        </p:spPr>
        <p:txBody>
          <a:bodyPr vert="horz" wrap="square" lIns="0" tIns="0" rIns="0" bIns="0" rtlCol="0" anchor="t">
            <a:noAutofit/>
          </a:bodyPr>
          <a:lstStyle/>
          <a:p>
            <a:pPr>
              <a:lnSpc>
                <a:spcPct val="130000"/>
              </a:lnSpc>
            </a:pPr>
            <a:r>
              <a:rPr lang="es-HN" sz="938">
                <a:solidFill>
                  <a:srgbClr val="39404A"/>
                </a:solidFill>
                <a:latin typeface="Calibri" panose="020F0502020204030204" pitchFamily="34" charset="0"/>
              </a:rPr>
              <a:t>Ranking de candidaturas por saldo</a:t>
            </a:r>
          </a:p>
        </p:txBody>
      </p:sp>
      <p:sp>
        <p:nvSpPr>
          <p:cNvPr id="41" name="CuadroTexto 40">
            <a:extLst>
              <a:ext uri="{FF2B5EF4-FFF2-40B4-BE49-F238E27FC236}">
                <a16:creationId xmlns:a16="http://schemas.microsoft.com/office/drawing/2014/main" id="{C1834B3C-3AF8-9263-E10A-8DF2E58AB5E2}"/>
              </a:ext>
            </a:extLst>
          </p:cNvPr>
          <p:cNvSpPr txBox="1"/>
          <p:nvPr/>
        </p:nvSpPr>
        <p:spPr>
          <a:xfrm>
            <a:off x="9172575" y="2438400"/>
            <a:ext cx="2333625" cy="276999"/>
          </a:xfrm>
          <a:prstGeom prst="rect">
            <a:avLst/>
          </a:prstGeom>
          <a:noFill/>
        </p:spPr>
        <p:txBody>
          <a:bodyPr vert="horz" wrap="square" lIns="0" tIns="0" rIns="0" bIns="0" rtlCol="0" anchor="t">
            <a:noAutofit/>
          </a:bodyPr>
          <a:lstStyle/>
          <a:p>
            <a:pPr>
              <a:lnSpc>
                <a:spcPct val="125000"/>
              </a:lnSpc>
            </a:pPr>
            <a:r>
              <a:rPr lang="es-HN" sz="863">
                <a:solidFill>
                  <a:srgbClr val="1B4F9C"/>
                </a:solidFill>
                <a:latin typeface="Consolas" panose="020B0609020204030204" pitchFamily="49" charset="0"/>
              </a:rPr>
              <a:t>spAnaliticaCandidatos</a:t>
            </a:r>
          </a:p>
        </p:txBody>
      </p:sp>
      <p:cxnSp>
        <p:nvCxnSpPr>
          <p:cNvPr id="42" name="Conector recto 41">
            <a:extLst>
              <a:ext uri="{FF2B5EF4-FFF2-40B4-BE49-F238E27FC236}">
                <a16:creationId xmlns:a16="http://schemas.microsoft.com/office/drawing/2014/main" id="{5D9CFEB9-6338-A5E2-31B1-60A01C00EEB9}"/>
              </a:ext>
            </a:extLst>
          </p:cNvPr>
          <p:cNvCxnSpPr/>
          <p:nvPr/>
        </p:nvCxnSpPr>
        <p:spPr>
          <a:xfrm>
            <a:off x="6219825" y="2743200"/>
            <a:ext cx="5248275"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43" name="CuadroTexto 42">
            <a:extLst>
              <a:ext uri="{FF2B5EF4-FFF2-40B4-BE49-F238E27FC236}">
                <a16:creationId xmlns:a16="http://schemas.microsoft.com/office/drawing/2014/main" id="{B815DC4C-89CE-DD8A-02CD-FD175BBEC747}"/>
              </a:ext>
            </a:extLst>
          </p:cNvPr>
          <p:cNvSpPr txBox="1"/>
          <p:nvPr/>
        </p:nvSpPr>
        <p:spPr>
          <a:xfrm>
            <a:off x="6219825" y="2819400"/>
            <a:ext cx="2838450" cy="276999"/>
          </a:xfrm>
          <a:prstGeom prst="rect">
            <a:avLst/>
          </a:prstGeom>
          <a:noFill/>
        </p:spPr>
        <p:txBody>
          <a:bodyPr vert="horz" wrap="square" lIns="0" tIns="0" rIns="0" bIns="0" rtlCol="0" anchor="t">
            <a:noAutofit/>
          </a:bodyPr>
          <a:lstStyle/>
          <a:p>
            <a:pPr>
              <a:lnSpc>
                <a:spcPct val="130000"/>
              </a:lnSpc>
            </a:pPr>
            <a:r>
              <a:rPr lang="es-HN" sz="938">
                <a:solidFill>
                  <a:srgbClr val="39404A"/>
                </a:solidFill>
                <a:latin typeface="Calibri" panose="020F0502020204030204" pitchFamily="34" charset="0"/>
              </a:rPr>
              <a:t>Actividad diaria, área SVG de dos series</a:t>
            </a:r>
          </a:p>
        </p:txBody>
      </p:sp>
      <p:sp>
        <p:nvSpPr>
          <p:cNvPr id="44" name="CuadroTexto 43">
            <a:extLst>
              <a:ext uri="{FF2B5EF4-FFF2-40B4-BE49-F238E27FC236}">
                <a16:creationId xmlns:a16="http://schemas.microsoft.com/office/drawing/2014/main" id="{122DF4ED-CFB3-D898-8CAE-C9C85657B241}"/>
              </a:ext>
            </a:extLst>
          </p:cNvPr>
          <p:cNvSpPr txBox="1"/>
          <p:nvPr/>
        </p:nvSpPr>
        <p:spPr>
          <a:xfrm>
            <a:off x="9172575" y="2819400"/>
            <a:ext cx="2333625" cy="276999"/>
          </a:xfrm>
          <a:prstGeom prst="rect">
            <a:avLst/>
          </a:prstGeom>
          <a:noFill/>
        </p:spPr>
        <p:txBody>
          <a:bodyPr vert="horz" wrap="square" lIns="0" tIns="0" rIns="0" bIns="0" rtlCol="0" anchor="t">
            <a:noAutofit/>
          </a:bodyPr>
          <a:lstStyle/>
          <a:p>
            <a:pPr>
              <a:lnSpc>
                <a:spcPct val="125000"/>
              </a:lnSpc>
            </a:pPr>
            <a:r>
              <a:rPr lang="es-HN" sz="863">
                <a:solidFill>
                  <a:srgbClr val="1B4F9C"/>
                </a:solidFill>
                <a:latin typeface="Consolas" panose="020B0609020204030204" pitchFamily="49" charset="0"/>
              </a:rPr>
              <a:t>spAnaliticaActividad</a:t>
            </a:r>
          </a:p>
        </p:txBody>
      </p:sp>
      <p:cxnSp>
        <p:nvCxnSpPr>
          <p:cNvPr id="45" name="Conector recto 44">
            <a:extLst>
              <a:ext uri="{FF2B5EF4-FFF2-40B4-BE49-F238E27FC236}">
                <a16:creationId xmlns:a16="http://schemas.microsoft.com/office/drawing/2014/main" id="{52388D16-357E-5095-02A1-A4992AC65A39}"/>
              </a:ext>
            </a:extLst>
          </p:cNvPr>
          <p:cNvCxnSpPr/>
          <p:nvPr/>
        </p:nvCxnSpPr>
        <p:spPr>
          <a:xfrm>
            <a:off x="6219825" y="3124200"/>
            <a:ext cx="5248275"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46" name="CuadroTexto 45">
            <a:extLst>
              <a:ext uri="{FF2B5EF4-FFF2-40B4-BE49-F238E27FC236}">
                <a16:creationId xmlns:a16="http://schemas.microsoft.com/office/drawing/2014/main" id="{B278FE59-C850-B349-95E2-484041D6619D}"/>
              </a:ext>
            </a:extLst>
          </p:cNvPr>
          <p:cNvSpPr txBox="1"/>
          <p:nvPr/>
        </p:nvSpPr>
        <p:spPr>
          <a:xfrm>
            <a:off x="6219825" y="3200400"/>
            <a:ext cx="2838450" cy="276999"/>
          </a:xfrm>
          <a:prstGeom prst="rect">
            <a:avLst/>
          </a:prstGeom>
          <a:noFill/>
        </p:spPr>
        <p:txBody>
          <a:bodyPr vert="horz" wrap="square" lIns="0" tIns="0" rIns="0" bIns="0" rtlCol="0" anchor="t">
            <a:noAutofit/>
          </a:bodyPr>
          <a:lstStyle/>
          <a:p>
            <a:pPr>
              <a:lnSpc>
                <a:spcPct val="130000"/>
              </a:lnSpc>
            </a:pPr>
            <a:r>
              <a:rPr lang="es-HN" sz="938">
                <a:solidFill>
                  <a:srgbClr val="39404A"/>
                </a:solidFill>
                <a:latin typeface="Calibri" panose="020F0502020204030204" pitchFamily="34" charset="0"/>
              </a:rPr>
              <a:t>Cobertura territorial, 18 departamentos</a:t>
            </a:r>
          </a:p>
        </p:txBody>
      </p:sp>
      <p:sp>
        <p:nvSpPr>
          <p:cNvPr id="47" name="CuadroTexto 46">
            <a:extLst>
              <a:ext uri="{FF2B5EF4-FFF2-40B4-BE49-F238E27FC236}">
                <a16:creationId xmlns:a16="http://schemas.microsoft.com/office/drawing/2014/main" id="{922A1377-ECA3-CA39-7483-AA6C90E145C7}"/>
              </a:ext>
            </a:extLst>
          </p:cNvPr>
          <p:cNvSpPr txBox="1"/>
          <p:nvPr/>
        </p:nvSpPr>
        <p:spPr>
          <a:xfrm>
            <a:off x="9172575" y="3200400"/>
            <a:ext cx="2333625" cy="276999"/>
          </a:xfrm>
          <a:prstGeom prst="rect">
            <a:avLst/>
          </a:prstGeom>
          <a:noFill/>
        </p:spPr>
        <p:txBody>
          <a:bodyPr vert="horz" wrap="square" lIns="0" tIns="0" rIns="0" bIns="0" rtlCol="0" anchor="t">
            <a:noAutofit/>
          </a:bodyPr>
          <a:lstStyle/>
          <a:p>
            <a:pPr>
              <a:lnSpc>
                <a:spcPct val="125000"/>
              </a:lnSpc>
            </a:pPr>
            <a:r>
              <a:rPr lang="es-HN" sz="863">
                <a:solidFill>
                  <a:srgbClr val="1B4F9C"/>
                </a:solidFill>
                <a:latin typeface="Consolas" panose="020B0609020204030204" pitchFamily="49" charset="0"/>
              </a:rPr>
              <a:t>spAnaliticaTerritorio</a:t>
            </a:r>
          </a:p>
        </p:txBody>
      </p:sp>
      <p:cxnSp>
        <p:nvCxnSpPr>
          <p:cNvPr id="48" name="Conector recto 47">
            <a:extLst>
              <a:ext uri="{FF2B5EF4-FFF2-40B4-BE49-F238E27FC236}">
                <a16:creationId xmlns:a16="http://schemas.microsoft.com/office/drawing/2014/main" id="{CE7D6FB9-6FE2-CC40-0F7E-58E285A42C90}"/>
              </a:ext>
            </a:extLst>
          </p:cNvPr>
          <p:cNvCxnSpPr/>
          <p:nvPr/>
        </p:nvCxnSpPr>
        <p:spPr>
          <a:xfrm>
            <a:off x="6219825" y="3505200"/>
            <a:ext cx="5248275"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49" name="CuadroTexto 48">
            <a:extLst>
              <a:ext uri="{FF2B5EF4-FFF2-40B4-BE49-F238E27FC236}">
                <a16:creationId xmlns:a16="http://schemas.microsoft.com/office/drawing/2014/main" id="{C0AD175B-D72A-280A-894A-53B217ABB618}"/>
              </a:ext>
            </a:extLst>
          </p:cNvPr>
          <p:cNvSpPr txBox="1"/>
          <p:nvPr/>
        </p:nvSpPr>
        <p:spPr>
          <a:xfrm>
            <a:off x="6219825" y="3581400"/>
            <a:ext cx="2838450" cy="276999"/>
          </a:xfrm>
          <a:prstGeom prst="rect">
            <a:avLst/>
          </a:prstGeom>
          <a:noFill/>
        </p:spPr>
        <p:txBody>
          <a:bodyPr vert="horz" wrap="square" lIns="0" tIns="0" rIns="0" bIns="0" rtlCol="0" anchor="t">
            <a:noAutofit/>
          </a:bodyPr>
          <a:lstStyle/>
          <a:p>
            <a:pPr>
              <a:lnSpc>
                <a:spcPct val="130000"/>
              </a:lnSpc>
            </a:pPr>
            <a:r>
              <a:rPr lang="es-ES" sz="938">
                <a:solidFill>
                  <a:srgbClr val="39404A"/>
                </a:solidFill>
                <a:latin typeface="Calibri" panose="020F0502020204030204" pitchFamily="34" charset="0"/>
              </a:rPr>
              <a:t>Verificación por tipo de contenido</a:t>
            </a:r>
            <a:endParaRPr lang="es-HN" sz="938">
              <a:solidFill>
                <a:srgbClr val="39404A"/>
              </a:solidFill>
              <a:latin typeface="Calibri" panose="020F0502020204030204" pitchFamily="34" charset="0"/>
            </a:endParaRPr>
          </a:p>
        </p:txBody>
      </p:sp>
      <p:sp>
        <p:nvSpPr>
          <p:cNvPr id="50" name="CuadroTexto 49">
            <a:extLst>
              <a:ext uri="{FF2B5EF4-FFF2-40B4-BE49-F238E27FC236}">
                <a16:creationId xmlns:a16="http://schemas.microsoft.com/office/drawing/2014/main" id="{F93761F9-4896-75C7-CA7B-96B44910B9C6}"/>
              </a:ext>
            </a:extLst>
          </p:cNvPr>
          <p:cNvSpPr txBox="1"/>
          <p:nvPr/>
        </p:nvSpPr>
        <p:spPr>
          <a:xfrm>
            <a:off x="9172575" y="3581400"/>
            <a:ext cx="2333625" cy="276999"/>
          </a:xfrm>
          <a:prstGeom prst="rect">
            <a:avLst/>
          </a:prstGeom>
          <a:noFill/>
        </p:spPr>
        <p:txBody>
          <a:bodyPr vert="horz" wrap="square" lIns="0" tIns="0" rIns="0" bIns="0" rtlCol="0" anchor="t">
            <a:noAutofit/>
          </a:bodyPr>
          <a:lstStyle/>
          <a:p>
            <a:pPr>
              <a:lnSpc>
                <a:spcPct val="125000"/>
              </a:lnSpc>
            </a:pPr>
            <a:r>
              <a:rPr lang="es-HN" sz="863">
                <a:solidFill>
                  <a:srgbClr val="1B4F9C"/>
                </a:solidFill>
                <a:latin typeface="Consolas" panose="020B0609020204030204" pitchFamily="49" charset="0"/>
              </a:rPr>
              <a:t>spAnaliticaVerificacion</a:t>
            </a:r>
          </a:p>
        </p:txBody>
      </p:sp>
      <p:cxnSp>
        <p:nvCxnSpPr>
          <p:cNvPr id="51" name="Conector recto 50">
            <a:extLst>
              <a:ext uri="{FF2B5EF4-FFF2-40B4-BE49-F238E27FC236}">
                <a16:creationId xmlns:a16="http://schemas.microsoft.com/office/drawing/2014/main" id="{E5E19F45-1A00-BD37-CB1A-29F54CF8C271}"/>
              </a:ext>
            </a:extLst>
          </p:cNvPr>
          <p:cNvCxnSpPr/>
          <p:nvPr/>
        </p:nvCxnSpPr>
        <p:spPr>
          <a:xfrm>
            <a:off x="6219825" y="3886200"/>
            <a:ext cx="5248275" cy="0"/>
          </a:xfrm>
          <a:prstGeom prst="line">
            <a:avLst/>
          </a:prstGeom>
          <a:ln w="9525">
            <a:solidFill>
              <a:srgbClr val="EEECE8"/>
            </a:solidFill>
          </a:ln>
        </p:spPr>
        <p:style>
          <a:lnRef idx="2">
            <a:schemeClr val="accent1"/>
          </a:lnRef>
          <a:fillRef idx="0">
            <a:schemeClr val="accent1"/>
          </a:fillRef>
          <a:effectRef idx="1">
            <a:schemeClr val="accent1"/>
          </a:effectRef>
          <a:fontRef idx="minor">
            <a:schemeClr val="tx1"/>
          </a:fontRef>
        </p:style>
      </p:cxnSp>
      <p:sp>
        <p:nvSpPr>
          <p:cNvPr id="52" name="Rectángulo: esquinas redondeadas 51">
            <a:extLst>
              <a:ext uri="{FF2B5EF4-FFF2-40B4-BE49-F238E27FC236}">
                <a16:creationId xmlns:a16="http://schemas.microsoft.com/office/drawing/2014/main" id="{B7B38169-FBDF-D2AC-C87B-E4B9027B7456}"/>
              </a:ext>
            </a:extLst>
          </p:cNvPr>
          <p:cNvSpPr/>
          <p:nvPr/>
        </p:nvSpPr>
        <p:spPr>
          <a:xfrm>
            <a:off x="609600" y="4133850"/>
            <a:ext cx="10972800" cy="104775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3" name="Rectángulo 52">
            <a:extLst>
              <a:ext uri="{FF2B5EF4-FFF2-40B4-BE49-F238E27FC236}">
                <a16:creationId xmlns:a16="http://schemas.microsoft.com/office/drawing/2014/main" id="{F8A4E593-F6ED-ADE1-F16D-1E8B2415D8E0}"/>
              </a:ext>
            </a:extLst>
          </p:cNvPr>
          <p:cNvSpPr/>
          <p:nvPr/>
        </p:nvSpPr>
        <p:spPr>
          <a:xfrm>
            <a:off x="609600" y="4162425"/>
            <a:ext cx="28575" cy="990600"/>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4" name="CuadroTexto 53">
            <a:extLst>
              <a:ext uri="{FF2B5EF4-FFF2-40B4-BE49-F238E27FC236}">
                <a16:creationId xmlns:a16="http://schemas.microsoft.com/office/drawing/2014/main" id="{79C6102E-1B0F-18EB-E2A1-AC2E3559D63A}"/>
              </a:ext>
            </a:extLst>
          </p:cNvPr>
          <p:cNvSpPr txBox="1"/>
          <p:nvPr/>
        </p:nvSpPr>
        <p:spPr>
          <a:xfrm>
            <a:off x="800100" y="4305300"/>
            <a:ext cx="10591800" cy="276999"/>
          </a:xfrm>
          <a:prstGeom prst="rect">
            <a:avLst/>
          </a:prstGeom>
          <a:noFill/>
        </p:spPr>
        <p:txBody>
          <a:bodyPr vert="horz" wrap="square" lIns="0" tIns="0" rIns="0" bIns="0" rtlCol="0" anchor="t">
            <a:noAutofit/>
          </a:bodyPr>
          <a:lstStyle/>
          <a:p>
            <a:pPr>
              <a:lnSpc>
                <a:spcPct val="145000"/>
              </a:lnSpc>
            </a:pPr>
            <a:r>
              <a:rPr lang="es-ES" sz="1050" b="1">
                <a:solidFill>
                  <a:srgbClr val="39404A"/>
                </a:solidFill>
                <a:latin typeface="Calibri" panose="020F0502020204030204" pitchFamily="34" charset="0"/>
              </a:rPr>
              <a:t>Lo que el tablero deliberadamente no muestra:</a:t>
            </a:r>
            <a:r>
              <a:rPr lang="es-ES" sz="1050">
                <a:solidFill>
                  <a:srgbClr val="39404A"/>
                </a:solidFill>
                <a:latin typeface="Calibri" panose="020F0502020204030204" pitchFamily="34" charset="0"/>
              </a:rPr>
              <a:t> la comparación contra el período anterior con su flecha y su porcentaje de variación. Los registros de participación abarcan pocos días — esa variación sería una cifra inventada con apariencia de dato. En su lugar cada KPI se compara contra su propio denominador: «1 de 11 verificadas», «3 de 18 departamentos».</a:t>
            </a:r>
            <a:endParaRPr lang="es-HN" sz="1050">
              <a:solidFill>
                <a:srgbClr val="39404A"/>
              </a:solidFill>
              <a:latin typeface="Calibri" panose="020F0502020204030204" pitchFamily="34" charset="0"/>
            </a:endParaRPr>
          </a:p>
        </p:txBody>
      </p:sp>
    </p:spTree>
    <p:extLst>
      <p:ext uri="{BB962C8B-B14F-4D97-AF65-F5344CB8AC3E}">
        <p14:creationId xmlns:p14="http://schemas.microsoft.com/office/powerpoint/2010/main" val="25018034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filo0">
            <a:extLst>
              <a:ext uri="{FF2B5EF4-FFF2-40B4-BE49-F238E27FC236}">
                <a16:creationId xmlns:a16="http://schemas.microsoft.com/office/drawing/2014/main" id="{9664DC5C-3A48-B2E5-8962-4124AC98BCF3}"/>
              </a:ext>
            </a:extLst>
          </p:cNvPr>
          <p:cNvSpPr/>
          <p:nvPr/>
        </p:nvSpPr>
        <p:spPr>
          <a:xfrm>
            <a:off x="0" y="0"/>
            <a:ext cx="3048000" cy="47625"/>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3" name="filo1">
            <a:extLst>
              <a:ext uri="{FF2B5EF4-FFF2-40B4-BE49-F238E27FC236}">
                <a16:creationId xmlns:a16="http://schemas.microsoft.com/office/drawing/2014/main" id="{D75B1FFC-8C6C-7D3B-FFE4-074CB8A4EDFC}"/>
              </a:ext>
            </a:extLst>
          </p:cNvPr>
          <p:cNvSpPr/>
          <p:nvPr/>
        </p:nvSpPr>
        <p:spPr>
          <a:xfrm>
            <a:off x="3048000" y="0"/>
            <a:ext cx="3048000" cy="47625"/>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4" name="filo2">
            <a:extLst>
              <a:ext uri="{FF2B5EF4-FFF2-40B4-BE49-F238E27FC236}">
                <a16:creationId xmlns:a16="http://schemas.microsoft.com/office/drawing/2014/main" id="{36C4BEBA-F130-A771-EDD7-0F53BF05ECB0}"/>
              </a:ext>
            </a:extLst>
          </p:cNvPr>
          <p:cNvSpPr/>
          <p:nvPr/>
        </p:nvSpPr>
        <p:spPr>
          <a:xfrm>
            <a:off x="6096000" y="0"/>
            <a:ext cx="3048000" cy="47625"/>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5" name="filo3">
            <a:extLst>
              <a:ext uri="{FF2B5EF4-FFF2-40B4-BE49-F238E27FC236}">
                <a16:creationId xmlns:a16="http://schemas.microsoft.com/office/drawing/2014/main" id="{905B5678-93A6-80AC-5AF8-DC5C2FD9D2D9}"/>
              </a:ext>
            </a:extLst>
          </p:cNvPr>
          <p:cNvSpPr/>
          <p:nvPr/>
        </p:nvSpPr>
        <p:spPr>
          <a:xfrm>
            <a:off x="9144000" y="0"/>
            <a:ext cx="3048000" cy="47625"/>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6" name="Rectángulo: esquinas redondeadas 5">
            <a:extLst>
              <a:ext uri="{FF2B5EF4-FFF2-40B4-BE49-F238E27FC236}">
                <a16:creationId xmlns:a16="http://schemas.microsoft.com/office/drawing/2014/main" id="{D682B031-7284-F649-A69D-C08337AC867F}"/>
              </a:ext>
            </a:extLst>
          </p:cNvPr>
          <p:cNvSpPr/>
          <p:nvPr/>
        </p:nvSpPr>
        <p:spPr>
          <a:xfrm>
            <a:off x="9715500" y="266700"/>
            <a:ext cx="1866900" cy="209550"/>
          </a:xfrm>
          <a:prstGeom prst="roundRect">
            <a:avLst>
              <a:gd name="adj" fmla="val 6000"/>
            </a:avLst>
          </a:prstGeom>
          <a:solidFill>
            <a:srgbClr val="FDF6E9"/>
          </a:solidFill>
          <a:ln w="12700">
            <a:solidFill>
              <a:srgbClr val="D390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7" name="CuadroTexto 6">
            <a:extLst>
              <a:ext uri="{FF2B5EF4-FFF2-40B4-BE49-F238E27FC236}">
                <a16:creationId xmlns:a16="http://schemas.microsoft.com/office/drawing/2014/main" id="{0FBF0D61-48F8-5F2C-876B-A7A5C81766D5}"/>
              </a:ext>
            </a:extLst>
          </p:cNvPr>
          <p:cNvSpPr txBox="1"/>
          <p:nvPr/>
        </p:nvSpPr>
        <p:spPr>
          <a:xfrm>
            <a:off x="9715500" y="323850"/>
            <a:ext cx="1866900" cy="276999"/>
          </a:xfrm>
          <a:prstGeom prst="rect">
            <a:avLst/>
          </a:prstGeom>
          <a:noFill/>
        </p:spPr>
        <p:txBody>
          <a:bodyPr vert="horz" wrap="square" lIns="0" tIns="0" rIns="0" bIns="0" rtlCol="0" anchor="t">
            <a:noAutofit/>
          </a:bodyPr>
          <a:lstStyle/>
          <a:p>
            <a:pPr algn="ctr">
              <a:lnSpc>
                <a:spcPct val="125000"/>
              </a:lnSpc>
            </a:pPr>
            <a:r>
              <a:rPr lang="es-HN" sz="750" b="1" spc="120">
                <a:solidFill>
                  <a:srgbClr val="B8791A"/>
                </a:solidFill>
                <a:latin typeface="Calibri" panose="020F0502020204030204" pitchFamily="34" charset="0"/>
              </a:rPr>
              <a:t>LÁMINA DE RESPALDO</a:t>
            </a:r>
          </a:p>
        </p:txBody>
      </p:sp>
      <p:sp>
        <p:nvSpPr>
          <p:cNvPr id="8" name="CuadroTexto 7">
            <a:extLst>
              <a:ext uri="{FF2B5EF4-FFF2-40B4-BE49-F238E27FC236}">
                <a16:creationId xmlns:a16="http://schemas.microsoft.com/office/drawing/2014/main" id="{72D5768F-0588-8D98-1975-35C48BF7C2BF}"/>
              </a:ext>
            </a:extLst>
          </p:cNvPr>
          <p:cNvSpPr txBox="1"/>
          <p:nvPr/>
        </p:nvSpPr>
        <p:spPr>
          <a:xfrm>
            <a:off x="609600" y="495300"/>
            <a:ext cx="9525000" cy="276999"/>
          </a:xfrm>
          <a:prstGeom prst="rect">
            <a:avLst/>
          </a:prstGeom>
          <a:noFill/>
        </p:spPr>
        <p:txBody>
          <a:bodyPr vert="horz" wrap="square" lIns="0" tIns="0" rIns="0" bIns="0" rtlCol="0" anchor="t">
            <a:noAutofit/>
          </a:bodyPr>
          <a:lstStyle/>
          <a:p>
            <a:pPr>
              <a:lnSpc>
                <a:spcPct val="125000"/>
              </a:lnSpc>
            </a:pPr>
            <a:r>
              <a:rPr lang="es-HN" sz="900" b="1" spc="140">
                <a:solidFill>
                  <a:srgbClr val="17708A"/>
                </a:solidFill>
                <a:latin typeface="Calibri" panose="020F0502020204030204" pitchFamily="34" charset="0"/>
              </a:rPr>
              <a:t>RESPALDO · ÁREA DE ADMINISTRACIÓN</a:t>
            </a:r>
          </a:p>
        </p:txBody>
      </p:sp>
      <p:sp>
        <p:nvSpPr>
          <p:cNvPr id="9" name="CuadroTexto 8">
            <a:extLst>
              <a:ext uri="{FF2B5EF4-FFF2-40B4-BE49-F238E27FC236}">
                <a16:creationId xmlns:a16="http://schemas.microsoft.com/office/drawing/2014/main" id="{B0D3010E-AED1-D2E0-6C71-BDBAC6023DD8}"/>
              </a:ext>
            </a:extLst>
          </p:cNvPr>
          <p:cNvSpPr txBox="1"/>
          <p:nvPr/>
        </p:nvSpPr>
        <p:spPr>
          <a:xfrm>
            <a:off x="609600" y="704850"/>
            <a:ext cx="10287000" cy="276999"/>
          </a:xfrm>
          <a:prstGeom prst="rect">
            <a:avLst/>
          </a:prstGeom>
          <a:noFill/>
        </p:spPr>
        <p:txBody>
          <a:bodyPr vert="horz" wrap="square" lIns="0" tIns="0" rIns="0" bIns="0" rtlCol="0" anchor="t">
            <a:noAutofit/>
          </a:bodyPr>
          <a:lstStyle/>
          <a:p>
            <a:pPr>
              <a:lnSpc>
                <a:spcPct val="110000"/>
              </a:lnSpc>
            </a:pPr>
            <a:r>
              <a:rPr lang="es-ES" sz="2400" b="1">
                <a:solidFill>
                  <a:srgbClr val="14171C"/>
                </a:solidFill>
                <a:latin typeface="Georgia" panose="02040502050405020303" pitchFamily="18" charset="0"/>
              </a:rPr>
              <a:t>Cuatro etapas, todas con bitácora</a:t>
            </a:r>
            <a:endParaRPr lang="es-HN" sz="2400" b="1">
              <a:solidFill>
                <a:srgbClr val="14171C"/>
              </a:solidFill>
              <a:latin typeface="Georgia" panose="02040502050405020303" pitchFamily="18" charset="0"/>
            </a:endParaRPr>
          </a:p>
        </p:txBody>
      </p:sp>
      <p:pic>
        <p:nvPicPr>
          <p:cNvPr id="11" name="Imagen 10">
            <a:extLst>
              <a:ext uri="{FF2B5EF4-FFF2-40B4-BE49-F238E27FC236}">
                <a16:creationId xmlns:a16="http://schemas.microsoft.com/office/drawing/2014/main" id="{1916DF7C-3CAB-5D29-81BC-B43745E81B02}"/>
              </a:ext>
            </a:extLst>
          </p:cNvPr>
          <p:cNvPicPr>
            <a:picLocks/>
          </p:cNvPicPr>
          <p:nvPr/>
        </p:nvPicPr>
        <p:blipFill>
          <a:blip r:embed="rId3">
            <a:extLst>
              <a:ext uri="{28A0092B-C50C-407E-A947-70E740481C1C}">
                <a14:useLocalDpi xmlns:a14="http://schemas.microsoft.com/office/drawing/2010/main" val="0"/>
              </a:ext>
            </a:extLst>
          </a:blip>
          <a:srcRect b="13360"/>
          <a:stretch>
            <a:fillRect/>
          </a:stretch>
        </p:blipFill>
        <p:spPr>
          <a:xfrm>
            <a:off x="609600" y="1409700"/>
            <a:ext cx="6667500" cy="4811185"/>
          </a:xfrm>
          <a:prstGeom prst="rect">
            <a:avLst/>
          </a:prstGeom>
          <a:ln w="9525">
            <a:solidFill>
              <a:srgbClr val="E3E1DD"/>
            </a:solidFill>
          </a:ln>
        </p:spPr>
      </p:pic>
      <p:sp>
        <p:nvSpPr>
          <p:cNvPr id="12" name="Rectángulo: esquinas redondeadas 11">
            <a:extLst>
              <a:ext uri="{FF2B5EF4-FFF2-40B4-BE49-F238E27FC236}">
                <a16:creationId xmlns:a16="http://schemas.microsoft.com/office/drawing/2014/main" id="{91164B4E-1242-8362-191B-60AB98FB01DB}"/>
              </a:ext>
            </a:extLst>
          </p:cNvPr>
          <p:cNvSpPr/>
          <p:nvPr/>
        </p:nvSpPr>
        <p:spPr>
          <a:xfrm>
            <a:off x="7524750" y="1409700"/>
            <a:ext cx="4057650" cy="10668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3" name="Rectángulo 12">
            <a:extLst>
              <a:ext uri="{FF2B5EF4-FFF2-40B4-BE49-F238E27FC236}">
                <a16:creationId xmlns:a16="http://schemas.microsoft.com/office/drawing/2014/main" id="{93AEC0B3-24C7-DDB6-67B6-4BC3320CEC78}"/>
              </a:ext>
            </a:extLst>
          </p:cNvPr>
          <p:cNvSpPr/>
          <p:nvPr/>
        </p:nvSpPr>
        <p:spPr>
          <a:xfrm>
            <a:off x="7524750" y="1438275"/>
            <a:ext cx="28575" cy="1009650"/>
          </a:xfrm>
          <a:prstGeom prst="rect">
            <a:avLst/>
          </a:prstGeom>
          <a:solidFill>
            <a:srgbClr val="1770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4" name="CuadroTexto 13">
            <a:extLst>
              <a:ext uri="{FF2B5EF4-FFF2-40B4-BE49-F238E27FC236}">
                <a16:creationId xmlns:a16="http://schemas.microsoft.com/office/drawing/2014/main" id="{21214435-FE76-8609-5F66-0E1EC0818268}"/>
              </a:ext>
            </a:extLst>
          </p:cNvPr>
          <p:cNvSpPr txBox="1"/>
          <p:nvPr/>
        </p:nvSpPr>
        <p:spPr>
          <a:xfrm>
            <a:off x="7696200" y="1543050"/>
            <a:ext cx="3733800" cy="276999"/>
          </a:xfrm>
          <a:prstGeom prst="rect">
            <a:avLst/>
          </a:prstGeom>
          <a:noFill/>
        </p:spPr>
        <p:txBody>
          <a:bodyPr vert="horz" wrap="square" lIns="0" tIns="0" rIns="0" bIns="0" rtlCol="0" anchor="t">
            <a:noAutofit/>
          </a:bodyPr>
          <a:lstStyle/>
          <a:p>
            <a:pPr>
              <a:lnSpc>
                <a:spcPct val="112000"/>
              </a:lnSpc>
            </a:pPr>
            <a:r>
              <a:rPr lang="es-HN" sz="1125" b="1">
                <a:solidFill>
                  <a:srgbClr val="14171C"/>
                </a:solidFill>
                <a:latin typeface="Georgia" panose="02040502050405020303" pitchFamily="18" charset="0"/>
              </a:rPr>
              <a:t>Verificación</a:t>
            </a:r>
          </a:p>
        </p:txBody>
      </p:sp>
      <p:sp>
        <p:nvSpPr>
          <p:cNvPr id="15" name="CuadroTexto 14">
            <a:extLst>
              <a:ext uri="{FF2B5EF4-FFF2-40B4-BE49-F238E27FC236}">
                <a16:creationId xmlns:a16="http://schemas.microsoft.com/office/drawing/2014/main" id="{FC6E9B35-6732-DF40-F3BB-BC17F52DE051}"/>
              </a:ext>
            </a:extLst>
          </p:cNvPr>
          <p:cNvSpPr txBox="1"/>
          <p:nvPr/>
        </p:nvSpPr>
        <p:spPr>
          <a:xfrm>
            <a:off x="7696200" y="1828800"/>
            <a:ext cx="3733800" cy="276999"/>
          </a:xfrm>
          <a:prstGeom prst="rect">
            <a:avLst/>
          </a:prstGeom>
          <a:noFill/>
        </p:spPr>
        <p:txBody>
          <a:bodyPr vert="horz" wrap="square" lIns="0" tIns="0" rIns="0" bIns="0" rtlCol="0" anchor="t">
            <a:noAutofit/>
          </a:bodyPr>
          <a:lstStyle/>
          <a:p>
            <a:pPr>
              <a:lnSpc>
                <a:spcPct val="140000"/>
              </a:lnSpc>
            </a:pPr>
            <a:r>
              <a:rPr lang="es-ES" sz="900">
                <a:solidFill>
                  <a:srgbClr val="39404A"/>
                </a:solidFill>
                <a:latin typeface="Calibri" panose="020F0502020204030204" pitchFamily="34" charset="0"/>
              </a:rPr>
              <a:t>Una sola cola con candidaturas, propuestas y publicaciones juntas, ordenada por lo más antiguo sin verificar. Quien revisa trabaja por antigüedad, no por tipo.</a:t>
            </a:r>
            <a:endParaRPr lang="es-HN" sz="900">
              <a:solidFill>
                <a:srgbClr val="39404A"/>
              </a:solidFill>
              <a:latin typeface="Calibri" panose="020F0502020204030204" pitchFamily="34" charset="0"/>
            </a:endParaRPr>
          </a:p>
        </p:txBody>
      </p:sp>
      <p:sp>
        <p:nvSpPr>
          <p:cNvPr id="16" name="Rectángulo: esquinas redondeadas 15">
            <a:extLst>
              <a:ext uri="{FF2B5EF4-FFF2-40B4-BE49-F238E27FC236}">
                <a16:creationId xmlns:a16="http://schemas.microsoft.com/office/drawing/2014/main" id="{1A59A041-1597-DE49-1CF7-DE0ABFEEDC55}"/>
              </a:ext>
            </a:extLst>
          </p:cNvPr>
          <p:cNvSpPr/>
          <p:nvPr/>
        </p:nvSpPr>
        <p:spPr>
          <a:xfrm>
            <a:off x="7524750" y="2533650"/>
            <a:ext cx="4057650" cy="10668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7" name="Rectángulo 16">
            <a:extLst>
              <a:ext uri="{FF2B5EF4-FFF2-40B4-BE49-F238E27FC236}">
                <a16:creationId xmlns:a16="http://schemas.microsoft.com/office/drawing/2014/main" id="{DB31E188-7529-78A9-7C3E-CCC6D6AD30CD}"/>
              </a:ext>
            </a:extLst>
          </p:cNvPr>
          <p:cNvSpPr/>
          <p:nvPr/>
        </p:nvSpPr>
        <p:spPr>
          <a:xfrm>
            <a:off x="7524750" y="2562225"/>
            <a:ext cx="28575" cy="1009650"/>
          </a:xfrm>
          <a:prstGeom prst="rect">
            <a:avLst/>
          </a:prstGeom>
          <a:solidFill>
            <a:srgbClr val="C337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18" name="CuadroTexto 17">
            <a:extLst>
              <a:ext uri="{FF2B5EF4-FFF2-40B4-BE49-F238E27FC236}">
                <a16:creationId xmlns:a16="http://schemas.microsoft.com/office/drawing/2014/main" id="{B8C23775-A974-3538-4AC6-A8EA3A6B1033}"/>
              </a:ext>
            </a:extLst>
          </p:cNvPr>
          <p:cNvSpPr txBox="1"/>
          <p:nvPr/>
        </p:nvSpPr>
        <p:spPr>
          <a:xfrm>
            <a:off x="7696200" y="2667000"/>
            <a:ext cx="3733800" cy="276999"/>
          </a:xfrm>
          <a:prstGeom prst="rect">
            <a:avLst/>
          </a:prstGeom>
          <a:noFill/>
        </p:spPr>
        <p:txBody>
          <a:bodyPr vert="horz" wrap="square" lIns="0" tIns="0" rIns="0" bIns="0" rtlCol="0" anchor="t">
            <a:noAutofit/>
          </a:bodyPr>
          <a:lstStyle/>
          <a:p>
            <a:pPr>
              <a:lnSpc>
                <a:spcPct val="112000"/>
              </a:lnSpc>
            </a:pPr>
            <a:r>
              <a:rPr lang="es-HN" sz="1125" b="1">
                <a:solidFill>
                  <a:srgbClr val="14171C"/>
                </a:solidFill>
                <a:latin typeface="Georgia" panose="02040502050405020303" pitchFamily="18" charset="0"/>
              </a:rPr>
              <a:t>Moderación</a:t>
            </a:r>
          </a:p>
        </p:txBody>
      </p:sp>
      <p:sp>
        <p:nvSpPr>
          <p:cNvPr id="19" name="CuadroTexto 18">
            <a:extLst>
              <a:ext uri="{FF2B5EF4-FFF2-40B4-BE49-F238E27FC236}">
                <a16:creationId xmlns:a16="http://schemas.microsoft.com/office/drawing/2014/main" id="{AA3755E1-83BA-8CB2-7587-16670487B37E}"/>
              </a:ext>
            </a:extLst>
          </p:cNvPr>
          <p:cNvSpPr txBox="1"/>
          <p:nvPr/>
        </p:nvSpPr>
        <p:spPr>
          <a:xfrm>
            <a:off x="7696200" y="2952750"/>
            <a:ext cx="3733800" cy="276999"/>
          </a:xfrm>
          <a:prstGeom prst="rect">
            <a:avLst/>
          </a:prstGeom>
          <a:noFill/>
        </p:spPr>
        <p:txBody>
          <a:bodyPr vert="horz" wrap="square" lIns="0" tIns="0" rIns="0" bIns="0" rtlCol="0" anchor="t">
            <a:noAutofit/>
          </a:bodyPr>
          <a:lstStyle/>
          <a:p>
            <a:pPr>
              <a:lnSpc>
                <a:spcPct val="140000"/>
              </a:lnSpc>
            </a:pPr>
            <a:r>
              <a:rPr lang="es-ES" sz="900">
                <a:solidFill>
                  <a:srgbClr val="39404A"/>
                </a:solidFill>
                <a:latin typeface="Calibri" panose="020F0502020204030204" pitchFamily="34" charset="0"/>
              </a:rPr>
              <a:t>Baja lógica con motivo obligatorio. El filtro </a:t>
            </a:r>
            <a:r>
              <a:rPr lang="es-ES" sz="810">
                <a:solidFill>
                  <a:srgbClr val="39404A"/>
                </a:solidFill>
                <a:latin typeface="Consolas" panose="020B0609020204030204" pitchFamily="49" charset="0"/>
              </a:rPr>
              <a:t>activo = 1</a:t>
            </a:r>
            <a:r>
              <a:rPr lang="es-ES" sz="900">
                <a:solidFill>
                  <a:srgbClr val="39404A"/>
                </a:solidFill>
                <a:latin typeface="Calibri" panose="020F0502020204030204" pitchFamily="34" charset="0"/>
              </a:rPr>
              <a:t> vive en dos lugares y solo dos, para que una consulta nueva no pueda olvidarlo.</a:t>
            </a:r>
            <a:endParaRPr lang="es-HN" sz="900">
              <a:solidFill>
                <a:srgbClr val="39404A"/>
              </a:solidFill>
              <a:latin typeface="Calibri" panose="020F0502020204030204" pitchFamily="34" charset="0"/>
            </a:endParaRPr>
          </a:p>
        </p:txBody>
      </p:sp>
      <p:sp>
        <p:nvSpPr>
          <p:cNvPr id="20" name="Rectángulo: esquinas redondeadas 19">
            <a:extLst>
              <a:ext uri="{FF2B5EF4-FFF2-40B4-BE49-F238E27FC236}">
                <a16:creationId xmlns:a16="http://schemas.microsoft.com/office/drawing/2014/main" id="{85F96A8C-856E-FDFC-ABC2-6B39DAB28779}"/>
              </a:ext>
            </a:extLst>
          </p:cNvPr>
          <p:cNvSpPr/>
          <p:nvPr/>
        </p:nvSpPr>
        <p:spPr>
          <a:xfrm>
            <a:off x="7524750" y="3657600"/>
            <a:ext cx="4057650" cy="10668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1" name="Rectángulo 20">
            <a:extLst>
              <a:ext uri="{FF2B5EF4-FFF2-40B4-BE49-F238E27FC236}">
                <a16:creationId xmlns:a16="http://schemas.microsoft.com/office/drawing/2014/main" id="{83683A6D-998B-4F7A-E122-957FE3E9F6D0}"/>
              </a:ext>
            </a:extLst>
          </p:cNvPr>
          <p:cNvSpPr/>
          <p:nvPr/>
        </p:nvSpPr>
        <p:spPr>
          <a:xfrm>
            <a:off x="7524750" y="3686175"/>
            <a:ext cx="28575" cy="1009650"/>
          </a:xfrm>
          <a:prstGeom prst="rect">
            <a:avLst/>
          </a:prstGeom>
          <a:solidFill>
            <a:srgbClr val="D3901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2" name="CuadroTexto 21">
            <a:extLst>
              <a:ext uri="{FF2B5EF4-FFF2-40B4-BE49-F238E27FC236}">
                <a16:creationId xmlns:a16="http://schemas.microsoft.com/office/drawing/2014/main" id="{DDD5295B-3178-B7DC-DC48-B9C8B69D5063}"/>
              </a:ext>
            </a:extLst>
          </p:cNvPr>
          <p:cNvSpPr txBox="1"/>
          <p:nvPr/>
        </p:nvSpPr>
        <p:spPr>
          <a:xfrm>
            <a:off x="7696200" y="3790950"/>
            <a:ext cx="3733800" cy="276999"/>
          </a:xfrm>
          <a:prstGeom prst="rect">
            <a:avLst/>
          </a:prstGeom>
          <a:noFill/>
        </p:spPr>
        <p:txBody>
          <a:bodyPr vert="horz" wrap="square" lIns="0" tIns="0" rIns="0" bIns="0" rtlCol="0" anchor="t">
            <a:noAutofit/>
          </a:bodyPr>
          <a:lstStyle/>
          <a:p>
            <a:pPr>
              <a:lnSpc>
                <a:spcPct val="112000"/>
              </a:lnSpc>
            </a:pPr>
            <a:r>
              <a:rPr lang="es-HN" sz="1125" b="1">
                <a:solidFill>
                  <a:srgbClr val="14171C"/>
                </a:solidFill>
                <a:latin typeface="Georgia" panose="02040502050405020303" pitchFamily="18" charset="0"/>
              </a:rPr>
              <a:t>Catálogos</a:t>
            </a:r>
          </a:p>
        </p:txBody>
      </p:sp>
      <p:sp>
        <p:nvSpPr>
          <p:cNvPr id="23" name="CuadroTexto 22">
            <a:extLst>
              <a:ext uri="{FF2B5EF4-FFF2-40B4-BE49-F238E27FC236}">
                <a16:creationId xmlns:a16="http://schemas.microsoft.com/office/drawing/2014/main" id="{92E4AB1F-AB45-641D-DA70-86E86DB70DD4}"/>
              </a:ext>
            </a:extLst>
          </p:cNvPr>
          <p:cNvSpPr txBox="1"/>
          <p:nvPr/>
        </p:nvSpPr>
        <p:spPr>
          <a:xfrm>
            <a:off x="7696200" y="4076700"/>
            <a:ext cx="3733800" cy="276999"/>
          </a:xfrm>
          <a:prstGeom prst="rect">
            <a:avLst/>
          </a:prstGeom>
          <a:noFill/>
        </p:spPr>
        <p:txBody>
          <a:bodyPr vert="horz" wrap="square" lIns="0" tIns="0" rIns="0" bIns="0" rtlCol="0" anchor="t">
            <a:noAutofit/>
          </a:bodyPr>
          <a:lstStyle/>
          <a:p>
            <a:pPr>
              <a:lnSpc>
                <a:spcPct val="140000"/>
              </a:lnSpc>
            </a:pPr>
            <a:r>
              <a:rPr lang="es-ES" sz="900">
                <a:solidFill>
                  <a:srgbClr val="39404A"/>
                </a:solidFill>
                <a:latin typeface="Calibri" panose="020F0502020204030204" pitchFamily="34" charset="0"/>
              </a:rPr>
              <a:t>Alta y edición de partidos, campañas y candidaturas. Nada se borra: se desactiva. Los slugs se generan solo en el alta, porque regenerarlos rompería todo enlace ya compartido.</a:t>
            </a:r>
            <a:endParaRPr lang="es-HN" sz="900">
              <a:solidFill>
                <a:srgbClr val="39404A"/>
              </a:solidFill>
              <a:latin typeface="Calibri" panose="020F0502020204030204" pitchFamily="34" charset="0"/>
            </a:endParaRPr>
          </a:p>
        </p:txBody>
      </p:sp>
      <p:sp>
        <p:nvSpPr>
          <p:cNvPr id="24" name="Rectángulo: esquinas redondeadas 23">
            <a:extLst>
              <a:ext uri="{FF2B5EF4-FFF2-40B4-BE49-F238E27FC236}">
                <a16:creationId xmlns:a16="http://schemas.microsoft.com/office/drawing/2014/main" id="{EBB6B047-5679-CF83-38EA-295B096EF870}"/>
              </a:ext>
            </a:extLst>
          </p:cNvPr>
          <p:cNvSpPr/>
          <p:nvPr/>
        </p:nvSpPr>
        <p:spPr>
          <a:xfrm>
            <a:off x="7524750" y="4781550"/>
            <a:ext cx="4057650" cy="1066800"/>
          </a:xfrm>
          <a:prstGeom prst="roundRect">
            <a:avLst>
              <a:gd name="adj" fmla="val 6000"/>
            </a:avLst>
          </a:prstGeom>
          <a:solidFill>
            <a:srgbClr val="FFFFFF"/>
          </a:solidFill>
          <a:ln w="12700">
            <a:solidFill>
              <a:srgbClr val="E3E1D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5" name="Rectángulo 24">
            <a:extLst>
              <a:ext uri="{FF2B5EF4-FFF2-40B4-BE49-F238E27FC236}">
                <a16:creationId xmlns:a16="http://schemas.microsoft.com/office/drawing/2014/main" id="{5CF61334-7F84-9FC8-8618-CCF4DF5978D5}"/>
              </a:ext>
            </a:extLst>
          </p:cNvPr>
          <p:cNvSpPr/>
          <p:nvPr/>
        </p:nvSpPr>
        <p:spPr>
          <a:xfrm>
            <a:off x="7524750" y="4810125"/>
            <a:ext cx="28575" cy="1009650"/>
          </a:xfrm>
          <a:prstGeom prst="rect">
            <a:avLst/>
          </a:prstGeom>
          <a:solidFill>
            <a:srgbClr val="2C7A5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HN"/>
          </a:p>
        </p:txBody>
      </p:sp>
      <p:sp>
        <p:nvSpPr>
          <p:cNvPr id="26" name="CuadroTexto 25">
            <a:extLst>
              <a:ext uri="{FF2B5EF4-FFF2-40B4-BE49-F238E27FC236}">
                <a16:creationId xmlns:a16="http://schemas.microsoft.com/office/drawing/2014/main" id="{17151A54-1A19-C9FF-DD8A-DE3DA7039775}"/>
              </a:ext>
            </a:extLst>
          </p:cNvPr>
          <p:cNvSpPr txBox="1"/>
          <p:nvPr/>
        </p:nvSpPr>
        <p:spPr>
          <a:xfrm>
            <a:off x="7696200" y="4914900"/>
            <a:ext cx="3733800" cy="276999"/>
          </a:xfrm>
          <a:prstGeom prst="rect">
            <a:avLst/>
          </a:prstGeom>
          <a:noFill/>
        </p:spPr>
        <p:txBody>
          <a:bodyPr vert="horz" wrap="square" lIns="0" tIns="0" rIns="0" bIns="0" rtlCol="0" anchor="t">
            <a:noAutofit/>
          </a:bodyPr>
          <a:lstStyle/>
          <a:p>
            <a:pPr>
              <a:lnSpc>
                <a:spcPct val="112000"/>
              </a:lnSpc>
            </a:pPr>
            <a:r>
              <a:rPr lang="es-HN" sz="1125" b="1">
                <a:solidFill>
                  <a:srgbClr val="14171C"/>
                </a:solidFill>
                <a:latin typeface="Georgia" panose="02040502050405020303" pitchFamily="18" charset="0"/>
              </a:rPr>
              <a:t>Interruptores de módulos</a:t>
            </a:r>
          </a:p>
        </p:txBody>
      </p:sp>
      <p:sp>
        <p:nvSpPr>
          <p:cNvPr id="27" name="CuadroTexto 26">
            <a:extLst>
              <a:ext uri="{FF2B5EF4-FFF2-40B4-BE49-F238E27FC236}">
                <a16:creationId xmlns:a16="http://schemas.microsoft.com/office/drawing/2014/main" id="{3183B1FC-519C-B055-7104-C9708BF00C24}"/>
              </a:ext>
            </a:extLst>
          </p:cNvPr>
          <p:cNvSpPr txBox="1"/>
          <p:nvPr/>
        </p:nvSpPr>
        <p:spPr>
          <a:xfrm>
            <a:off x="7696200" y="5200650"/>
            <a:ext cx="3733800" cy="276999"/>
          </a:xfrm>
          <a:prstGeom prst="rect">
            <a:avLst/>
          </a:prstGeom>
          <a:noFill/>
        </p:spPr>
        <p:txBody>
          <a:bodyPr vert="horz" wrap="square" lIns="0" tIns="0" rIns="0" bIns="0" rtlCol="0" anchor="t">
            <a:noAutofit/>
          </a:bodyPr>
          <a:lstStyle/>
          <a:p>
            <a:pPr>
              <a:lnSpc>
                <a:spcPct val="140000"/>
              </a:lnSpc>
            </a:pPr>
            <a:r>
              <a:rPr lang="es-ES" sz="900">
                <a:solidFill>
                  <a:srgbClr val="39404A"/>
                </a:solidFill>
                <a:latin typeface="Calibri" panose="020F0502020204030204" pitchFamily="34" charset="0"/>
              </a:rPr>
              <a:t>Ocultar no es dar de baja: el contenido sigue en la base y quien administra lo sigue viendo, marcado como oculto al público.</a:t>
            </a:r>
            <a:endParaRPr lang="es-HN" sz="900">
              <a:solidFill>
                <a:srgbClr val="39404A"/>
              </a:solidFill>
              <a:latin typeface="Calibri" panose="020F0502020204030204" pitchFamily="34" charset="0"/>
            </a:endParaRPr>
          </a:p>
        </p:txBody>
      </p:sp>
    </p:spTree>
    <p:extLst>
      <p:ext uri="{BB962C8B-B14F-4D97-AF65-F5344CB8AC3E}">
        <p14:creationId xmlns:p14="http://schemas.microsoft.com/office/powerpoint/2010/main" val="210377735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4963</Words>
  <Application>Microsoft Office PowerPoint</Application>
  <PresentationFormat>Panorámica</PresentationFormat>
  <Paragraphs>515</Paragraphs>
  <Slides>24</Slides>
  <Notes>24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24</vt:i4>
      </vt:variant>
    </vt:vector>
  </HeadingPairs>
  <TitlesOfParts>
    <vt:vector size="31" baseType="lpstr">
      <vt:lpstr>Aptos</vt:lpstr>
      <vt:lpstr>Aptos Display</vt:lpstr>
      <vt:lpstr>Arial</vt:lpstr>
      <vt:lpstr>Calibri</vt:lpstr>
      <vt:lpstr>Consolas</vt:lpstr>
      <vt:lpstr>Georgia</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roy chavez</dc:creator>
  <cp:lastModifiedBy>roy chavez</cp:lastModifiedBy>
  <cp:revision>1</cp:revision>
  <dcterms:created xsi:type="dcterms:W3CDTF">2026-09-10T23:54:28Z</dcterms:created>
  <dcterms:modified xsi:type="dcterms:W3CDTF">2026-09-11T17:31:46Z</dcterms:modified>
</cp:coreProperties>
</file>