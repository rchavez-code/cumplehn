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HN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1275D-9C33-403D-AA65-C33A2D668971}" type="datetimeFigureOut">
              <a:rPr lang="es-HN" smtClean="0"/>
              <a:t>14/9/2026</a:t>
            </a:fld>
            <a:endParaRPr lang="es-HN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HN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HN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F078E-8E80-47A1-93D4-63C0E2671EDA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952371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Una frase: la información sobre promesas políticas existe pero está dispersa, y CumpleHN la ordena para que cada persona decida con evidencia. 30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F078E-8E80-47A1-93D4-63C0E2671EDA}" type="slidenum">
              <a:rPr lang="es-HN" smtClean="0"/>
              <a:t>1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848041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La columna de la derecha es la neutralidad declarada. Si solo se llevan una idea, que sea esa. 50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F078E-8E80-47A1-93D4-63C0E2671EDA}" type="slidenum">
              <a:rPr lang="es-HN" smtClean="0"/>
              <a:t>2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378990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No leer la lista. Decir el principio: tres capas, cada una con una responsabilidad, y la base como única fuente de verdad. 50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F078E-8E80-47A1-93D4-63C0E2671EDA}" type="slidenum">
              <a:rPr lang="es-HN" smtClean="0"/>
              <a:t>3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027108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Pasada rápida, uno por uno. El detalle de IA viene en la siguiente. 45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F078E-8E80-47A1-93D4-63C0E2671EDA}" type="slidenum">
              <a:rPr lang="es-HN" smtClean="0"/>
              <a:t>4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04749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La lámina con más peso. Ir punto por punto. Si hay tiempo, demo en vivo de una pregunta. 75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F078E-8E80-47A1-93D4-63C0E2671EDA}" type="slidenum">
              <a:rPr lang="es-HN" smtClean="0"/>
              <a:t>5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339753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Terminar con el pie: declarar lo pendiente antes de que lo pregunten es la misma política que sostiene la plataforma. 50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F078E-8E80-47A1-93D4-63C0E2671EDA}" type="slidenum">
              <a:rPr lang="es-HN" smtClean="0"/>
              <a:t>6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840964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Leer la frase, callar, esperar preguntas. 30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F078E-8E80-47A1-93D4-63C0E2671EDA}" type="slidenum">
              <a:rPr lang="es-HN" smtClean="0"/>
              <a:t>7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077286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718AF3-33BE-E17D-9FF3-553DE5C2C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7F7693-2069-1795-F168-7EDF4642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744265-65C7-A409-3293-4BE64D5E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6081B-12D3-4282-B0E3-20B3AB578AEF}" type="datetimeFigureOut">
              <a:rPr lang="es-HN" smtClean="0"/>
              <a:t>14/9/2026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F18591-DA32-CF81-D7ED-C3FE4B775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0EF59-C123-5423-B3A5-F9A07DB28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5C46A-56F6-4843-B0D7-3DAA2434DA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650796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74BE2-EC22-AA46-A8D1-755C78434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E2CD93-93A7-64C3-4E2A-A09962DDE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DB6052-5447-C67E-AEDF-8E4FCEA0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6081B-12D3-4282-B0E3-20B3AB578AEF}" type="datetimeFigureOut">
              <a:rPr lang="es-HN" smtClean="0"/>
              <a:t>14/9/2026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A359E6-6544-27DD-89B1-678EC3C16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D9D942-310F-C13E-0421-8495B1442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5C46A-56F6-4843-B0D7-3DAA2434DA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158256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E144B5-DB35-334F-259C-CA093E0DD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C37C14-3B8E-1BF2-BDA7-8809AD0F0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F93996-3165-69F8-244A-771E3425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6081B-12D3-4282-B0E3-20B3AB578AEF}" type="datetimeFigureOut">
              <a:rPr lang="es-HN" smtClean="0"/>
              <a:t>14/9/2026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DEE223-E282-17ED-93B7-CE836F3CC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D997B3-1161-66AA-585D-5865AF3C3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5C46A-56F6-4843-B0D7-3DAA2434DA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869474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3716A-8CA9-8B84-ADEA-111E7A033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91206E-68C3-6652-2596-9652A3883A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80D499-03C8-C3F7-892D-23D2A25CA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657C1D-BB95-4658-5851-EA88893A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6081B-12D3-4282-B0E3-20B3AB578AEF}" type="datetimeFigureOut">
              <a:rPr lang="es-HN" smtClean="0"/>
              <a:t>14/9/2026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538C7F-F129-811E-3B05-5D8A8AE0A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4BFA50-40D4-1A8C-1ECA-102999A26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5C46A-56F6-4843-B0D7-3DAA2434DA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610633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EB645-DBE4-58C4-890E-E147C75D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7BE788-0EC1-D2C0-40E9-A4EA8F9B6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4034DE-C854-216A-E581-A2D791A48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1E18D59-777F-81FD-8F6F-1C9D2B892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C646945-1D2D-AD07-7898-D6262955E8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8FAD809-471F-9640-321E-1F0E82F3E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6081B-12D3-4282-B0E3-20B3AB578AEF}" type="datetimeFigureOut">
              <a:rPr lang="es-HN" smtClean="0"/>
              <a:t>14/9/2026</a:t>
            </a:fld>
            <a:endParaRPr lang="es-HN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0F74EAA-010E-78B0-5F8E-8495E5F17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F3897CA-4135-E189-25E5-5C0F30EC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5C46A-56F6-4843-B0D7-3DAA2434DA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933170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1D3F4-C159-C69D-4D8C-CFA4FA192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754E5D-E95D-09D0-6F32-DC92FC4A2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6081B-12D3-4282-B0E3-20B3AB578AEF}" type="datetimeFigureOut">
              <a:rPr lang="es-HN" smtClean="0"/>
              <a:t>14/9/2026</a:t>
            </a:fld>
            <a:endParaRPr lang="es-HN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895E315-779D-4B81-4DD4-BF30275DB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828110-5753-B11A-20A5-0CAE35D8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5C46A-56F6-4843-B0D7-3DAA2434DA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94863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3B1D6C-6F86-BE3B-068A-541E9F37C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6081B-12D3-4282-B0E3-20B3AB578AEF}" type="datetimeFigureOut">
              <a:rPr lang="es-HN" smtClean="0"/>
              <a:t>14/9/2026</a:t>
            </a:fld>
            <a:endParaRPr lang="es-HN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67B74C-4C52-A30F-1ACB-9FCCF9A1E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C40FA3-6280-D2C2-CEE9-A5CC53269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5C46A-56F6-4843-B0D7-3DAA2434DA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93797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3E5B7-1F67-9A38-43A3-0858DF772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E27718-6E6D-2BD5-BB70-140F594BA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D54B44-3C57-0714-565F-D9467C33C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67F6C6-9FEC-A306-45DA-27373776E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6081B-12D3-4282-B0E3-20B3AB578AEF}" type="datetimeFigureOut">
              <a:rPr lang="es-HN" smtClean="0"/>
              <a:t>14/9/2026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93BEDA-268E-EB01-76FA-18CFD0CCE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BB1539-4A28-A19A-1402-8C1CF5F68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5C46A-56F6-4843-B0D7-3DAA2434DA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16203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85BF8-C94F-428D-F498-2508E1D7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4A4EC41-BBEA-9DE8-7E93-5E5C6D43E5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D3BB9E-5AC9-E011-6CFE-A32ABA48B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8B29D3-0D6C-1CCC-E732-5A9B5862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6081B-12D3-4282-B0E3-20B3AB578AEF}" type="datetimeFigureOut">
              <a:rPr lang="es-HN" smtClean="0"/>
              <a:t>14/9/2026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8FDBF9-650F-5840-0392-E6B87600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127B82-16CF-AC36-E7CA-7F92CB31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5C46A-56F6-4843-B0D7-3DAA2434DA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116147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E4470-4316-7BE6-EF57-CBE4B4800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A3C331-3EF1-2E1F-A5E3-61B4E8917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7F4A4D-DA8A-BBF8-E9CC-AA7BDAC32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6081B-12D3-4282-B0E3-20B3AB578AEF}" type="datetimeFigureOut">
              <a:rPr lang="es-HN" smtClean="0"/>
              <a:t>14/9/2026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EAD93B-8ACC-AE02-35F0-BE491CB0D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95F26C-30EF-B7B4-A486-57C89D91B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5C46A-56F6-4843-B0D7-3DAA2434DA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292094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3FCE553-8DB6-35B8-DBF2-C7B8EEC908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30EE06-0B47-D6EF-55D1-93391E37C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EC4010-4C32-9FFA-3A10-2744E284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6081B-12D3-4282-B0E3-20B3AB578AEF}" type="datetimeFigureOut">
              <a:rPr lang="es-HN" smtClean="0"/>
              <a:t>14/9/2026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32BF5B-7CFC-04E9-7C7C-599E79A00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60BE61-5A02-58AF-FB1E-0977AD7A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5C46A-56F6-4843-B0D7-3DAA2434DA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63644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EB30C2A-D71A-929F-00B3-BC5F921CD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AECF43-5CAE-FB42-1891-29FEE8874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42A44B-431F-E4F5-10A8-35BDBA464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6081B-12D3-4282-B0E3-20B3AB578AEF}" type="datetimeFigureOut">
              <a:rPr lang="es-HN" smtClean="0"/>
              <a:t>14/9/2026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87CEAA-2ADA-1867-2581-E651B49F5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1BA49E-F4C6-6296-38D0-7F1E659B4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75C46A-56F6-4843-B0D7-3DAA2434DA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4396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H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o0">
            <a:extLst>
              <a:ext uri="{FF2B5EF4-FFF2-40B4-BE49-F238E27FC236}">
                <a16:creationId xmlns:a16="http://schemas.microsoft.com/office/drawing/2014/main" id="{8CBA4811-8681-B958-9C68-02AFFE86968F}"/>
              </a:ext>
            </a:extLst>
          </p:cNvPr>
          <p:cNvSpPr/>
          <p:nvPr/>
        </p:nvSpPr>
        <p:spPr>
          <a:xfrm>
            <a:off x="0" y="0"/>
            <a:ext cx="3048000" cy="47625"/>
          </a:xfrm>
          <a:prstGeom prst="rect">
            <a:avLst/>
          </a:prstGeom>
          <a:solidFill>
            <a:srgbClr val="C337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filo1">
            <a:extLst>
              <a:ext uri="{FF2B5EF4-FFF2-40B4-BE49-F238E27FC236}">
                <a16:creationId xmlns:a16="http://schemas.microsoft.com/office/drawing/2014/main" id="{3D8FA577-57DA-1A2A-2BA1-4BF8895AFF1A}"/>
              </a:ext>
            </a:extLst>
          </p:cNvPr>
          <p:cNvSpPr/>
          <p:nvPr/>
        </p:nvSpPr>
        <p:spPr>
          <a:xfrm>
            <a:off x="3048000" y="0"/>
            <a:ext cx="3048000" cy="47625"/>
          </a:xfrm>
          <a:prstGeom prst="rect">
            <a:avLst/>
          </a:prstGeom>
          <a:solidFill>
            <a:srgbClr val="D39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4" name="filo2">
            <a:extLst>
              <a:ext uri="{FF2B5EF4-FFF2-40B4-BE49-F238E27FC236}">
                <a16:creationId xmlns:a16="http://schemas.microsoft.com/office/drawing/2014/main" id="{EFE473FA-611F-8EB9-EAAF-E5725EF3DD3D}"/>
              </a:ext>
            </a:extLst>
          </p:cNvPr>
          <p:cNvSpPr/>
          <p:nvPr/>
        </p:nvSpPr>
        <p:spPr>
          <a:xfrm>
            <a:off x="6096000" y="0"/>
            <a:ext cx="3048000" cy="47625"/>
          </a:xfrm>
          <a:prstGeom prst="rect">
            <a:avLst/>
          </a:prstGeom>
          <a:solidFill>
            <a:srgbClr val="2C7A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5" name="filo3">
            <a:extLst>
              <a:ext uri="{FF2B5EF4-FFF2-40B4-BE49-F238E27FC236}">
                <a16:creationId xmlns:a16="http://schemas.microsoft.com/office/drawing/2014/main" id="{6C8DFA90-036C-C029-4D77-507FC6CC8055}"/>
              </a:ext>
            </a:extLst>
          </p:cNvPr>
          <p:cNvSpPr/>
          <p:nvPr/>
        </p:nvSpPr>
        <p:spPr>
          <a:xfrm>
            <a:off x="9144000" y="0"/>
            <a:ext cx="3048000" cy="47625"/>
          </a:xfrm>
          <a:prstGeom prst="rect">
            <a:avLst/>
          </a:prstGeom>
          <a:solidFill>
            <a:srgbClr val="1770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BD69843-A446-C6D9-34AD-37AEC15AAE50}"/>
              </a:ext>
            </a:extLst>
          </p:cNvPr>
          <p:cNvSpPr/>
          <p:nvPr/>
        </p:nvSpPr>
        <p:spPr>
          <a:xfrm>
            <a:off x="9334500" y="914400"/>
            <a:ext cx="2247900" cy="2247900"/>
          </a:xfrm>
          <a:prstGeom prst="ellipse">
            <a:avLst/>
          </a:prstGeom>
          <a:noFill/>
          <a:ln w="12700" cap="flat" cmpd="sng" algn="ctr">
            <a:solidFill>
              <a:srgbClr val="E3E1D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433AE3A-FAAC-613D-22FD-DA3A2524A1C7}"/>
              </a:ext>
            </a:extLst>
          </p:cNvPr>
          <p:cNvSpPr/>
          <p:nvPr/>
        </p:nvSpPr>
        <p:spPr>
          <a:xfrm>
            <a:off x="9448800" y="1028700"/>
            <a:ext cx="2019300" cy="2019300"/>
          </a:xfrm>
          <a:prstGeom prst="ellipse">
            <a:avLst/>
          </a:prstGeom>
          <a:noFill/>
          <a:ln w="31750" cap="flat" cmpd="sng" algn="ctr">
            <a:solidFill>
              <a:srgbClr val="17708A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DA37794-B782-23E1-2201-F6B10032C54F}"/>
              </a:ext>
            </a:extLst>
          </p:cNvPr>
          <p:cNvSpPr/>
          <p:nvPr/>
        </p:nvSpPr>
        <p:spPr>
          <a:xfrm>
            <a:off x="10077450" y="1619250"/>
            <a:ext cx="295275" cy="104775"/>
          </a:xfrm>
          <a:prstGeom prst="roundRect">
            <a:avLst>
              <a:gd name="adj" fmla="val 50000"/>
            </a:avLst>
          </a:prstGeom>
          <a:solidFill>
            <a:srgbClr val="C337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9C8ED5C-9A61-20F7-3750-3F1BAC4C4BD8}"/>
              </a:ext>
            </a:extLst>
          </p:cNvPr>
          <p:cNvSpPr/>
          <p:nvPr/>
        </p:nvSpPr>
        <p:spPr>
          <a:xfrm>
            <a:off x="10077450" y="1809750"/>
            <a:ext cx="495300" cy="104775"/>
          </a:xfrm>
          <a:prstGeom prst="roundRect">
            <a:avLst>
              <a:gd name="adj" fmla="val 50000"/>
            </a:avLst>
          </a:prstGeom>
          <a:solidFill>
            <a:srgbClr val="D39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C7664BD-2626-91F0-3836-2891875F5948}"/>
              </a:ext>
            </a:extLst>
          </p:cNvPr>
          <p:cNvSpPr/>
          <p:nvPr/>
        </p:nvSpPr>
        <p:spPr>
          <a:xfrm>
            <a:off x="10077450" y="2000250"/>
            <a:ext cx="695325" cy="104775"/>
          </a:xfrm>
          <a:prstGeom prst="roundRect">
            <a:avLst>
              <a:gd name="adj" fmla="val 50000"/>
            </a:avLst>
          </a:prstGeom>
          <a:solidFill>
            <a:srgbClr val="2C7A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E835716-B2B8-8509-C499-2B84C14DBD7D}"/>
              </a:ext>
            </a:extLst>
          </p:cNvPr>
          <p:cNvSpPr/>
          <p:nvPr/>
        </p:nvSpPr>
        <p:spPr>
          <a:xfrm>
            <a:off x="10077450" y="2190750"/>
            <a:ext cx="400050" cy="104775"/>
          </a:xfrm>
          <a:prstGeom prst="roundRect">
            <a:avLst>
              <a:gd name="adj" fmla="val 50000"/>
            </a:avLst>
          </a:prstGeom>
          <a:solidFill>
            <a:srgbClr val="1770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FA65372-D86F-5186-2613-7CE6C6C54379}"/>
              </a:ext>
            </a:extLst>
          </p:cNvPr>
          <p:cNvSpPr txBox="1"/>
          <p:nvPr/>
        </p:nvSpPr>
        <p:spPr>
          <a:xfrm>
            <a:off x="609600" y="1714500"/>
            <a:ext cx="857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ES" sz="900" b="1" spc="140">
                <a:solidFill>
                  <a:srgbClr val="17708A"/>
                </a:solidFill>
                <a:latin typeface="Calibri" panose="020F0502020204030204" pitchFamily="34" charset="0"/>
              </a:rPr>
              <a:t>CENTRO UNIVERSITARIO TECNOLÓGICO · CEUTEC · FACULTAD DE INGENIERÍA</a:t>
            </a:r>
            <a:endParaRPr lang="es-HN" sz="900" b="1" spc="140">
              <a:solidFill>
                <a:srgbClr val="17708A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9CAEE19-399C-EDE5-E5BF-8494C268336C}"/>
              </a:ext>
            </a:extLst>
          </p:cNvPr>
          <p:cNvSpPr txBox="1"/>
          <p:nvPr/>
        </p:nvSpPr>
        <p:spPr>
          <a:xfrm>
            <a:off x="609600" y="192405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HN" sz="5550" b="1">
                <a:solidFill>
                  <a:srgbClr val="14171C"/>
                </a:solidFill>
                <a:latin typeface="Georgia" panose="02040502050405020303" pitchFamily="18" charset="0"/>
              </a:rPr>
              <a:t>Cumple</a:t>
            </a:r>
            <a:r>
              <a:rPr lang="es-HN" sz="5550" b="1">
                <a:solidFill>
                  <a:srgbClr val="C3372C"/>
                </a:solidFill>
                <a:latin typeface="Georgia" panose="02040502050405020303" pitchFamily="18" charset="0"/>
              </a:rPr>
              <a:t>HN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8D8D054-9794-F266-6866-AC4F36044D77}"/>
              </a:ext>
            </a:extLst>
          </p:cNvPr>
          <p:cNvSpPr txBox="1"/>
          <p:nvPr/>
        </p:nvSpPr>
        <p:spPr>
          <a:xfrm>
            <a:off x="609600" y="28575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s-ES" sz="2025" b="1">
                <a:solidFill>
                  <a:srgbClr val="39404A"/>
                </a:solidFill>
                <a:latin typeface="Georgia" panose="02040502050405020303" pitchFamily="18" charset="0"/>
              </a:rPr>
              <a:t>Plataforma web para el seguimiento ciudadano de promesas políticas en Honduras</a:t>
            </a:r>
            <a:endParaRPr lang="es-HN" sz="2025" b="1">
              <a:solidFill>
                <a:srgbClr val="39404A"/>
              </a:solidFill>
              <a:latin typeface="Georgia" panose="02040502050405020303" pitchFamily="18" charset="0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176F445-0512-3878-02D1-6878AE7FE20B}"/>
              </a:ext>
            </a:extLst>
          </p:cNvPr>
          <p:cNvCxnSpPr/>
          <p:nvPr/>
        </p:nvCxnSpPr>
        <p:spPr>
          <a:xfrm>
            <a:off x="609600" y="4038600"/>
            <a:ext cx="10363200" cy="0"/>
          </a:xfrm>
          <a:prstGeom prst="line">
            <a:avLst/>
          </a:prstGeom>
          <a:ln w="15240">
            <a:solidFill>
              <a:srgbClr val="E3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BDE07C4-D3B1-75DD-EE3C-B2858C45713E}"/>
              </a:ext>
            </a:extLst>
          </p:cNvPr>
          <p:cNvSpPr txBox="1"/>
          <p:nvPr/>
        </p:nvSpPr>
        <p:spPr>
          <a:xfrm>
            <a:off x="609600" y="421005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088" b="1">
                <a:solidFill>
                  <a:srgbClr val="14171C"/>
                </a:solidFill>
                <a:latin typeface="Calibri" panose="020F0502020204030204" pitchFamily="34" charset="0"/>
              </a:rPr>
              <a:t>Roy Guillermo Chávez Espinal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9EA6501-A7D8-F8F7-29FC-B2ECB25E488B}"/>
              </a:ext>
            </a:extLst>
          </p:cNvPr>
          <p:cNvSpPr txBox="1"/>
          <p:nvPr/>
        </p:nvSpPr>
        <p:spPr>
          <a:xfrm>
            <a:off x="609600" y="443865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s-ES" sz="1050">
                <a:solidFill>
                  <a:srgbClr val="6A7078"/>
                </a:solidFill>
                <a:latin typeface="Calibri" panose="020F0502020204030204" pitchFamily="34" charset="0"/>
              </a:rPr>
              <a:t>Cuenta 31521560</a:t>
            </a:r>
          </a:p>
          <a:p>
            <a:pPr>
              <a:lnSpc>
                <a:spcPct val="140000"/>
              </a:lnSpc>
            </a:pPr>
            <a:r>
              <a:rPr lang="es-ES" sz="1050">
                <a:solidFill>
                  <a:srgbClr val="6A7078"/>
                </a:solidFill>
                <a:latin typeface="Calibri" panose="020F0502020204030204" pitchFamily="34" charset="0"/>
              </a:rPr>
              <a:t>Ingeniería en Informática</a:t>
            </a:r>
            <a:endParaRPr lang="es-HN" sz="1050">
              <a:solidFill>
                <a:srgbClr val="6A7078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58FDEC0-E6A2-4E53-957A-393BC19EA5F7}"/>
              </a:ext>
            </a:extLst>
          </p:cNvPr>
          <p:cNvSpPr txBox="1"/>
          <p:nvPr/>
        </p:nvSpPr>
        <p:spPr>
          <a:xfrm>
            <a:off x="2857500" y="421005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088" b="1">
                <a:solidFill>
                  <a:srgbClr val="14171C"/>
                </a:solidFill>
                <a:latin typeface="Calibri" panose="020F0502020204030204" pitchFamily="34" charset="0"/>
              </a:rPr>
              <a:t>Proyecto de graduación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F4B9FD3-6BDE-07FE-1EE5-C65D937BEA72}"/>
              </a:ext>
            </a:extLst>
          </p:cNvPr>
          <p:cNvSpPr txBox="1"/>
          <p:nvPr/>
        </p:nvSpPr>
        <p:spPr>
          <a:xfrm>
            <a:off x="2857500" y="443865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s-HN" sz="1050">
                <a:solidFill>
                  <a:srgbClr val="6A7078"/>
                </a:solidFill>
                <a:latin typeface="Calibri" panose="020F0502020204030204" pitchFamily="34" charset="0"/>
              </a:rPr>
              <a:t>Tegucigalpa, M.D.C. · 2026</a:t>
            </a:r>
          </a:p>
        </p:txBody>
      </p:sp>
    </p:spTree>
    <p:extLst>
      <p:ext uri="{BB962C8B-B14F-4D97-AF65-F5344CB8AC3E}">
        <p14:creationId xmlns:p14="http://schemas.microsoft.com/office/powerpoint/2010/main" val="1484009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o0">
            <a:extLst>
              <a:ext uri="{FF2B5EF4-FFF2-40B4-BE49-F238E27FC236}">
                <a16:creationId xmlns:a16="http://schemas.microsoft.com/office/drawing/2014/main" id="{CE19B66E-BA88-7620-0AEE-9260F680CC53}"/>
              </a:ext>
            </a:extLst>
          </p:cNvPr>
          <p:cNvSpPr/>
          <p:nvPr/>
        </p:nvSpPr>
        <p:spPr>
          <a:xfrm>
            <a:off x="0" y="0"/>
            <a:ext cx="3048000" cy="47625"/>
          </a:xfrm>
          <a:prstGeom prst="rect">
            <a:avLst/>
          </a:prstGeom>
          <a:solidFill>
            <a:srgbClr val="C337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filo1">
            <a:extLst>
              <a:ext uri="{FF2B5EF4-FFF2-40B4-BE49-F238E27FC236}">
                <a16:creationId xmlns:a16="http://schemas.microsoft.com/office/drawing/2014/main" id="{110A4C35-3E80-D4A7-EABF-CCE5513E63A1}"/>
              </a:ext>
            </a:extLst>
          </p:cNvPr>
          <p:cNvSpPr/>
          <p:nvPr/>
        </p:nvSpPr>
        <p:spPr>
          <a:xfrm>
            <a:off x="3048000" y="0"/>
            <a:ext cx="3048000" cy="47625"/>
          </a:xfrm>
          <a:prstGeom prst="rect">
            <a:avLst/>
          </a:prstGeom>
          <a:solidFill>
            <a:srgbClr val="D39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4" name="filo2">
            <a:extLst>
              <a:ext uri="{FF2B5EF4-FFF2-40B4-BE49-F238E27FC236}">
                <a16:creationId xmlns:a16="http://schemas.microsoft.com/office/drawing/2014/main" id="{CAE409F2-62EC-5973-0228-8E6D63F23870}"/>
              </a:ext>
            </a:extLst>
          </p:cNvPr>
          <p:cNvSpPr/>
          <p:nvPr/>
        </p:nvSpPr>
        <p:spPr>
          <a:xfrm>
            <a:off x="6096000" y="0"/>
            <a:ext cx="3048000" cy="47625"/>
          </a:xfrm>
          <a:prstGeom prst="rect">
            <a:avLst/>
          </a:prstGeom>
          <a:solidFill>
            <a:srgbClr val="2C7A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5" name="filo3">
            <a:extLst>
              <a:ext uri="{FF2B5EF4-FFF2-40B4-BE49-F238E27FC236}">
                <a16:creationId xmlns:a16="http://schemas.microsoft.com/office/drawing/2014/main" id="{C37B72CA-9676-34BB-77F2-937F83C475DA}"/>
              </a:ext>
            </a:extLst>
          </p:cNvPr>
          <p:cNvSpPr/>
          <p:nvPr/>
        </p:nvSpPr>
        <p:spPr>
          <a:xfrm>
            <a:off x="9144000" y="0"/>
            <a:ext cx="3048000" cy="47625"/>
          </a:xfrm>
          <a:prstGeom prst="rect">
            <a:avLst/>
          </a:prstGeom>
          <a:solidFill>
            <a:srgbClr val="1770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3BB9771-FD1A-0C41-92FF-3D7CB0B82409}"/>
              </a:ext>
            </a:extLst>
          </p:cNvPr>
          <p:cNvSpPr txBox="1"/>
          <p:nvPr/>
        </p:nvSpPr>
        <p:spPr>
          <a:xfrm>
            <a:off x="609600" y="495300"/>
            <a:ext cx="952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900" b="1" spc="140">
                <a:solidFill>
                  <a:srgbClr val="17708A"/>
                </a:solidFill>
                <a:latin typeface="Calibri" panose="020F0502020204030204" pitchFamily="34" charset="0"/>
              </a:rPr>
              <a:t>OBJETIVO GENERAL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9927BAD-062B-C3B4-8FB1-24EEE5A05917}"/>
              </a:ext>
            </a:extLst>
          </p:cNvPr>
          <p:cNvSpPr txBox="1"/>
          <p:nvPr/>
        </p:nvSpPr>
        <p:spPr>
          <a:xfrm>
            <a:off x="609600" y="70485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s-ES" sz="2850" b="1">
                <a:solidFill>
                  <a:srgbClr val="14171C"/>
                </a:solidFill>
                <a:latin typeface="Georgia" panose="02040502050405020303" pitchFamily="18" charset="0"/>
              </a:rPr>
              <a:t>Decidir con fundamentos, no con percepciones.</a:t>
            </a:r>
            <a:endParaRPr lang="es-HN" sz="2850" b="1">
              <a:solidFill>
                <a:srgbClr val="14171C"/>
              </a:solidFill>
              <a:latin typeface="Georgia" panose="02040502050405020303" pitchFamily="18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F8CA588-30CF-F419-34E4-D58BA5C0B3A2}"/>
              </a:ext>
            </a:extLst>
          </p:cNvPr>
          <p:cNvSpPr/>
          <p:nvPr/>
        </p:nvSpPr>
        <p:spPr>
          <a:xfrm>
            <a:off x="609600" y="1428750"/>
            <a:ext cx="28575" cy="2324100"/>
          </a:xfrm>
          <a:prstGeom prst="rect">
            <a:avLst/>
          </a:prstGeom>
          <a:solidFill>
            <a:srgbClr val="1B4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2797722-E6C4-5A82-C24B-B5A79A151C25}"/>
              </a:ext>
            </a:extLst>
          </p:cNvPr>
          <p:cNvSpPr txBox="1"/>
          <p:nvPr/>
        </p:nvSpPr>
        <p:spPr>
          <a:xfrm>
            <a:off x="800100" y="142875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s-ES" sz="1425">
                <a:solidFill>
                  <a:srgbClr val="14171C"/>
                </a:solidFill>
                <a:latin typeface="Georgia" panose="02040502050405020303" pitchFamily="18" charset="0"/>
              </a:rPr>
              <a:t>Facilitar el seguimiento ciudadano del cumplimiento de promesas y de la trayectoria de gestión de los candidatos y funcionarios políticos en Honduras, mediante el desarrollo de una plataforma web que centralice y visualice estadísticamente esta información, con el fin de apoyar a la ciudadanía en la toma de decisiones fundamentadas en evidencia cuantitativa al momento de votar.</a:t>
            </a:r>
            <a:endParaRPr lang="es-HN" sz="1425">
              <a:solidFill>
                <a:srgbClr val="14171C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D1FA314-1895-3E5D-A097-5B8FB96CAA7F}"/>
              </a:ext>
            </a:extLst>
          </p:cNvPr>
          <p:cNvSpPr txBox="1"/>
          <p:nvPr/>
        </p:nvSpPr>
        <p:spPr>
          <a:xfrm>
            <a:off x="7315200" y="142875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ES" sz="788" b="1" spc="100">
                <a:solidFill>
                  <a:srgbClr val="C3372C"/>
                </a:solidFill>
                <a:latin typeface="Calibri" panose="020F0502020204030204" pitchFamily="34" charset="0"/>
              </a:rPr>
              <a:t>LO QUE CUMPLEHN NO HACE</a:t>
            </a:r>
            <a:endParaRPr lang="es-HN" sz="788" b="1" spc="100">
              <a:solidFill>
                <a:srgbClr val="C3372C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1157705-10AB-739B-9199-CD573E15CA2B}"/>
              </a:ext>
            </a:extLst>
          </p:cNvPr>
          <p:cNvSpPr/>
          <p:nvPr/>
        </p:nvSpPr>
        <p:spPr>
          <a:xfrm>
            <a:off x="7315200" y="1752600"/>
            <a:ext cx="142875" cy="19050"/>
          </a:xfrm>
          <a:prstGeom prst="rect">
            <a:avLst/>
          </a:prstGeom>
          <a:solidFill>
            <a:srgbClr val="C337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13F56C9-5633-BA37-57B2-9C634A2BB163}"/>
              </a:ext>
            </a:extLst>
          </p:cNvPr>
          <p:cNvSpPr txBox="1"/>
          <p:nvPr/>
        </p:nvSpPr>
        <p:spPr>
          <a:xfrm>
            <a:off x="7600950" y="1676400"/>
            <a:ext cx="3981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s-HN" sz="1238">
                <a:solidFill>
                  <a:srgbClr val="39404A"/>
                </a:solidFill>
                <a:latin typeface="Calibri" panose="020F0502020204030204" pitchFamily="34" charset="0"/>
              </a:rPr>
              <a:t>No rankea candidaturas por calidad.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B90DB78-F904-DF0C-594D-6DFA83349C42}"/>
              </a:ext>
            </a:extLst>
          </p:cNvPr>
          <p:cNvSpPr/>
          <p:nvPr/>
        </p:nvSpPr>
        <p:spPr>
          <a:xfrm>
            <a:off x="7315200" y="2057400"/>
            <a:ext cx="142875" cy="19050"/>
          </a:xfrm>
          <a:prstGeom prst="rect">
            <a:avLst/>
          </a:prstGeom>
          <a:solidFill>
            <a:srgbClr val="C337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9641835-A149-A25F-5389-17E7899377F2}"/>
              </a:ext>
            </a:extLst>
          </p:cNvPr>
          <p:cNvSpPr txBox="1"/>
          <p:nvPr/>
        </p:nvSpPr>
        <p:spPr>
          <a:xfrm>
            <a:off x="7600950" y="1981200"/>
            <a:ext cx="3981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s-ES" sz="1238">
                <a:solidFill>
                  <a:srgbClr val="39404A"/>
                </a:solidFill>
                <a:latin typeface="Calibri" panose="020F0502020204030204" pitchFamily="34" charset="0"/>
              </a:rPr>
              <a:t>No recomienda por quién votar.</a:t>
            </a:r>
            <a:endParaRPr lang="es-HN" sz="1238">
              <a:solidFill>
                <a:srgbClr val="39404A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6FEF34E-59BC-E46E-A7C9-05923CD0E17E}"/>
              </a:ext>
            </a:extLst>
          </p:cNvPr>
          <p:cNvSpPr/>
          <p:nvPr/>
        </p:nvSpPr>
        <p:spPr>
          <a:xfrm>
            <a:off x="7315200" y="2362200"/>
            <a:ext cx="142875" cy="19050"/>
          </a:xfrm>
          <a:prstGeom prst="rect">
            <a:avLst/>
          </a:prstGeom>
          <a:solidFill>
            <a:srgbClr val="C337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BF2CB70-6005-8622-903E-58DB04AAF21C}"/>
              </a:ext>
            </a:extLst>
          </p:cNvPr>
          <p:cNvSpPr txBox="1"/>
          <p:nvPr/>
        </p:nvSpPr>
        <p:spPr>
          <a:xfrm>
            <a:off x="7600950" y="2286000"/>
            <a:ext cx="3981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s-ES" sz="1238">
                <a:solidFill>
                  <a:srgbClr val="39404A"/>
                </a:solidFill>
                <a:latin typeface="Calibri" panose="020F0502020204030204" pitchFamily="34" charset="0"/>
              </a:rPr>
              <a:t>No emite un veredicto sobre quién cumple mejor.</a:t>
            </a:r>
            <a:endParaRPr lang="es-HN" sz="1238">
              <a:solidFill>
                <a:srgbClr val="39404A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A8AF89A-78E4-30C8-DD03-54FC71FB08A9}"/>
              </a:ext>
            </a:extLst>
          </p:cNvPr>
          <p:cNvSpPr/>
          <p:nvPr/>
        </p:nvSpPr>
        <p:spPr>
          <a:xfrm>
            <a:off x="7315200" y="2667000"/>
            <a:ext cx="142875" cy="19050"/>
          </a:xfrm>
          <a:prstGeom prst="rect">
            <a:avLst/>
          </a:prstGeom>
          <a:solidFill>
            <a:srgbClr val="C337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8E6D3D0-D32F-AFAD-7EBF-FB8AF2FF6A40}"/>
              </a:ext>
            </a:extLst>
          </p:cNvPr>
          <p:cNvSpPr txBox="1"/>
          <p:nvPr/>
        </p:nvSpPr>
        <p:spPr>
          <a:xfrm>
            <a:off x="7600950" y="2590800"/>
            <a:ext cx="3981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s-ES" sz="1238">
                <a:solidFill>
                  <a:srgbClr val="39404A"/>
                </a:solidFill>
                <a:latin typeface="Calibri" panose="020F0502020204030204" pitchFamily="34" charset="0"/>
              </a:rPr>
              <a:t>No presenta como hecho comprobado lo que solo está declarado.</a:t>
            </a:r>
            <a:endParaRPr lang="es-HN" sz="1238">
              <a:solidFill>
                <a:srgbClr val="39404A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C07CA1E-0136-2543-17DE-FE1782E0701F}"/>
              </a:ext>
            </a:extLst>
          </p:cNvPr>
          <p:cNvSpPr/>
          <p:nvPr/>
        </p:nvSpPr>
        <p:spPr>
          <a:xfrm>
            <a:off x="609600" y="4095750"/>
            <a:ext cx="28575" cy="723900"/>
          </a:xfrm>
          <a:prstGeom prst="rect">
            <a:avLst/>
          </a:prstGeom>
          <a:solidFill>
            <a:srgbClr val="2C7A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C8F068B-231D-34B9-83F5-ADAB32D93F29}"/>
              </a:ext>
            </a:extLst>
          </p:cNvPr>
          <p:cNvSpPr txBox="1"/>
          <p:nvPr/>
        </p:nvSpPr>
        <p:spPr>
          <a:xfrm>
            <a:off x="800100" y="4095750"/>
            <a:ext cx="1009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s-ES" sz="1575">
                <a:solidFill>
                  <a:srgbClr val="14171C"/>
                </a:solidFill>
                <a:latin typeface="Georgia" panose="02040502050405020303" pitchFamily="18" charset="0"/>
              </a:rPr>
              <a:t>Entrega la evidencia organizada para que cada persona la pondere según el criterio que considere de mayor peso. Seguridad, salud, educación, economía, infraestructura o transparencia y decida por su cuenta.</a:t>
            </a:r>
            <a:endParaRPr lang="es-HN" sz="1575">
              <a:solidFill>
                <a:srgbClr val="14171C"/>
              </a:solidFill>
              <a:latin typeface="Georgia" panose="02040502050405020303" pitchFamily="18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95E62B5-1BC2-12D4-7C5B-B002B272572D}"/>
              </a:ext>
            </a:extLst>
          </p:cNvPr>
          <p:cNvSpPr txBox="1"/>
          <p:nvPr/>
        </p:nvSpPr>
        <p:spPr>
          <a:xfrm>
            <a:off x="609600" y="60579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s-ES" sz="975">
                <a:solidFill>
                  <a:srgbClr val="6A7078"/>
                </a:solidFill>
                <a:latin typeface="Calibri" panose="020F0502020204030204" pitchFamily="34" charset="0"/>
              </a:rPr>
              <a:t>El problema que responde está medido: en la encuesta del proyecto (n = 150), 84.7 % percibe la información dispersa y 84.7 % usaría una plataforma como esta antes de votar.</a:t>
            </a:r>
            <a:endParaRPr lang="es-HN" sz="975">
              <a:solidFill>
                <a:srgbClr val="6A707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410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o0">
            <a:extLst>
              <a:ext uri="{FF2B5EF4-FFF2-40B4-BE49-F238E27FC236}">
                <a16:creationId xmlns:a16="http://schemas.microsoft.com/office/drawing/2014/main" id="{50584E91-0176-FC9F-FE85-3509251565E1}"/>
              </a:ext>
            </a:extLst>
          </p:cNvPr>
          <p:cNvSpPr/>
          <p:nvPr/>
        </p:nvSpPr>
        <p:spPr>
          <a:xfrm>
            <a:off x="0" y="0"/>
            <a:ext cx="3048000" cy="47625"/>
          </a:xfrm>
          <a:prstGeom prst="rect">
            <a:avLst/>
          </a:prstGeom>
          <a:solidFill>
            <a:srgbClr val="C337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filo1">
            <a:extLst>
              <a:ext uri="{FF2B5EF4-FFF2-40B4-BE49-F238E27FC236}">
                <a16:creationId xmlns:a16="http://schemas.microsoft.com/office/drawing/2014/main" id="{E05A10DA-A4B1-5F31-7173-DB12CA799F88}"/>
              </a:ext>
            </a:extLst>
          </p:cNvPr>
          <p:cNvSpPr/>
          <p:nvPr/>
        </p:nvSpPr>
        <p:spPr>
          <a:xfrm>
            <a:off x="3048000" y="0"/>
            <a:ext cx="3048000" cy="47625"/>
          </a:xfrm>
          <a:prstGeom prst="rect">
            <a:avLst/>
          </a:prstGeom>
          <a:solidFill>
            <a:srgbClr val="D39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4" name="filo2">
            <a:extLst>
              <a:ext uri="{FF2B5EF4-FFF2-40B4-BE49-F238E27FC236}">
                <a16:creationId xmlns:a16="http://schemas.microsoft.com/office/drawing/2014/main" id="{70342D85-041D-4054-9661-BE4858A21567}"/>
              </a:ext>
            </a:extLst>
          </p:cNvPr>
          <p:cNvSpPr/>
          <p:nvPr/>
        </p:nvSpPr>
        <p:spPr>
          <a:xfrm>
            <a:off x="6096000" y="0"/>
            <a:ext cx="3048000" cy="47625"/>
          </a:xfrm>
          <a:prstGeom prst="rect">
            <a:avLst/>
          </a:prstGeom>
          <a:solidFill>
            <a:srgbClr val="2C7A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5" name="filo3">
            <a:extLst>
              <a:ext uri="{FF2B5EF4-FFF2-40B4-BE49-F238E27FC236}">
                <a16:creationId xmlns:a16="http://schemas.microsoft.com/office/drawing/2014/main" id="{F01575B3-2803-803F-F4A3-62E2CE6067A3}"/>
              </a:ext>
            </a:extLst>
          </p:cNvPr>
          <p:cNvSpPr/>
          <p:nvPr/>
        </p:nvSpPr>
        <p:spPr>
          <a:xfrm>
            <a:off x="9144000" y="0"/>
            <a:ext cx="3048000" cy="47625"/>
          </a:xfrm>
          <a:prstGeom prst="rect">
            <a:avLst/>
          </a:prstGeom>
          <a:solidFill>
            <a:srgbClr val="1770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8A126F3-0897-98B7-625C-F6919AC6EF69}"/>
              </a:ext>
            </a:extLst>
          </p:cNvPr>
          <p:cNvSpPr txBox="1"/>
          <p:nvPr/>
        </p:nvSpPr>
        <p:spPr>
          <a:xfrm>
            <a:off x="609600" y="495300"/>
            <a:ext cx="952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900" b="1" spc="140">
                <a:solidFill>
                  <a:srgbClr val="17708A"/>
                </a:solidFill>
                <a:latin typeface="Calibri" panose="020F0502020204030204" pitchFamily="34" charset="0"/>
              </a:rPr>
              <a:t>TECNOLOGÍAS UTILIZADAS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0DCFCAE-B03A-BBD6-4D3C-9D1D9CE81537}"/>
              </a:ext>
            </a:extLst>
          </p:cNvPr>
          <p:cNvSpPr txBox="1"/>
          <p:nvPr/>
        </p:nvSpPr>
        <p:spPr>
          <a:xfrm>
            <a:off x="609600" y="70485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s-ES" sz="2850" b="1">
                <a:solidFill>
                  <a:srgbClr val="14171C"/>
                </a:solidFill>
                <a:latin typeface="Georgia" panose="02040502050405020303" pitchFamily="18" charset="0"/>
              </a:rPr>
              <a:t>Tres capas separadas, y una sola habla con la base</a:t>
            </a:r>
            <a:endParaRPr lang="es-HN" sz="2850" b="1">
              <a:solidFill>
                <a:srgbClr val="14171C"/>
              </a:solidFill>
              <a:latin typeface="Georgia" panose="02040502050405020303" pitchFamily="18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C763529-58D7-5127-A74D-3AC89D2B33FB}"/>
              </a:ext>
            </a:extLst>
          </p:cNvPr>
          <p:cNvSpPr/>
          <p:nvPr/>
        </p:nvSpPr>
        <p:spPr>
          <a:xfrm>
            <a:off x="609600" y="1333500"/>
            <a:ext cx="2638425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0A22DC5-7146-0BF4-8FA5-9DE63656820D}"/>
              </a:ext>
            </a:extLst>
          </p:cNvPr>
          <p:cNvSpPr txBox="1"/>
          <p:nvPr/>
        </p:nvSpPr>
        <p:spPr>
          <a:xfrm>
            <a:off x="781050" y="148590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825" b="1" spc="100">
                <a:solidFill>
                  <a:srgbClr val="17708A"/>
                </a:solidFill>
                <a:latin typeface="Calibri" panose="020F0502020204030204" pitchFamily="34" charset="0"/>
              </a:rPr>
              <a:t>PRESENTACIÓN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B4F07B9-1F57-1A6C-DD3D-2C53352C7C49}"/>
              </a:ext>
            </a:extLst>
          </p:cNvPr>
          <p:cNvCxnSpPr/>
          <p:nvPr/>
        </p:nvCxnSpPr>
        <p:spPr>
          <a:xfrm>
            <a:off x="781050" y="1695450"/>
            <a:ext cx="2295525" cy="0"/>
          </a:xfrm>
          <a:prstGeom prst="line">
            <a:avLst/>
          </a:prstGeom>
          <a:ln w="9525">
            <a:solidFill>
              <a:srgbClr val="EEE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D481EB9-FFBB-22BA-F733-3D86B9617712}"/>
              </a:ext>
            </a:extLst>
          </p:cNvPr>
          <p:cNvSpPr txBox="1"/>
          <p:nvPr/>
        </p:nvSpPr>
        <p:spPr>
          <a:xfrm>
            <a:off x="781050" y="18097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088" b="1">
                <a:solidFill>
                  <a:srgbClr val="14171C"/>
                </a:solidFill>
                <a:latin typeface="Calibri" panose="020F0502020204030204" pitchFamily="34" charset="0"/>
              </a:rPr>
              <a:t>ASP.NET Web Forms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592F35F-5E6D-C847-590A-B5FAADC61879}"/>
              </a:ext>
            </a:extLst>
          </p:cNvPr>
          <p:cNvSpPr txBox="1"/>
          <p:nvPr/>
        </p:nvSpPr>
        <p:spPr>
          <a:xfrm>
            <a:off x="781050" y="20002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s-HN" sz="938">
                <a:solidFill>
                  <a:srgbClr val="6A7078"/>
                </a:solidFill>
                <a:latin typeface="Calibri" panose="020F0502020204030204" pitchFamily="34" charset="0"/>
              </a:rPr>
              <a:t>.NET Framework 4.7.2 · C#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D18B5A2-CB31-059F-84AF-B720416C9CFC}"/>
              </a:ext>
            </a:extLst>
          </p:cNvPr>
          <p:cNvSpPr txBox="1"/>
          <p:nvPr/>
        </p:nvSpPr>
        <p:spPr>
          <a:xfrm>
            <a:off x="781050" y="243840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088" b="1">
                <a:solidFill>
                  <a:srgbClr val="14171C"/>
                </a:solidFill>
                <a:latin typeface="Calibri" panose="020F0502020204030204" pitchFamily="34" charset="0"/>
              </a:rPr>
              <a:t>Bootstrap 5 + jQuery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5F4CC2B-3ED6-50F6-1D45-2B6662413BAB}"/>
              </a:ext>
            </a:extLst>
          </p:cNvPr>
          <p:cNvSpPr txBox="1"/>
          <p:nvPr/>
        </p:nvSpPr>
        <p:spPr>
          <a:xfrm>
            <a:off x="781050" y="262890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s-ES" sz="938">
                <a:solidFill>
                  <a:srgbClr val="6A7078"/>
                </a:solidFill>
                <a:latin typeface="Calibri" panose="020F0502020204030204" pitchFamily="34" charset="0"/>
              </a:rPr>
              <a:t>Solo la grilla. Sin dependencias externas en tiempo de ejecución.</a:t>
            </a:r>
            <a:endParaRPr lang="es-HN" sz="938">
              <a:solidFill>
                <a:srgbClr val="6A7078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CD22D2C-C544-0857-CCB1-66C6D6C25DDD}"/>
              </a:ext>
            </a:extLst>
          </p:cNvPr>
          <p:cNvSpPr txBox="1"/>
          <p:nvPr/>
        </p:nvSpPr>
        <p:spPr>
          <a:xfrm>
            <a:off x="781050" y="327660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088" b="1">
                <a:solidFill>
                  <a:srgbClr val="14171C"/>
                </a:solidFill>
                <a:latin typeface="Calibri" panose="020F0502020204030204" pitchFamily="34" charset="0"/>
              </a:rPr>
              <a:t>CSS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C3C3310-FE00-41BC-86A8-9914074D4D38}"/>
              </a:ext>
            </a:extLst>
          </p:cNvPr>
          <p:cNvSpPr txBox="1"/>
          <p:nvPr/>
        </p:nvSpPr>
        <p:spPr>
          <a:xfrm>
            <a:off x="781050" y="346710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s-ES" sz="938">
                <a:solidFill>
                  <a:srgbClr val="6A7078"/>
                </a:solidFill>
                <a:latin typeface="Calibri" panose="020F0502020204030204" pitchFamily="34" charset="0"/>
              </a:rPr>
              <a:t>Sistema de diseño con tokens, SVG generado en el servidor.</a:t>
            </a:r>
            <a:endParaRPr lang="es-HN" sz="938">
              <a:solidFill>
                <a:srgbClr val="6A7078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56D278A-0810-6436-2BC6-402F56FFDBE0}"/>
              </a:ext>
            </a:extLst>
          </p:cNvPr>
          <p:cNvSpPr txBox="1"/>
          <p:nvPr/>
        </p:nvSpPr>
        <p:spPr>
          <a:xfrm>
            <a:off x="781050" y="411480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088" b="1">
                <a:solidFill>
                  <a:srgbClr val="14171C"/>
                </a:solidFill>
                <a:latin typeface="Calibri" panose="020F0502020204030204" pitchFamily="34" charset="0"/>
              </a:rPr>
              <a:t>IIS Express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872E95B-6972-9415-BA04-33BFC7FA3C09}"/>
              </a:ext>
            </a:extLst>
          </p:cNvPr>
          <p:cNvSpPr txBox="1"/>
          <p:nvPr/>
        </p:nvSpPr>
        <p:spPr>
          <a:xfrm>
            <a:off x="781050" y="430530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s-HN" sz="938">
                <a:solidFill>
                  <a:srgbClr val="6A7078"/>
                </a:solidFill>
                <a:latin typeface="Calibri" panose="020F0502020204030204" pitchFamily="34" charset="0"/>
              </a:rPr>
              <a:t>Puerto 5080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23F80615-D259-0F53-AC35-9525778CBCC8}"/>
              </a:ext>
            </a:extLst>
          </p:cNvPr>
          <p:cNvSpPr/>
          <p:nvPr/>
        </p:nvSpPr>
        <p:spPr>
          <a:xfrm>
            <a:off x="3386138" y="1333500"/>
            <a:ext cx="2638425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8DEA948-0772-AB17-84B8-93B5C564C7FE}"/>
              </a:ext>
            </a:extLst>
          </p:cNvPr>
          <p:cNvSpPr txBox="1"/>
          <p:nvPr/>
        </p:nvSpPr>
        <p:spPr>
          <a:xfrm>
            <a:off x="3557588" y="148590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825" b="1" spc="100">
                <a:solidFill>
                  <a:srgbClr val="17708A"/>
                </a:solidFill>
                <a:latin typeface="Calibri" panose="020F0502020204030204" pitchFamily="34" charset="0"/>
              </a:rPr>
              <a:t>SERVICIO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4F9F3078-9204-B964-1EC6-AD8840773B14}"/>
              </a:ext>
            </a:extLst>
          </p:cNvPr>
          <p:cNvCxnSpPr/>
          <p:nvPr/>
        </p:nvCxnSpPr>
        <p:spPr>
          <a:xfrm>
            <a:off x="3557588" y="1695450"/>
            <a:ext cx="2295525" cy="0"/>
          </a:xfrm>
          <a:prstGeom prst="line">
            <a:avLst/>
          </a:prstGeom>
          <a:ln w="9525">
            <a:solidFill>
              <a:srgbClr val="EEE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8AD8F8D-F723-EC56-CD4E-C802CFF3A17D}"/>
              </a:ext>
            </a:extLst>
          </p:cNvPr>
          <p:cNvSpPr txBox="1"/>
          <p:nvPr/>
        </p:nvSpPr>
        <p:spPr>
          <a:xfrm>
            <a:off x="3557588" y="18097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088" b="1">
                <a:solidFill>
                  <a:srgbClr val="14171C"/>
                </a:solidFill>
                <a:latin typeface="Calibri" panose="020F0502020204030204" pitchFamily="34" charset="0"/>
              </a:rPr>
              <a:t>Web Service ASMX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1ED007D-D221-6A43-9904-8F643250295D}"/>
              </a:ext>
            </a:extLst>
          </p:cNvPr>
          <p:cNvSpPr txBox="1"/>
          <p:nvPr/>
        </p:nvSpPr>
        <p:spPr>
          <a:xfrm>
            <a:off x="3557588" y="20002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s-ES" sz="938">
                <a:solidFill>
                  <a:srgbClr val="6A7078"/>
                </a:solidFill>
                <a:latin typeface="Calibri" panose="020F0502020204030204" pitchFamily="34" charset="0"/>
              </a:rPr>
              <a:t>SOAP y JSON desde el mismo servicio. 51 métodos.</a:t>
            </a:r>
            <a:endParaRPr lang="es-HN" sz="938">
              <a:solidFill>
                <a:srgbClr val="6A7078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CCAB232-F1CC-CBA2-B1D9-5AB7BF98E1FD}"/>
              </a:ext>
            </a:extLst>
          </p:cNvPr>
          <p:cNvSpPr txBox="1"/>
          <p:nvPr/>
        </p:nvSpPr>
        <p:spPr>
          <a:xfrm>
            <a:off x="3557588" y="26479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088" b="1">
                <a:solidFill>
                  <a:srgbClr val="14171C"/>
                </a:solidFill>
                <a:latin typeface="Calibri" panose="020F0502020204030204" pitchFamily="34" charset="0"/>
              </a:rPr>
              <a:t>ADO.NET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C924D0A-D450-5D17-3A87-59367E6FDB30}"/>
              </a:ext>
            </a:extLst>
          </p:cNvPr>
          <p:cNvSpPr txBox="1"/>
          <p:nvPr/>
        </p:nvSpPr>
        <p:spPr>
          <a:xfrm>
            <a:off x="3557588" y="28384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s-ES" sz="938">
                <a:solidFill>
                  <a:srgbClr val="6A7078"/>
                </a:solidFill>
                <a:latin typeface="Calibri" panose="020F0502020204030204" pitchFamily="34" charset="0"/>
              </a:rPr>
              <a:t>Siempre con parámetros y procedimientos almacenados.</a:t>
            </a:r>
            <a:endParaRPr lang="es-HN" sz="938">
              <a:solidFill>
                <a:srgbClr val="6A7078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EC00862-1EAA-C37B-153A-EAADE53E5EB7}"/>
              </a:ext>
            </a:extLst>
          </p:cNvPr>
          <p:cNvSpPr txBox="1"/>
          <p:nvPr/>
        </p:nvSpPr>
        <p:spPr>
          <a:xfrm>
            <a:off x="3557588" y="34861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088" b="1">
                <a:solidFill>
                  <a:srgbClr val="14171C"/>
                </a:solidFill>
                <a:latin typeface="Calibri" panose="020F0502020204030204" pitchFamily="34" charset="0"/>
              </a:rPr>
              <a:t>SHA-256 criptográfico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8AF253B-BC69-AD9B-F8E2-018CB0FD693F}"/>
              </a:ext>
            </a:extLst>
          </p:cNvPr>
          <p:cNvSpPr txBox="1"/>
          <p:nvPr/>
        </p:nvSpPr>
        <p:spPr>
          <a:xfrm>
            <a:off x="3557588" y="36766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s-ES" sz="938">
                <a:solidFill>
                  <a:srgbClr val="6A7078"/>
                </a:solidFill>
                <a:latin typeface="Calibri" panose="020F0502020204030204" pitchFamily="34" charset="0"/>
              </a:rPr>
              <a:t>Contraseñas y tokens de confirmación nunca en claro.</a:t>
            </a:r>
            <a:endParaRPr lang="es-HN" sz="938">
              <a:solidFill>
                <a:srgbClr val="6A7078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8807C79-5027-FA78-EBA6-84167FDA768C}"/>
              </a:ext>
            </a:extLst>
          </p:cNvPr>
          <p:cNvSpPr txBox="1"/>
          <p:nvPr/>
        </p:nvSpPr>
        <p:spPr>
          <a:xfrm>
            <a:off x="3557588" y="43243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088" b="1">
                <a:solidFill>
                  <a:srgbClr val="14171C"/>
                </a:solidFill>
                <a:latin typeface="Calibri" panose="020F0502020204030204" pitchFamily="34" charset="0"/>
              </a:rPr>
              <a:t>SMTP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6431583-9247-EC55-3577-EA6208A8E4A3}"/>
              </a:ext>
            </a:extLst>
          </p:cNvPr>
          <p:cNvSpPr txBox="1"/>
          <p:nvPr/>
        </p:nvSpPr>
        <p:spPr>
          <a:xfrm>
            <a:off x="3557588" y="45148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s-ES" sz="938">
                <a:solidFill>
                  <a:srgbClr val="6A7078"/>
                </a:solidFill>
                <a:latin typeface="Calibri" panose="020F0502020204030204" pitchFamily="34" charset="0"/>
              </a:rPr>
              <a:t>Confirmación de correo con contraseña de aplicación.</a:t>
            </a:r>
            <a:endParaRPr lang="es-HN" sz="938">
              <a:solidFill>
                <a:srgbClr val="6A7078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903BCF3B-21B7-A052-3C66-91F5D4139A25}"/>
              </a:ext>
            </a:extLst>
          </p:cNvPr>
          <p:cNvSpPr/>
          <p:nvPr/>
        </p:nvSpPr>
        <p:spPr>
          <a:xfrm>
            <a:off x="6162675" y="1333500"/>
            <a:ext cx="2638425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705B955-1463-8E01-294E-939BA26ED299}"/>
              </a:ext>
            </a:extLst>
          </p:cNvPr>
          <p:cNvSpPr txBox="1"/>
          <p:nvPr/>
        </p:nvSpPr>
        <p:spPr>
          <a:xfrm>
            <a:off x="6334125" y="148590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825" b="1" spc="100">
                <a:solidFill>
                  <a:srgbClr val="17708A"/>
                </a:solidFill>
                <a:latin typeface="Calibri" panose="020F0502020204030204" pitchFamily="34" charset="0"/>
              </a:rPr>
              <a:t>DATOS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98DA284D-8B4D-B691-4040-9B87DB53F781}"/>
              </a:ext>
            </a:extLst>
          </p:cNvPr>
          <p:cNvCxnSpPr/>
          <p:nvPr/>
        </p:nvCxnSpPr>
        <p:spPr>
          <a:xfrm>
            <a:off x="6334125" y="1695450"/>
            <a:ext cx="2295525" cy="0"/>
          </a:xfrm>
          <a:prstGeom prst="line">
            <a:avLst/>
          </a:prstGeom>
          <a:ln w="9525">
            <a:solidFill>
              <a:srgbClr val="EEE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0F4F558-A68A-FF1C-0DC8-7F671F8D24A8}"/>
              </a:ext>
            </a:extLst>
          </p:cNvPr>
          <p:cNvSpPr txBox="1"/>
          <p:nvPr/>
        </p:nvSpPr>
        <p:spPr>
          <a:xfrm>
            <a:off x="6334125" y="18097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088" b="1">
                <a:solidFill>
                  <a:srgbClr val="14171C"/>
                </a:solidFill>
                <a:latin typeface="Calibri" panose="020F0502020204030204" pitchFamily="34" charset="0"/>
              </a:rPr>
              <a:t>SQL Server Express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01548CB-DB2B-6173-9FBA-AC2D1A0B79DE}"/>
              </a:ext>
            </a:extLst>
          </p:cNvPr>
          <p:cNvSpPr txBox="1"/>
          <p:nvPr/>
        </p:nvSpPr>
        <p:spPr>
          <a:xfrm>
            <a:off x="6334125" y="20002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s-ES" sz="938">
                <a:solidFill>
                  <a:srgbClr val="6A7078"/>
                </a:solidFill>
                <a:latin typeface="Calibri" panose="020F0502020204030204" pitchFamily="34" charset="0"/>
              </a:rPr>
              <a:t>Base </a:t>
            </a:r>
            <a:r>
              <a:rPr lang="es-ES" sz="844">
                <a:solidFill>
                  <a:srgbClr val="6A7078"/>
                </a:solidFill>
                <a:latin typeface="Consolas" panose="020B0609020204030204" pitchFamily="49" charset="0"/>
              </a:rPr>
              <a:t>BDCUMPLEHN</a:t>
            </a:r>
            <a:r>
              <a:rPr lang="es-ES" sz="938">
                <a:solidFill>
                  <a:srgbClr val="6A7078"/>
                </a:solidFill>
                <a:latin typeface="Calibri" panose="020F0502020204030204" pitchFamily="34" charset="0"/>
              </a:rPr>
              <a:t>, 23 tablas y 35 llaves foráneas.</a:t>
            </a:r>
            <a:endParaRPr lang="es-HN" sz="938">
              <a:solidFill>
                <a:srgbClr val="6A7078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9828E76-F0E9-E2C4-FFE9-B2F57C7B1309}"/>
              </a:ext>
            </a:extLst>
          </p:cNvPr>
          <p:cNvSpPr txBox="1"/>
          <p:nvPr/>
        </p:nvSpPr>
        <p:spPr>
          <a:xfrm>
            <a:off x="6334125" y="26479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ES" sz="1088" b="1">
                <a:solidFill>
                  <a:srgbClr val="14171C"/>
                </a:solidFill>
                <a:latin typeface="Calibri" panose="020F0502020204030204" pitchFamily="34" charset="0"/>
              </a:rPr>
              <a:t>Índices únicos y bajas lógicas</a:t>
            </a:r>
            <a:endParaRPr lang="es-HN" sz="1088" b="1">
              <a:solidFill>
                <a:srgbClr val="14171C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B5CC731-3414-6E42-40B8-D8A852C2B2D6}"/>
              </a:ext>
            </a:extLst>
          </p:cNvPr>
          <p:cNvSpPr txBox="1"/>
          <p:nvPr/>
        </p:nvSpPr>
        <p:spPr>
          <a:xfrm>
            <a:off x="6334125" y="28384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s-HN" sz="938">
                <a:solidFill>
                  <a:srgbClr val="6A7078"/>
                </a:solidFill>
                <a:latin typeface="Calibri" panose="020F0502020204030204" pitchFamily="34" charset="0"/>
              </a:rPr>
              <a:t>Un voto por persona, nada se borra, se usa bitácora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9E423E5-4B1D-B3A5-8661-CF0C2BDD7409}"/>
              </a:ext>
            </a:extLst>
          </p:cNvPr>
          <p:cNvSpPr txBox="1"/>
          <p:nvPr/>
        </p:nvSpPr>
        <p:spPr>
          <a:xfrm>
            <a:off x="6334125" y="34861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088" b="1">
                <a:solidFill>
                  <a:srgbClr val="14171C"/>
                </a:solidFill>
                <a:latin typeface="Calibri" panose="020F0502020204030204" pitchFamily="34" charset="0"/>
              </a:rPr>
              <a:t>Login restringido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0514693-5E76-C057-3041-AE0CD62B9963}"/>
              </a:ext>
            </a:extLst>
          </p:cNvPr>
          <p:cNvSpPr txBox="1"/>
          <p:nvPr/>
        </p:nvSpPr>
        <p:spPr>
          <a:xfrm>
            <a:off x="6334125" y="36766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s-HN" sz="844">
                <a:solidFill>
                  <a:srgbClr val="6A7078"/>
                </a:solidFill>
                <a:latin typeface="Consolas" panose="020B0609020204030204" pitchFamily="49" charset="0"/>
              </a:rPr>
              <a:t>cumplehn_ia</a:t>
            </a:r>
            <a:r>
              <a:rPr lang="es-HN" sz="938">
                <a:solidFill>
                  <a:srgbClr val="6A7078"/>
                </a:solidFill>
                <a:latin typeface="Calibri" panose="020F0502020204030204" pitchFamily="34" charset="0"/>
              </a:rPr>
              <a:t>: solo EXECUTE, cero permisos de tabla.</a:t>
            </a: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95D7A532-8165-5648-5214-BF815887D44C}"/>
              </a:ext>
            </a:extLst>
          </p:cNvPr>
          <p:cNvSpPr/>
          <p:nvPr/>
        </p:nvSpPr>
        <p:spPr>
          <a:xfrm>
            <a:off x="8939213" y="1333500"/>
            <a:ext cx="2638425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3C1D478-5699-5CF0-3886-22C7F20F1173}"/>
              </a:ext>
            </a:extLst>
          </p:cNvPr>
          <p:cNvSpPr/>
          <p:nvPr/>
        </p:nvSpPr>
        <p:spPr>
          <a:xfrm>
            <a:off x="8939213" y="1362075"/>
            <a:ext cx="28575" cy="3752850"/>
          </a:xfrm>
          <a:prstGeom prst="rect">
            <a:avLst/>
          </a:prstGeom>
          <a:solidFill>
            <a:srgbClr val="C337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19DBDF93-97F4-B3C4-A9EA-82FAEDDB44ED}"/>
              </a:ext>
            </a:extLst>
          </p:cNvPr>
          <p:cNvSpPr txBox="1"/>
          <p:nvPr/>
        </p:nvSpPr>
        <p:spPr>
          <a:xfrm>
            <a:off x="9110663" y="148590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825" b="1" spc="100">
                <a:solidFill>
                  <a:srgbClr val="C3372C"/>
                </a:solidFill>
                <a:latin typeface="Calibri" panose="020F0502020204030204" pitchFamily="34" charset="0"/>
              </a:rPr>
              <a:t>INTELIGENCIA ARTIFICIAL</a:t>
            </a:r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9F8C044B-3F83-8B32-532C-059DA79D9E5C}"/>
              </a:ext>
            </a:extLst>
          </p:cNvPr>
          <p:cNvCxnSpPr/>
          <p:nvPr/>
        </p:nvCxnSpPr>
        <p:spPr>
          <a:xfrm>
            <a:off x="9110663" y="1695450"/>
            <a:ext cx="2295525" cy="0"/>
          </a:xfrm>
          <a:prstGeom prst="line">
            <a:avLst/>
          </a:prstGeom>
          <a:ln w="9525">
            <a:solidFill>
              <a:srgbClr val="EEE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E667807-4436-E37A-685D-9D85ADCB68F5}"/>
              </a:ext>
            </a:extLst>
          </p:cNvPr>
          <p:cNvSpPr txBox="1"/>
          <p:nvPr/>
        </p:nvSpPr>
        <p:spPr>
          <a:xfrm>
            <a:off x="9110663" y="18097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088" b="1">
                <a:solidFill>
                  <a:srgbClr val="14171C"/>
                </a:solidFill>
                <a:latin typeface="Calibri" panose="020F0502020204030204" pitchFamily="34" charset="0"/>
              </a:rPr>
              <a:t>Claude Sonnet 5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5DAAD4D8-E850-733F-DE33-62FC34629367}"/>
              </a:ext>
            </a:extLst>
          </p:cNvPr>
          <p:cNvSpPr txBox="1"/>
          <p:nvPr/>
        </p:nvSpPr>
        <p:spPr>
          <a:xfrm>
            <a:off x="9110663" y="200025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s-HN" sz="938">
                <a:solidFill>
                  <a:srgbClr val="6A7078"/>
                </a:solidFill>
                <a:latin typeface="Calibri" panose="020F0502020204030204" pitchFamily="34" charset="0"/>
              </a:rPr>
              <a:t>SDK oficial de Anthropic para .NET.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3D4BB2D-7C05-9526-155C-A7C1E5FC224D}"/>
              </a:ext>
            </a:extLst>
          </p:cNvPr>
          <p:cNvSpPr txBox="1"/>
          <p:nvPr/>
        </p:nvSpPr>
        <p:spPr>
          <a:xfrm>
            <a:off x="9110663" y="243840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088" b="1">
                <a:solidFill>
                  <a:srgbClr val="14171C"/>
                </a:solidFill>
                <a:latin typeface="Calibri" panose="020F0502020204030204" pitchFamily="34" charset="0"/>
              </a:rPr>
              <a:t>Uso de herramientas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C24EFFF-3C43-EDAA-CB48-E80CDAD73A13}"/>
              </a:ext>
            </a:extLst>
          </p:cNvPr>
          <p:cNvSpPr txBox="1"/>
          <p:nvPr/>
        </p:nvSpPr>
        <p:spPr>
          <a:xfrm>
            <a:off x="9110663" y="2628900"/>
            <a:ext cx="22955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s-ES" sz="938">
                <a:solidFill>
                  <a:srgbClr val="6A7078"/>
                </a:solidFill>
                <a:latin typeface="Calibri" panose="020F0502020204030204" pitchFamily="34" charset="0"/>
              </a:rPr>
              <a:t>4 herramientas, cada una un procedimiento almacenado tipado.</a:t>
            </a:r>
            <a:endParaRPr lang="es-HN" sz="938">
              <a:solidFill>
                <a:srgbClr val="6A7078"/>
              </a:solidFill>
              <a:latin typeface="Calibri" panose="020F0502020204030204" pitchFamily="34" charset="0"/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08BCA020-3C92-F489-0362-E0AED1A1B055}"/>
              </a:ext>
            </a:extLst>
          </p:cNvPr>
          <p:cNvSpPr txBox="1"/>
          <p:nvPr/>
        </p:nvSpPr>
        <p:spPr>
          <a:xfrm>
            <a:off x="609600" y="60579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s-ES" sz="975">
                <a:solidFill>
                  <a:srgbClr val="6A7078"/>
                </a:solidFill>
                <a:latin typeface="Calibri" panose="020F0502020204030204" pitchFamily="34" charset="0"/>
              </a:rPr>
              <a:t>La cadena de conexión vive solo en el Web Service. El frontend no la tiene y no puede consultar la base. El modelo tampoco: recibe la fila que un procedimiento le devuelve.</a:t>
            </a:r>
            <a:endParaRPr lang="es-HN" sz="975">
              <a:solidFill>
                <a:srgbClr val="6A707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382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o0">
            <a:extLst>
              <a:ext uri="{FF2B5EF4-FFF2-40B4-BE49-F238E27FC236}">
                <a16:creationId xmlns:a16="http://schemas.microsoft.com/office/drawing/2014/main" id="{2A5CB43B-C8DE-927F-7D24-9D5A8F63F898}"/>
              </a:ext>
            </a:extLst>
          </p:cNvPr>
          <p:cNvSpPr/>
          <p:nvPr/>
        </p:nvSpPr>
        <p:spPr>
          <a:xfrm>
            <a:off x="0" y="0"/>
            <a:ext cx="3048000" cy="47625"/>
          </a:xfrm>
          <a:prstGeom prst="rect">
            <a:avLst/>
          </a:prstGeom>
          <a:solidFill>
            <a:srgbClr val="C337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filo1">
            <a:extLst>
              <a:ext uri="{FF2B5EF4-FFF2-40B4-BE49-F238E27FC236}">
                <a16:creationId xmlns:a16="http://schemas.microsoft.com/office/drawing/2014/main" id="{73E10241-4614-D88A-511E-EB3FAF63E0BF}"/>
              </a:ext>
            </a:extLst>
          </p:cNvPr>
          <p:cNvSpPr/>
          <p:nvPr/>
        </p:nvSpPr>
        <p:spPr>
          <a:xfrm>
            <a:off x="3048000" y="0"/>
            <a:ext cx="3048000" cy="47625"/>
          </a:xfrm>
          <a:prstGeom prst="rect">
            <a:avLst/>
          </a:prstGeom>
          <a:solidFill>
            <a:srgbClr val="D39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4" name="filo2">
            <a:extLst>
              <a:ext uri="{FF2B5EF4-FFF2-40B4-BE49-F238E27FC236}">
                <a16:creationId xmlns:a16="http://schemas.microsoft.com/office/drawing/2014/main" id="{62C5A9EE-E2EA-D061-85D0-426A65F71AF1}"/>
              </a:ext>
            </a:extLst>
          </p:cNvPr>
          <p:cNvSpPr/>
          <p:nvPr/>
        </p:nvSpPr>
        <p:spPr>
          <a:xfrm>
            <a:off x="6096000" y="0"/>
            <a:ext cx="3048000" cy="47625"/>
          </a:xfrm>
          <a:prstGeom prst="rect">
            <a:avLst/>
          </a:prstGeom>
          <a:solidFill>
            <a:srgbClr val="2C7A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5" name="filo3">
            <a:extLst>
              <a:ext uri="{FF2B5EF4-FFF2-40B4-BE49-F238E27FC236}">
                <a16:creationId xmlns:a16="http://schemas.microsoft.com/office/drawing/2014/main" id="{7437F9C6-0C7A-A7D6-22C0-F0044E69C67A}"/>
              </a:ext>
            </a:extLst>
          </p:cNvPr>
          <p:cNvSpPr/>
          <p:nvPr/>
        </p:nvSpPr>
        <p:spPr>
          <a:xfrm>
            <a:off x="9144000" y="0"/>
            <a:ext cx="3048000" cy="47625"/>
          </a:xfrm>
          <a:prstGeom prst="rect">
            <a:avLst/>
          </a:prstGeom>
          <a:solidFill>
            <a:srgbClr val="1770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A82747D-9A8B-EC7D-BFAF-676D5C35B42A}"/>
              </a:ext>
            </a:extLst>
          </p:cNvPr>
          <p:cNvSpPr txBox="1"/>
          <p:nvPr/>
        </p:nvSpPr>
        <p:spPr>
          <a:xfrm>
            <a:off x="609600" y="495300"/>
            <a:ext cx="952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ES" sz="900" b="1" spc="140">
                <a:solidFill>
                  <a:srgbClr val="17708A"/>
                </a:solidFill>
                <a:latin typeface="Calibri" panose="020F0502020204030204" pitchFamily="34" charset="0"/>
              </a:rPr>
              <a:t>LOGROS · LO QUE SE CONSTRUYÓ</a:t>
            </a:r>
            <a:endParaRPr lang="es-HN" sz="900" b="1" spc="140">
              <a:solidFill>
                <a:srgbClr val="17708A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A916D7-061D-9F14-7AB6-E89B006B514E}"/>
              </a:ext>
            </a:extLst>
          </p:cNvPr>
          <p:cNvSpPr txBox="1"/>
          <p:nvPr/>
        </p:nvSpPr>
        <p:spPr>
          <a:xfrm>
            <a:off x="609600" y="70485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s-ES" sz="2850" b="1">
                <a:solidFill>
                  <a:srgbClr val="14171C"/>
                </a:solidFill>
                <a:latin typeface="Georgia" panose="02040502050405020303" pitchFamily="18" charset="0"/>
              </a:rPr>
              <a:t>Siete módulos en la plataforma</a:t>
            </a:r>
            <a:endParaRPr lang="es-HN" sz="2850" b="1">
              <a:solidFill>
                <a:srgbClr val="14171C"/>
              </a:solidFill>
              <a:latin typeface="Georgia" panose="02040502050405020303" pitchFamily="18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790993B-381D-5F51-939C-133A34F6D935}"/>
              </a:ext>
            </a:extLst>
          </p:cNvPr>
          <p:cNvSpPr/>
          <p:nvPr/>
        </p:nvSpPr>
        <p:spPr>
          <a:xfrm>
            <a:off x="609600" y="1333500"/>
            <a:ext cx="356235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2AA0811-6DAF-4D2F-1349-EA18B2CB5EC1}"/>
              </a:ext>
            </a:extLst>
          </p:cNvPr>
          <p:cNvSpPr/>
          <p:nvPr/>
        </p:nvSpPr>
        <p:spPr>
          <a:xfrm>
            <a:off x="609600" y="1362075"/>
            <a:ext cx="28575" cy="1543050"/>
          </a:xfrm>
          <a:prstGeom prst="rect">
            <a:avLst/>
          </a:prstGeom>
          <a:solidFill>
            <a:srgbClr val="1770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F0D0F78-0C40-AEF5-1DFC-1972B6131F7D}"/>
              </a:ext>
            </a:extLst>
          </p:cNvPr>
          <p:cNvSpPr txBox="1"/>
          <p:nvPr/>
        </p:nvSpPr>
        <p:spPr>
          <a:xfrm>
            <a:off x="781050" y="146685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s-HN" sz="1200" b="1">
                <a:solidFill>
                  <a:srgbClr val="14171C"/>
                </a:solidFill>
                <a:latin typeface="Georgia" panose="02040502050405020303" pitchFamily="18" charset="0"/>
              </a:rPr>
              <a:t>Perfiles y catálogos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898FE2-9AE0-7C2B-9AD6-36A466AAE80F}"/>
              </a:ext>
            </a:extLst>
          </p:cNvPr>
          <p:cNvSpPr txBox="1"/>
          <p:nvPr/>
        </p:nvSpPr>
        <p:spPr>
          <a:xfrm>
            <a:off x="781050" y="17526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s-ES" sz="975">
                <a:solidFill>
                  <a:srgbClr val="39404A"/>
                </a:solidFill>
                <a:latin typeface="Calibri" panose="020F0502020204030204" pitchFamily="34" charset="0"/>
              </a:rPr>
              <a:t>Candidaturas, partidos y campañas con ficha pública y nivel de verificación. La administración da de alta, verifica y modera con motivo obligatorio y bitácora.</a:t>
            </a:r>
            <a:endParaRPr lang="es-HN" sz="975">
              <a:solidFill>
                <a:srgbClr val="39404A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B069ACF-D7C7-FF6E-4846-4895543D6ECF}"/>
              </a:ext>
            </a:extLst>
          </p:cNvPr>
          <p:cNvSpPr/>
          <p:nvPr/>
        </p:nvSpPr>
        <p:spPr>
          <a:xfrm>
            <a:off x="4311967" y="1333500"/>
            <a:ext cx="3562351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528BAB1-ECDC-9D55-671E-B46311401C9E}"/>
              </a:ext>
            </a:extLst>
          </p:cNvPr>
          <p:cNvSpPr/>
          <p:nvPr/>
        </p:nvSpPr>
        <p:spPr>
          <a:xfrm>
            <a:off x="4311967" y="1362075"/>
            <a:ext cx="28575" cy="1543050"/>
          </a:xfrm>
          <a:prstGeom prst="rect">
            <a:avLst/>
          </a:prstGeom>
          <a:solidFill>
            <a:srgbClr val="1770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839D898-0E65-503A-7E3E-0A945D722907}"/>
              </a:ext>
            </a:extLst>
          </p:cNvPr>
          <p:cNvSpPr txBox="1"/>
          <p:nvPr/>
        </p:nvSpPr>
        <p:spPr>
          <a:xfrm>
            <a:off x="4483417" y="146685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s-HN" sz="1200" b="1">
                <a:solidFill>
                  <a:srgbClr val="14171C"/>
                </a:solidFill>
                <a:latin typeface="Georgia" panose="02040502050405020303" pitchFamily="18" charset="0"/>
              </a:rPr>
              <a:t>Propuestas con seguimiento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76066B5-B448-975E-9634-58313831B171}"/>
              </a:ext>
            </a:extLst>
          </p:cNvPr>
          <p:cNvSpPr txBox="1"/>
          <p:nvPr/>
        </p:nvSpPr>
        <p:spPr>
          <a:xfrm>
            <a:off x="4483417" y="17526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s-ES" sz="975">
                <a:solidFill>
                  <a:srgbClr val="39404A"/>
                </a:solidFill>
                <a:latin typeface="Calibri" panose="020F0502020204030204" pitchFamily="34" charset="0"/>
              </a:rPr>
              <a:t>Cada promesa lleva categoría, evidencia y estado de cumplimiento. La candidatura declara, la plataforma califica.</a:t>
            </a:r>
            <a:endParaRPr lang="es-HN" sz="975">
              <a:solidFill>
                <a:srgbClr val="39404A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9B5BB78-41EA-2BA0-EA47-D1FAD09DE928}"/>
              </a:ext>
            </a:extLst>
          </p:cNvPr>
          <p:cNvSpPr/>
          <p:nvPr/>
        </p:nvSpPr>
        <p:spPr>
          <a:xfrm>
            <a:off x="8014335" y="1333500"/>
            <a:ext cx="356235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37695C7-C31F-852D-518E-8CA78183B4C7}"/>
              </a:ext>
            </a:extLst>
          </p:cNvPr>
          <p:cNvSpPr/>
          <p:nvPr/>
        </p:nvSpPr>
        <p:spPr>
          <a:xfrm>
            <a:off x="8014335" y="1362075"/>
            <a:ext cx="28575" cy="1543050"/>
          </a:xfrm>
          <a:prstGeom prst="rect">
            <a:avLst/>
          </a:prstGeom>
          <a:solidFill>
            <a:srgbClr val="1770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0EF2321-9DA4-EF52-9D89-A5C3653FC043}"/>
              </a:ext>
            </a:extLst>
          </p:cNvPr>
          <p:cNvSpPr txBox="1"/>
          <p:nvPr/>
        </p:nvSpPr>
        <p:spPr>
          <a:xfrm>
            <a:off x="8185785" y="146685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s-HN" sz="1200" b="1">
                <a:solidFill>
                  <a:srgbClr val="14171C"/>
                </a:solidFill>
                <a:latin typeface="Georgia" panose="02040502050405020303" pitchFamily="18" charset="0"/>
              </a:rPr>
              <a:t>Consulta ciudadana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AF04433-3DA7-F612-97E3-FEAD830F2AF8}"/>
              </a:ext>
            </a:extLst>
          </p:cNvPr>
          <p:cNvSpPr txBox="1"/>
          <p:nvPr/>
        </p:nvSpPr>
        <p:spPr>
          <a:xfrm>
            <a:off x="8185785" y="17526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s-ES" sz="975">
                <a:solidFill>
                  <a:srgbClr val="39404A"/>
                </a:solidFill>
                <a:latin typeface="Calibri" panose="020F0502020204030204" pitchFamily="34" charset="0"/>
              </a:rPr>
              <a:t>Búsqueda y filtros por campaña, categoría, partido y departamento en todo el sitio público. Consultar es libre, participar requiere cuenta confirmada.</a:t>
            </a:r>
            <a:endParaRPr lang="es-HN" sz="975">
              <a:solidFill>
                <a:srgbClr val="39404A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A6A70AB1-4F5B-CA7E-F056-212143FB4BAD}"/>
              </a:ext>
            </a:extLst>
          </p:cNvPr>
          <p:cNvSpPr/>
          <p:nvPr/>
        </p:nvSpPr>
        <p:spPr>
          <a:xfrm>
            <a:off x="609600" y="3048000"/>
            <a:ext cx="356235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47B3E4B-4239-6A94-8F09-3E140DBF316B}"/>
              </a:ext>
            </a:extLst>
          </p:cNvPr>
          <p:cNvSpPr/>
          <p:nvPr/>
        </p:nvSpPr>
        <p:spPr>
          <a:xfrm>
            <a:off x="609600" y="3076575"/>
            <a:ext cx="28575" cy="1543050"/>
          </a:xfrm>
          <a:prstGeom prst="rect">
            <a:avLst/>
          </a:prstGeom>
          <a:solidFill>
            <a:srgbClr val="1B4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6D06550-BD46-7538-3E09-55388AB44D86}"/>
              </a:ext>
            </a:extLst>
          </p:cNvPr>
          <p:cNvSpPr txBox="1"/>
          <p:nvPr/>
        </p:nvSpPr>
        <p:spPr>
          <a:xfrm>
            <a:off x="781050" y="318135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s-HN" sz="1200" b="1">
                <a:solidFill>
                  <a:srgbClr val="14171C"/>
                </a:solidFill>
                <a:latin typeface="Georgia" panose="02040502050405020303" pitchFamily="18" charset="0"/>
              </a:rPr>
              <a:t>Tablero de doce indicadores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5AE96F5-912B-7520-91B8-B52119E95942}"/>
              </a:ext>
            </a:extLst>
          </p:cNvPr>
          <p:cNvSpPr txBox="1"/>
          <p:nvPr/>
        </p:nvSpPr>
        <p:spPr>
          <a:xfrm>
            <a:off x="781050" y="34671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s-ES" sz="975">
                <a:solidFill>
                  <a:srgbClr val="39404A"/>
                </a:solidFill>
                <a:latin typeface="Calibri" panose="020F0502020204030204" pitchFamily="34" charset="0"/>
              </a:rPr>
              <a:t>La base calcula, el servicio transporta, la página dibuja. Una sola llamada para que los doce gráficos correspondan al mismo instante.</a:t>
            </a:r>
            <a:endParaRPr lang="es-HN" sz="975">
              <a:solidFill>
                <a:srgbClr val="39404A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28F67D89-0177-ABE8-EFB4-AEF80B993F42}"/>
              </a:ext>
            </a:extLst>
          </p:cNvPr>
          <p:cNvSpPr/>
          <p:nvPr/>
        </p:nvSpPr>
        <p:spPr>
          <a:xfrm>
            <a:off x="4311967" y="3048000"/>
            <a:ext cx="3562351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216D860-E642-F44F-1DD7-D3CB7B44E0D0}"/>
              </a:ext>
            </a:extLst>
          </p:cNvPr>
          <p:cNvSpPr/>
          <p:nvPr/>
        </p:nvSpPr>
        <p:spPr>
          <a:xfrm>
            <a:off x="4311967" y="3076575"/>
            <a:ext cx="28575" cy="1543050"/>
          </a:xfrm>
          <a:prstGeom prst="rect">
            <a:avLst/>
          </a:prstGeom>
          <a:solidFill>
            <a:srgbClr val="2C7A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C478070-043A-6405-C60D-32E08E1E3AEF}"/>
              </a:ext>
            </a:extLst>
          </p:cNvPr>
          <p:cNvSpPr txBox="1"/>
          <p:nvPr/>
        </p:nvSpPr>
        <p:spPr>
          <a:xfrm>
            <a:off x="4483417" y="318135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s-HN" sz="1200" b="1">
                <a:solidFill>
                  <a:srgbClr val="14171C"/>
                </a:solidFill>
                <a:latin typeface="Georgia" panose="02040502050405020303" pitchFamily="18" charset="0"/>
              </a:rPr>
              <a:t>Participación ciudadana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5C0C393-538E-6816-E6B8-A3240E767C7C}"/>
              </a:ext>
            </a:extLst>
          </p:cNvPr>
          <p:cNvSpPr txBox="1"/>
          <p:nvPr/>
        </p:nvSpPr>
        <p:spPr>
          <a:xfrm>
            <a:off x="4483417" y="34671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s-ES" sz="975">
                <a:solidFill>
                  <a:srgbClr val="39404A"/>
                </a:solidFill>
                <a:latin typeface="Calibri" panose="020F0502020204030204" pitchFamily="34" charset="0"/>
              </a:rPr>
              <a:t>Valoraciones, comentarios, encuestas de percepción e iniciativas propuestas por la ciudadanía. Registro público con confirmación de correo.</a:t>
            </a:r>
            <a:endParaRPr lang="es-HN" sz="975">
              <a:solidFill>
                <a:srgbClr val="39404A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236D2ACE-55A5-FF65-8507-9CA7BC1545D1}"/>
              </a:ext>
            </a:extLst>
          </p:cNvPr>
          <p:cNvSpPr/>
          <p:nvPr/>
        </p:nvSpPr>
        <p:spPr>
          <a:xfrm>
            <a:off x="8014335" y="3048000"/>
            <a:ext cx="356235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9D8566C-68DA-2297-D3BF-75C38B7959E9}"/>
              </a:ext>
            </a:extLst>
          </p:cNvPr>
          <p:cNvSpPr/>
          <p:nvPr/>
        </p:nvSpPr>
        <p:spPr>
          <a:xfrm>
            <a:off x="8014335" y="3076575"/>
            <a:ext cx="28575" cy="1543050"/>
          </a:xfrm>
          <a:prstGeom prst="rect">
            <a:avLst/>
          </a:prstGeom>
          <a:solidFill>
            <a:srgbClr val="C337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657BF5C-5D2E-F8BD-6A27-0B0BAF83AB4E}"/>
              </a:ext>
            </a:extLst>
          </p:cNvPr>
          <p:cNvSpPr txBox="1"/>
          <p:nvPr/>
        </p:nvSpPr>
        <p:spPr>
          <a:xfrm>
            <a:off x="8185785" y="318135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s-HN" sz="1200" b="1">
                <a:solidFill>
                  <a:srgbClr val="14171C"/>
                </a:solidFill>
                <a:latin typeface="Georgia" panose="02040502050405020303" pitchFamily="18" charset="0"/>
              </a:rPr>
              <a:t>Asistente de IA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910E34E-0992-3476-DCB5-1C7604DCE9C5}"/>
              </a:ext>
            </a:extLst>
          </p:cNvPr>
          <p:cNvSpPr txBox="1"/>
          <p:nvPr/>
        </p:nvSpPr>
        <p:spPr>
          <a:xfrm>
            <a:off x="8185785" y="34671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s-ES" sz="975">
                <a:solidFill>
                  <a:srgbClr val="39404A"/>
                </a:solidFill>
                <a:latin typeface="Calibri" panose="020F0502020204030204" pitchFamily="34" charset="0"/>
              </a:rPr>
              <a:t>Preguntas en español, respuestas con fuentes reales. Conectado a un modelo de lenguaje con cuota diaria y bitácora de cada consulta.</a:t>
            </a:r>
            <a:endParaRPr lang="es-HN" sz="975">
              <a:solidFill>
                <a:srgbClr val="39404A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A765BE03-08EF-5046-E8E3-8ECF1D50CE59}"/>
              </a:ext>
            </a:extLst>
          </p:cNvPr>
          <p:cNvSpPr/>
          <p:nvPr/>
        </p:nvSpPr>
        <p:spPr>
          <a:xfrm>
            <a:off x="609600" y="476250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DF31D680-4D03-E292-4868-991C904F1602}"/>
              </a:ext>
            </a:extLst>
          </p:cNvPr>
          <p:cNvSpPr/>
          <p:nvPr/>
        </p:nvSpPr>
        <p:spPr>
          <a:xfrm>
            <a:off x="609600" y="4791075"/>
            <a:ext cx="28575" cy="857250"/>
          </a:xfrm>
          <a:prstGeom prst="rect">
            <a:avLst/>
          </a:prstGeom>
          <a:solidFill>
            <a:srgbClr val="D39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9B23DCB-8FC3-9A3C-3AD1-59470902CFB6}"/>
              </a:ext>
            </a:extLst>
          </p:cNvPr>
          <p:cNvSpPr txBox="1"/>
          <p:nvPr/>
        </p:nvSpPr>
        <p:spPr>
          <a:xfrm>
            <a:off x="781050" y="48768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788" b="1" spc="100">
                <a:solidFill>
                  <a:srgbClr val="B8791A"/>
                </a:solidFill>
                <a:latin typeface="Calibri" panose="020F0502020204030204" pitchFamily="34" charset="0"/>
              </a:rPr>
              <a:t>MODELO DE SOSTENIBILIDAD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28A1433-F5F8-5648-7A2E-8BB38BA044F6}"/>
              </a:ext>
            </a:extLst>
          </p:cNvPr>
          <p:cNvSpPr txBox="1"/>
          <p:nvPr/>
        </p:nvSpPr>
        <p:spPr>
          <a:xfrm>
            <a:off x="781050" y="50673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200" b="1">
                <a:solidFill>
                  <a:srgbClr val="14171C"/>
                </a:solidFill>
                <a:latin typeface="Georgia" panose="02040502050405020303" pitchFamily="18" charset="0"/>
              </a:rPr>
              <a:t>Espacios para organizaciones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F97A355-A991-0DF4-9AA2-BC65EC09B4D5}"/>
              </a:ext>
            </a:extLst>
          </p:cNvPr>
          <p:cNvSpPr txBox="1"/>
          <p:nvPr/>
        </p:nvSpPr>
        <p:spPr>
          <a:xfrm>
            <a:off x="3733800" y="5048250"/>
            <a:ext cx="76771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s-ES" sz="938">
                <a:solidFill>
                  <a:srgbClr val="39404A"/>
                </a:solidFill>
                <a:latin typeface="Calibri" panose="020F0502020204030204" pitchFamily="34" charset="0"/>
              </a:rPr>
              <a:t>El mismo motor al servicio de un colegio profesional, una cooperativa o un sindicato para su propia elección: sitio propio, planillas, padrón de miembros y tablero. Aislamiento por espacio en la base, planes con vigencia y solicitud desde una página pública. CumpleHN sigue gratuito y neutral, y es un espacio más.</a:t>
            </a:r>
            <a:endParaRPr lang="es-HN" sz="938">
              <a:solidFill>
                <a:srgbClr val="39404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240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23054"/>
            </a:gs>
            <a:gs pos="100000">
              <a:srgbClr val="0A1728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o0">
            <a:extLst>
              <a:ext uri="{FF2B5EF4-FFF2-40B4-BE49-F238E27FC236}">
                <a16:creationId xmlns:a16="http://schemas.microsoft.com/office/drawing/2014/main" id="{CCD65981-536F-1683-0ED2-7F7427117D3B}"/>
              </a:ext>
            </a:extLst>
          </p:cNvPr>
          <p:cNvSpPr/>
          <p:nvPr/>
        </p:nvSpPr>
        <p:spPr>
          <a:xfrm>
            <a:off x="0" y="0"/>
            <a:ext cx="3048000" cy="47625"/>
          </a:xfrm>
          <a:prstGeom prst="rect">
            <a:avLst/>
          </a:prstGeom>
          <a:solidFill>
            <a:srgbClr val="C337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filo1">
            <a:extLst>
              <a:ext uri="{FF2B5EF4-FFF2-40B4-BE49-F238E27FC236}">
                <a16:creationId xmlns:a16="http://schemas.microsoft.com/office/drawing/2014/main" id="{21FB8627-49C5-9817-96E1-5E091A210F92}"/>
              </a:ext>
            </a:extLst>
          </p:cNvPr>
          <p:cNvSpPr/>
          <p:nvPr/>
        </p:nvSpPr>
        <p:spPr>
          <a:xfrm>
            <a:off x="3048000" y="0"/>
            <a:ext cx="3048000" cy="47625"/>
          </a:xfrm>
          <a:prstGeom prst="rect">
            <a:avLst/>
          </a:prstGeom>
          <a:solidFill>
            <a:srgbClr val="D39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4" name="filo2">
            <a:extLst>
              <a:ext uri="{FF2B5EF4-FFF2-40B4-BE49-F238E27FC236}">
                <a16:creationId xmlns:a16="http://schemas.microsoft.com/office/drawing/2014/main" id="{C24501BE-95DC-E3A5-0820-E0478266642C}"/>
              </a:ext>
            </a:extLst>
          </p:cNvPr>
          <p:cNvSpPr/>
          <p:nvPr/>
        </p:nvSpPr>
        <p:spPr>
          <a:xfrm>
            <a:off x="6096000" y="0"/>
            <a:ext cx="3048000" cy="47625"/>
          </a:xfrm>
          <a:prstGeom prst="rect">
            <a:avLst/>
          </a:prstGeom>
          <a:solidFill>
            <a:srgbClr val="2C7A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5" name="filo3">
            <a:extLst>
              <a:ext uri="{FF2B5EF4-FFF2-40B4-BE49-F238E27FC236}">
                <a16:creationId xmlns:a16="http://schemas.microsoft.com/office/drawing/2014/main" id="{BA061426-8729-A201-8889-FF76199A5D35}"/>
              </a:ext>
            </a:extLst>
          </p:cNvPr>
          <p:cNvSpPr/>
          <p:nvPr/>
        </p:nvSpPr>
        <p:spPr>
          <a:xfrm>
            <a:off x="9144000" y="0"/>
            <a:ext cx="3048000" cy="47625"/>
          </a:xfrm>
          <a:prstGeom prst="rect">
            <a:avLst/>
          </a:prstGeom>
          <a:solidFill>
            <a:srgbClr val="1770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C396D36-9C2F-0CC3-C021-D835C691C6DA}"/>
              </a:ext>
            </a:extLst>
          </p:cNvPr>
          <p:cNvSpPr txBox="1"/>
          <p:nvPr/>
        </p:nvSpPr>
        <p:spPr>
          <a:xfrm>
            <a:off x="609600" y="495300"/>
            <a:ext cx="952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ES" sz="900" b="1" spc="140">
                <a:solidFill>
                  <a:srgbClr val="7FC4D8"/>
                </a:solidFill>
                <a:latin typeface="Calibri" panose="020F0502020204030204" pitchFamily="34" charset="0"/>
              </a:rPr>
              <a:t>LOGROS · EL MÓDULO DE INTELIGENCIA ARTIFICIAL</a:t>
            </a:r>
            <a:endParaRPr lang="es-HN" sz="900" b="1" spc="140">
              <a:solidFill>
                <a:srgbClr val="7FC4D8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96B839A-6AED-5519-D1B2-D89310E4ED8A}"/>
              </a:ext>
            </a:extLst>
          </p:cNvPr>
          <p:cNvSpPr txBox="1"/>
          <p:nvPr/>
        </p:nvSpPr>
        <p:spPr>
          <a:xfrm>
            <a:off x="609600" y="70485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s-ES" sz="2850" b="1">
                <a:solidFill>
                  <a:srgbClr val="FFFFFF"/>
                </a:solidFill>
                <a:latin typeface="Georgia" panose="02040502050405020303" pitchFamily="18" charset="0"/>
              </a:rPr>
              <a:t>El modelo nunca ve la base. Ve la fila que un procedimiento le devuelve.</a:t>
            </a:r>
            <a:endParaRPr lang="es-HN" sz="285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0AD6579C-F8C9-26B2-1253-85D9ACD94D9E}"/>
              </a:ext>
            </a:extLst>
          </p:cNvPr>
          <p:cNvCxnSpPr/>
          <p:nvPr/>
        </p:nvCxnSpPr>
        <p:spPr>
          <a:xfrm>
            <a:off x="609600" y="1771650"/>
            <a:ext cx="323850" cy="0"/>
          </a:xfrm>
          <a:prstGeom prst="line">
            <a:avLst/>
          </a:prstGeom>
          <a:ln w="25400">
            <a:solidFill>
              <a:srgbClr val="F0B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3D728A5B-0DFE-6184-2E71-B03BF11B3DFB}"/>
              </a:ext>
            </a:extLst>
          </p:cNvPr>
          <p:cNvSpPr txBox="1"/>
          <p:nvPr/>
        </p:nvSpPr>
        <p:spPr>
          <a:xfrm>
            <a:off x="609600" y="1838325"/>
            <a:ext cx="323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b="1">
                <a:solidFill>
                  <a:srgbClr val="F0B552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38D1E23-957A-7F52-9499-F8B52766164D}"/>
              </a:ext>
            </a:extLst>
          </p:cNvPr>
          <p:cNvSpPr txBox="1"/>
          <p:nvPr/>
        </p:nvSpPr>
        <p:spPr>
          <a:xfrm>
            <a:off x="1057275" y="1809750"/>
            <a:ext cx="4895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ES" sz="1238" b="1">
                <a:solidFill>
                  <a:srgbClr val="FFFFFF"/>
                </a:solidFill>
                <a:latin typeface="Georgia" panose="02040502050405020303" pitchFamily="18" charset="0"/>
              </a:rPr>
              <a:t>Responde con sus fuentes, y las fuentes son reales</a:t>
            </a:r>
            <a:endParaRPr lang="es-HN" sz="1238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CBBB270-4DC5-5911-46C5-1535409DCFAE}"/>
              </a:ext>
            </a:extLst>
          </p:cNvPr>
          <p:cNvSpPr txBox="1"/>
          <p:nvPr/>
        </p:nvSpPr>
        <p:spPr>
          <a:xfrm>
            <a:off x="1057275" y="2057400"/>
            <a:ext cx="4895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s-ES" sz="1013">
                <a:solidFill>
                  <a:srgbClr val="BACADD"/>
                </a:solidFill>
                <a:latin typeface="Calibri" panose="020F0502020204030204" pitchFamily="34" charset="0"/>
              </a:rPr>
              <a:t>Se arman con las consultas que de verdad se ejecutaron, no con lo que el modelo dice haber usado.</a:t>
            </a:r>
            <a:endParaRPr lang="es-HN" sz="1013">
              <a:solidFill>
                <a:srgbClr val="BACADD"/>
              </a:solidFill>
              <a:latin typeface="Calibri" panose="020F0502020204030204" pitchFamily="34" charset="0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1C5D1853-EDF5-765B-2627-65518B287086}"/>
              </a:ext>
            </a:extLst>
          </p:cNvPr>
          <p:cNvCxnSpPr/>
          <p:nvPr/>
        </p:nvCxnSpPr>
        <p:spPr>
          <a:xfrm>
            <a:off x="6238875" y="1771650"/>
            <a:ext cx="323850" cy="0"/>
          </a:xfrm>
          <a:prstGeom prst="line">
            <a:avLst/>
          </a:prstGeom>
          <a:ln w="25400">
            <a:solidFill>
              <a:srgbClr val="F0B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DBD9309-4C52-5FB0-4284-EE68BE35F4ED}"/>
              </a:ext>
            </a:extLst>
          </p:cNvPr>
          <p:cNvSpPr txBox="1"/>
          <p:nvPr/>
        </p:nvSpPr>
        <p:spPr>
          <a:xfrm>
            <a:off x="6238875" y="1838325"/>
            <a:ext cx="323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b="1">
                <a:solidFill>
                  <a:srgbClr val="F0B552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D9B8052-9B90-2F00-6C82-679373820C94}"/>
              </a:ext>
            </a:extLst>
          </p:cNvPr>
          <p:cNvSpPr txBox="1"/>
          <p:nvPr/>
        </p:nvSpPr>
        <p:spPr>
          <a:xfrm>
            <a:off x="6686550" y="1809750"/>
            <a:ext cx="4895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238" b="1">
                <a:solidFill>
                  <a:srgbClr val="FFFFFF"/>
                </a:solidFill>
                <a:latin typeface="Georgia" panose="02040502050405020303" pitchFamily="18" charset="0"/>
              </a:rPr>
              <a:t>Nunca escribe SQL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6BDCD02-3D0C-79C4-FB4F-78067EEA8822}"/>
              </a:ext>
            </a:extLst>
          </p:cNvPr>
          <p:cNvSpPr txBox="1"/>
          <p:nvPr/>
        </p:nvSpPr>
        <p:spPr>
          <a:xfrm>
            <a:off x="6686550" y="2057400"/>
            <a:ext cx="4895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s-ES" sz="1013">
                <a:solidFill>
                  <a:srgbClr val="BACADD"/>
                </a:solidFill>
                <a:latin typeface="Calibri" panose="020F0502020204030204" pitchFamily="34" charset="0"/>
              </a:rPr>
              <a:t>Recibe cuatro herramientas y cada una es un procedimiento almacenado con parámetros tipados. Lo único que conoce de la plataforma es lo que ese procedimiento le devuelve.</a:t>
            </a:r>
            <a:endParaRPr lang="es-HN" sz="1013">
              <a:solidFill>
                <a:srgbClr val="BACADD"/>
              </a:solidFill>
              <a:latin typeface="Calibri" panose="020F0502020204030204" pitchFamily="34" charset="0"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7F5AABB0-A212-1638-FFF0-E18B41FE37FE}"/>
              </a:ext>
            </a:extLst>
          </p:cNvPr>
          <p:cNvCxnSpPr/>
          <p:nvPr/>
        </p:nvCxnSpPr>
        <p:spPr>
          <a:xfrm>
            <a:off x="609600" y="3048000"/>
            <a:ext cx="323850" cy="0"/>
          </a:xfrm>
          <a:prstGeom prst="line">
            <a:avLst/>
          </a:prstGeom>
          <a:ln w="25400">
            <a:solidFill>
              <a:srgbClr val="F0B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E7FF036-8685-0ECD-E18F-9D151B2859F8}"/>
              </a:ext>
            </a:extLst>
          </p:cNvPr>
          <p:cNvSpPr txBox="1"/>
          <p:nvPr/>
        </p:nvSpPr>
        <p:spPr>
          <a:xfrm>
            <a:off x="609600" y="3114675"/>
            <a:ext cx="323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b="1">
                <a:solidFill>
                  <a:srgbClr val="F0B552"/>
                </a:solidFill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117C275-4573-CC82-6B45-51299CAE5D1F}"/>
              </a:ext>
            </a:extLst>
          </p:cNvPr>
          <p:cNvSpPr txBox="1"/>
          <p:nvPr/>
        </p:nvSpPr>
        <p:spPr>
          <a:xfrm>
            <a:off x="1057275" y="3086100"/>
            <a:ext cx="4895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ES" sz="1238" b="1">
                <a:solidFill>
                  <a:srgbClr val="FFFFFF"/>
                </a:solidFill>
                <a:latin typeface="Georgia" panose="02040502050405020303" pitchFamily="18" charset="0"/>
              </a:rPr>
              <a:t>Un login que no puede leer tablas</a:t>
            </a:r>
            <a:endParaRPr lang="es-HN" sz="1238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2700BAE-A0FA-CEC1-46AE-DEF475678756}"/>
              </a:ext>
            </a:extLst>
          </p:cNvPr>
          <p:cNvSpPr txBox="1"/>
          <p:nvPr/>
        </p:nvSpPr>
        <p:spPr>
          <a:xfrm>
            <a:off x="1057275" y="3333750"/>
            <a:ext cx="4895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s-ES" sz="911">
                <a:solidFill>
                  <a:srgbClr val="BACADD"/>
                </a:solidFill>
                <a:latin typeface="Consolas" panose="020B0609020204030204" pitchFamily="49" charset="0"/>
              </a:rPr>
              <a:t>cumplehn_ia</a:t>
            </a:r>
            <a:r>
              <a:rPr lang="es-ES" sz="1013">
                <a:solidFill>
                  <a:srgbClr val="BACADD"/>
                </a:solidFill>
                <a:latin typeface="Calibri" panose="020F0502020204030204" pitchFamily="34" charset="0"/>
              </a:rPr>
              <a:t> solo tiene </a:t>
            </a:r>
            <a:r>
              <a:rPr lang="es-ES" sz="911">
                <a:solidFill>
                  <a:srgbClr val="BACADD"/>
                </a:solidFill>
                <a:latin typeface="Consolas" panose="020B0609020204030204" pitchFamily="49" charset="0"/>
              </a:rPr>
              <a:t>EXECUTE</a:t>
            </a:r>
            <a:r>
              <a:rPr lang="es-ES" sz="1013">
                <a:solidFill>
                  <a:srgbClr val="BACADD"/>
                </a:solidFill>
                <a:latin typeface="Calibri" panose="020F0502020204030204" pitchFamily="34" charset="0"/>
              </a:rPr>
              <a:t> sobre 13 procedimientos y </a:t>
            </a:r>
            <a:r>
              <a:rPr lang="es-ES" sz="911">
                <a:solidFill>
                  <a:srgbClr val="BACADD"/>
                </a:solidFill>
                <a:latin typeface="Consolas" panose="020B0609020204030204" pitchFamily="49" charset="0"/>
              </a:rPr>
              <a:t>DENY</a:t>
            </a:r>
            <a:r>
              <a:rPr lang="es-ES" sz="1013">
                <a:solidFill>
                  <a:srgbClr val="BACADD"/>
                </a:solidFill>
                <a:latin typeface="Calibri" panose="020F0502020204030204" pitchFamily="34" charset="0"/>
              </a:rPr>
              <a:t> sobre todo lo que vincula a una persona con su preferencia política. Verificado con </a:t>
            </a:r>
            <a:r>
              <a:rPr lang="es-ES" sz="911">
                <a:solidFill>
                  <a:srgbClr val="BACADD"/>
                </a:solidFill>
                <a:latin typeface="Consolas" panose="020B0609020204030204" pitchFamily="49" charset="0"/>
              </a:rPr>
              <a:t>EXECUTE AS</a:t>
            </a:r>
            <a:r>
              <a:rPr lang="es-ES" sz="1013">
                <a:solidFill>
                  <a:srgbClr val="BACADD"/>
                </a:solidFill>
                <a:latin typeface="Calibri" panose="020F0502020204030204" pitchFamily="34" charset="0"/>
              </a:rPr>
              <a:t>.</a:t>
            </a:r>
            <a:endParaRPr lang="es-HN" sz="1013">
              <a:solidFill>
                <a:srgbClr val="BACADD"/>
              </a:solidFill>
              <a:latin typeface="Calibri" panose="020F0502020204030204" pitchFamily="34" charset="0"/>
            </a:endParaRP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3012F2D-D485-A6CF-71A4-0E81B9687FA4}"/>
              </a:ext>
            </a:extLst>
          </p:cNvPr>
          <p:cNvCxnSpPr/>
          <p:nvPr/>
        </p:nvCxnSpPr>
        <p:spPr>
          <a:xfrm>
            <a:off x="6238875" y="3048000"/>
            <a:ext cx="323850" cy="0"/>
          </a:xfrm>
          <a:prstGeom prst="line">
            <a:avLst/>
          </a:prstGeom>
          <a:ln w="25400">
            <a:solidFill>
              <a:srgbClr val="F0B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9CD2A4C-BC14-7499-1FDC-152BA25AED7F}"/>
              </a:ext>
            </a:extLst>
          </p:cNvPr>
          <p:cNvSpPr txBox="1"/>
          <p:nvPr/>
        </p:nvSpPr>
        <p:spPr>
          <a:xfrm>
            <a:off x="6238875" y="3114675"/>
            <a:ext cx="323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b="1">
                <a:solidFill>
                  <a:srgbClr val="F0B552"/>
                </a:solidFill>
                <a:latin typeface="Georgia" panose="02040502050405020303" pitchFamily="18" charset="0"/>
              </a:rPr>
              <a:t>4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1BA6ED5-23A3-5927-11C1-88B08E65A373}"/>
              </a:ext>
            </a:extLst>
          </p:cNvPr>
          <p:cNvSpPr txBox="1"/>
          <p:nvPr/>
        </p:nvSpPr>
        <p:spPr>
          <a:xfrm>
            <a:off x="6686550" y="3086100"/>
            <a:ext cx="4895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238" b="1">
                <a:solidFill>
                  <a:srgbClr val="FFFFFF"/>
                </a:solidFill>
                <a:latin typeface="Georgia" panose="02040502050405020303" pitchFamily="18" charset="0"/>
              </a:rPr>
              <a:t>Neutral por regla, no por suerte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249A7BD-B3E5-2C1B-0974-F7AE21A083CD}"/>
              </a:ext>
            </a:extLst>
          </p:cNvPr>
          <p:cNvSpPr txBox="1"/>
          <p:nvPr/>
        </p:nvSpPr>
        <p:spPr>
          <a:xfrm>
            <a:off x="6686550" y="3333750"/>
            <a:ext cx="4895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s-ES" sz="1013">
                <a:solidFill>
                  <a:srgbClr val="BACADD"/>
                </a:solidFill>
                <a:latin typeface="Calibri" panose="020F0502020204030204" pitchFamily="34" charset="0"/>
              </a:rPr>
              <a:t>No rankea candidaturas, dice siempre el nivel de verificación y responde que no sabe en vez de completar. El texto que devuelven las herramientas es dato, nunca instrucción.</a:t>
            </a:r>
            <a:endParaRPr lang="es-HN" sz="1013">
              <a:solidFill>
                <a:srgbClr val="BACADD"/>
              </a:solidFill>
              <a:latin typeface="Calibri" panose="020F0502020204030204" pitchFamily="34" charset="0"/>
            </a:endParaRP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52FE19A-4697-47E4-4552-DF27BB7EE045}"/>
              </a:ext>
            </a:extLst>
          </p:cNvPr>
          <p:cNvCxnSpPr/>
          <p:nvPr/>
        </p:nvCxnSpPr>
        <p:spPr>
          <a:xfrm>
            <a:off x="609600" y="4324350"/>
            <a:ext cx="323850" cy="0"/>
          </a:xfrm>
          <a:prstGeom prst="line">
            <a:avLst/>
          </a:prstGeom>
          <a:ln w="25400">
            <a:solidFill>
              <a:srgbClr val="F0B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778FB2F-AFC4-C4EF-5272-EC2EE04F0107}"/>
              </a:ext>
            </a:extLst>
          </p:cNvPr>
          <p:cNvSpPr txBox="1"/>
          <p:nvPr/>
        </p:nvSpPr>
        <p:spPr>
          <a:xfrm>
            <a:off x="609600" y="4391025"/>
            <a:ext cx="323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b="1">
                <a:solidFill>
                  <a:srgbClr val="F0B552"/>
                </a:solidFill>
                <a:latin typeface="Georgia" panose="02040502050405020303" pitchFamily="18" charset="0"/>
              </a:rPr>
              <a:t>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01E6E16-F2CD-14E3-09E7-C3F632D16CAF}"/>
              </a:ext>
            </a:extLst>
          </p:cNvPr>
          <p:cNvSpPr txBox="1"/>
          <p:nvPr/>
        </p:nvSpPr>
        <p:spPr>
          <a:xfrm>
            <a:off x="1057275" y="4362450"/>
            <a:ext cx="4895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ES" sz="1238" b="1">
                <a:solidFill>
                  <a:srgbClr val="FFFFFF"/>
                </a:solidFill>
                <a:latin typeface="Georgia" panose="02040502050405020303" pitchFamily="18" charset="0"/>
              </a:rPr>
              <a:t>La respuesta no puede ejecutar nada</a:t>
            </a:r>
            <a:endParaRPr lang="es-HN" sz="1238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BB13F56-B683-965E-86C4-3BA7857F98A2}"/>
              </a:ext>
            </a:extLst>
          </p:cNvPr>
          <p:cNvSpPr txBox="1"/>
          <p:nvPr/>
        </p:nvSpPr>
        <p:spPr>
          <a:xfrm>
            <a:off x="1057275" y="4610100"/>
            <a:ext cx="4895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s-ES" sz="1013">
                <a:solidFill>
                  <a:srgbClr val="BACADD"/>
                </a:solidFill>
                <a:latin typeface="Calibri" panose="020F0502020204030204" pitchFamily="34" charset="0"/>
              </a:rPr>
              <a:t>Se reconstruye en el navegador con </a:t>
            </a:r>
            <a:r>
              <a:rPr lang="es-ES" sz="911">
                <a:solidFill>
                  <a:srgbClr val="BACADD"/>
                </a:solidFill>
                <a:latin typeface="Consolas" panose="020B0609020204030204" pitchFamily="49" charset="0"/>
              </a:rPr>
              <a:t>DOMParser</a:t>
            </a:r>
            <a:r>
              <a:rPr lang="es-ES" sz="1013">
                <a:solidFill>
                  <a:srgbClr val="BACADD"/>
                </a:solidFill>
                <a:latin typeface="Calibri" panose="020F0502020204030204" pitchFamily="34" charset="0"/>
              </a:rPr>
              <a:t> y lista blanca, sin copiar un solo atributo. Sin </a:t>
            </a:r>
            <a:r>
              <a:rPr lang="es-ES" sz="911">
                <a:solidFill>
                  <a:srgbClr val="BACADD"/>
                </a:solidFill>
                <a:latin typeface="Consolas" panose="020B0609020204030204" pitchFamily="49" charset="0"/>
              </a:rPr>
              <a:t>onerror</a:t>
            </a:r>
            <a:r>
              <a:rPr lang="es-ES" sz="1013">
                <a:solidFill>
                  <a:srgbClr val="BACADD"/>
                </a:solidFill>
                <a:latin typeface="Calibri" panose="020F0502020204030204" pitchFamily="34" charset="0"/>
              </a:rPr>
              <a:t>, </a:t>
            </a:r>
            <a:r>
              <a:rPr lang="es-ES" sz="911">
                <a:solidFill>
                  <a:srgbClr val="BACADD"/>
                </a:solidFill>
                <a:latin typeface="Consolas" panose="020B0609020204030204" pitchFamily="49" charset="0"/>
              </a:rPr>
              <a:t>href</a:t>
            </a:r>
            <a:r>
              <a:rPr lang="es-ES" sz="1013">
                <a:solidFill>
                  <a:srgbClr val="BACADD"/>
                </a:solidFill>
                <a:latin typeface="Calibri" panose="020F0502020204030204" pitchFamily="34" charset="0"/>
              </a:rPr>
              <a:t> ni </a:t>
            </a:r>
            <a:r>
              <a:rPr lang="es-ES" sz="911">
                <a:solidFill>
                  <a:srgbClr val="BACADD"/>
                </a:solidFill>
                <a:latin typeface="Consolas" panose="020B0609020204030204" pitchFamily="49" charset="0"/>
              </a:rPr>
              <a:t>src</a:t>
            </a:r>
            <a:r>
              <a:rPr lang="es-ES" sz="1013">
                <a:solidFill>
                  <a:srgbClr val="BACADD"/>
                </a:solidFill>
                <a:latin typeface="Calibri" panose="020F0502020204030204" pitchFamily="34" charset="0"/>
              </a:rPr>
              <a:t>, ninguna etiqueta puede hacer daño.</a:t>
            </a:r>
            <a:endParaRPr lang="es-HN" sz="1013">
              <a:solidFill>
                <a:srgbClr val="BACADD"/>
              </a:solidFill>
              <a:latin typeface="Calibri" panose="020F0502020204030204" pitchFamily="34" charset="0"/>
            </a:endParaRP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2C58DCE-613D-1483-F462-B7250272E073}"/>
              </a:ext>
            </a:extLst>
          </p:cNvPr>
          <p:cNvCxnSpPr/>
          <p:nvPr/>
        </p:nvCxnSpPr>
        <p:spPr>
          <a:xfrm>
            <a:off x="6238875" y="4324350"/>
            <a:ext cx="323850" cy="0"/>
          </a:xfrm>
          <a:prstGeom prst="line">
            <a:avLst/>
          </a:prstGeom>
          <a:ln w="25400">
            <a:solidFill>
              <a:srgbClr val="F0B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6EBB826-BC9F-C6DD-8B66-038C7415D84D}"/>
              </a:ext>
            </a:extLst>
          </p:cNvPr>
          <p:cNvSpPr txBox="1"/>
          <p:nvPr/>
        </p:nvSpPr>
        <p:spPr>
          <a:xfrm>
            <a:off x="6238875" y="4391025"/>
            <a:ext cx="323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b="1">
                <a:solidFill>
                  <a:srgbClr val="F0B552"/>
                </a:solidFill>
                <a:latin typeface="Georgia" panose="02040502050405020303" pitchFamily="18" charset="0"/>
              </a:rPr>
              <a:t>6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AF3A0CD-69F9-EFDB-A2C5-64D887A280B3}"/>
              </a:ext>
            </a:extLst>
          </p:cNvPr>
          <p:cNvSpPr txBox="1"/>
          <p:nvPr/>
        </p:nvSpPr>
        <p:spPr>
          <a:xfrm>
            <a:off x="6686550" y="4362450"/>
            <a:ext cx="4895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1238" b="1">
                <a:solidFill>
                  <a:srgbClr val="FFFFFF"/>
                </a:solidFill>
                <a:latin typeface="Georgia" panose="02040502050405020303" pitchFamily="18" charset="0"/>
              </a:rPr>
              <a:t>Límite de uso diario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F5C119A-797E-998F-475A-CD12E6A930BF}"/>
              </a:ext>
            </a:extLst>
          </p:cNvPr>
          <p:cNvSpPr txBox="1"/>
          <p:nvPr/>
        </p:nvSpPr>
        <p:spPr>
          <a:xfrm>
            <a:off x="6686550" y="4610100"/>
            <a:ext cx="4895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s-ES" sz="1013">
                <a:solidFill>
                  <a:srgbClr val="BACADD"/>
                </a:solidFill>
                <a:latin typeface="Calibri" panose="020F0502020204030204" pitchFamily="34" charset="0"/>
              </a:rPr>
              <a:t>Cuota de 20 consultas por persona y día, y bitácora de cada pregunta, responda o falle.</a:t>
            </a:r>
            <a:endParaRPr lang="es-HN" sz="1013">
              <a:solidFill>
                <a:srgbClr val="BACAD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697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o0">
            <a:extLst>
              <a:ext uri="{FF2B5EF4-FFF2-40B4-BE49-F238E27FC236}">
                <a16:creationId xmlns:a16="http://schemas.microsoft.com/office/drawing/2014/main" id="{899A6CD6-16FC-832C-3B47-D76F2B1B2EF4}"/>
              </a:ext>
            </a:extLst>
          </p:cNvPr>
          <p:cNvSpPr/>
          <p:nvPr/>
        </p:nvSpPr>
        <p:spPr>
          <a:xfrm>
            <a:off x="0" y="0"/>
            <a:ext cx="3048000" cy="47625"/>
          </a:xfrm>
          <a:prstGeom prst="rect">
            <a:avLst/>
          </a:prstGeom>
          <a:solidFill>
            <a:srgbClr val="C337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filo1">
            <a:extLst>
              <a:ext uri="{FF2B5EF4-FFF2-40B4-BE49-F238E27FC236}">
                <a16:creationId xmlns:a16="http://schemas.microsoft.com/office/drawing/2014/main" id="{552A94A2-6467-64FD-3EE2-FC61E9D9C700}"/>
              </a:ext>
            </a:extLst>
          </p:cNvPr>
          <p:cNvSpPr/>
          <p:nvPr/>
        </p:nvSpPr>
        <p:spPr>
          <a:xfrm>
            <a:off x="3048000" y="0"/>
            <a:ext cx="3048000" cy="47625"/>
          </a:xfrm>
          <a:prstGeom prst="rect">
            <a:avLst/>
          </a:prstGeom>
          <a:solidFill>
            <a:srgbClr val="D39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4" name="filo2">
            <a:extLst>
              <a:ext uri="{FF2B5EF4-FFF2-40B4-BE49-F238E27FC236}">
                <a16:creationId xmlns:a16="http://schemas.microsoft.com/office/drawing/2014/main" id="{F1CA09BB-5CD2-9EFA-9B97-3530D667705C}"/>
              </a:ext>
            </a:extLst>
          </p:cNvPr>
          <p:cNvSpPr/>
          <p:nvPr/>
        </p:nvSpPr>
        <p:spPr>
          <a:xfrm>
            <a:off x="6096000" y="0"/>
            <a:ext cx="3048000" cy="47625"/>
          </a:xfrm>
          <a:prstGeom prst="rect">
            <a:avLst/>
          </a:prstGeom>
          <a:solidFill>
            <a:srgbClr val="2C7A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5" name="filo3">
            <a:extLst>
              <a:ext uri="{FF2B5EF4-FFF2-40B4-BE49-F238E27FC236}">
                <a16:creationId xmlns:a16="http://schemas.microsoft.com/office/drawing/2014/main" id="{8F6A666E-FE88-AF32-FF6D-B2CC019F85D5}"/>
              </a:ext>
            </a:extLst>
          </p:cNvPr>
          <p:cNvSpPr/>
          <p:nvPr/>
        </p:nvSpPr>
        <p:spPr>
          <a:xfrm>
            <a:off x="9144000" y="0"/>
            <a:ext cx="3048000" cy="47625"/>
          </a:xfrm>
          <a:prstGeom prst="rect">
            <a:avLst/>
          </a:prstGeom>
          <a:solidFill>
            <a:srgbClr val="1770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F5D25A-F502-B191-095E-26E7EDE36DCE}"/>
              </a:ext>
            </a:extLst>
          </p:cNvPr>
          <p:cNvSpPr txBox="1"/>
          <p:nvPr/>
        </p:nvSpPr>
        <p:spPr>
          <a:xfrm>
            <a:off x="609600" y="495300"/>
            <a:ext cx="952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HN" sz="900" b="1" spc="140">
                <a:solidFill>
                  <a:srgbClr val="17708A"/>
                </a:solidFill>
                <a:latin typeface="Calibri" panose="020F0502020204030204" pitchFamily="34" charset="0"/>
              </a:rPr>
              <a:t>LOGROS · NEUTRALIDAD Y SEGURIDAD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D017823-7DEF-4F34-F709-8187327EBA41}"/>
              </a:ext>
            </a:extLst>
          </p:cNvPr>
          <p:cNvSpPr txBox="1"/>
          <p:nvPr/>
        </p:nvSpPr>
        <p:spPr>
          <a:xfrm>
            <a:off x="609600" y="70485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s-HN" sz="2850" b="1">
                <a:solidFill>
                  <a:srgbClr val="14171C"/>
                </a:solidFill>
                <a:latin typeface="Georgia" panose="02040502050405020303" pitchFamily="18" charset="0"/>
              </a:rPr>
              <a:t>La neutralidad no se declara: se construye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0B70AA9-F749-4121-0B62-83F2035DBB38}"/>
              </a:ext>
            </a:extLst>
          </p:cNvPr>
          <p:cNvSpPr/>
          <p:nvPr/>
        </p:nvSpPr>
        <p:spPr>
          <a:xfrm>
            <a:off x="609600" y="1905000"/>
            <a:ext cx="5419725" cy="2190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9F58236-3DB9-0BF0-2542-6D66CCC8D5A0}"/>
              </a:ext>
            </a:extLst>
          </p:cNvPr>
          <p:cNvSpPr/>
          <p:nvPr/>
        </p:nvSpPr>
        <p:spPr>
          <a:xfrm>
            <a:off x="609600" y="1933575"/>
            <a:ext cx="28575" cy="2133600"/>
          </a:xfrm>
          <a:prstGeom prst="rect">
            <a:avLst/>
          </a:prstGeom>
          <a:solidFill>
            <a:srgbClr val="1B4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76F0477-3E40-AD41-22A9-A5E2B13E267F}"/>
              </a:ext>
            </a:extLst>
          </p:cNvPr>
          <p:cNvSpPr txBox="1"/>
          <p:nvPr/>
        </p:nvSpPr>
        <p:spPr>
          <a:xfrm>
            <a:off x="781050" y="2038350"/>
            <a:ext cx="509587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s-ES" sz="1425" b="1">
                <a:solidFill>
                  <a:srgbClr val="14171C"/>
                </a:solidFill>
                <a:latin typeface="Georgia" panose="02040502050405020303" pitchFamily="18" charset="0"/>
              </a:rPr>
              <a:t>Verificación y cumplimiento son dos ejes distintos</a:t>
            </a:r>
            <a:endParaRPr lang="es-HN" sz="1425" b="1">
              <a:solidFill>
                <a:srgbClr val="14171C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F3B7762-4A71-4D62-D674-30C3226F67B6}"/>
              </a:ext>
            </a:extLst>
          </p:cNvPr>
          <p:cNvSpPr txBox="1"/>
          <p:nvPr/>
        </p:nvSpPr>
        <p:spPr>
          <a:xfrm>
            <a:off x="781050" y="2514600"/>
            <a:ext cx="509587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s-ES" sz="1200">
                <a:solidFill>
                  <a:srgbClr val="39404A"/>
                </a:solidFill>
                <a:latin typeface="Calibri" panose="020F0502020204030204" pitchFamily="34" charset="0"/>
              </a:rPr>
              <a:t>Una propuesta puede estar </a:t>
            </a:r>
            <a:r>
              <a:rPr lang="es-ES" sz="1200" b="1">
                <a:solidFill>
                  <a:srgbClr val="39404A"/>
                </a:solidFill>
                <a:latin typeface="Calibri" panose="020F0502020204030204" pitchFamily="34" charset="0"/>
              </a:rPr>
              <a:t>Verificada</a:t>
            </a:r>
            <a:r>
              <a:rPr lang="es-ES" sz="1200">
                <a:solidFill>
                  <a:srgbClr val="39404A"/>
                </a:solidFill>
                <a:latin typeface="Calibri" panose="020F0502020204030204" pitchFamily="34" charset="0"/>
              </a:rPr>
              <a:t> y seguir </a:t>
            </a:r>
            <a:r>
              <a:rPr lang="es-ES" sz="1200" b="1">
                <a:solidFill>
                  <a:srgbClr val="39404A"/>
                </a:solidFill>
                <a:latin typeface="Calibri" panose="020F0502020204030204" pitchFamily="34" charset="0"/>
              </a:rPr>
              <a:t>Declarada</a:t>
            </a:r>
            <a:r>
              <a:rPr lang="es-ES" sz="1200">
                <a:solidFill>
                  <a:srgbClr val="39404A"/>
                </a:solidFill>
                <a:latin typeface="Calibri" panose="020F0502020204030204" pitchFamily="34" charset="0"/>
              </a:rPr>
              <a:t>. La candidatura no se califica a sí misma: los estados de cumplimiento los asigna la plataforma con evidencia, y todo se muestra como declarado hasta que exista fuente verificable.</a:t>
            </a:r>
            <a:endParaRPr lang="es-HN" sz="1200">
              <a:solidFill>
                <a:srgbClr val="39404A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005E72D-5D98-4391-AF29-0F7BFD323818}"/>
              </a:ext>
            </a:extLst>
          </p:cNvPr>
          <p:cNvSpPr/>
          <p:nvPr/>
        </p:nvSpPr>
        <p:spPr>
          <a:xfrm>
            <a:off x="6162675" y="1905000"/>
            <a:ext cx="5419725" cy="2190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1B400F0-D0C0-0E94-8BFE-298C8BD1E92D}"/>
              </a:ext>
            </a:extLst>
          </p:cNvPr>
          <p:cNvSpPr/>
          <p:nvPr/>
        </p:nvSpPr>
        <p:spPr>
          <a:xfrm>
            <a:off x="6162675" y="1933575"/>
            <a:ext cx="28575" cy="2133600"/>
          </a:xfrm>
          <a:prstGeom prst="rect">
            <a:avLst/>
          </a:prstGeom>
          <a:solidFill>
            <a:srgbClr val="D39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94563AA-9F0B-DB35-DAAF-3AEB56BE215A}"/>
              </a:ext>
            </a:extLst>
          </p:cNvPr>
          <p:cNvSpPr txBox="1"/>
          <p:nvPr/>
        </p:nvSpPr>
        <p:spPr>
          <a:xfrm>
            <a:off x="6334125" y="2038350"/>
            <a:ext cx="509587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s-ES" sz="1425" b="1">
                <a:solidFill>
                  <a:srgbClr val="14171C"/>
                </a:solidFill>
                <a:latin typeface="Georgia" panose="02040502050405020303" pitchFamily="18" charset="0"/>
              </a:rPr>
              <a:t>Nada se borra, y todo queda anotado</a:t>
            </a:r>
            <a:endParaRPr lang="es-HN" sz="1425" b="1">
              <a:solidFill>
                <a:srgbClr val="14171C"/>
              </a:solidFill>
              <a:latin typeface="Georgia" panose="02040502050405020303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662A4E7-3B1C-F7E5-9758-43CCF030F95F}"/>
              </a:ext>
            </a:extLst>
          </p:cNvPr>
          <p:cNvSpPr txBox="1"/>
          <p:nvPr/>
        </p:nvSpPr>
        <p:spPr>
          <a:xfrm>
            <a:off x="6334125" y="2514600"/>
            <a:ext cx="509587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s-ES" sz="1200">
                <a:solidFill>
                  <a:srgbClr val="39404A"/>
                </a:solidFill>
                <a:latin typeface="Calibri" panose="020F0502020204030204" pitchFamily="34" charset="0"/>
              </a:rPr>
              <a:t>Retirar es baja lógica con motivo obligatorio, nunca </a:t>
            </a:r>
            <a:r>
              <a:rPr lang="es-ES" sz="1080">
                <a:solidFill>
                  <a:srgbClr val="39404A"/>
                </a:solidFill>
                <a:latin typeface="Consolas" panose="020B0609020204030204" pitchFamily="49" charset="0"/>
              </a:rPr>
              <a:t>DELETE</a:t>
            </a:r>
            <a:r>
              <a:rPr lang="es-ES" sz="1200">
                <a:solidFill>
                  <a:srgbClr val="39404A"/>
                </a:solidFill>
                <a:latin typeface="Calibri" panose="020F0502020204030204" pitchFamily="34" charset="0"/>
              </a:rPr>
              <a:t>. Cada acción de administración escribe en </a:t>
            </a:r>
            <a:r>
              <a:rPr lang="es-ES" sz="1080">
                <a:solidFill>
                  <a:srgbClr val="39404A"/>
                </a:solidFill>
                <a:latin typeface="Consolas" panose="020B0609020204030204" pitchFamily="49" charset="0"/>
              </a:rPr>
              <a:t>Auditoria</a:t>
            </a:r>
            <a:r>
              <a:rPr lang="es-ES" sz="1200">
                <a:solidFill>
                  <a:srgbClr val="39404A"/>
                </a:solidFill>
                <a:latin typeface="Calibri" panose="020F0502020204030204" pitchFamily="34" charset="0"/>
              </a:rPr>
              <a:t>, que no tiene pantalla ni método para editarse.</a:t>
            </a:r>
            <a:endParaRPr lang="es-HN" sz="1200">
              <a:solidFill>
                <a:srgbClr val="39404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133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23054"/>
            </a:gs>
            <a:gs pos="100000">
              <a:srgbClr val="0A1728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o0">
            <a:extLst>
              <a:ext uri="{FF2B5EF4-FFF2-40B4-BE49-F238E27FC236}">
                <a16:creationId xmlns:a16="http://schemas.microsoft.com/office/drawing/2014/main" id="{51BB05A4-7B1F-5CCE-EA1A-D3B20D4F96B2}"/>
              </a:ext>
            </a:extLst>
          </p:cNvPr>
          <p:cNvSpPr/>
          <p:nvPr/>
        </p:nvSpPr>
        <p:spPr>
          <a:xfrm>
            <a:off x="0" y="0"/>
            <a:ext cx="3048000" cy="47625"/>
          </a:xfrm>
          <a:prstGeom prst="rect">
            <a:avLst/>
          </a:prstGeom>
          <a:solidFill>
            <a:srgbClr val="C337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filo1">
            <a:extLst>
              <a:ext uri="{FF2B5EF4-FFF2-40B4-BE49-F238E27FC236}">
                <a16:creationId xmlns:a16="http://schemas.microsoft.com/office/drawing/2014/main" id="{E6224616-7853-D2E7-B552-865D7AE931EF}"/>
              </a:ext>
            </a:extLst>
          </p:cNvPr>
          <p:cNvSpPr/>
          <p:nvPr/>
        </p:nvSpPr>
        <p:spPr>
          <a:xfrm>
            <a:off x="3048000" y="0"/>
            <a:ext cx="3048000" cy="47625"/>
          </a:xfrm>
          <a:prstGeom prst="rect">
            <a:avLst/>
          </a:prstGeom>
          <a:solidFill>
            <a:srgbClr val="D39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4" name="filo2">
            <a:extLst>
              <a:ext uri="{FF2B5EF4-FFF2-40B4-BE49-F238E27FC236}">
                <a16:creationId xmlns:a16="http://schemas.microsoft.com/office/drawing/2014/main" id="{58496DB3-685D-7BE7-7AE5-7063856B6D5C}"/>
              </a:ext>
            </a:extLst>
          </p:cNvPr>
          <p:cNvSpPr/>
          <p:nvPr/>
        </p:nvSpPr>
        <p:spPr>
          <a:xfrm>
            <a:off x="6096000" y="0"/>
            <a:ext cx="3048000" cy="47625"/>
          </a:xfrm>
          <a:prstGeom prst="rect">
            <a:avLst/>
          </a:prstGeom>
          <a:solidFill>
            <a:srgbClr val="2C7A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5" name="filo3">
            <a:extLst>
              <a:ext uri="{FF2B5EF4-FFF2-40B4-BE49-F238E27FC236}">
                <a16:creationId xmlns:a16="http://schemas.microsoft.com/office/drawing/2014/main" id="{0DFC9A7C-1E86-4DED-5671-E55588E63C94}"/>
              </a:ext>
            </a:extLst>
          </p:cNvPr>
          <p:cNvSpPr/>
          <p:nvPr/>
        </p:nvSpPr>
        <p:spPr>
          <a:xfrm>
            <a:off x="9144000" y="0"/>
            <a:ext cx="3048000" cy="47625"/>
          </a:xfrm>
          <a:prstGeom prst="rect">
            <a:avLst/>
          </a:prstGeom>
          <a:solidFill>
            <a:srgbClr val="1770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FDBD8E3-CF4C-29B2-56F3-F6AB1E37C584}"/>
              </a:ext>
            </a:extLst>
          </p:cNvPr>
          <p:cNvSpPr txBox="1"/>
          <p:nvPr/>
        </p:nvSpPr>
        <p:spPr>
          <a:xfrm>
            <a:off x="609600" y="2762250"/>
            <a:ext cx="723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s-ES" sz="3300" b="1">
                <a:solidFill>
                  <a:srgbClr val="FFFFFF"/>
                </a:solidFill>
                <a:latin typeface="Georgia" panose="02040502050405020303" pitchFamily="18" charset="0"/>
              </a:rPr>
              <a:t>CumpleHN no dice quién cumple mejor.</a:t>
            </a:r>
          </a:p>
          <a:p>
            <a:pPr>
              <a:lnSpc>
                <a:spcPct val="125000"/>
              </a:lnSpc>
            </a:pPr>
            <a:r>
              <a:rPr lang="es-ES" sz="3300" b="1">
                <a:solidFill>
                  <a:srgbClr val="FFFFFF"/>
                </a:solidFill>
                <a:latin typeface="Georgia" panose="02040502050405020303" pitchFamily="18" charset="0"/>
              </a:rPr>
              <a:t>Ordena la evidencia para que </a:t>
            </a:r>
            <a:r>
              <a:rPr lang="es-ES" sz="3300" b="1">
                <a:solidFill>
                  <a:srgbClr val="F0B552"/>
                </a:solidFill>
                <a:latin typeface="Georgia" panose="02040502050405020303" pitchFamily="18" charset="0"/>
              </a:rPr>
              <a:t>cada quien lo juzgue</a:t>
            </a:r>
            <a:r>
              <a:rPr lang="es-ES" sz="3300" b="1">
                <a:solidFill>
                  <a:srgbClr val="FFFFFF"/>
                </a:solidFill>
                <a:latin typeface="Georgia" panose="02040502050405020303" pitchFamily="18" charset="0"/>
              </a:rPr>
              <a:t>.</a:t>
            </a:r>
            <a:endParaRPr lang="es-HN" sz="3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1553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1179</Words>
  <Application>Microsoft Office PowerPoint</Application>
  <PresentationFormat>Personalizado</PresentationFormat>
  <Paragraphs>110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Consolas</vt:lpstr>
      <vt:lpstr>Georgia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 chavez</dc:creator>
  <cp:lastModifiedBy>roy chavez</cp:lastModifiedBy>
  <cp:revision>1</cp:revision>
  <dcterms:created xsi:type="dcterms:W3CDTF">2026-09-15T01:51:19Z</dcterms:created>
  <dcterms:modified xsi:type="dcterms:W3CDTF">2026-09-15T01:51:19Z</dcterms:modified>
</cp:coreProperties>
</file>